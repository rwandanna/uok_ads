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2" r:id="rId44"/>
    <p:sldId id="313" r:id="rId45"/>
    <p:sldId id="314" r:id="rId46"/>
    <p:sldId id="315" r:id="rId47"/>
    <p:sldId id="317" r:id="rId48"/>
    <p:sldId id="318" r:id="rId49"/>
    <p:sldId id="319" r:id="rId50"/>
    <p:sldId id="320" r:id="rId51"/>
    <p:sldId id="321" r:id="rId52"/>
    <p:sldId id="322" r:id="rId53"/>
    <p:sldId id="323" r:id="rId54"/>
    <p:sldId id="324" r:id="rId55"/>
    <p:sldId id="326" r:id="rId56"/>
    <p:sldId id="327" r:id="rId57"/>
    <p:sldId id="329" r:id="rId58"/>
    <p:sldId id="330" r:id="rId59"/>
    <p:sldId id="331" r:id="rId6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63"/>
    <p:restoredTop sz="94567"/>
  </p:normalViewPr>
  <p:slideViewPr>
    <p:cSldViewPr>
      <p:cViewPr varScale="1">
        <p:scale>
          <a:sx n="111" d="100"/>
          <a:sy n="111" d="100"/>
        </p:scale>
        <p:origin x="144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C90A8-1F91-4046-B61E-B414FF737FC0}" type="datetimeFigureOut">
              <a:rPr lang="en-RW" smtClean="0"/>
              <a:t>10/10/2026</a:t>
            </a:fld>
            <a:endParaRPr lang="en-R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0D638-322D-B148-8655-5634918AE1EB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047853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94308" y="168909"/>
            <a:ext cx="737831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F81B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F81B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F81B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F81B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5299" y="168909"/>
            <a:ext cx="8138718" cy="653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F81B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84857" y="3056254"/>
            <a:ext cx="6642100" cy="2015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37635" y="6453936"/>
            <a:ext cx="2228215" cy="269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77681" y="6453936"/>
            <a:ext cx="34035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92480" cy="833627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179982" y="3270250"/>
            <a:ext cx="6756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000000"/>
                </a:solidFill>
                <a:latin typeface="Calibri"/>
                <a:cs typeface="Calibri"/>
              </a:rPr>
              <a:t>Introduction</a:t>
            </a:r>
            <a:r>
              <a:rPr sz="3600" b="1" spc="-1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3600" b="1" spc="-1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1" spc="-25" dirty="0">
                <a:solidFill>
                  <a:srgbClr val="000000"/>
                </a:solidFill>
                <a:latin typeface="Calibri"/>
                <a:cs typeface="Calibri"/>
              </a:rPr>
              <a:t>Distributed</a:t>
            </a:r>
            <a:r>
              <a:rPr sz="3600" b="1" spc="-1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000000"/>
                </a:solidFill>
                <a:latin typeface="Calibri"/>
                <a:cs typeface="Calibri"/>
              </a:rPr>
              <a:t>Systems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7868" y="4005071"/>
            <a:ext cx="6408420" cy="0"/>
          </a:xfrm>
          <a:custGeom>
            <a:avLst/>
            <a:gdLst/>
            <a:ahLst/>
            <a:cxnLst/>
            <a:rect l="l" t="t" r="r" b="b"/>
            <a:pathLst>
              <a:path w="6408420">
                <a:moveTo>
                  <a:pt x="0" y="0"/>
                </a:moveTo>
                <a:lnTo>
                  <a:pt x="6408038" y="0"/>
                </a:lnTo>
              </a:path>
            </a:pathLst>
          </a:custGeom>
          <a:ln w="9144">
            <a:solidFill>
              <a:srgbClr val="487C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7868" y="2276855"/>
            <a:ext cx="8353425" cy="2592070"/>
          </a:xfrm>
          <a:custGeom>
            <a:avLst/>
            <a:gdLst/>
            <a:ahLst/>
            <a:cxnLst/>
            <a:rect l="l" t="t" r="r" b="b"/>
            <a:pathLst>
              <a:path w="8353425" h="2592070">
                <a:moveTo>
                  <a:pt x="1944496" y="863981"/>
                </a:moveTo>
                <a:lnTo>
                  <a:pt x="8352916" y="863981"/>
                </a:lnTo>
              </a:path>
              <a:path w="8353425" h="2592070">
                <a:moveTo>
                  <a:pt x="8352282" y="863981"/>
                </a:moveTo>
                <a:lnTo>
                  <a:pt x="6408165" y="2591943"/>
                </a:lnTo>
              </a:path>
              <a:path w="8353425" h="2592070">
                <a:moveTo>
                  <a:pt x="1944115" y="0"/>
                </a:moveTo>
                <a:lnTo>
                  <a:pt x="0" y="1727962"/>
                </a:lnTo>
              </a:path>
            </a:pathLst>
          </a:custGeom>
          <a:ln w="9144">
            <a:solidFill>
              <a:srgbClr val="487C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5812790" y="6186322"/>
            <a:ext cx="267645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>
                <a:solidFill>
                  <a:srgbClr val="878787"/>
                </a:solidFill>
                <a:latin typeface="Times New Roman"/>
                <a:cs typeface="Times New Roman"/>
              </a:rPr>
              <a:t>Assoc.Prof.James</a:t>
            </a:r>
            <a:r>
              <a:rPr lang="en-US" dirty="0">
                <a:solidFill>
                  <a:srgbClr val="878787"/>
                </a:solidFill>
                <a:latin typeface="Times New Roman"/>
                <a:cs typeface="Times New Roman"/>
              </a:rPr>
              <a:t> Rwigema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73010" y="392049"/>
            <a:ext cx="15354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rgbClr val="1F477B"/>
                </a:solidFill>
                <a:latin typeface="Calibri"/>
                <a:cs typeface="Calibri"/>
              </a:rPr>
              <a:t>Contents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8678545" cy="935990"/>
            <a:chOff x="0" y="0"/>
            <a:chExt cx="8678545" cy="935990"/>
          </a:xfrm>
        </p:grpSpPr>
        <p:sp>
          <p:nvSpPr>
            <p:cNvPr id="8" name="object 8"/>
            <p:cNvSpPr/>
            <p:nvPr/>
          </p:nvSpPr>
          <p:spPr>
            <a:xfrm>
              <a:off x="793241" y="910589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4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64108" cy="908303"/>
            </a:xfrm>
            <a:prstGeom prst="rect">
              <a:avLst/>
            </a:prstGeom>
          </p:spPr>
        </p:pic>
      </p:grpSp>
      <p:sp>
        <p:nvSpPr>
          <p:cNvPr id="3" name="object 3"/>
          <p:cNvSpPr txBox="1"/>
          <p:nvPr/>
        </p:nvSpPr>
        <p:spPr>
          <a:xfrm>
            <a:off x="535635" y="1043685"/>
            <a:ext cx="5080000" cy="285305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469265" algn="l"/>
              </a:tabLst>
            </a:pPr>
            <a:r>
              <a:rPr sz="2400" b="1" spc="-10" dirty="0">
                <a:latin typeface="Calibri"/>
                <a:cs typeface="Calibri"/>
              </a:rPr>
              <a:t>Introduction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Why</a:t>
            </a:r>
            <a:r>
              <a:rPr sz="2400" b="1" spc="-1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Distributed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469265" algn="l"/>
              </a:tabLst>
            </a:pPr>
            <a:r>
              <a:rPr sz="2400" b="1" spc="-10" dirty="0">
                <a:latin typeface="Calibri"/>
                <a:cs typeface="Calibri"/>
              </a:rPr>
              <a:t>Advantages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12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Disadvantages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114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DS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Goals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DS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DS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challenges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DS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Architectural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469265" algn="l"/>
              </a:tabLst>
            </a:pPr>
            <a:r>
              <a:rPr sz="2400" b="1" spc="-10" dirty="0">
                <a:latin typeface="Calibri"/>
                <a:cs typeface="Calibri"/>
              </a:rPr>
              <a:t>Types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DS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37352" y="392049"/>
            <a:ext cx="28657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rgbClr val="1F477B"/>
                </a:solidFill>
                <a:latin typeface="Calibri"/>
                <a:cs typeface="Calibri"/>
              </a:rPr>
              <a:t>1.</a:t>
            </a:r>
            <a:r>
              <a:rPr b="1" spc="145" dirty="0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b="1" spc="-25" dirty="0">
                <a:solidFill>
                  <a:srgbClr val="1F477B"/>
                </a:solidFill>
                <a:latin typeface="Calibri"/>
                <a:cs typeface="Calibri"/>
              </a:rPr>
              <a:t>Introduction-</a:t>
            </a:r>
            <a:r>
              <a:rPr b="1" spc="-50" dirty="0">
                <a:solidFill>
                  <a:srgbClr val="1F477B"/>
                </a:solidFill>
                <a:latin typeface="Calibri"/>
                <a:cs typeface="Calibri"/>
              </a:rPr>
              <a:t>1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8677275" cy="935990"/>
            <a:chOff x="0" y="0"/>
            <a:chExt cx="8677275" cy="935990"/>
          </a:xfrm>
        </p:grpSpPr>
        <p:sp>
          <p:nvSpPr>
            <p:cNvPr id="6" name="object 6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64108" cy="90830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58190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0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object 3"/>
          <p:cNvSpPr txBox="1"/>
          <p:nvPr/>
        </p:nvSpPr>
        <p:spPr>
          <a:xfrm>
            <a:off x="535635" y="1058926"/>
            <a:ext cx="8088630" cy="393572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1790" marR="73660" indent="-339090" algn="just">
              <a:lnSpc>
                <a:spcPts val="2700"/>
              </a:lnSpc>
              <a:spcBef>
                <a:spcPts val="34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Distributed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Systems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been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existence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since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start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universe.</a:t>
            </a:r>
            <a:endParaRPr sz="2400">
              <a:latin typeface="Calibri"/>
              <a:cs typeface="Calibri"/>
            </a:endParaRPr>
          </a:p>
          <a:p>
            <a:pPr marL="351790" marR="11430" indent="-339090" algn="just">
              <a:lnSpc>
                <a:spcPct val="90300"/>
              </a:lnSpc>
              <a:spcBef>
                <a:spcPts val="54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2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real</a:t>
            </a:r>
            <a:r>
              <a:rPr sz="2400" spc="2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world,</a:t>
            </a:r>
            <a:r>
              <a:rPr sz="2400" spc="2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2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2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increase</a:t>
            </a:r>
            <a:r>
              <a:rPr sz="2400" spc="2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35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information</a:t>
            </a:r>
            <a:r>
              <a:rPr sz="2400" spc="45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B"/>
                </a:solidFill>
                <a:latin typeface="Calibri"/>
                <a:cs typeface="Calibri"/>
              </a:rPr>
              <a:t>usages</a:t>
            </a:r>
            <a:r>
              <a:rPr sz="2400" spc="445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4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45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F81BB"/>
                </a:solidFill>
                <a:latin typeface="Calibri"/>
                <a:cs typeface="Calibri"/>
              </a:rPr>
              <a:t>accessibility</a:t>
            </a:r>
            <a:r>
              <a:rPr sz="2400" spc="445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regardless</a:t>
            </a:r>
            <a:r>
              <a:rPr sz="2400" spc="4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where 	there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located.</a:t>
            </a:r>
            <a:endParaRPr sz="2400">
              <a:latin typeface="Calibri"/>
              <a:cs typeface="Calibri"/>
            </a:endParaRPr>
          </a:p>
          <a:p>
            <a:pPr marL="351790" marR="5080" indent="-339090" algn="just">
              <a:lnSpc>
                <a:spcPct val="90200"/>
              </a:lnSpc>
              <a:spcBef>
                <a:spcPts val="61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proliferation</a:t>
            </a:r>
            <a:r>
              <a:rPr sz="2400" spc="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0" dirty="0"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4F81BB"/>
                </a:solidFill>
                <a:latin typeface="Calibri"/>
                <a:cs typeface="Calibri"/>
              </a:rPr>
              <a:t>internet</a:t>
            </a:r>
            <a:r>
              <a:rPr sz="2400" spc="35" dirty="0">
                <a:solidFill>
                  <a:srgbClr val="4F81BB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4F81BB"/>
                </a:solidFill>
                <a:latin typeface="Calibri"/>
                <a:cs typeface="Calibri"/>
              </a:rPr>
              <a:t>and</a:t>
            </a:r>
            <a:r>
              <a:rPr sz="2400" spc="40" dirty="0">
                <a:solidFill>
                  <a:srgbClr val="4F81BB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4F81BB"/>
                </a:solidFill>
                <a:latin typeface="Calibri"/>
                <a:cs typeface="Calibri"/>
              </a:rPr>
              <a:t>the</a:t>
            </a:r>
            <a:r>
              <a:rPr sz="2400" spc="40" dirty="0">
                <a:solidFill>
                  <a:srgbClr val="4F81BB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4F81BB"/>
                </a:solidFill>
                <a:latin typeface="Calibri"/>
                <a:cs typeface="Calibri"/>
              </a:rPr>
              <a:t>emerging</a:t>
            </a:r>
            <a:r>
              <a:rPr sz="2400" spc="35" dirty="0">
                <a:solidFill>
                  <a:srgbClr val="4F81BB"/>
                </a:solidFill>
                <a:latin typeface="Calibri"/>
                <a:cs typeface="Calibri"/>
              </a:rPr>
              <a:t>  </a:t>
            </a:r>
            <a:r>
              <a:rPr sz="2400" spc="-10" dirty="0">
                <a:solidFill>
                  <a:srgbClr val="4F81BB"/>
                </a:solidFill>
                <a:latin typeface="Calibri"/>
                <a:cs typeface="Calibri"/>
              </a:rPr>
              <a:t>global 	</a:t>
            </a:r>
            <a:r>
              <a:rPr sz="2400" dirty="0">
                <a:solidFill>
                  <a:srgbClr val="4F81BB"/>
                </a:solidFill>
                <a:latin typeface="Calibri"/>
                <a:cs typeface="Calibri"/>
              </a:rPr>
              <a:t>village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notion</a:t>
            </a:r>
            <a:r>
              <a:rPr sz="2400" spc="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distributed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computing</a:t>
            </a:r>
            <a:r>
              <a:rPr sz="2400" spc="6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systems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dirty="0">
                <a:latin typeface="Calibri"/>
                <a:cs typeface="Calibri"/>
              </a:rPr>
              <a:t>useful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widely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deployed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becoming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reality.</a:t>
            </a:r>
            <a:endParaRPr sz="2400">
              <a:latin typeface="Calibri"/>
              <a:cs typeface="Calibri"/>
            </a:endParaRPr>
          </a:p>
          <a:p>
            <a:pPr marL="355600" marR="10160" indent="-342900" algn="just">
              <a:lnSpc>
                <a:spcPct val="903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  <a:tab pos="420370" algn="l"/>
              </a:tabLst>
            </a:pPr>
            <a:r>
              <a:rPr sz="2400" dirty="0">
                <a:latin typeface="Calibri"/>
                <a:cs typeface="Calibri"/>
              </a:rPr>
              <a:t>	The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scenario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you</a:t>
            </a:r>
            <a:r>
              <a:rPr sz="2400" b="1" spc="100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know</a:t>
            </a:r>
            <a:r>
              <a:rPr sz="2400" b="1" spc="105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you</a:t>
            </a:r>
            <a:r>
              <a:rPr sz="2400" b="1" spc="90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are</a:t>
            </a:r>
            <a:r>
              <a:rPr sz="2400" b="1" spc="100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using</a:t>
            </a:r>
            <a:r>
              <a:rPr sz="2400" b="1" spc="105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one</a:t>
            </a:r>
            <a:r>
              <a:rPr sz="2400" b="1" spc="105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when</a:t>
            </a:r>
            <a:r>
              <a:rPr sz="2400" b="1" spc="100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the</a:t>
            </a:r>
            <a:r>
              <a:rPr sz="2400" b="1" spc="110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4F81BB"/>
                </a:solidFill>
                <a:latin typeface="Calibri"/>
                <a:cs typeface="Calibri"/>
              </a:rPr>
              <a:t>crash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of</a:t>
            </a:r>
            <a:r>
              <a:rPr sz="2400" b="1" spc="315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a</a:t>
            </a:r>
            <a:r>
              <a:rPr sz="2400" b="1" spc="335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computer</a:t>
            </a:r>
            <a:r>
              <a:rPr sz="2400" b="1" spc="325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you</a:t>
            </a:r>
            <a:r>
              <a:rPr sz="2400" b="1" spc="320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have</a:t>
            </a:r>
            <a:r>
              <a:rPr sz="2400" b="1" spc="325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can’t</a:t>
            </a:r>
            <a:r>
              <a:rPr sz="2400" b="1" spc="330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prevent</a:t>
            </a:r>
            <a:r>
              <a:rPr sz="2400" b="1" spc="315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you</a:t>
            </a:r>
            <a:r>
              <a:rPr sz="2400" b="1" spc="335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from</a:t>
            </a:r>
            <a:r>
              <a:rPr sz="2400" b="1" spc="330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B"/>
                </a:solidFill>
                <a:latin typeface="Calibri"/>
                <a:cs typeface="Calibri"/>
              </a:rPr>
              <a:t>doing</a:t>
            </a:r>
            <a:r>
              <a:rPr sz="2400" b="1" spc="325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4F81BB"/>
                </a:solidFill>
                <a:latin typeface="Calibri"/>
                <a:cs typeface="Calibri"/>
              </a:rPr>
              <a:t>the </a:t>
            </a:r>
            <a:r>
              <a:rPr sz="2400" b="1" spc="-10" dirty="0">
                <a:solidFill>
                  <a:srgbClr val="4F81BB"/>
                </a:solidFill>
                <a:latin typeface="Calibri"/>
                <a:cs typeface="Calibri"/>
              </a:rPr>
              <a:t>work.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6356598"/>
            <a:ext cx="8641080" cy="50165"/>
          </a:xfrm>
          <a:custGeom>
            <a:avLst/>
            <a:gdLst/>
            <a:ahLst/>
            <a:cxnLst/>
            <a:rect l="l" t="t" r="r" b="b"/>
            <a:pathLst>
              <a:path w="8641080" h="50164">
                <a:moveTo>
                  <a:pt x="8640699" y="0"/>
                </a:moveTo>
                <a:lnTo>
                  <a:pt x="0" y="0"/>
                </a:lnTo>
                <a:lnTo>
                  <a:pt x="0" y="49789"/>
                </a:lnTo>
                <a:lnTo>
                  <a:pt x="8640699" y="49789"/>
                </a:lnTo>
                <a:lnTo>
                  <a:pt x="8640699" y="0"/>
                </a:lnTo>
                <a:close/>
              </a:path>
            </a:pathLst>
          </a:custGeom>
          <a:solidFill>
            <a:srgbClr val="487C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44259" y="392049"/>
            <a:ext cx="24555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25" dirty="0">
                <a:latin typeface="Calibri"/>
                <a:cs typeface="Calibri"/>
              </a:rPr>
              <a:t>Introduction-</a:t>
            </a:r>
            <a:r>
              <a:rPr b="1" spc="-50" dirty="0">
                <a:latin typeface="Calibri"/>
                <a:cs typeface="Calibri"/>
              </a:rPr>
              <a:t>2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8678545" cy="935990"/>
            <a:chOff x="0" y="0"/>
            <a:chExt cx="8678545" cy="93599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64108" cy="90830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93241" y="910589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4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object 3"/>
          <p:cNvSpPr txBox="1"/>
          <p:nvPr/>
        </p:nvSpPr>
        <p:spPr>
          <a:xfrm>
            <a:off x="535635" y="1059891"/>
            <a:ext cx="8086725" cy="489775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1790" marR="8255" indent="-339090" algn="just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distributed</a:t>
            </a:r>
            <a:r>
              <a:rPr sz="2400" b="1" u="sng" spc="3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system</a:t>
            </a:r>
            <a:r>
              <a:rPr sz="2400" b="1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77B"/>
                </a:solidFill>
                <a:latin typeface="Calibri"/>
                <a:cs typeface="Calibri"/>
              </a:rPr>
              <a:t>collection</a:t>
            </a:r>
            <a:r>
              <a:rPr sz="2400" spc="325" dirty="0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77B"/>
                </a:solidFill>
                <a:latin typeface="Calibri"/>
                <a:cs typeface="Calibri"/>
              </a:rPr>
              <a:t>of</a:t>
            </a:r>
            <a:r>
              <a:rPr sz="2400" spc="330" dirty="0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77B"/>
                </a:solidFill>
                <a:latin typeface="Calibri"/>
                <a:cs typeface="Calibri"/>
              </a:rPr>
              <a:t>independent</a:t>
            </a:r>
            <a:r>
              <a:rPr sz="2400" spc="315" dirty="0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77B"/>
                </a:solidFill>
                <a:latin typeface="Calibri"/>
                <a:cs typeface="Calibri"/>
              </a:rPr>
              <a:t>entities 	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77B"/>
                </a:solidFill>
                <a:latin typeface="Calibri"/>
                <a:cs typeface="Calibri"/>
              </a:rPr>
              <a:t>cooperate</a:t>
            </a:r>
            <a:r>
              <a:rPr sz="2400" spc="95" dirty="0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solve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cannot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individually 	solved.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351790" marR="5080" indent="-339090" algn="just">
              <a:lnSpc>
                <a:spcPct val="801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Distributed</a:t>
            </a:r>
            <a:r>
              <a:rPr sz="2400" spc="5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system</a:t>
            </a:r>
            <a:r>
              <a:rPr sz="2400" spc="5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5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5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characterized</a:t>
            </a:r>
            <a:r>
              <a:rPr sz="2400" spc="5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5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collection</a:t>
            </a:r>
            <a:r>
              <a:rPr sz="2400" spc="5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mostly</a:t>
            </a:r>
            <a:r>
              <a:rPr sz="2400" spc="500" dirty="0"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1F477B"/>
                </a:solidFill>
                <a:latin typeface="Calibri"/>
                <a:cs typeface="Calibri"/>
              </a:rPr>
              <a:t>autonomous</a:t>
            </a:r>
            <a:r>
              <a:rPr sz="2400" spc="495" dirty="0">
                <a:solidFill>
                  <a:srgbClr val="1F477B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1F477B"/>
                </a:solidFill>
                <a:latin typeface="Calibri"/>
                <a:cs typeface="Calibri"/>
              </a:rPr>
              <a:t>processors</a:t>
            </a:r>
            <a:r>
              <a:rPr sz="2400" spc="505" dirty="0">
                <a:solidFill>
                  <a:srgbClr val="1F477B"/>
                </a:solidFill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communicating</a:t>
            </a:r>
            <a:r>
              <a:rPr sz="2400" spc="4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515" dirty="0">
                <a:latin typeface="Calibri"/>
                <a:cs typeface="Calibri"/>
              </a:rPr>
              <a:t> 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spc="-10" dirty="0">
                <a:solidFill>
                  <a:srgbClr val="1F477B"/>
                </a:solidFill>
                <a:latin typeface="Calibri"/>
                <a:cs typeface="Calibri"/>
              </a:rPr>
              <a:t>communication</a:t>
            </a:r>
            <a:r>
              <a:rPr sz="2400" spc="-114" dirty="0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77B"/>
                </a:solidFill>
                <a:latin typeface="Calibri"/>
                <a:cs typeface="Calibri"/>
              </a:rPr>
              <a:t>network</a:t>
            </a:r>
            <a:r>
              <a:rPr sz="2400" spc="-10" dirty="0">
                <a:solidFill>
                  <a:srgbClr val="4F81BB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0"/>
              </a:spcBef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351790" marR="7620" indent="-339090" algn="just">
              <a:lnSpc>
                <a:spcPct val="8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Distributed</a:t>
            </a:r>
            <a:r>
              <a:rPr sz="2400" b="1" u="sng" spc="2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computing</a:t>
            </a:r>
            <a:r>
              <a:rPr sz="2400" b="1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refers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single 	</a:t>
            </a:r>
            <a:r>
              <a:rPr sz="2400" dirty="0">
                <a:latin typeface="Calibri"/>
                <a:cs typeface="Calibri"/>
              </a:rPr>
              <a:t>computer</a:t>
            </a:r>
            <a:r>
              <a:rPr sz="2400" spc="3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program</a:t>
            </a:r>
            <a:r>
              <a:rPr sz="2400" spc="3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runs</a:t>
            </a:r>
            <a:r>
              <a:rPr sz="2400" spc="3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3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3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computer</a:t>
            </a:r>
            <a:r>
              <a:rPr sz="2400" spc="3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3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351790" marR="5715" indent="-339090" algn="just">
              <a:lnSpc>
                <a:spcPct val="798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distributed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computing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program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77B"/>
                </a:solidFill>
                <a:latin typeface="Calibri"/>
                <a:cs typeface="Calibri"/>
              </a:rPr>
              <a:t>is</a:t>
            </a:r>
            <a:r>
              <a:rPr sz="2400" spc="110" dirty="0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77B"/>
                </a:solidFill>
                <a:latin typeface="Calibri"/>
                <a:cs typeface="Calibri"/>
              </a:rPr>
              <a:t>split</a:t>
            </a:r>
            <a:r>
              <a:rPr sz="2400" spc="110" dirty="0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77B"/>
                </a:solidFill>
                <a:latin typeface="Calibri"/>
                <a:cs typeface="Calibri"/>
              </a:rPr>
              <a:t>up</a:t>
            </a:r>
            <a:r>
              <a:rPr sz="2400" spc="110" dirty="0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77B"/>
                </a:solidFill>
                <a:latin typeface="Calibri"/>
                <a:cs typeface="Calibri"/>
              </a:rPr>
              <a:t>into</a:t>
            </a:r>
            <a:r>
              <a:rPr sz="2400" spc="110" dirty="0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477B"/>
                </a:solidFill>
                <a:latin typeface="Calibri"/>
                <a:cs typeface="Calibri"/>
              </a:rPr>
              <a:t>parts</a:t>
            </a:r>
            <a:r>
              <a:rPr sz="2400" spc="110" dirty="0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than 	</a:t>
            </a:r>
            <a:r>
              <a:rPr sz="2400" dirty="0">
                <a:solidFill>
                  <a:srgbClr val="1F477B"/>
                </a:solidFill>
                <a:latin typeface="Calibri"/>
                <a:cs typeface="Calibri"/>
              </a:rPr>
              <a:t>run</a:t>
            </a:r>
            <a:r>
              <a:rPr sz="2400" spc="100" dirty="0">
                <a:solidFill>
                  <a:srgbClr val="1F477B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1F477B"/>
                </a:solidFill>
                <a:latin typeface="Calibri"/>
                <a:cs typeface="Calibri"/>
              </a:rPr>
              <a:t>simultaneously</a:t>
            </a:r>
            <a:r>
              <a:rPr sz="2400" spc="100" dirty="0">
                <a:solidFill>
                  <a:srgbClr val="1F477B"/>
                </a:solidFill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computers</a:t>
            </a:r>
            <a:r>
              <a:rPr sz="2400" spc="95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communicating 	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44259" y="392049"/>
            <a:ext cx="24555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25" dirty="0">
                <a:latin typeface="Calibri"/>
                <a:cs typeface="Calibri"/>
              </a:rPr>
              <a:t>Introduction-</a:t>
            </a:r>
            <a:r>
              <a:rPr b="1" spc="-50" dirty="0">
                <a:latin typeface="Calibri"/>
                <a:cs typeface="Calibri"/>
              </a:rPr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101" y="865759"/>
            <a:ext cx="7860665" cy="490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b="1" spc="-10" dirty="0">
                <a:latin typeface="Calibri"/>
                <a:cs typeface="Calibri"/>
              </a:rPr>
              <a:t>Distributed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75"/>
              </a:spcBef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753745" marR="6350" lvl="1" indent="-284480" algn="just">
              <a:lnSpc>
                <a:spcPct val="91700"/>
              </a:lnSpc>
              <a:spcBef>
                <a:spcPts val="5"/>
              </a:spcBef>
              <a:buFont typeface="Wingdings"/>
              <a:buChar char="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3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3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3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3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hardware</a:t>
            </a:r>
            <a:r>
              <a:rPr sz="2000" spc="3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3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software</a:t>
            </a:r>
            <a:r>
              <a:rPr sz="2000" spc="3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components</a:t>
            </a:r>
            <a:r>
              <a:rPr sz="2000" spc="3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located</a:t>
            </a:r>
            <a:r>
              <a:rPr sz="2000" spc="39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at 	</a:t>
            </a:r>
            <a:r>
              <a:rPr sz="2000" b="1" dirty="0">
                <a:solidFill>
                  <a:srgbClr val="4F81BB"/>
                </a:solidFill>
                <a:latin typeface="Calibri"/>
                <a:cs typeface="Calibri"/>
              </a:rPr>
              <a:t>networked</a:t>
            </a:r>
            <a:r>
              <a:rPr sz="2000" b="1" spc="345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F81BB"/>
                </a:solidFill>
                <a:latin typeface="Calibri"/>
                <a:cs typeface="Calibri"/>
              </a:rPr>
              <a:t>computers</a:t>
            </a:r>
            <a:r>
              <a:rPr sz="2000" b="1" spc="355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communicate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coordinate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actions 	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passing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messages.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50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753745" lvl="1" indent="-284480">
              <a:lnSpc>
                <a:spcPts val="2305"/>
              </a:lnSpc>
              <a:buFont typeface="Wingdings"/>
              <a:buChar char=""/>
              <a:tabLst>
                <a:tab pos="75374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collection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F81BB"/>
                </a:solidFill>
                <a:latin typeface="Calibri"/>
                <a:cs typeface="Calibri"/>
              </a:rPr>
              <a:t>independent</a:t>
            </a:r>
            <a:r>
              <a:rPr sz="2000" b="1" spc="45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F81BB"/>
                </a:solidFill>
                <a:latin typeface="Calibri"/>
                <a:cs typeface="Calibri"/>
              </a:rPr>
              <a:t>computers</a:t>
            </a:r>
            <a:r>
              <a:rPr sz="2000" b="1" spc="45" dirty="0">
                <a:solidFill>
                  <a:srgbClr val="4F81BB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appear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users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756285">
              <a:lnSpc>
                <a:spcPts val="2305"/>
              </a:lnSpc>
            </a:pPr>
            <a:r>
              <a:rPr sz="2000" dirty="0">
                <a:latin typeface="Calibri"/>
                <a:cs typeface="Calibri"/>
              </a:rPr>
              <a:t>single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coherent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2000">
              <a:latin typeface="Calibri"/>
              <a:cs typeface="Calibri"/>
            </a:endParaRPr>
          </a:p>
          <a:p>
            <a:pPr marL="755015" lvl="1" indent="-28575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parallel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computer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implicitly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distributed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1F477B"/>
                </a:solidFill>
                <a:latin typeface="Calibri"/>
                <a:cs typeface="Calibri"/>
              </a:rPr>
              <a:t>Examples</a:t>
            </a:r>
            <a:r>
              <a:rPr sz="2000" spc="-1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753745" indent="-284480">
              <a:lnSpc>
                <a:spcPct val="100000"/>
              </a:lnSpc>
              <a:spcBef>
                <a:spcPts val="490"/>
              </a:spcBef>
              <a:buFont typeface="Arial MT"/>
              <a:buChar char="–"/>
              <a:tabLst>
                <a:tab pos="753745" algn="l"/>
              </a:tabLst>
            </a:pPr>
            <a:r>
              <a:rPr sz="2000" dirty="0">
                <a:latin typeface="Calibri"/>
                <a:cs typeface="Calibri"/>
              </a:rPr>
              <a:t>Network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workstations</a:t>
            </a:r>
            <a:endParaRPr sz="2000">
              <a:latin typeface="Calibri"/>
              <a:cs typeface="Calibri"/>
            </a:endParaRPr>
          </a:p>
          <a:p>
            <a:pPr marL="753745" indent="-284480">
              <a:lnSpc>
                <a:spcPct val="100000"/>
              </a:lnSpc>
              <a:spcBef>
                <a:spcPts val="505"/>
              </a:spcBef>
              <a:buFont typeface="Arial MT"/>
              <a:buChar char="–"/>
              <a:tabLst>
                <a:tab pos="753745" algn="l"/>
              </a:tabLst>
            </a:pPr>
            <a:r>
              <a:rPr sz="2000" spc="-20" dirty="0">
                <a:latin typeface="Calibri"/>
                <a:cs typeface="Calibri"/>
              </a:rPr>
              <a:t>Distributed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manufacturing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(e.g.,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automated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assembly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line)</a:t>
            </a:r>
            <a:endParaRPr sz="2000">
              <a:latin typeface="Calibri"/>
              <a:cs typeface="Calibri"/>
            </a:endParaRPr>
          </a:p>
          <a:p>
            <a:pPr marL="753745" indent="-284480">
              <a:lnSpc>
                <a:spcPct val="100000"/>
              </a:lnSpc>
              <a:spcBef>
                <a:spcPts val="505"/>
              </a:spcBef>
              <a:buFont typeface="Arial MT"/>
              <a:buChar char="–"/>
              <a:tabLst>
                <a:tab pos="753745" algn="l"/>
              </a:tabLst>
            </a:pPr>
            <a:r>
              <a:rPr sz="2000" dirty="0">
                <a:latin typeface="Calibri"/>
                <a:cs typeface="Calibri"/>
              </a:rPr>
              <a:t>Network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branch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office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computers.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8678545" cy="935990"/>
            <a:chOff x="0" y="0"/>
            <a:chExt cx="8678545" cy="93599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64108" cy="90830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93241" y="910589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4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1375" y="981582"/>
            <a:ext cx="354837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1684655" algn="l"/>
                <a:tab pos="3006090" algn="l"/>
              </a:tabLst>
            </a:pPr>
            <a:r>
              <a:rPr sz="2000" i="1" spc="-10" dirty="0">
                <a:latin typeface="Calibri"/>
                <a:cs typeface="Calibri"/>
              </a:rPr>
              <a:t>Distributed</a:t>
            </a:r>
            <a:r>
              <a:rPr sz="2000" i="1" dirty="0">
                <a:latin typeface="Calibri"/>
                <a:cs typeface="Calibri"/>
              </a:rPr>
              <a:t>	</a:t>
            </a:r>
            <a:r>
              <a:rPr sz="2000" i="1" spc="-10" dirty="0">
                <a:latin typeface="Calibri"/>
                <a:cs typeface="Calibri"/>
              </a:rPr>
              <a:t>Computing</a:t>
            </a:r>
            <a:r>
              <a:rPr sz="2000" i="1" dirty="0">
                <a:latin typeface="Calibri"/>
                <a:cs typeface="Calibri"/>
              </a:rPr>
              <a:t>	</a:t>
            </a:r>
            <a:r>
              <a:rPr sz="2000" i="1" spc="-20" dirty="0">
                <a:latin typeface="Calibri"/>
                <a:cs typeface="Calibri"/>
              </a:rPr>
              <a:t>deals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64177" y="981582"/>
            <a:ext cx="43529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57225" algn="l"/>
                <a:tab pos="1845945" algn="l"/>
                <a:tab pos="2426970" algn="l"/>
                <a:tab pos="3528695" algn="l"/>
              </a:tabLst>
            </a:pPr>
            <a:r>
              <a:rPr sz="2000" i="1" spc="-20" dirty="0">
                <a:latin typeface="Calibri"/>
                <a:cs typeface="Calibri"/>
              </a:rPr>
              <a:t>with</a:t>
            </a:r>
            <a:r>
              <a:rPr sz="2000" i="1" dirty="0">
                <a:latin typeface="Calibri"/>
                <a:cs typeface="Calibri"/>
              </a:rPr>
              <a:t>	</a:t>
            </a:r>
            <a:r>
              <a:rPr sz="2000" i="1" spc="-10" dirty="0">
                <a:latin typeface="Calibri"/>
                <a:cs typeface="Calibri"/>
              </a:rPr>
              <a:t>hardware</a:t>
            </a:r>
            <a:r>
              <a:rPr sz="2000" i="1" dirty="0">
                <a:latin typeface="Calibri"/>
                <a:cs typeface="Calibri"/>
              </a:rPr>
              <a:t>	</a:t>
            </a:r>
            <a:r>
              <a:rPr sz="2000" i="1" spc="-25" dirty="0">
                <a:latin typeface="Calibri"/>
                <a:cs typeface="Calibri"/>
              </a:rPr>
              <a:t>and</a:t>
            </a:r>
            <a:r>
              <a:rPr sz="2000" i="1" dirty="0">
                <a:latin typeface="Calibri"/>
                <a:cs typeface="Calibri"/>
              </a:rPr>
              <a:t>	</a:t>
            </a:r>
            <a:r>
              <a:rPr sz="2000" i="1" spc="-10" dirty="0">
                <a:latin typeface="Calibri"/>
                <a:cs typeface="Calibri"/>
              </a:rPr>
              <a:t>software</a:t>
            </a:r>
            <a:r>
              <a:rPr sz="2000" i="1" dirty="0">
                <a:latin typeface="Calibri"/>
                <a:cs typeface="Calibri"/>
              </a:rPr>
              <a:t>	</a:t>
            </a:r>
            <a:r>
              <a:rPr sz="2000" i="1" spc="-10" dirty="0">
                <a:latin typeface="Calibri"/>
                <a:cs typeface="Calibri"/>
              </a:rPr>
              <a:t>systems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58190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0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52720">
              <a:lnSpc>
                <a:spcPct val="100000"/>
              </a:lnSpc>
              <a:spcBef>
                <a:spcPts val="100"/>
              </a:spcBef>
            </a:pPr>
            <a:r>
              <a:rPr b="1" spc="-25" dirty="0">
                <a:latin typeface="Calibri"/>
                <a:cs typeface="Calibri"/>
              </a:rPr>
              <a:t>Introduction-</a:t>
            </a:r>
            <a:r>
              <a:rPr b="1" spc="-50" dirty="0">
                <a:latin typeface="Calibri"/>
                <a:cs typeface="Calibri"/>
              </a:rPr>
              <a:t>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1375" y="1286077"/>
            <a:ext cx="8085455" cy="2401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algn="just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Calibri"/>
                <a:cs typeface="Calibri"/>
              </a:rPr>
              <a:t>containing</a:t>
            </a:r>
            <a:r>
              <a:rPr sz="2000" i="1" spc="165" dirty="0"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more</a:t>
            </a:r>
            <a:r>
              <a:rPr sz="2000" i="1" spc="180" dirty="0"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than</a:t>
            </a:r>
            <a:r>
              <a:rPr sz="2000" i="1" spc="170" dirty="0"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one</a:t>
            </a:r>
            <a:r>
              <a:rPr sz="2000" i="1" spc="170" dirty="0">
                <a:latin typeface="Calibri"/>
                <a:cs typeface="Calibri"/>
              </a:rPr>
              <a:t> 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processing</a:t>
            </a:r>
            <a:r>
              <a:rPr sz="2000" b="1" i="1" u="sng" spc="1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element</a:t>
            </a:r>
            <a:r>
              <a:rPr sz="2000" b="1" i="1" u="sng" spc="1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 </a:t>
            </a:r>
            <a:r>
              <a:rPr sz="2000" i="1" dirty="0">
                <a:latin typeface="Calibri"/>
                <a:cs typeface="Calibri"/>
              </a:rPr>
              <a:t>or</a:t>
            </a:r>
            <a:r>
              <a:rPr sz="2000" i="1" spc="170" dirty="0">
                <a:latin typeface="Calibri"/>
                <a:cs typeface="Calibri"/>
              </a:rPr>
              <a:t> 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storage</a:t>
            </a:r>
            <a:r>
              <a:rPr sz="2000" b="1" i="1" u="sng" spc="1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 </a:t>
            </a:r>
            <a:r>
              <a:rPr sz="2000" b="1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element</a:t>
            </a:r>
            <a:r>
              <a:rPr sz="2000" i="1" spc="-10" dirty="0">
                <a:latin typeface="Calibri"/>
                <a:cs typeface="Calibri"/>
              </a:rPr>
              <a:t>,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concurrent</a:t>
            </a:r>
            <a:r>
              <a:rPr sz="2000" b="1" i="1" u="sng" spc="3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processes</a:t>
            </a:r>
            <a:r>
              <a:rPr sz="2000" i="1" dirty="0">
                <a:latin typeface="Calibri"/>
                <a:cs typeface="Calibri"/>
              </a:rPr>
              <a:t>,</a:t>
            </a:r>
            <a:r>
              <a:rPr sz="2000" i="1" spc="38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or</a:t>
            </a:r>
            <a:r>
              <a:rPr sz="2000" i="1" spc="37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multiple</a:t>
            </a:r>
            <a:r>
              <a:rPr sz="2000" i="1" spc="38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programs</a:t>
            </a:r>
            <a:r>
              <a:rPr sz="2000" i="1" spc="39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running</a:t>
            </a:r>
            <a:r>
              <a:rPr sz="2000" i="1" spc="37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under</a:t>
            </a:r>
            <a:r>
              <a:rPr sz="2000" i="1" spc="38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</a:t>
            </a:r>
            <a:r>
              <a:rPr sz="2000" i="1" spc="37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loosely</a:t>
            </a:r>
            <a:r>
              <a:rPr sz="2000" i="1" spc="365" dirty="0">
                <a:latin typeface="Calibri"/>
                <a:cs typeface="Calibri"/>
              </a:rPr>
              <a:t> </a:t>
            </a:r>
            <a:r>
              <a:rPr sz="2000" i="1" spc="-25" dirty="0">
                <a:latin typeface="Calibri"/>
                <a:cs typeface="Calibri"/>
              </a:rPr>
              <a:t>or </a:t>
            </a:r>
            <a:r>
              <a:rPr sz="2000" i="1" dirty="0">
                <a:latin typeface="Calibri"/>
                <a:cs typeface="Calibri"/>
              </a:rPr>
              <a:t>tightly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controlled</a:t>
            </a:r>
            <a:r>
              <a:rPr sz="2000" i="1" spc="-8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regime.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i="1" spc="-20" dirty="0">
                <a:latin typeface="Calibri"/>
                <a:cs typeface="Calibri"/>
              </a:rPr>
              <a:t>Two</a:t>
            </a:r>
            <a:r>
              <a:rPr sz="2000" i="1" spc="-8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aspects:</a:t>
            </a:r>
            <a:endParaRPr sz="2000">
              <a:latin typeface="Calibri"/>
              <a:cs typeface="Calibri"/>
            </a:endParaRPr>
          </a:p>
          <a:p>
            <a:pPr marL="1270000" lvl="1" indent="-457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1270000" algn="l"/>
              </a:tabLst>
            </a:pPr>
            <a:r>
              <a:rPr sz="2000" i="1" dirty="0">
                <a:solidFill>
                  <a:srgbClr val="1F477B"/>
                </a:solidFill>
                <a:latin typeface="Calibri"/>
                <a:cs typeface="Calibri"/>
              </a:rPr>
              <a:t>Hardware</a:t>
            </a:r>
            <a:r>
              <a:rPr sz="2000" i="1" dirty="0">
                <a:latin typeface="Calibri"/>
                <a:cs typeface="Calibri"/>
              </a:rPr>
              <a:t>:</a:t>
            </a:r>
            <a:r>
              <a:rPr sz="2000" i="1" spc="-8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-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autonomous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computers</a:t>
            </a:r>
            <a:endParaRPr sz="2000">
              <a:latin typeface="Calibri"/>
              <a:cs typeface="Calibri"/>
            </a:endParaRPr>
          </a:p>
          <a:p>
            <a:pPr marL="1270000" lvl="1" indent="-457200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1270000" algn="l"/>
              </a:tabLst>
            </a:pPr>
            <a:r>
              <a:rPr sz="2000" i="1" spc="-10" dirty="0">
                <a:solidFill>
                  <a:srgbClr val="1F477B"/>
                </a:solidFill>
                <a:latin typeface="Calibri"/>
                <a:cs typeface="Calibri"/>
              </a:rPr>
              <a:t>Software</a:t>
            </a:r>
            <a:r>
              <a:rPr sz="2000" i="1" spc="-10" dirty="0">
                <a:latin typeface="Calibri"/>
                <a:cs typeface="Calibri"/>
              </a:rPr>
              <a:t>:</a:t>
            </a:r>
            <a:r>
              <a:rPr sz="2000" i="1" spc="-10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-</a:t>
            </a:r>
            <a:r>
              <a:rPr sz="2000" i="1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users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think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dealing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single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61" y="3883152"/>
            <a:ext cx="8677910" cy="2524125"/>
            <a:chOff x="761" y="3883152"/>
            <a:chExt cx="8677910" cy="252412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3447" y="3883152"/>
              <a:ext cx="4661915" cy="244754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61" y="6381750"/>
              <a:ext cx="8677910" cy="0"/>
            </a:xfrm>
            <a:custGeom>
              <a:avLst/>
              <a:gdLst/>
              <a:ahLst/>
              <a:cxnLst/>
              <a:rect l="l" t="t" r="r" b="b"/>
              <a:pathLst>
                <a:path w="8677910">
                  <a:moveTo>
                    <a:pt x="0" y="0"/>
                  </a:moveTo>
                  <a:lnTo>
                    <a:pt x="8677529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933068"/>
            <a:ext cx="54044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330" algn="l"/>
              </a:tabLst>
            </a:pPr>
            <a:r>
              <a:rPr sz="2800" dirty="0">
                <a:latin typeface="Calibri"/>
                <a:cs typeface="Calibri"/>
              </a:rPr>
              <a:t>Ingredients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Distributed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17" name="object 1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52720">
              <a:lnSpc>
                <a:spcPct val="100000"/>
              </a:lnSpc>
              <a:spcBef>
                <a:spcPts val="100"/>
              </a:spcBef>
            </a:pPr>
            <a:r>
              <a:rPr b="1" spc="-25" dirty="0">
                <a:latin typeface="Calibri"/>
                <a:cs typeface="Calibri"/>
              </a:rPr>
              <a:t>Introduction-</a:t>
            </a:r>
            <a:r>
              <a:rPr b="1" spc="-50" dirty="0">
                <a:latin typeface="Calibri"/>
                <a:cs typeface="Calibri"/>
              </a:rPr>
              <a:t>4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676400"/>
            <a:ext cx="3505200" cy="2133600"/>
          </a:xfrm>
          <a:custGeom>
            <a:avLst/>
            <a:gdLst/>
            <a:ahLst/>
            <a:cxnLst/>
            <a:rect l="l" t="t" r="r" b="b"/>
            <a:pathLst>
              <a:path w="3505200" h="2133600">
                <a:moveTo>
                  <a:pt x="0" y="2133600"/>
                </a:moveTo>
                <a:lnTo>
                  <a:pt x="3505200" y="2133600"/>
                </a:lnTo>
                <a:lnTo>
                  <a:pt x="3505200" y="0"/>
                </a:lnTo>
                <a:lnTo>
                  <a:pt x="0" y="0"/>
                </a:lnTo>
                <a:lnTo>
                  <a:pt x="0" y="2133600"/>
                </a:lnTo>
                <a:close/>
              </a:path>
            </a:pathLst>
          </a:custGeom>
          <a:ln w="9144">
            <a:solidFill>
              <a:srgbClr val="FF6600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57465" y="2038921"/>
          <a:ext cx="3048000" cy="930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0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Component-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Component-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45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Hardware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364994" y="3452240"/>
            <a:ext cx="5048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Times New Roman"/>
                <a:cs typeface="Times New Roman"/>
              </a:rPr>
              <a:t>Host-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600" y="1676400"/>
            <a:ext cx="3505200" cy="2133600"/>
          </a:xfrm>
          <a:custGeom>
            <a:avLst/>
            <a:gdLst/>
            <a:ahLst/>
            <a:cxnLst/>
            <a:rect l="l" t="t" r="r" b="b"/>
            <a:pathLst>
              <a:path w="3505200" h="2133600">
                <a:moveTo>
                  <a:pt x="0" y="2133600"/>
                </a:moveTo>
                <a:lnTo>
                  <a:pt x="3505200" y="2133600"/>
                </a:lnTo>
                <a:lnTo>
                  <a:pt x="3505200" y="0"/>
                </a:lnTo>
                <a:lnTo>
                  <a:pt x="0" y="0"/>
                </a:lnTo>
                <a:lnTo>
                  <a:pt x="0" y="2133600"/>
                </a:lnTo>
                <a:close/>
              </a:path>
            </a:pathLst>
          </a:custGeom>
          <a:ln w="9144">
            <a:solidFill>
              <a:srgbClr val="FF6600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019865" y="2038921"/>
          <a:ext cx="3048000" cy="930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055"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Component-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Component-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45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 gridSpan="3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Hardware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328664" y="3452240"/>
            <a:ext cx="5048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Times New Roman"/>
                <a:cs typeface="Times New Roman"/>
              </a:rPr>
              <a:t>Host-</a:t>
            </a:r>
            <a:r>
              <a:rPr sz="1400" spc="-50" dirty="0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62200" y="4066032"/>
            <a:ext cx="3505200" cy="2133600"/>
          </a:xfrm>
          <a:custGeom>
            <a:avLst/>
            <a:gdLst/>
            <a:ahLst/>
            <a:cxnLst/>
            <a:rect l="l" t="t" r="r" b="b"/>
            <a:pathLst>
              <a:path w="3505200" h="2133600">
                <a:moveTo>
                  <a:pt x="0" y="2133600"/>
                </a:moveTo>
                <a:lnTo>
                  <a:pt x="3505200" y="2133600"/>
                </a:lnTo>
                <a:lnTo>
                  <a:pt x="3505200" y="0"/>
                </a:lnTo>
                <a:lnTo>
                  <a:pt x="0" y="0"/>
                </a:lnTo>
                <a:lnTo>
                  <a:pt x="0" y="2133600"/>
                </a:lnTo>
                <a:close/>
              </a:path>
            </a:pathLst>
          </a:custGeom>
          <a:ln w="9144">
            <a:solidFill>
              <a:srgbClr val="FF6600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7000" y="4800600"/>
            <a:ext cx="3048000" cy="400812"/>
          </a:xfrm>
          <a:prstGeom prst="rect">
            <a:avLst/>
          </a:prstGeom>
        </p:spPr>
      </p:pic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657665" y="4477321"/>
          <a:ext cx="3048000" cy="1235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69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Component-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Component-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marL="870585">
                        <a:lnSpc>
                          <a:spcPts val="2245"/>
                        </a:lnSpc>
                      </a:pPr>
                      <a:r>
                        <a:rPr sz="20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Middleware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725">
                <a:tc gridSpan="3">
                  <a:txBody>
                    <a:bodyPr/>
                    <a:lstStyle/>
                    <a:p>
                      <a:pPr algn="ctr">
                        <a:lnSpc>
                          <a:spcPts val="126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10">
                <a:tc gridSpan="3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Hardware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3965828" y="5891276"/>
            <a:ext cx="5048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Times New Roman"/>
                <a:cs typeface="Times New Roman"/>
              </a:rPr>
              <a:t>Host-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object 28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29" name="object 29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52720">
              <a:lnSpc>
                <a:spcPct val="100000"/>
              </a:lnSpc>
              <a:spcBef>
                <a:spcPts val="100"/>
              </a:spcBef>
            </a:pPr>
            <a:r>
              <a:rPr b="1" spc="-25" dirty="0">
                <a:latin typeface="Calibri"/>
                <a:cs typeface="Calibri"/>
              </a:rPr>
              <a:t>Introduction-</a:t>
            </a:r>
            <a:r>
              <a:rPr b="1" spc="-50" dirty="0">
                <a:latin typeface="Calibri"/>
                <a:cs typeface="Calibri"/>
              </a:rPr>
              <a:t>5</a:t>
            </a:r>
          </a:p>
        </p:txBody>
      </p:sp>
      <p:sp>
        <p:nvSpPr>
          <p:cNvPr id="2" name="object 2"/>
          <p:cNvSpPr/>
          <p:nvPr/>
        </p:nvSpPr>
        <p:spPr>
          <a:xfrm>
            <a:off x="533400" y="175260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0" y="1828800"/>
                </a:moveTo>
                <a:lnTo>
                  <a:pt x="3200400" y="1828800"/>
                </a:lnTo>
                <a:lnTo>
                  <a:pt x="32004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ln w="9144">
            <a:solidFill>
              <a:srgbClr val="FF6600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2286000"/>
            <a:ext cx="3048000" cy="313944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00265" y="1962721"/>
          <a:ext cx="3048000" cy="1235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0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Component-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Component-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45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Middleware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Hardware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5410200" y="1676400"/>
            <a:ext cx="3200400" cy="1828800"/>
          </a:xfrm>
          <a:custGeom>
            <a:avLst/>
            <a:gdLst/>
            <a:ahLst/>
            <a:cxnLst/>
            <a:rect l="l" t="t" r="r" b="b"/>
            <a:pathLst>
              <a:path w="3200400" h="1828800">
                <a:moveTo>
                  <a:pt x="0" y="1828800"/>
                </a:moveTo>
                <a:lnTo>
                  <a:pt x="3200400" y="1828800"/>
                </a:lnTo>
                <a:lnTo>
                  <a:pt x="32004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ln w="9144">
            <a:solidFill>
              <a:srgbClr val="FF6600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6400" y="2209800"/>
            <a:ext cx="3048000" cy="313944"/>
          </a:xfrm>
          <a:prstGeom prst="rect">
            <a:avLst/>
          </a:prstGeom>
        </p:spPr>
      </p:pic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477065" y="1886521"/>
          <a:ext cx="3048000" cy="1235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05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Component-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Component-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45">
                <a:tc gridSpan="3"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Middleware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 gridSpan="3"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Hardware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907539" y="3376040"/>
            <a:ext cx="50545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Times New Roman"/>
                <a:cs typeface="Times New Roman"/>
              </a:rPr>
              <a:t>Host-</a:t>
            </a: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81437" y="3271837"/>
            <a:ext cx="1457325" cy="923925"/>
            <a:chOff x="3881437" y="3271837"/>
            <a:chExt cx="1457325" cy="92392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6200" y="3276600"/>
              <a:ext cx="1447800" cy="9144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886200" y="3276600"/>
              <a:ext cx="1447800" cy="914400"/>
            </a:xfrm>
            <a:custGeom>
              <a:avLst/>
              <a:gdLst/>
              <a:ahLst/>
              <a:cxnLst/>
              <a:rect l="l" t="t" r="r" b="b"/>
              <a:pathLst>
                <a:path w="1447800" h="914400">
                  <a:moveTo>
                    <a:pt x="0" y="457200"/>
                  </a:moveTo>
                  <a:lnTo>
                    <a:pt x="9525" y="383031"/>
                  </a:lnTo>
                  <a:lnTo>
                    <a:pt x="36957" y="312674"/>
                  </a:lnTo>
                  <a:lnTo>
                    <a:pt x="56896" y="279273"/>
                  </a:lnTo>
                  <a:lnTo>
                    <a:pt x="80772" y="247141"/>
                  </a:lnTo>
                  <a:lnTo>
                    <a:pt x="108458" y="216408"/>
                  </a:lnTo>
                  <a:lnTo>
                    <a:pt x="139700" y="187198"/>
                  </a:lnTo>
                  <a:lnTo>
                    <a:pt x="174244" y="159638"/>
                  </a:lnTo>
                  <a:lnTo>
                    <a:pt x="211962" y="133858"/>
                  </a:lnTo>
                  <a:lnTo>
                    <a:pt x="252857" y="110109"/>
                  </a:lnTo>
                  <a:lnTo>
                    <a:pt x="296417" y="88264"/>
                  </a:lnTo>
                  <a:lnTo>
                    <a:pt x="342519" y="68452"/>
                  </a:lnTo>
                  <a:lnTo>
                    <a:pt x="391287" y="51053"/>
                  </a:lnTo>
                  <a:lnTo>
                    <a:pt x="442087" y="35940"/>
                  </a:lnTo>
                  <a:lnTo>
                    <a:pt x="495046" y="23367"/>
                  </a:lnTo>
                  <a:lnTo>
                    <a:pt x="549910" y="13335"/>
                  </a:lnTo>
                  <a:lnTo>
                    <a:pt x="606425" y="5969"/>
                  </a:lnTo>
                  <a:lnTo>
                    <a:pt x="664590" y="1524"/>
                  </a:lnTo>
                  <a:lnTo>
                    <a:pt x="723900" y="0"/>
                  </a:lnTo>
                  <a:lnTo>
                    <a:pt x="783209" y="1524"/>
                  </a:lnTo>
                  <a:lnTo>
                    <a:pt x="841375" y="5969"/>
                  </a:lnTo>
                  <a:lnTo>
                    <a:pt x="897889" y="13335"/>
                  </a:lnTo>
                  <a:lnTo>
                    <a:pt x="952753" y="23367"/>
                  </a:lnTo>
                  <a:lnTo>
                    <a:pt x="1005713" y="35940"/>
                  </a:lnTo>
                  <a:lnTo>
                    <a:pt x="1056513" y="51053"/>
                  </a:lnTo>
                  <a:lnTo>
                    <a:pt x="1105153" y="68452"/>
                  </a:lnTo>
                  <a:lnTo>
                    <a:pt x="1151382" y="88264"/>
                  </a:lnTo>
                  <a:lnTo>
                    <a:pt x="1194942" y="110109"/>
                  </a:lnTo>
                  <a:lnTo>
                    <a:pt x="1235710" y="133858"/>
                  </a:lnTo>
                  <a:lnTo>
                    <a:pt x="1273555" y="159638"/>
                  </a:lnTo>
                  <a:lnTo>
                    <a:pt x="1308100" y="187198"/>
                  </a:lnTo>
                  <a:lnTo>
                    <a:pt x="1339341" y="216408"/>
                  </a:lnTo>
                  <a:lnTo>
                    <a:pt x="1367027" y="247141"/>
                  </a:lnTo>
                  <a:lnTo>
                    <a:pt x="1390903" y="279273"/>
                  </a:lnTo>
                  <a:lnTo>
                    <a:pt x="1410842" y="312674"/>
                  </a:lnTo>
                  <a:lnTo>
                    <a:pt x="1438275" y="383031"/>
                  </a:lnTo>
                  <a:lnTo>
                    <a:pt x="1447800" y="457200"/>
                  </a:lnTo>
                  <a:lnTo>
                    <a:pt x="1445387" y="494664"/>
                  </a:lnTo>
                  <a:lnTo>
                    <a:pt x="1426717" y="567055"/>
                  </a:lnTo>
                  <a:lnTo>
                    <a:pt x="1390903" y="635126"/>
                  </a:lnTo>
                  <a:lnTo>
                    <a:pt x="1367027" y="667257"/>
                  </a:lnTo>
                  <a:lnTo>
                    <a:pt x="1339341" y="697992"/>
                  </a:lnTo>
                  <a:lnTo>
                    <a:pt x="1308100" y="727201"/>
                  </a:lnTo>
                  <a:lnTo>
                    <a:pt x="1273555" y="754761"/>
                  </a:lnTo>
                  <a:lnTo>
                    <a:pt x="1235710" y="780414"/>
                  </a:lnTo>
                  <a:lnTo>
                    <a:pt x="1194942" y="804291"/>
                  </a:lnTo>
                  <a:lnTo>
                    <a:pt x="1151382" y="826135"/>
                  </a:lnTo>
                  <a:lnTo>
                    <a:pt x="1105153" y="845947"/>
                  </a:lnTo>
                  <a:lnTo>
                    <a:pt x="1056513" y="863345"/>
                  </a:lnTo>
                  <a:lnTo>
                    <a:pt x="1005713" y="878458"/>
                  </a:lnTo>
                  <a:lnTo>
                    <a:pt x="952753" y="891032"/>
                  </a:lnTo>
                  <a:lnTo>
                    <a:pt x="897889" y="901064"/>
                  </a:lnTo>
                  <a:lnTo>
                    <a:pt x="841375" y="908431"/>
                  </a:lnTo>
                  <a:lnTo>
                    <a:pt x="783209" y="912876"/>
                  </a:lnTo>
                  <a:lnTo>
                    <a:pt x="723900" y="914400"/>
                  </a:lnTo>
                  <a:lnTo>
                    <a:pt x="664590" y="912876"/>
                  </a:lnTo>
                  <a:lnTo>
                    <a:pt x="606425" y="908431"/>
                  </a:lnTo>
                  <a:lnTo>
                    <a:pt x="549910" y="901064"/>
                  </a:lnTo>
                  <a:lnTo>
                    <a:pt x="495046" y="891032"/>
                  </a:lnTo>
                  <a:lnTo>
                    <a:pt x="442087" y="878458"/>
                  </a:lnTo>
                  <a:lnTo>
                    <a:pt x="391287" y="863345"/>
                  </a:lnTo>
                  <a:lnTo>
                    <a:pt x="342519" y="845947"/>
                  </a:lnTo>
                  <a:lnTo>
                    <a:pt x="296417" y="826135"/>
                  </a:lnTo>
                  <a:lnTo>
                    <a:pt x="252857" y="804291"/>
                  </a:lnTo>
                  <a:lnTo>
                    <a:pt x="211962" y="780414"/>
                  </a:lnTo>
                  <a:lnTo>
                    <a:pt x="174244" y="754761"/>
                  </a:lnTo>
                  <a:lnTo>
                    <a:pt x="139700" y="727201"/>
                  </a:lnTo>
                  <a:lnTo>
                    <a:pt x="108458" y="697992"/>
                  </a:lnTo>
                  <a:lnTo>
                    <a:pt x="80772" y="667257"/>
                  </a:lnTo>
                  <a:lnTo>
                    <a:pt x="56896" y="635126"/>
                  </a:lnTo>
                  <a:lnTo>
                    <a:pt x="36957" y="601726"/>
                  </a:lnTo>
                  <a:lnTo>
                    <a:pt x="9525" y="531368"/>
                  </a:lnTo>
                  <a:lnTo>
                    <a:pt x="0" y="457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785864" y="3299840"/>
            <a:ext cx="5124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imes New Roman"/>
                <a:cs typeface="Times New Roman"/>
              </a:rPr>
              <a:t>Host-</a:t>
            </a:r>
            <a:r>
              <a:rPr sz="1400" spc="-5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18228" y="3509517"/>
            <a:ext cx="821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Network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28637" y="3729037"/>
            <a:ext cx="3209925" cy="1838325"/>
            <a:chOff x="528637" y="3729037"/>
            <a:chExt cx="3209925" cy="1838325"/>
          </a:xfrm>
        </p:grpSpPr>
        <p:sp>
          <p:nvSpPr>
            <p:cNvPr id="12" name="object 12"/>
            <p:cNvSpPr/>
            <p:nvPr/>
          </p:nvSpPr>
          <p:spPr>
            <a:xfrm>
              <a:off x="533400" y="3733800"/>
              <a:ext cx="3200400" cy="1828800"/>
            </a:xfrm>
            <a:custGeom>
              <a:avLst/>
              <a:gdLst/>
              <a:ahLst/>
              <a:cxnLst/>
              <a:rect l="l" t="t" r="r" b="b"/>
              <a:pathLst>
                <a:path w="3200400" h="1828800">
                  <a:moveTo>
                    <a:pt x="0" y="1828800"/>
                  </a:moveTo>
                  <a:lnTo>
                    <a:pt x="3200400" y="1828800"/>
                  </a:lnTo>
                  <a:lnTo>
                    <a:pt x="3200400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</a:pathLst>
            </a:custGeom>
            <a:ln w="9144">
              <a:solidFill>
                <a:srgbClr val="FF6600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" y="4267200"/>
              <a:ext cx="3048000" cy="313944"/>
            </a:xfrm>
            <a:prstGeom prst="rect">
              <a:avLst/>
            </a:prstGeom>
          </p:spPr>
        </p:pic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600265" y="3943921"/>
          <a:ext cx="3048000" cy="1235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6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Component-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Component-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Middleware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Hardware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5405437" y="3652837"/>
            <a:ext cx="3209925" cy="1838325"/>
            <a:chOff x="5405437" y="3652837"/>
            <a:chExt cx="3209925" cy="1838325"/>
          </a:xfrm>
        </p:grpSpPr>
        <p:sp>
          <p:nvSpPr>
            <p:cNvPr id="7" name="object 7"/>
            <p:cNvSpPr/>
            <p:nvPr/>
          </p:nvSpPr>
          <p:spPr>
            <a:xfrm>
              <a:off x="5410200" y="3657600"/>
              <a:ext cx="3200400" cy="1828800"/>
            </a:xfrm>
            <a:custGeom>
              <a:avLst/>
              <a:gdLst/>
              <a:ahLst/>
              <a:cxnLst/>
              <a:rect l="l" t="t" r="r" b="b"/>
              <a:pathLst>
                <a:path w="3200400" h="1828800">
                  <a:moveTo>
                    <a:pt x="0" y="1828800"/>
                  </a:moveTo>
                  <a:lnTo>
                    <a:pt x="3200400" y="1828800"/>
                  </a:lnTo>
                  <a:lnTo>
                    <a:pt x="3200400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</a:pathLst>
            </a:custGeom>
            <a:ln w="9144">
              <a:solidFill>
                <a:srgbClr val="FF6600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0" y="4191000"/>
              <a:ext cx="3048000" cy="313944"/>
            </a:xfrm>
            <a:prstGeom prst="rect">
              <a:avLst/>
            </a:prstGeom>
          </p:spPr>
        </p:pic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477065" y="3867721"/>
          <a:ext cx="3048000" cy="1235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69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Component-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Component-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 gridSpan="3"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Middleware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 gridSpan="3"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Hardware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3657600" y="2590800"/>
            <a:ext cx="1828800" cy="2057400"/>
          </a:xfrm>
          <a:custGeom>
            <a:avLst/>
            <a:gdLst/>
            <a:ahLst/>
            <a:cxnLst/>
            <a:rect l="l" t="t" r="r" b="b"/>
            <a:pathLst>
              <a:path w="1828800" h="2057400">
                <a:moveTo>
                  <a:pt x="0" y="2057400"/>
                </a:moveTo>
                <a:lnTo>
                  <a:pt x="533400" y="1524000"/>
                </a:lnTo>
              </a:path>
              <a:path w="1828800" h="2057400">
                <a:moveTo>
                  <a:pt x="1828800" y="2057400"/>
                </a:moveTo>
                <a:lnTo>
                  <a:pt x="1371600" y="1524000"/>
                </a:lnTo>
              </a:path>
              <a:path w="1828800" h="2057400">
                <a:moveTo>
                  <a:pt x="1828800" y="0"/>
                </a:moveTo>
                <a:lnTo>
                  <a:pt x="1371600" y="762000"/>
                </a:lnTo>
              </a:path>
              <a:path w="1828800" h="2057400">
                <a:moveTo>
                  <a:pt x="0" y="152400"/>
                </a:moveTo>
                <a:lnTo>
                  <a:pt x="609600" y="7620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831339" y="5357622"/>
            <a:ext cx="5048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Times New Roman"/>
                <a:cs typeface="Times New Roman"/>
              </a:rPr>
              <a:t>Host-</a:t>
            </a:r>
            <a:r>
              <a:rPr sz="1400" spc="-50" dirty="0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5864" y="5281422"/>
            <a:ext cx="5048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Times New Roman"/>
                <a:cs typeface="Times New Roman"/>
              </a:rPr>
              <a:t>Host-</a:t>
            </a:r>
            <a:r>
              <a:rPr sz="1400" spc="-50" dirty="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614" rIns="0" bIns="0" rtlCol="0">
            <a:spAutoFit/>
          </a:bodyPr>
          <a:lstStyle/>
          <a:p>
            <a:pPr marL="710565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"/>
                <a:cs typeface="Calibri"/>
              </a:rPr>
              <a:t>Why</a:t>
            </a:r>
            <a:r>
              <a:rPr b="1" spc="-8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Parallel</a:t>
            </a:r>
            <a:r>
              <a:rPr b="1" spc="-9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9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distributed</a:t>
            </a:r>
            <a:r>
              <a:rPr b="1" spc="-114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Computing-</a:t>
            </a:r>
            <a:r>
              <a:rPr b="1" dirty="0">
                <a:latin typeface="Calibri"/>
                <a:cs typeface="Calibri"/>
              </a:rPr>
              <a:t>2</a:t>
            </a:r>
            <a:r>
              <a:rPr b="1" spc="-10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8575" y="941323"/>
            <a:ext cx="5024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165" dirty="0">
                <a:latin typeface="Arial MT"/>
                <a:cs typeface="Arial MT"/>
              </a:rPr>
              <a:t> </a:t>
            </a:r>
            <a:r>
              <a:rPr sz="2400" i="1" spc="-20" dirty="0">
                <a:latin typeface="Calibri"/>
                <a:cs typeface="Calibri"/>
              </a:rPr>
              <a:t>Instruction</a:t>
            </a:r>
            <a:r>
              <a:rPr sz="2400" i="1" spc="-6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level</a:t>
            </a:r>
            <a:r>
              <a:rPr sz="2400" i="1" spc="-6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parallelism</a:t>
            </a:r>
            <a:r>
              <a:rPr sz="2400" i="1" spc="-6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(ILP)</a:t>
            </a:r>
            <a:r>
              <a:rPr sz="2400" i="1" spc="-6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(90’s)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8641715" cy="981710"/>
            <a:chOff x="0" y="0"/>
            <a:chExt cx="8641715" cy="9817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8190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0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695" y="1714500"/>
            <a:ext cx="8424671" cy="433578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0" y="6356598"/>
            <a:ext cx="8641080" cy="50165"/>
          </a:xfrm>
          <a:custGeom>
            <a:avLst/>
            <a:gdLst/>
            <a:ahLst/>
            <a:cxnLst/>
            <a:rect l="l" t="t" r="r" b="b"/>
            <a:pathLst>
              <a:path w="8641080" h="50164">
                <a:moveTo>
                  <a:pt x="8640699" y="0"/>
                </a:moveTo>
                <a:lnTo>
                  <a:pt x="0" y="0"/>
                </a:lnTo>
                <a:lnTo>
                  <a:pt x="0" y="49789"/>
                </a:lnTo>
                <a:lnTo>
                  <a:pt x="8640699" y="49789"/>
                </a:lnTo>
                <a:lnTo>
                  <a:pt x="8640699" y="0"/>
                </a:lnTo>
                <a:close/>
              </a:path>
            </a:pathLst>
          </a:custGeom>
          <a:solidFill>
            <a:srgbClr val="487C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8641715" cy="981710"/>
            <a:chOff x="0" y="0"/>
            <a:chExt cx="8641715" cy="981710"/>
          </a:xfrm>
        </p:grpSpPr>
        <p:sp>
          <p:nvSpPr>
            <p:cNvPr id="5" name="object 5"/>
            <p:cNvSpPr/>
            <p:nvPr/>
          </p:nvSpPr>
          <p:spPr>
            <a:xfrm>
              <a:off x="755904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8190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0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/>
          <p:nvPr/>
        </p:nvSpPr>
        <p:spPr>
          <a:xfrm>
            <a:off x="764235" y="1046734"/>
            <a:ext cx="7611109" cy="445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952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917575" algn="l"/>
                <a:tab pos="2903855" algn="l"/>
                <a:tab pos="4145915" algn="l"/>
                <a:tab pos="5449570" algn="l"/>
                <a:tab pos="6323965" algn="l"/>
              </a:tabLst>
            </a:pPr>
            <a:r>
              <a:rPr sz="2400" spc="-25" dirty="0">
                <a:latin typeface="Calibri"/>
                <a:cs typeface="Calibri"/>
              </a:rPr>
              <a:t>In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computation,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parallel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systems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with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multi-core </a:t>
            </a:r>
            <a:r>
              <a:rPr sz="2400" spc="-20" dirty="0">
                <a:latin typeface="Calibri"/>
                <a:cs typeface="Calibri"/>
              </a:rPr>
              <a:t>processors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going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mainstream.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753110" marR="5715" lvl="1" indent="-283845">
              <a:lnSpc>
                <a:spcPct val="100000"/>
              </a:lnSpc>
              <a:buFont typeface="Arial MT"/>
              <a:buChar char="–"/>
              <a:tabLst>
                <a:tab pos="756285" algn="l"/>
                <a:tab pos="1458595" algn="l"/>
                <a:tab pos="1905635" algn="l"/>
                <a:tab pos="3361054" algn="l"/>
                <a:tab pos="4720590" algn="l"/>
                <a:tab pos="5379085" algn="l"/>
                <a:tab pos="6443345" algn="l"/>
                <a:tab pos="7376159" algn="l"/>
              </a:tabLst>
            </a:pPr>
            <a:r>
              <a:rPr sz="2400" spc="-20" dirty="0">
                <a:latin typeface="Calibri"/>
                <a:cs typeface="Calibri"/>
              </a:rPr>
              <a:t>Lots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hardware,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software,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and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human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issues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60" dirty="0">
                <a:latin typeface="Calibri"/>
                <a:cs typeface="Calibri"/>
              </a:rPr>
              <a:t>in 	</a:t>
            </a:r>
            <a:r>
              <a:rPr sz="2400" dirty="0">
                <a:latin typeface="Calibri"/>
                <a:cs typeface="Calibri"/>
              </a:rPr>
              <a:t>mainstream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parallel/distributed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25"/>
              </a:spcBef>
              <a:buFont typeface="Wingdings"/>
              <a:buChar char=""/>
              <a:tabLst>
                <a:tab pos="1155700" algn="l"/>
                <a:tab pos="1888489" algn="l"/>
                <a:tab pos="2357755" algn="l"/>
                <a:tab pos="3178175" algn="l"/>
                <a:tab pos="3792220" algn="l"/>
                <a:tab pos="4164329" algn="l"/>
                <a:tab pos="4931410" algn="l"/>
                <a:tab pos="6014720" algn="l"/>
                <a:tab pos="6479540" algn="l"/>
              </a:tabLst>
            </a:pPr>
            <a:r>
              <a:rPr sz="2000" b="1" spc="-25" dirty="0">
                <a:latin typeface="Calibri"/>
                <a:cs typeface="Calibri"/>
              </a:rPr>
              <a:t>How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25" dirty="0">
                <a:latin typeface="Calibri"/>
                <a:cs typeface="Calibri"/>
              </a:rPr>
              <a:t>to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20" dirty="0">
                <a:latin typeface="Calibri"/>
                <a:cs typeface="Calibri"/>
              </a:rPr>
              <a:t>make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25" dirty="0">
                <a:latin typeface="Calibri"/>
                <a:cs typeface="Calibri"/>
              </a:rPr>
              <a:t>use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50" dirty="0">
                <a:latin typeface="Calibri"/>
                <a:cs typeface="Calibri"/>
              </a:rPr>
              <a:t>a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large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number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25" dirty="0">
                <a:latin typeface="Calibri"/>
                <a:cs typeface="Calibri"/>
              </a:rPr>
              <a:t>of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20" dirty="0">
                <a:latin typeface="Calibri"/>
                <a:cs typeface="Calibri"/>
              </a:rPr>
              <a:t>processors </a:t>
            </a:r>
            <a:r>
              <a:rPr sz="2000" b="1" spc="-10" dirty="0">
                <a:latin typeface="Calibri"/>
                <a:cs typeface="Calibri"/>
              </a:rPr>
              <a:t>simultaneously</a:t>
            </a:r>
            <a:endParaRPr sz="2000">
              <a:latin typeface="Calibri"/>
              <a:cs typeface="Calibri"/>
            </a:endParaRPr>
          </a:p>
          <a:p>
            <a:pPr marL="1155065" lvl="2" indent="-227965">
              <a:lnSpc>
                <a:spcPct val="100000"/>
              </a:lnSpc>
              <a:spcBef>
                <a:spcPts val="500"/>
              </a:spcBef>
              <a:buFont typeface="Wingdings"/>
              <a:buChar char=""/>
              <a:tabLst>
                <a:tab pos="1155065" algn="l"/>
              </a:tabLst>
            </a:pPr>
            <a:r>
              <a:rPr sz="2000" b="1" dirty="0">
                <a:latin typeface="Calibri"/>
                <a:cs typeface="Calibri"/>
              </a:rPr>
              <a:t>How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write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parallel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programs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easily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efficiently?</a:t>
            </a:r>
            <a:endParaRPr sz="2000">
              <a:latin typeface="Calibri"/>
              <a:cs typeface="Calibri"/>
            </a:endParaRPr>
          </a:p>
          <a:p>
            <a:pPr marL="1155065" lvl="2" indent="-227965">
              <a:lnSpc>
                <a:spcPct val="100000"/>
              </a:lnSpc>
              <a:spcBef>
                <a:spcPts val="505"/>
              </a:spcBef>
              <a:buFont typeface="Wingdings"/>
              <a:buChar char=""/>
              <a:tabLst>
                <a:tab pos="1155065" algn="l"/>
              </a:tabLst>
            </a:pPr>
            <a:r>
              <a:rPr sz="2000" b="1" dirty="0">
                <a:latin typeface="Calibri"/>
                <a:cs typeface="Calibri"/>
              </a:rPr>
              <a:t>What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kind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software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supports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needed?</a:t>
            </a:r>
            <a:endParaRPr sz="2000">
              <a:latin typeface="Calibri"/>
              <a:cs typeface="Calibri"/>
            </a:endParaRPr>
          </a:p>
          <a:p>
            <a:pPr marL="1155700" marR="36830" lvl="2" indent="-228600">
              <a:lnSpc>
                <a:spcPct val="100000"/>
              </a:lnSpc>
              <a:spcBef>
                <a:spcPts val="495"/>
              </a:spcBef>
              <a:buFont typeface="Wingdings"/>
              <a:buChar char=""/>
              <a:tabLst>
                <a:tab pos="1155700" algn="l"/>
              </a:tabLst>
            </a:pPr>
            <a:r>
              <a:rPr sz="2000" b="1" dirty="0">
                <a:latin typeface="Calibri"/>
                <a:cs typeface="Calibri"/>
              </a:rPr>
              <a:t>Analyzing</a:t>
            </a:r>
            <a:r>
              <a:rPr sz="2000" b="1" spc="4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4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optimizing</a:t>
            </a:r>
            <a:r>
              <a:rPr sz="2000" b="1" spc="4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parallel</a:t>
            </a:r>
            <a:r>
              <a:rPr sz="2000" b="1" spc="4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programs</a:t>
            </a:r>
            <a:r>
              <a:rPr sz="2000" b="1" spc="4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4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still</a:t>
            </a:r>
            <a:r>
              <a:rPr sz="2000" b="1" spc="4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44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hard </a:t>
            </a:r>
            <a:r>
              <a:rPr sz="2000" b="1" spc="-10" dirty="0">
                <a:latin typeface="Calibri"/>
                <a:cs typeface="Calibri"/>
              </a:rPr>
              <a:t>problem.</a:t>
            </a:r>
            <a:endParaRPr sz="2000">
              <a:latin typeface="Calibri"/>
              <a:cs typeface="Calibri"/>
            </a:endParaRPr>
          </a:p>
          <a:p>
            <a:pPr marL="1155065" lvl="2" indent="-227965">
              <a:lnSpc>
                <a:spcPct val="100000"/>
              </a:lnSpc>
              <a:spcBef>
                <a:spcPts val="505"/>
              </a:spcBef>
              <a:buFont typeface="Wingdings"/>
              <a:buChar char=""/>
              <a:tabLst>
                <a:tab pos="1155065" algn="l"/>
              </a:tabLst>
            </a:pPr>
            <a:r>
              <a:rPr sz="2000" b="1" dirty="0">
                <a:latin typeface="Calibri"/>
                <a:cs typeface="Calibri"/>
              </a:rPr>
              <a:t>How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debug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concurrent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program?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6356598"/>
            <a:ext cx="8641080" cy="50165"/>
          </a:xfrm>
          <a:custGeom>
            <a:avLst/>
            <a:gdLst/>
            <a:ahLst/>
            <a:cxnLst/>
            <a:rect l="l" t="t" r="r" b="b"/>
            <a:pathLst>
              <a:path w="8641080" h="50164">
                <a:moveTo>
                  <a:pt x="8640699" y="0"/>
                </a:moveTo>
                <a:lnTo>
                  <a:pt x="0" y="0"/>
                </a:lnTo>
                <a:lnTo>
                  <a:pt x="0" y="49789"/>
                </a:lnTo>
                <a:lnTo>
                  <a:pt x="8640699" y="49789"/>
                </a:lnTo>
                <a:lnTo>
                  <a:pt x="8640699" y="0"/>
                </a:lnTo>
                <a:close/>
              </a:path>
            </a:pathLst>
          </a:custGeom>
          <a:solidFill>
            <a:srgbClr val="487C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3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3.</a:t>
            </a:r>
            <a:r>
              <a:rPr sz="2400" b="1" spc="-1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Advantages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1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Distributed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System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over</a:t>
            </a:r>
            <a:r>
              <a:rPr sz="2400" b="1" spc="-125" dirty="0">
                <a:latin typeface="Calibri"/>
                <a:cs typeface="Calibri"/>
              </a:rPr>
              <a:t> </a:t>
            </a:r>
            <a:r>
              <a:rPr sz="2400" b="1" spc="-30" dirty="0">
                <a:latin typeface="Calibri"/>
                <a:cs typeface="Calibri"/>
              </a:rPr>
              <a:t>Centralized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systems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2480" y="908303"/>
            <a:ext cx="7884795" cy="0"/>
          </a:xfrm>
          <a:custGeom>
            <a:avLst/>
            <a:gdLst/>
            <a:ahLst/>
            <a:cxnLst/>
            <a:rect l="l" t="t" r="r" b="b"/>
            <a:pathLst>
              <a:path w="7884795">
                <a:moveTo>
                  <a:pt x="0" y="0"/>
                </a:moveTo>
                <a:lnTo>
                  <a:pt x="7884795" y="0"/>
                </a:lnTo>
              </a:path>
            </a:pathLst>
          </a:custGeom>
          <a:ln w="9144">
            <a:solidFill>
              <a:srgbClr val="487C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535635" y="981582"/>
            <a:ext cx="8088630" cy="5018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6090" indent="-453390" algn="just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66090" algn="l"/>
              </a:tabLst>
            </a:pPr>
            <a:r>
              <a:rPr sz="2000" b="1" dirty="0">
                <a:solidFill>
                  <a:srgbClr val="1F477B"/>
                </a:solidFill>
                <a:latin typeface="Calibri"/>
                <a:cs typeface="Calibri"/>
              </a:rPr>
              <a:t>Economics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320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30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collection</a:t>
            </a:r>
            <a:r>
              <a:rPr sz="2000" spc="330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325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microprocessors</a:t>
            </a:r>
            <a:r>
              <a:rPr sz="2000" spc="330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offer</a:t>
            </a:r>
            <a:r>
              <a:rPr sz="2000" spc="325" dirty="0">
                <a:latin typeface="Calibri"/>
                <a:cs typeface="Calibri"/>
              </a:rPr>
              <a:t>  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30" dirty="0">
                <a:latin typeface="Calibri"/>
                <a:cs typeface="Calibri"/>
              </a:rPr>
              <a:t>   </a:t>
            </a:r>
            <a:r>
              <a:rPr sz="2000" spc="-10" dirty="0">
                <a:latin typeface="Calibri"/>
                <a:cs typeface="Calibri"/>
              </a:rPr>
              <a:t>better</a:t>
            </a:r>
            <a:endParaRPr sz="2000">
              <a:latin typeface="Calibri"/>
              <a:cs typeface="Calibri"/>
            </a:endParaRPr>
          </a:p>
          <a:p>
            <a:pPr marL="469900" algn="just">
              <a:lnSpc>
                <a:spcPct val="100000"/>
              </a:lnSpc>
            </a:pPr>
            <a:r>
              <a:rPr sz="2000" spc="-25" dirty="0">
                <a:latin typeface="Calibri"/>
                <a:cs typeface="Calibri"/>
              </a:rPr>
              <a:t>price/performance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mainframes.</a:t>
            </a:r>
            <a:endParaRPr sz="2000">
              <a:latin typeface="Calibri"/>
              <a:cs typeface="Calibri"/>
            </a:endParaRPr>
          </a:p>
          <a:p>
            <a:pPr marL="466090" marR="8255" indent="-453390" algn="just">
              <a:lnSpc>
                <a:spcPct val="100000"/>
              </a:lnSpc>
              <a:spcBef>
                <a:spcPts val="505"/>
              </a:spcBef>
              <a:buAutoNum type="arabicPeriod" startAt="2"/>
              <a:tabLst>
                <a:tab pos="469900" algn="l"/>
              </a:tabLst>
            </a:pPr>
            <a:r>
              <a:rPr sz="2000" b="1" dirty="0">
                <a:solidFill>
                  <a:srgbClr val="1F477B"/>
                </a:solidFill>
                <a:latin typeface="Calibri"/>
                <a:cs typeface="Calibri"/>
              </a:rPr>
              <a:t>Speed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distributed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total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computing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power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than 	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mainframe.</a:t>
            </a:r>
            <a:r>
              <a:rPr sz="2000" spc="10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Ex.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10,000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CPU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chips,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running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50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MIPS.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Enhanced 	</a:t>
            </a:r>
            <a:r>
              <a:rPr sz="2000" spc="-20" dirty="0">
                <a:latin typeface="Calibri"/>
                <a:cs typeface="Calibri"/>
              </a:rPr>
              <a:t>performance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load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distributing.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0"/>
              </a:spcBef>
              <a:buClr>
                <a:srgbClr val="1F477B"/>
              </a:buClr>
              <a:buFont typeface="Calibri"/>
              <a:buAutoNum type="arabicPeriod" startAt="2"/>
            </a:pPr>
            <a:endParaRPr sz="2000">
              <a:latin typeface="Calibri"/>
              <a:cs typeface="Calibri"/>
            </a:endParaRPr>
          </a:p>
          <a:p>
            <a:pPr marL="467995" marR="5080" indent="-455295">
              <a:lnSpc>
                <a:spcPct val="100000"/>
              </a:lnSpc>
              <a:buAutoNum type="arabicPeriod" startAt="2"/>
              <a:tabLst>
                <a:tab pos="469900" algn="l"/>
              </a:tabLst>
            </a:pPr>
            <a:r>
              <a:rPr sz="2000" b="1" dirty="0">
                <a:solidFill>
                  <a:srgbClr val="1F477B"/>
                </a:solidFill>
                <a:latin typeface="Calibri"/>
                <a:cs typeface="Calibri"/>
              </a:rPr>
              <a:t>Inherent</a:t>
            </a:r>
            <a:r>
              <a:rPr sz="2000" b="1" spc="35" dirty="0">
                <a:solidFill>
                  <a:srgbClr val="1F477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477B"/>
                </a:solidFill>
                <a:latin typeface="Calibri"/>
                <a:cs typeface="Calibri"/>
              </a:rPr>
              <a:t>distribution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applications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inherently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distributed.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Ex.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	</a:t>
            </a:r>
            <a:r>
              <a:rPr sz="2000" spc="-20" dirty="0">
                <a:latin typeface="Calibri"/>
                <a:cs typeface="Calibri"/>
              </a:rPr>
              <a:t>supermarket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chain.</a:t>
            </a:r>
            <a:endParaRPr sz="2000">
              <a:latin typeface="Calibri"/>
              <a:cs typeface="Calibri"/>
            </a:endParaRPr>
          </a:p>
          <a:p>
            <a:pPr marL="467995" indent="-455295">
              <a:lnSpc>
                <a:spcPct val="100000"/>
              </a:lnSpc>
              <a:spcBef>
                <a:spcPts val="490"/>
              </a:spcBef>
              <a:buAutoNum type="arabicPeriod" startAt="2"/>
              <a:tabLst>
                <a:tab pos="467995" algn="l"/>
              </a:tabLst>
            </a:pPr>
            <a:r>
              <a:rPr sz="2000" b="1" dirty="0">
                <a:solidFill>
                  <a:srgbClr val="1F477B"/>
                </a:solidFill>
                <a:latin typeface="Calibri"/>
                <a:cs typeface="Calibri"/>
              </a:rPr>
              <a:t>Reliability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4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4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4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machine</a:t>
            </a:r>
            <a:r>
              <a:rPr sz="2000" spc="4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crashes,</a:t>
            </a:r>
            <a:r>
              <a:rPr sz="2000" spc="6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5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5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whole</a:t>
            </a:r>
            <a:r>
              <a:rPr sz="2000" spc="4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55" dirty="0">
                <a:latin typeface="Calibri"/>
                <a:cs typeface="Calibri"/>
              </a:rPr>
              <a:t>  </a:t>
            </a:r>
            <a:r>
              <a:rPr sz="2000" spc="-10" dirty="0">
                <a:latin typeface="Calibri"/>
                <a:cs typeface="Calibri"/>
              </a:rPr>
              <a:t>still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survive.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Higher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availability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improved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reliability.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2000">
              <a:latin typeface="Calibri"/>
              <a:cs typeface="Calibri"/>
            </a:endParaRPr>
          </a:p>
          <a:p>
            <a:pPr marL="469900" marR="28575" indent="-457200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469900" algn="l"/>
                <a:tab pos="1949450" algn="l"/>
                <a:tab pos="2987675" algn="l"/>
                <a:tab pos="4336415" algn="l"/>
                <a:tab pos="5207000" algn="l"/>
                <a:tab pos="5779770" algn="l"/>
                <a:tab pos="6252210" algn="l"/>
                <a:tab pos="7113905" algn="l"/>
                <a:tab pos="7517765" algn="l"/>
              </a:tabLst>
            </a:pPr>
            <a:r>
              <a:rPr sz="2000" b="1" spc="-10" dirty="0">
                <a:solidFill>
                  <a:srgbClr val="1F477B"/>
                </a:solidFill>
                <a:latin typeface="Calibri"/>
                <a:cs typeface="Calibri"/>
              </a:rPr>
              <a:t>Incremental</a:t>
            </a:r>
            <a:r>
              <a:rPr sz="2000" b="1" dirty="0">
                <a:solidFill>
                  <a:srgbClr val="1F477B"/>
                </a:solidFill>
                <a:latin typeface="Calibri"/>
                <a:cs typeface="Calibri"/>
              </a:rPr>
              <a:t>	</a:t>
            </a:r>
            <a:r>
              <a:rPr sz="2000" b="1" spc="-10" dirty="0">
                <a:solidFill>
                  <a:srgbClr val="1F477B"/>
                </a:solidFill>
                <a:latin typeface="Calibri"/>
                <a:cs typeface="Calibri"/>
              </a:rPr>
              <a:t>growth</a:t>
            </a:r>
            <a:r>
              <a:rPr sz="2000" spc="-10" dirty="0">
                <a:latin typeface="Calibri"/>
                <a:cs typeface="Calibri"/>
              </a:rPr>
              <a:t>: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Computing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power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can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be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added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35" dirty="0">
                <a:latin typeface="Calibri"/>
                <a:cs typeface="Calibri"/>
              </a:rPr>
              <a:t>in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30" dirty="0">
                <a:latin typeface="Calibri"/>
                <a:cs typeface="Calibri"/>
              </a:rPr>
              <a:t>small </a:t>
            </a:r>
            <a:r>
              <a:rPr sz="2000" spc="-10" dirty="0">
                <a:latin typeface="Calibri"/>
                <a:cs typeface="Calibri"/>
              </a:rPr>
              <a:t>increments.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Modular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expandability.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00"/>
              </a:spcBef>
              <a:buAutoNum type="arabicPeriod" startAt="5"/>
              <a:tabLst>
                <a:tab pos="469265" algn="l"/>
                <a:tab pos="1484630" algn="l"/>
                <a:tab pos="2489200" algn="l"/>
                <a:tab pos="3235960" algn="l"/>
                <a:tab pos="3726815" algn="l"/>
                <a:tab pos="4838065" algn="l"/>
                <a:tab pos="5194935" algn="l"/>
                <a:tab pos="5850255" algn="l"/>
                <a:tab pos="6813550" algn="l"/>
                <a:tab pos="7170420" algn="l"/>
              </a:tabLst>
            </a:pPr>
            <a:r>
              <a:rPr sz="2000" b="1" spc="-10" dirty="0">
                <a:solidFill>
                  <a:srgbClr val="1F477B"/>
                </a:solidFill>
                <a:latin typeface="Calibri"/>
                <a:cs typeface="Calibri"/>
              </a:rPr>
              <a:t>Another</a:t>
            </a:r>
            <a:r>
              <a:rPr sz="2000" b="1" dirty="0">
                <a:solidFill>
                  <a:srgbClr val="1F477B"/>
                </a:solidFill>
                <a:latin typeface="Calibri"/>
                <a:cs typeface="Calibri"/>
              </a:rPr>
              <a:t>	</a:t>
            </a:r>
            <a:r>
              <a:rPr sz="2000" b="1" spc="-10" dirty="0">
                <a:solidFill>
                  <a:srgbClr val="1F477B"/>
                </a:solidFill>
                <a:latin typeface="Calibri"/>
                <a:cs typeface="Calibri"/>
              </a:rPr>
              <a:t>deriving</a:t>
            </a:r>
            <a:r>
              <a:rPr sz="2000" b="1" dirty="0">
                <a:solidFill>
                  <a:srgbClr val="1F477B"/>
                </a:solidFill>
                <a:latin typeface="Calibri"/>
                <a:cs typeface="Calibri"/>
              </a:rPr>
              <a:t>	</a:t>
            </a:r>
            <a:r>
              <a:rPr sz="2000" b="1" spc="-10" dirty="0">
                <a:solidFill>
                  <a:srgbClr val="1F477B"/>
                </a:solidFill>
                <a:latin typeface="Calibri"/>
                <a:cs typeface="Calibri"/>
              </a:rPr>
              <a:t>force</a:t>
            </a:r>
            <a:r>
              <a:rPr sz="2000" spc="-10" dirty="0">
                <a:latin typeface="Calibri"/>
                <a:cs typeface="Calibri"/>
              </a:rPr>
              <a:t>: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existence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of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large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number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of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personal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000" spc="-20" dirty="0">
                <a:latin typeface="Calibri"/>
                <a:cs typeface="Calibri"/>
              </a:rPr>
              <a:t>computers,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people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collaborate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641715" cy="981710"/>
            <a:chOff x="0" y="0"/>
            <a:chExt cx="8641715" cy="98171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58190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0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0" y="6356598"/>
            <a:ext cx="8641080" cy="50165"/>
          </a:xfrm>
          <a:custGeom>
            <a:avLst/>
            <a:gdLst/>
            <a:ahLst/>
            <a:cxnLst/>
            <a:rect l="l" t="t" r="r" b="b"/>
            <a:pathLst>
              <a:path w="8641080" h="50164">
                <a:moveTo>
                  <a:pt x="8640699" y="0"/>
                </a:moveTo>
                <a:lnTo>
                  <a:pt x="0" y="0"/>
                </a:lnTo>
                <a:lnTo>
                  <a:pt x="0" y="49789"/>
                </a:lnTo>
                <a:lnTo>
                  <a:pt x="8640699" y="49789"/>
                </a:lnTo>
                <a:lnTo>
                  <a:pt x="8640699" y="0"/>
                </a:lnTo>
                <a:close/>
              </a:path>
            </a:pathLst>
          </a:custGeom>
          <a:solidFill>
            <a:srgbClr val="487C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5" name="object 5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8190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0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343" rIns="0" bIns="0" rtlCol="0">
            <a:spAutoFit/>
          </a:bodyPr>
          <a:lstStyle/>
          <a:p>
            <a:pPr marL="46228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538ED3"/>
                </a:solidFill>
                <a:latin typeface="Calibri"/>
                <a:cs typeface="Calibri"/>
              </a:rPr>
              <a:t>Advantages</a:t>
            </a:r>
            <a:r>
              <a:rPr sz="2400" b="1" spc="-55" dirty="0">
                <a:solidFill>
                  <a:srgbClr val="538ED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538ED3"/>
                </a:solidFill>
                <a:latin typeface="Calibri"/>
                <a:cs typeface="Calibri"/>
              </a:rPr>
              <a:t>of</a:t>
            </a:r>
            <a:r>
              <a:rPr sz="2400" b="1" spc="-105" dirty="0">
                <a:solidFill>
                  <a:srgbClr val="538ED3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538ED3"/>
                </a:solidFill>
                <a:latin typeface="Calibri"/>
                <a:cs typeface="Calibri"/>
              </a:rPr>
              <a:t>Distributed</a:t>
            </a:r>
            <a:r>
              <a:rPr sz="2400" b="1" spc="-50" dirty="0">
                <a:solidFill>
                  <a:srgbClr val="538ED3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538ED3"/>
                </a:solidFill>
                <a:latin typeface="Calibri"/>
                <a:cs typeface="Calibri"/>
              </a:rPr>
              <a:t>Systems</a:t>
            </a:r>
            <a:r>
              <a:rPr sz="2400" b="1" spc="-100" dirty="0">
                <a:solidFill>
                  <a:srgbClr val="538ED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538ED3"/>
                </a:solidFill>
                <a:latin typeface="Calibri"/>
                <a:cs typeface="Calibri"/>
              </a:rPr>
              <a:t>over</a:t>
            </a:r>
            <a:r>
              <a:rPr sz="2400" b="1" spc="-105" dirty="0">
                <a:solidFill>
                  <a:srgbClr val="538ED3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538ED3"/>
                </a:solidFill>
                <a:latin typeface="Calibri"/>
                <a:cs typeface="Calibri"/>
              </a:rPr>
              <a:t>Independent</a:t>
            </a:r>
            <a:r>
              <a:rPr sz="2400" b="1" spc="-35" dirty="0">
                <a:solidFill>
                  <a:srgbClr val="538ED3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538ED3"/>
                </a:solidFill>
                <a:latin typeface="Calibri"/>
                <a:cs typeface="Calibri"/>
              </a:rPr>
              <a:t>PCs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93139" y="1191005"/>
            <a:ext cx="7617459" cy="4469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6985" indent="-28575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</a:tabLst>
            </a:pP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40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sharing:</a:t>
            </a:r>
            <a:r>
              <a:rPr sz="2400" b="1" spc="4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</a:t>
            </a:r>
            <a:r>
              <a:rPr sz="2400" spc="4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40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users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4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common 	distributed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  <a:buFont typeface="Wingdings"/>
              <a:buChar char=""/>
            </a:pPr>
            <a:endParaRPr sz="2400">
              <a:latin typeface="Calibri"/>
              <a:cs typeface="Calibri"/>
            </a:endParaRPr>
          </a:p>
          <a:p>
            <a:pPr marL="297815" marR="5080" indent="-285750">
              <a:lnSpc>
                <a:spcPct val="100000"/>
              </a:lnSpc>
              <a:buFont typeface="Wingdings"/>
              <a:buChar char=""/>
              <a:tabLst>
                <a:tab pos="299085" algn="l"/>
                <a:tab pos="1743710" algn="l"/>
                <a:tab pos="3065780" algn="l"/>
                <a:tab pos="4583430" algn="l"/>
                <a:tab pos="6272530" algn="l"/>
                <a:tab pos="6984365" algn="l"/>
              </a:tabLst>
            </a:pPr>
            <a:r>
              <a:rPr sz="2400" b="1" spc="-10" dirty="0">
                <a:latin typeface="Calibri"/>
                <a:cs typeface="Calibri"/>
              </a:rPr>
              <a:t>Resource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10" dirty="0">
                <a:latin typeface="Calibri"/>
                <a:cs typeface="Calibri"/>
              </a:rPr>
              <a:t>Sharing</a:t>
            </a:r>
            <a:r>
              <a:rPr sz="2400" spc="-10" dirty="0">
                <a:latin typeface="Calibri"/>
                <a:cs typeface="Calibri"/>
              </a:rPr>
              <a:t>: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expensive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peripherals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like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color 	</a:t>
            </a:r>
            <a:r>
              <a:rPr sz="2400" spc="-10" dirty="0">
                <a:latin typeface="Calibri"/>
                <a:cs typeface="Calibri"/>
              </a:rPr>
              <a:t>printers.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  <a:buFont typeface="Wingdings"/>
              <a:buChar char=""/>
            </a:pPr>
            <a:endParaRPr sz="2400">
              <a:latin typeface="Calibri"/>
              <a:cs typeface="Calibri"/>
            </a:endParaRPr>
          </a:p>
          <a:p>
            <a:pPr marL="297815" marR="28575" indent="-285750">
              <a:lnSpc>
                <a:spcPct val="100000"/>
              </a:lnSpc>
              <a:buFont typeface="Wingdings"/>
              <a:buChar char=""/>
              <a:tabLst>
                <a:tab pos="299085" algn="l"/>
                <a:tab pos="3368675" algn="l"/>
                <a:tab pos="5415915" algn="l"/>
              </a:tabLst>
            </a:pPr>
            <a:r>
              <a:rPr sz="2400" b="1" spc="-10" dirty="0">
                <a:latin typeface="Calibri"/>
                <a:cs typeface="Calibri"/>
              </a:rPr>
              <a:t>Communication</a:t>
            </a:r>
            <a:r>
              <a:rPr sz="2400" spc="-10" dirty="0">
                <a:latin typeface="Calibri"/>
                <a:cs typeface="Calibri"/>
              </a:rPr>
              <a:t>: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enhance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30" dirty="0">
                <a:latin typeface="Calibri"/>
                <a:cs typeface="Calibri"/>
              </a:rPr>
              <a:t>human-</a:t>
            </a:r>
            <a:r>
              <a:rPr sz="2400" spc="-40" dirty="0">
                <a:latin typeface="Calibri"/>
                <a:cs typeface="Calibri"/>
              </a:rPr>
              <a:t>to-</a:t>
            </a:r>
            <a:r>
              <a:rPr sz="2400" spc="-10" dirty="0">
                <a:latin typeface="Calibri"/>
                <a:cs typeface="Calibri"/>
              </a:rPr>
              <a:t>human 	</a:t>
            </a:r>
            <a:r>
              <a:rPr sz="2400" dirty="0">
                <a:latin typeface="Calibri"/>
                <a:cs typeface="Calibri"/>
              </a:rPr>
              <a:t>communication,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E.g.: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email,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chat.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buFont typeface="Wingdings"/>
              <a:buChar char=""/>
            </a:pPr>
            <a:endParaRPr sz="2400">
              <a:latin typeface="Calibri"/>
              <a:cs typeface="Calibri"/>
            </a:endParaRPr>
          </a:p>
          <a:p>
            <a:pPr marL="297815" marR="20320" indent="-285750">
              <a:lnSpc>
                <a:spcPct val="100000"/>
              </a:lnSpc>
              <a:buFont typeface="Wingdings"/>
              <a:buChar char=""/>
              <a:tabLst>
                <a:tab pos="299085" algn="l"/>
                <a:tab pos="1852295" algn="l"/>
                <a:tab pos="2948305" algn="l"/>
                <a:tab pos="3620135" algn="l"/>
                <a:tab pos="5034915" algn="l"/>
                <a:tab pos="5842635" algn="l"/>
                <a:tab pos="6515100" algn="l"/>
              </a:tabLst>
            </a:pPr>
            <a:r>
              <a:rPr sz="2400" b="1" spc="-10" dirty="0">
                <a:latin typeface="Calibri"/>
                <a:cs typeface="Calibri"/>
              </a:rPr>
              <a:t>Flexibility</a:t>
            </a:r>
            <a:r>
              <a:rPr sz="2400" spc="-10" dirty="0">
                <a:latin typeface="Calibri"/>
                <a:cs typeface="Calibri"/>
              </a:rPr>
              <a:t>: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spread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workload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over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35" dirty="0">
                <a:latin typeface="Calibri"/>
                <a:cs typeface="Calibri"/>
              </a:rPr>
              <a:t>available 	</a:t>
            </a:r>
            <a:r>
              <a:rPr sz="2400" spc="-10" dirty="0">
                <a:latin typeface="Calibri"/>
                <a:cs typeface="Calibri"/>
              </a:rPr>
              <a:t>machines.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6356598"/>
            <a:ext cx="8641080" cy="50165"/>
          </a:xfrm>
          <a:custGeom>
            <a:avLst/>
            <a:gdLst/>
            <a:ahLst/>
            <a:cxnLst/>
            <a:rect l="l" t="t" r="r" b="b"/>
            <a:pathLst>
              <a:path w="8641080" h="50164">
                <a:moveTo>
                  <a:pt x="8640699" y="0"/>
                </a:moveTo>
                <a:lnTo>
                  <a:pt x="0" y="0"/>
                </a:lnTo>
                <a:lnTo>
                  <a:pt x="0" y="49789"/>
                </a:lnTo>
                <a:lnTo>
                  <a:pt x="8640699" y="49789"/>
                </a:lnTo>
                <a:lnTo>
                  <a:pt x="8640699" y="0"/>
                </a:lnTo>
                <a:close/>
              </a:path>
            </a:pathLst>
          </a:custGeom>
          <a:solidFill>
            <a:srgbClr val="487C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139" y="974852"/>
            <a:ext cx="7068184" cy="1641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900" algn="l"/>
              </a:tabLst>
            </a:pPr>
            <a:r>
              <a:rPr sz="2400" b="1" spc="-10" dirty="0">
                <a:latin typeface="Calibri"/>
                <a:cs typeface="Calibri"/>
              </a:rPr>
              <a:t>Software</a:t>
            </a:r>
            <a:r>
              <a:rPr sz="2400" spc="-10" dirty="0">
                <a:latin typeface="Calibri"/>
                <a:cs typeface="Calibri"/>
              </a:rPr>
              <a:t>: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difficult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develop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software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distributed systems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Network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Saturation,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lossy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transmissions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Security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applies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secret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5" name="object 5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8190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0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2025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538ED3"/>
                </a:solidFill>
              </a:rPr>
              <a:t>Disadvantages</a:t>
            </a:r>
            <a:r>
              <a:rPr spc="-110" dirty="0">
                <a:solidFill>
                  <a:srgbClr val="538ED3"/>
                </a:solidFill>
              </a:rPr>
              <a:t> </a:t>
            </a:r>
            <a:r>
              <a:rPr dirty="0">
                <a:solidFill>
                  <a:srgbClr val="538ED3"/>
                </a:solidFill>
              </a:rPr>
              <a:t>of</a:t>
            </a:r>
            <a:r>
              <a:rPr spc="-145" dirty="0">
                <a:solidFill>
                  <a:srgbClr val="538ED3"/>
                </a:solidFill>
              </a:rPr>
              <a:t> </a:t>
            </a:r>
            <a:r>
              <a:rPr spc="-10" dirty="0">
                <a:solidFill>
                  <a:srgbClr val="538ED3"/>
                </a:solidFill>
              </a:rPr>
              <a:t>Distributed</a:t>
            </a:r>
            <a:r>
              <a:rPr spc="-75" dirty="0">
                <a:solidFill>
                  <a:srgbClr val="538ED3"/>
                </a:solidFill>
              </a:rPr>
              <a:t> </a:t>
            </a:r>
            <a:r>
              <a:rPr spc="-10" dirty="0">
                <a:solidFill>
                  <a:srgbClr val="538ED3"/>
                </a:solidFill>
              </a:rPr>
              <a:t>Systems</a:t>
            </a:r>
          </a:p>
        </p:txBody>
      </p:sp>
      <p:sp>
        <p:nvSpPr>
          <p:cNvPr id="9" name="object 9"/>
          <p:cNvSpPr/>
          <p:nvPr/>
        </p:nvSpPr>
        <p:spPr>
          <a:xfrm>
            <a:off x="0" y="6356598"/>
            <a:ext cx="8641080" cy="50165"/>
          </a:xfrm>
          <a:custGeom>
            <a:avLst/>
            <a:gdLst/>
            <a:ahLst/>
            <a:cxnLst/>
            <a:rect l="l" t="t" r="r" b="b"/>
            <a:pathLst>
              <a:path w="8641080" h="50164">
                <a:moveTo>
                  <a:pt x="8640699" y="0"/>
                </a:moveTo>
                <a:lnTo>
                  <a:pt x="0" y="0"/>
                </a:lnTo>
                <a:lnTo>
                  <a:pt x="0" y="49789"/>
                </a:lnTo>
                <a:lnTo>
                  <a:pt x="8640699" y="49789"/>
                </a:lnTo>
                <a:lnTo>
                  <a:pt x="8640699" y="0"/>
                </a:lnTo>
                <a:close/>
              </a:path>
            </a:pathLst>
          </a:custGeom>
          <a:solidFill>
            <a:srgbClr val="487C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868689"/>
            <a:ext cx="8028940" cy="496951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i="1" dirty="0">
                <a:latin typeface="Calibri"/>
                <a:cs typeface="Calibri"/>
              </a:rPr>
              <a:t>Allow</a:t>
            </a:r>
            <a:r>
              <a:rPr sz="2400" i="1" spc="-1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users</a:t>
            </a:r>
            <a:r>
              <a:rPr sz="2400" i="1" spc="-8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to</a:t>
            </a:r>
            <a:r>
              <a:rPr sz="2400" i="1" spc="-11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access</a:t>
            </a:r>
            <a:r>
              <a:rPr sz="2400" i="1" spc="-7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and</a:t>
            </a:r>
            <a:r>
              <a:rPr sz="2400" i="1" spc="-9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share</a:t>
            </a:r>
            <a:r>
              <a:rPr sz="2400" i="1" spc="-10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resources: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469265" algn="l"/>
              </a:tabLst>
            </a:pPr>
            <a:r>
              <a:rPr sz="2000" b="1" i="1" spc="-10" dirty="0">
                <a:solidFill>
                  <a:srgbClr val="933735"/>
                </a:solidFill>
                <a:latin typeface="Arial"/>
                <a:cs typeface="Arial"/>
              </a:rPr>
              <a:t>Transparency</a:t>
            </a:r>
            <a:endParaRPr sz="2000">
              <a:latin typeface="Arial"/>
              <a:cs typeface="Arial"/>
            </a:endParaRPr>
          </a:p>
          <a:p>
            <a:pPr marL="756285" marR="5080" indent="-287020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3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hide</a:t>
            </a:r>
            <a:r>
              <a:rPr sz="2000" spc="3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fact</a:t>
            </a:r>
            <a:r>
              <a:rPr sz="2000" spc="3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3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</a:t>
            </a:r>
            <a:r>
              <a:rPr sz="2000" spc="350" dirty="0"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processes</a:t>
            </a:r>
            <a:r>
              <a:rPr sz="2000" b="1" spc="330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355" dirty="0"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resources</a:t>
            </a:r>
            <a:r>
              <a:rPr sz="2000" b="1" spc="315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3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physically </a:t>
            </a:r>
            <a:r>
              <a:rPr sz="2000" dirty="0">
                <a:latin typeface="Arial MT"/>
                <a:cs typeface="Arial MT"/>
              </a:rPr>
              <a:t>distributed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across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multiple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computers.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20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buAutoNum type="arabicPeriod" startAt="2"/>
              <a:tabLst>
                <a:tab pos="469265" algn="l"/>
              </a:tabLst>
            </a:pPr>
            <a:r>
              <a:rPr sz="2000" b="1" i="1" spc="-10" dirty="0">
                <a:solidFill>
                  <a:srgbClr val="933735"/>
                </a:solidFill>
                <a:latin typeface="Arial"/>
                <a:cs typeface="Arial"/>
              </a:rPr>
              <a:t>Openness</a:t>
            </a:r>
            <a:endParaRPr sz="2000">
              <a:latin typeface="Arial"/>
              <a:cs typeface="Arial"/>
            </a:endParaRPr>
          </a:p>
          <a:p>
            <a:pPr marL="927100" marR="230504" lvl="1" indent="-457834">
              <a:lnSpc>
                <a:spcPct val="100000"/>
              </a:lnSpc>
              <a:spcBef>
                <a:spcPts val="1200"/>
              </a:spcBef>
              <a:buFont typeface="Symbol"/>
              <a:buChar char=""/>
              <a:tabLst>
                <a:tab pos="927100" algn="l"/>
              </a:tabLst>
            </a:pPr>
            <a:r>
              <a:rPr sz="2000" spc="-55" dirty="0">
                <a:latin typeface="Arial MT"/>
                <a:cs typeface="Arial MT"/>
              </a:rPr>
              <a:t>To</a:t>
            </a:r>
            <a:r>
              <a:rPr sz="2000" spc="-1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offer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services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according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standard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rules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describe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syntax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semantics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those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services.</a:t>
            </a:r>
            <a:endParaRPr sz="2000">
              <a:latin typeface="Arial MT"/>
              <a:cs typeface="Arial MT"/>
            </a:endParaRPr>
          </a:p>
          <a:p>
            <a:pPr marL="926465" lvl="1" indent="-456565">
              <a:lnSpc>
                <a:spcPct val="100000"/>
              </a:lnSpc>
              <a:spcBef>
                <a:spcPts val="1200"/>
              </a:spcBef>
              <a:buFont typeface="Symbol"/>
              <a:buChar char=""/>
              <a:tabLst>
                <a:tab pos="926465" algn="l"/>
              </a:tabLst>
            </a:pPr>
            <a:r>
              <a:rPr sz="2000" dirty="0">
                <a:latin typeface="Arial MT"/>
                <a:cs typeface="Arial MT"/>
              </a:rPr>
              <a:t>E.g.: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Specify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interfaces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interface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definition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language</a:t>
            </a:r>
            <a:endParaRPr sz="20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Arial MT"/>
                <a:cs typeface="Arial MT"/>
              </a:rPr>
              <a:t>(IDL)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0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buAutoNum type="arabicPeriod" startAt="3"/>
              <a:tabLst>
                <a:tab pos="469265" algn="l"/>
              </a:tabLst>
            </a:pPr>
            <a:r>
              <a:rPr sz="2000" b="1" i="1" spc="-10" dirty="0">
                <a:solidFill>
                  <a:srgbClr val="933735"/>
                </a:solidFill>
                <a:latin typeface="Arial"/>
                <a:cs typeface="Arial"/>
              </a:rPr>
              <a:t>Scalability</a:t>
            </a:r>
            <a:endParaRPr sz="2000">
              <a:latin typeface="Arial"/>
              <a:cs typeface="Arial"/>
            </a:endParaRPr>
          </a:p>
          <a:p>
            <a:pPr marL="926465" lvl="1" indent="-456565">
              <a:lnSpc>
                <a:spcPct val="100000"/>
              </a:lnSpc>
              <a:spcBef>
                <a:spcPts val="1205"/>
              </a:spcBef>
              <a:buFont typeface="Symbol"/>
              <a:buChar char=""/>
              <a:tabLst>
                <a:tab pos="926465" algn="l"/>
              </a:tabLst>
            </a:pPr>
            <a:r>
              <a:rPr sz="2000" dirty="0">
                <a:latin typeface="Arial MT"/>
                <a:cs typeface="Arial MT"/>
              </a:rPr>
              <a:t>Possibility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making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expends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dimension.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5" name="object 5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8190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0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5943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4.</a:t>
            </a:r>
            <a:r>
              <a:rPr b="1" spc="-114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Distributed</a:t>
            </a:r>
            <a:r>
              <a:rPr b="1" spc="-1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System</a:t>
            </a:r>
            <a:r>
              <a:rPr b="1" spc="-12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Goals</a:t>
            </a:r>
          </a:p>
        </p:txBody>
      </p:sp>
      <p:sp>
        <p:nvSpPr>
          <p:cNvPr id="9" name="object 9"/>
          <p:cNvSpPr/>
          <p:nvPr/>
        </p:nvSpPr>
        <p:spPr>
          <a:xfrm>
            <a:off x="0" y="6356598"/>
            <a:ext cx="8641080" cy="50165"/>
          </a:xfrm>
          <a:custGeom>
            <a:avLst/>
            <a:gdLst/>
            <a:ahLst/>
            <a:cxnLst/>
            <a:rect l="l" t="t" r="r" b="b"/>
            <a:pathLst>
              <a:path w="8641080" h="50164">
                <a:moveTo>
                  <a:pt x="8640699" y="0"/>
                </a:moveTo>
                <a:lnTo>
                  <a:pt x="0" y="0"/>
                </a:lnTo>
                <a:lnTo>
                  <a:pt x="0" y="49789"/>
                </a:lnTo>
                <a:lnTo>
                  <a:pt x="8640699" y="49789"/>
                </a:lnTo>
                <a:lnTo>
                  <a:pt x="8640699" y="0"/>
                </a:lnTo>
                <a:close/>
              </a:path>
            </a:pathLst>
          </a:custGeom>
          <a:solidFill>
            <a:srgbClr val="487C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4" name="object 4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58190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0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908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1F477B"/>
                </a:solidFill>
              </a:rPr>
              <a:t>Distributed</a:t>
            </a:r>
            <a:r>
              <a:rPr spc="-70" dirty="0">
                <a:solidFill>
                  <a:srgbClr val="1F477B"/>
                </a:solidFill>
              </a:rPr>
              <a:t> </a:t>
            </a:r>
            <a:r>
              <a:rPr spc="-20" dirty="0">
                <a:solidFill>
                  <a:srgbClr val="1F477B"/>
                </a:solidFill>
              </a:rPr>
              <a:t>Systems</a:t>
            </a:r>
            <a:r>
              <a:rPr spc="-155" dirty="0">
                <a:solidFill>
                  <a:srgbClr val="1F477B"/>
                </a:solidFill>
              </a:rPr>
              <a:t> </a:t>
            </a:r>
            <a:r>
              <a:rPr dirty="0">
                <a:solidFill>
                  <a:srgbClr val="1F477B"/>
                </a:solidFill>
              </a:rPr>
              <a:t>Goals</a:t>
            </a:r>
            <a:r>
              <a:rPr spc="-135" dirty="0">
                <a:solidFill>
                  <a:srgbClr val="1F477B"/>
                </a:solidFill>
              </a:rPr>
              <a:t> </a:t>
            </a:r>
            <a:r>
              <a:rPr dirty="0">
                <a:solidFill>
                  <a:srgbClr val="1F477B"/>
                </a:solidFill>
              </a:rPr>
              <a:t>in</a:t>
            </a:r>
            <a:r>
              <a:rPr spc="-130" dirty="0">
                <a:solidFill>
                  <a:srgbClr val="1F477B"/>
                </a:solidFill>
              </a:rPr>
              <a:t> </a:t>
            </a:r>
            <a:r>
              <a:rPr spc="-10" dirty="0">
                <a:solidFill>
                  <a:srgbClr val="1F477B"/>
                </a:solidFill>
              </a:rPr>
              <a:t>details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4034" y="1034288"/>
            <a:ext cx="6014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1.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Transparency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characteristics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bellow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2848" y="1581911"/>
            <a:ext cx="5850636" cy="496366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437635" y="6453936"/>
            <a:ext cx="2239010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z="1800" b="1" spc="-52" baseline="2314" dirty="0">
                <a:solidFill>
                  <a:srgbClr val="878787"/>
                </a:solidFill>
                <a:latin typeface="Calibri"/>
                <a:cs typeface="Calibri"/>
              </a:rPr>
              <a:t>Distributed</a:t>
            </a:r>
            <a:r>
              <a:rPr sz="1800" b="1" spc="44" baseline="231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800" b="1" spc="-52" baseline="2314" dirty="0">
                <a:solidFill>
                  <a:srgbClr val="878787"/>
                </a:solidFill>
                <a:latin typeface="Calibri"/>
                <a:cs typeface="Calibri"/>
              </a:rPr>
              <a:t>Computing</a:t>
            </a:r>
            <a:r>
              <a:rPr sz="1800" b="1" spc="52" baseline="231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800" b="1" spc="-262" baseline="2314" dirty="0">
                <a:solidFill>
                  <a:srgbClr val="878787"/>
                </a:solidFill>
                <a:latin typeface="Calibri"/>
                <a:cs typeface="Calibri"/>
              </a:rPr>
              <a:t>@20</a:t>
            </a:r>
            <a:r>
              <a:rPr sz="1800" spc="-262" baseline="2314" dirty="0">
                <a:solidFill>
                  <a:srgbClr val="878787"/>
                </a:solidFill>
                <a:latin typeface="Calibri"/>
                <a:cs typeface="Calibri"/>
              </a:rPr>
              <a:t>2</a:t>
            </a:r>
            <a:r>
              <a:rPr sz="1200" spc="-175" dirty="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r>
              <a:rPr sz="1800" spc="-262" baseline="2314" dirty="0">
                <a:solidFill>
                  <a:srgbClr val="878787"/>
                </a:solidFill>
                <a:latin typeface="Calibri"/>
                <a:cs typeface="Calibri"/>
              </a:rPr>
              <a:t>4</a:t>
            </a:r>
            <a:r>
              <a:rPr sz="1200" spc="-175" dirty="0">
                <a:solidFill>
                  <a:srgbClr val="878787"/>
                </a:solidFill>
                <a:latin typeface="Calibri"/>
                <a:cs typeface="Calibri"/>
              </a:rPr>
              <a:t>9</a:t>
            </a:r>
            <a:r>
              <a:rPr sz="1800" b="1" spc="-262" baseline="2314" dirty="0">
                <a:solidFill>
                  <a:srgbClr val="878787"/>
                </a:solidFill>
                <a:latin typeface="Calibri"/>
                <a:cs typeface="Calibri"/>
              </a:rPr>
              <a:t>-</a:t>
            </a:r>
            <a:r>
              <a:rPr sz="1800" spc="-735" baseline="2314" dirty="0">
                <a:solidFill>
                  <a:srgbClr val="878787"/>
                </a:solidFill>
                <a:latin typeface="Calibri"/>
                <a:cs typeface="Calibri"/>
              </a:rPr>
              <a:t>2</a:t>
            </a:r>
            <a:r>
              <a:rPr sz="1200" spc="-160" dirty="0">
                <a:solidFill>
                  <a:srgbClr val="878787"/>
                </a:solidFill>
                <a:latin typeface="Calibri"/>
                <a:cs typeface="Calibri"/>
              </a:rPr>
              <a:t>2</a:t>
            </a:r>
            <a:r>
              <a:rPr sz="1800" spc="-757" baseline="2314" dirty="0">
                <a:solidFill>
                  <a:srgbClr val="878787"/>
                </a:solidFill>
                <a:latin typeface="Calibri"/>
                <a:cs typeface="Calibri"/>
              </a:rPr>
              <a:t>0</a:t>
            </a:r>
            <a:r>
              <a:rPr sz="1200" spc="-150" dirty="0">
                <a:solidFill>
                  <a:srgbClr val="878787"/>
                </a:solidFill>
                <a:latin typeface="Calibri"/>
                <a:cs typeface="Calibri"/>
              </a:rPr>
              <a:t>0</a:t>
            </a:r>
            <a:r>
              <a:rPr sz="1800" spc="-37" baseline="2314" dirty="0">
                <a:solidFill>
                  <a:srgbClr val="878787"/>
                </a:solidFill>
                <a:latin typeface="Calibri"/>
                <a:cs typeface="Calibri"/>
              </a:rPr>
              <a:t>2</a:t>
            </a:r>
            <a:r>
              <a:rPr sz="1800" spc="-794" baseline="2314" dirty="0">
                <a:solidFill>
                  <a:srgbClr val="878787"/>
                </a:solidFill>
                <a:latin typeface="Calibri"/>
                <a:cs typeface="Calibri"/>
              </a:rPr>
              <a:t>5</a:t>
            </a:r>
            <a:r>
              <a:rPr sz="1200" spc="-40" dirty="0">
                <a:solidFill>
                  <a:srgbClr val="878787"/>
                </a:solidFill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28481" y="6453936"/>
            <a:ext cx="17526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b="1" spc="-25" dirty="0">
                <a:solidFill>
                  <a:srgbClr val="878787"/>
                </a:solidFill>
                <a:latin typeface="Calibri"/>
                <a:cs typeface="Calibri"/>
              </a:rPr>
              <a:t>24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2700" y="848566"/>
            <a:ext cx="8701405" cy="561721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902969" indent="-342265">
              <a:lnSpc>
                <a:spcPct val="100000"/>
              </a:lnSpc>
              <a:spcBef>
                <a:spcPts val="1295"/>
              </a:spcBef>
              <a:buFont typeface="Wingdings"/>
              <a:buChar char=""/>
              <a:tabLst>
                <a:tab pos="902969" algn="l"/>
              </a:tabLst>
            </a:pPr>
            <a:r>
              <a:rPr sz="2000" dirty="0">
                <a:solidFill>
                  <a:srgbClr val="1F477B"/>
                </a:solidFill>
                <a:latin typeface="Arial MT"/>
                <a:cs typeface="Arial MT"/>
              </a:rPr>
              <a:t>Aiming</a:t>
            </a:r>
            <a:r>
              <a:rPr sz="2000" spc="-25" dirty="0">
                <a:solidFill>
                  <a:srgbClr val="1F477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477B"/>
                </a:solidFill>
                <a:latin typeface="Arial MT"/>
                <a:cs typeface="Arial MT"/>
              </a:rPr>
              <a:t>at</a:t>
            </a:r>
            <a:r>
              <a:rPr sz="2000" spc="-30" dirty="0">
                <a:solidFill>
                  <a:srgbClr val="1F477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477B"/>
                </a:solidFill>
                <a:latin typeface="Arial MT"/>
                <a:cs typeface="Arial MT"/>
              </a:rPr>
              <a:t>full</a:t>
            </a:r>
            <a:r>
              <a:rPr sz="2000" spc="-35" dirty="0">
                <a:solidFill>
                  <a:srgbClr val="1F477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477B"/>
                </a:solidFill>
                <a:latin typeface="Arial MT"/>
                <a:cs typeface="Arial MT"/>
              </a:rPr>
              <a:t>transparency</a:t>
            </a:r>
            <a:r>
              <a:rPr sz="2000" spc="-105" dirty="0">
                <a:solidFill>
                  <a:srgbClr val="1F477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477B"/>
                </a:solidFill>
                <a:latin typeface="Arial MT"/>
                <a:cs typeface="Arial MT"/>
              </a:rPr>
              <a:t>may</a:t>
            </a:r>
            <a:r>
              <a:rPr sz="2000" spc="-30" dirty="0">
                <a:solidFill>
                  <a:srgbClr val="1F477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477B"/>
                </a:solidFill>
                <a:latin typeface="Arial MT"/>
                <a:cs typeface="Arial MT"/>
              </a:rPr>
              <a:t>be</a:t>
            </a:r>
            <a:r>
              <a:rPr sz="2000" spc="-40" dirty="0">
                <a:solidFill>
                  <a:srgbClr val="1F477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477B"/>
                </a:solidFill>
                <a:latin typeface="Arial MT"/>
                <a:cs typeface="Arial MT"/>
              </a:rPr>
              <a:t>too</a:t>
            </a:r>
            <a:r>
              <a:rPr sz="2000" spc="-55" dirty="0">
                <a:solidFill>
                  <a:srgbClr val="1F477B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F477B"/>
                </a:solidFill>
                <a:latin typeface="Arial MT"/>
                <a:cs typeface="Arial MT"/>
              </a:rPr>
              <a:t>much:</a:t>
            </a:r>
            <a:endParaRPr sz="2000">
              <a:latin typeface="Arial MT"/>
              <a:cs typeface="Arial MT"/>
            </a:endParaRPr>
          </a:p>
          <a:p>
            <a:pPr marL="903605" indent="-342900">
              <a:lnSpc>
                <a:spcPct val="100000"/>
              </a:lnSpc>
              <a:spcBef>
                <a:spcPts val="1200"/>
              </a:spcBef>
              <a:buChar char="•"/>
              <a:tabLst>
                <a:tab pos="903605" algn="l"/>
              </a:tabLst>
            </a:pPr>
            <a:r>
              <a:rPr sz="2000" dirty="0">
                <a:latin typeface="Arial MT"/>
                <a:cs typeface="Arial MT"/>
              </a:rPr>
              <a:t>Users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located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continents;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distribution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apparent</a:t>
            </a:r>
            <a:endParaRPr sz="2000">
              <a:latin typeface="Arial MT"/>
              <a:cs typeface="Arial MT"/>
            </a:endParaRPr>
          </a:p>
          <a:p>
            <a:pPr marL="90360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something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hide.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>
              <a:latin typeface="Arial MT"/>
              <a:cs typeface="Arial MT"/>
            </a:endParaRPr>
          </a:p>
          <a:p>
            <a:pPr marL="903605" indent="-342900">
              <a:lnSpc>
                <a:spcPct val="100000"/>
              </a:lnSpc>
              <a:buChar char="•"/>
              <a:tabLst>
                <a:tab pos="903605" algn="l"/>
              </a:tabLst>
            </a:pPr>
            <a:r>
              <a:rPr sz="2000" dirty="0">
                <a:latin typeface="Arial MT"/>
                <a:cs typeface="Arial MT"/>
              </a:rPr>
              <a:t>Completely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hiding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failures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networks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nodes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(theoretically</a:t>
            </a:r>
            <a:endParaRPr sz="2000">
              <a:latin typeface="Arial MT"/>
              <a:cs typeface="Arial MT"/>
            </a:endParaRPr>
          </a:p>
          <a:p>
            <a:pPr marL="90360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practically)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impossible.</a:t>
            </a:r>
            <a:endParaRPr sz="2000">
              <a:latin typeface="Arial MT"/>
              <a:cs typeface="Arial MT"/>
            </a:endParaRPr>
          </a:p>
          <a:p>
            <a:pPr marL="1304290" lvl="1" indent="-286385">
              <a:lnSpc>
                <a:spcPct val="100000"/>
              </a:lnSpc>
              <a:spcBef>
                <a:spcPts val="1100"/>
              </a:spcBef>
              <a:buChar char="–"/>
              <a:tabLst>
                <a:tab pos="1304290" algn="l"/>
              </a:tabLst>
            </a:pP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cannot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distinguish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slow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failing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one.</a:t>
            </a:r>
            <a:endParaRPr sz="1800">
              <a:latin typeface="Arial MT"/>
              <a:cs typeface="Arial MT"/>
            </a:endParaRPr>
          </a:p>
          <a:p>
            <a:pPr marL="1304290" lvl="1" indent="-286385">
              <a:lnSpc>
                <a:spcPct val="100000"/>
              </a:lnSpc>
              <a:spcBef>
                <a:spcPts val="1100"/>
              </a:spcBef>
              <a:buChar char="–"/>
              <a:tabLst>
                <a:tab pos="1304290" algn="l"/>
              </a:tabLst>
            </a:pP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never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sure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server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actually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performed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operation</a:t>
            </a:r>
            <a:endParaRPr sz="1800">
              <a:latin typeface="Arial MT"/>
              <a:cs typeface="Arial MT"/>
            </a:endParaRPr>
          </a:p>
          <a:p>
            <a:pPr marL="130429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before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crash.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800">
              <a:latin typeface="Arial MT"/>
              <a:cs typeface="Arial MT"/>
            </a:endParaRPr>
          </a:p>
          <a:p>
            <a:pPr marL="973455" indent="-412750">
              <a:lnSpc>
                <a:spcPct val="100000"/>
              </a:lnSpc>
              <a:buChar char="•"/>
              <a:tabLst>
                <a:tab pos="973455" algn="l"/>
              </a:tabLst>
            </a:pPr>
            <a:r>
              <a:rPr sz="2000" dirty="0">
                <a:latin typeface="Arial MT"/>
                <a:cs typeface="Arial MT"/>
              </a:rPr>
              <a:t>Full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transparency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performance,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exposing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distribution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</a:t>
            </a:r>
            <a:endParaRPr sz="2000">
              <a:latin typeface="Arial MT"/>
              <a:cs typeface="Arial MT"/>
            </a:endParaRPr>
          </a:p>
          <a:p>
            <a:pPr marL="903605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system</a:t>
            </a:r>
            <a:endParaRPr sz="2000">
              <a:latin typeface="Arial MT"/>
              <a:cs typeface="Arial MT"/>
            </a:endParaRPr>
          </a:p>
          <a:p>
            <a:pPr marL="1304290" lvl="1" indent="-286385">
              <a:lnSpc>
                <a:spcPct val="100000"/>
              </a:lnSpc>
              <a:spcBef>
                <a:spcPts val="1115"/>
              </a:spcBef>
              <a:buChar char="–"/>
              <a:tabLst>
                <a:tab pos="1304290" algn="l"/>
              </a:tabLst>
            </a:pPr>
            <a:r>
              <a:rPr sz="1800" dirty="0">
                <a:latin typeface="Arial MT"/>
                <a:cs typeface="Arial MT"/>
              </a:rPr>
              <a:t>Keeping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Web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caches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exactly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up-</a:t>
            </a:r>
            <a:r>
              <a:rPr sz="1800" spc="-25" dirty="0">
                <a:latin typeface="Arial MT"/>
                <a:cs typeface="Arial MT"/>
              </a:rPr>
              <a:t>to-</a:t>
            </a:r>
            <a:r>
              <a:rPr sz="1800" dirty="0">
                <a:latin typeface="Arial MT"/>
                <a:cs typeface="Arial MT"/>
              </a:rPr>
              <a:t>date with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master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copy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1017905" algn="l"/>
                <a:tab pos="1304290" algn="l"/>
                <a:tab pos="8688070" algn="l"/>
              </a:tabLst>
            </a:pPr>
            <a:r>
              <a:rPr sz="1800" u="heavy" dirty="0">
                <a:uFill>
                  <a:solidFill>
                    <a:srgbClr val="487CB9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u="heavy" dirty="0">
                <a:uFill>
                  <a:solidFill>
                    <a:srgbClr val="487CB9"/>
                  </a:solidFill>
                </a:uFill>
                <a:latin typeface="Arial MT"/>
                <a:cs typeface="Arial MT"/>
              </a:rPr>
              <a:t>–	Immediately</a:t>
            </a:r>
            <a:r>
              <a:rPr sz="1800" u="heavy" spc="-50" dirty="0">
                <a:uFill>
                  <a:solidFill>
                    <a:srgbClr val="487CB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487CB9"/>
                  </a:solidFill>
                </a:uFill>
                <a:latin typeface="Arial MT"/>
                <a:cs typeface="Arial MT"/>
              </a:rPr>
              <a:t>flushing</a:t>
            </a:r>
            <a:r>
              <a:rPr sz="1800" u="heavy" spc="-35" dirty="0">
                <a:uFill>
                  <a:solidFill>
                    <a:srgbClr val="487CB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487CB9"/>
                  </a:solidFill>
                </a:uFill>
                <a:latin typeface="Arial MT"/>
                <a:cs typeface="Arial MT"/>
              </a:rPr>
              <a:t>write</a:t>
            </a:r>
            <a:r>
              <a:rPr sz="1800" u="heavy" spc="35" dirty="0">
                <a:uFill>
                  <a:solidFill>
                    <a:srgbClr val="487CB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487CB9"/>
                  </a:solidFill>
                </a:uFill>
                <a:latin typeface="Arial MT"/>
                <a:cs typeface="Arial MT"/>
              </a:rPr>
              <a:t>operations</a:t>
            </a:r>
            <a:r>
              <a:rPr sz="1800" u="heavy" spc="-20" dirty="0">
                <a:uFill>
                  <a:solidFill>
                    <a:srgbClr val="487CB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487CB9"/>
                  </a:solidFill>
                </a:uFill>
                <a:latin typeface="Arial MT"/>
                <a:cs typeface="Arial MT"/>
              </a:rPr>
              <a:t>to</a:t>
            </a:r>
            <a:r>
              <a:rPr sz="1800" u="heavy" spc="-70" dirty="0">
                <a:uFill>
                  <a:solidFill>
                    <a:srgbClr val="487CB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487CB9"/>
                  </a:solidFill>
                </a:uFill>
                <a:latin typeface="Arial MT"/>
                <a:cs typeface="Arial MT"/>
              </a:rPr>
              <a:t>disk</a:t>
            </a:r>
            <a:r>
              <a:rPr sz="1800" u="heavy" spc="-50" dirty="0">
                <a:uFill>
                  <a:solidFill>
                    <a:srgbClr val="487CB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487CB9"/>
                  </a:solidFill>
                </a:uFill>
                <a:latin typeface="Arial MT"/>
                <a:cs typeface="Arial MT"/>
              </a:rPr>
              <a:t>for</a:t>
            </a:r>
            <a:r>
              <a:rPr sz="1800" u="heavy" spc="-55" dirty="0">
                <a:uFill>
                  <a:solidFill>
                    <a:srgbClr val="487CB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487CB9"/>
                  </a:solidFill>
                </a:uFill>
                <a:latin typeface="Arial MT"/>
                <a:cs typeface="Arial MT"/>
              </a:rPr>
              <a:t>fault</a:t>
            </a:r>
            <a:r>
              <a:rPr sz="1800" u="heavy" spc="-55" dirty="0">
                <a:uFill>
                  <a:solidFill>
                    <a:srgbClr val="487CB9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uFill>
                  <a:solidFill>
                    <a:srgbClr val="487CB9"/>
                  </a:solidFill>
                </a:uFill>
                <a:latin typeface="Arial MT"/>
                <a:cs typeface="Arial MT"/>
              </a:rPr>
              <a:t>tolerance</a:t>
            </a:r>
            <a:r>
              <a:rPr sz="1800" u="heavy" dirty="0">
                <a:uFill>
                  <a:solidFill>
                    <a:srgbClr val="487CB9"/>
                  </a:solidFill>
                </a:uFill>
                <a:latin typeface="Arial MT"/>
                <a:cs typeface="Arial MT"/>
              </a:rPr>
              <a:t>	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5" name="object 5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8190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0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872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1.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spc="-35" dirty="0">
                <a:solidFill>
                  <a:srgbClr val="000000"/>
                </a:solidFill>
              </a:rPr>
              <a:t>Transparency</a:t>
            </a:r>
            <a:r>
              <a:rPr spc="-10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(cont’d)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2049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7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8" name="object 8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58190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0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658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2.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Openness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635" y="999870"/>
            <a:ext cx="8065770" cy="5082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9725" indent="-327025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AutoNum type="alphaLcPeriod"/>
              <a:tabLst>
                <a:tab pos="339725" algn="l"/>
              </a:tabLst>
            </a:pPr>
            <a:r>
              <a:rPr sz="2000" b="1" dirty="0">
                <a:solidFill>
                  <a:srgbClr val="538ED3"/>
                </a:solidFill>
                <a:latin typeface="Arial"/>
                <a:cs typeface="Arial"/>
              </a:rPr>
              <a:t>Open</a:t>
            </a:r>
            <a:r>
              <a:rPr sz="2000" b="1" spc="320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38ED3"/>
                </a:solidFill>
                <a:latin typeface="Arial"/>
                <a:cs typeface="Arial"/>
              </a:rPr>
              <a:t>distributed</a:t>
            </a:r>
            <a:r>
              <a:rPr sz="2000" b="1" spc="300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38ED3"/>
                </a:solidFill>
                <a:latin typeface="Arial"/>
                <a:cs typeface="Arial"/>
              </a:rPr>
              <a:t>system</a:t>
            </a:r>
            <a:r>
              <a:rPr sz="2000" b="1" dirty="0">
                <a:latin typeface="Arial"/>
                <a:cs typeface="Arial"/>
              </a:rPr>
              <a:t>:</a:t>
            </a:r>
            <a:r>
              <a:rPr sz="2000" b="1" spc="35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3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able</a:t>
            </a:r>
            <a:r>
              <a:rPr sz="2000" spc="3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3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interact</a:t>
            </a:r>
            <a:r>
              <a:rPr sz="2000" spc="2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3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services</a:t>
            </a:r>
            <a:r>
              <a:rPr sz="2000" spc="30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from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systems,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irrespective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underlying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environment:</a:t>
            </a:r>
            <a:endParaRPr sz="2000">
              <a:latin typeface="Arial MT"/>
              <a:cs typeface="Arial MT"/>
            </a:endParaRPr>
          </a:p>
          <a:p>
            <a:pPr marL="826135" lvl="1" indent="-356235">
              <a:lnSpc>
                <a:spcPct val="100000"/>
              </a:lnSpc>
              <a:spcBef>
                <a:spcPts val="1200"/>
              </a:spcBef>
              <a:buChar char="•"/>
              <a:tabLst>
                <a:tab pos="826135" algn="l"/>
              </a:tabLst>
            </a:pP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should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conform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40" dirty="0">
                <a:latin typeface="Arial MT"/>
                <a:cs typeface="Arial MT"/>
              </a:rPr>
              <a:t>well-</a:t>
            </a:r>
            <a:r>
              <a:rPr sz="2000" dirty="0">
                <a:latin typeface="Arial MT"/>
                <a:cs typeface="Arial MT"/>
              </a:rPr>
              <a:t>defined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/>
                <a:cs typeface="Arial"/>
              </a:rPr>
              <a:t>interfaces</a:t>
            </a:r>
            <a:endParaRPr sz="2000">
              <a:latin typeface="Arial"/>
              <a:cs typeface="Arial"/>
            </a:endParaRPr>
          </a:p>
          <a:p>
            <a:pPr marL="826135" lvl="1" indent="-356235">
              <a:lnSpc>
                <a:spcPct val="100000"/>
              </a:lnSpc>
              <a:spcBef>
                <a:spcPts val="1200"/>
              </a:spcBef>
              <a:buChar char="•"/>
              <a:tabLst>
                <a:tab pos="826135" algn="l"/>
              </a:tabLst>
            </a:pP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should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support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portability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applications</a:t>
            </a:r>
            <a:endParaRPr sz="2000">
              <a:latin typeface="Arial MT"/>
              <a:cs typeface="Arial MT"/>
            </a:endParaRPr>
          </a:p>
          <a:p>
            <a:pPr marL="826135" lvl="1" indent="-356235">
              <a:lnSpc>
                <a:spcPct val="100000"/>
              </a:lnSpc>
              <a:spcBef>
                <a:spcPts val="1200"/>
              </a:spcBef>
              <a:buChar char="•"/>
              <a:tabLst>
                <a:tab pos="826135" algn="l"/>
              </a:tabLst>
            </a:pP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should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easily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/>
                <a:cs typeface="Arial"/>
              </a:rPr>
              <a:t>interoperate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5"/>
              </a:spcBef>
              <a:buFont typeface="Arial MT"/>
              <a:buChar char="•"/>
            </a:pPr>
            <a:endParaRPr sz="2000">
              <a:latin typeface="Arial"/>
              <a:cs typeface="Arial"/>
            </a:endParaRPr>
          </a:p>
          <a:p>
            <a:pPr marL="374650" indent="-292100">
              <a:lnSpc>
                <a:spcPct val="100000"/>
              </a:lnSpc>
              <a:buClr>
                <a:srgbClr val="000000"/>
              </a:buClr>
              <a:buAutoNum type="alphaLcPeriod" startAt="2"/>
              <a:tabLst>
                <a:tab pos="374650" algn="l"/>
              </a:tabLst>
            </a:pPr>
            <a:r>
              <a:rPr sz="2000" b="1" dirty="0">
                <a:solidFill>
                  <a:srgbClr val="538ED3"/>
                </a:solidFill>
                <a:latin typeface="Arial"/>
                <a:cs typeface="Arial"/>
              </a:rPr>
              <a:t>The</a:t>
            </a:r>
            <a:r>
              <a:rPr sz="2000" b="1" spc="-50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38ED3"/>
                </a:solidFill>
                <a:latin typeface="Arial"/>
                <a:cs typeface="Arial"/>
              </a:rPr>
              <a:t>challenge</a:t>
            </a:r>
            <a:r>
              <a:rPr sz="2000" b="1" spc="-65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38ED3"/>
                </a:solidFill>
                <a:latin typeface="Arial"/>
                <a:cs typeface="Arial"/>
              </a:rPr>
              <a:t>will</a:t>
            </a:r>
            <a:r>
              <a:rPr sz="2000" b="1" spc="-114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38ED3"/>
                </a:solidFill>
                <a:latin typeface="Arial"/>
                <a:cs typeface="Arial"/>
              </a:rPr>
              <a:t>be</a:t>
            </a:r>
            <a:r>
              <a:rPr sz="2000" b="1" spc="-20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38ED3"/>
                </a:solidFill>
                <a:latin typeface="Arial"/>
                <a:cs typeface="Arial"/>
              </a:rPr>
              <a:t>how</a:t>
            </a:r>
            <a:r>
              <a:rPr sz="2000" b="1" spc="-25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38ED3"/>
                </a:solidFill>
                <a:latin typeface="Arial"/>
                <a:cs typeface="Arial"/>
              </a:rPr>
              <a:t>to</a:t>
            </a:r>
            <a:r>
              <a:rPr sz="2000" b="1" spc="-50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38ED3"/>
                </a:solidFill>
                <a:latin typeface="Arial"/>
                <a:cs typeface="Arial"/>
              </a:rPr>
              <a:t>achieve</a:t>
            </a:r>
            <a:r>
              <a:rPr sz="2000" b="1" spc="-5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38ED3"/>
                </a:solidFill>
                <a:latin typeface="Arial"/>
                <a:cs typeface="Arial"/>
              </a:rPr>
              <a:t>openness</a:t>
            </a:r>
            <a:r>
              <a:rPr sz="2000" b="1" spc="-1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"/>
              <a:tabLst>
                <a:tab pos="354965" algn="l"/>
                <a:tab pos="891540" algn="l"/>
                <a:tab pos="1724025" algn="l"/>
                <a:tab pos="2641600" algn="l"/>
                <a:tab pos="3289300" algn="l"/>
                <a:tab pos="4758690" algn="l"/>
                <a:tab pos="5859145" algn="l"/>
                <a:tab pos="7552690" algn="l"/>
              </a:tabLst>
            </a:pPr>
            <a:r>
              <a:rPr sz="2000" spc="-25" dirty="0">
                <a:latin typeface="Arial MT"/>
                <a:cs typeface="Arial MT"/>
              </a:rPr>
              <a:t>At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least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make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the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distributed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system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independent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from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heterogeneity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underlying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environment:</a:t>
            </a:r>
            <a:endParaRPr sz="2000">
              <a:latin typeface="Arial MT"/>
              <a:cs typeface="Arial MT"/>
            </a:endParaRPr>
          </a:p>
          <a:p>
            <a:pPr marL="826135" lvl="1" indent="-356235">
              <a:lnSpc>
                <a:spcPct val="100000"/>
              </a:lnSpc>
              <a:spcBef>
                <a:spcPts val="1200"/>
              </a:spcBef>
              <a:buChar char="•"/>
              <a:tabLst>
                <a:tab pos="826135" algn="l"/>
              </a:tabLst>
            </a:pPr>
            <a:r>
              <a:rPr sz="2000" spc="-10" dirty="0">
                <a:latin typeface="Arial MT"/>
                <a:cs typeface="Arial MT"/>
              </a:rPr>
              <a:t>Hardware</a:t>
            </a:r>
            <a:endParaRPr sz="2000">
              <a:latin typeface="Arial MT"/>
              <a:cs typeface="Arial MT"/>
            </a:endParaRPr>
          </a:p>
          <a:p>
            <a:pPr marL="826135" lvl="1" indent="-356235">
              <a:lnSpc>
                <a:spcPct val="100000"/>
              </a:lnSpc>
              <a:spcBef>
                <a:spcPts val="1200"/>
              </a:spcBef>
              <a:buChar char="•"/>
              <a:tabLst>
                <a:tab pos="826135" algn="l"/>
              </a:tabLst>
            </a:pPr>
            <a:r>
              <a:rPr sz="2000" spc="-10" dirty="0">
                <a:latin typeface="Arial MT"/>
                <a:cs typeface="Arial MT"/>
              </a:rPr>
              <a:t>Platforms</a:t>
            </a:r>
            <a:endParaRPr sz="2000">
              <a:latin typeface="Arial MT"/>
              <a:cs typeface="Arial MT"/>
            </a:endParaRPr>
          </a:p>
          <a:p>
            <a:pPr marL="826135" lvl="1" indent="-356235">
              <a:lnSpc>
                <a:spcPct val="100000"/>
              </a:lnSpc>
              <a:spcBef>
                <a:spcPts val="1200"/>
              </a:spcBef>
              <a:buChar char="•"/>
              <a:tabLst>
                <a:tab pos="826135" algn="l"/>
              </a:tabLst>
            </a:pPr>
            <a:r>
              <a:rPr sz="2000" spc="-10" dirty="0">
                <a:latin typeface="Arial MT"/>
                <a:cs typeface="Arial MT"/>
              </a:rPr>
              <a:t>Languages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2049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5" name="object 5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8190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0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8561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2.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Openness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(cont’d)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635" y="999870"/>
            <a:ext cx="8098790" cy="5007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Arial"/>
                <a:cs typeface="Arial"/>
              </a:rPr>
              <a:t>c</a:t>
            </a:r>
            <a:r>
              <a:rPr sz="2000" i="1" dirty="0">
                <a:latin typeface="Arial"/>
                <a:cs typeface="Arial"/>
              </a:rPr>
              <a:t>.</a:t>
            </a:r>
            <a:r>
              <a:rPr sz="2000" i="1" spc="-6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38ED3"/>
                </a:solidFill>
                <a:latin typeface="Arial"/>
                <a:cs typeface="Arial"/>
              </a:rPr>
              <a:t>Implementing</a:t>
            </a:r>
            <a:r>
              <a:rPr sz="2000" b="1" spc="-55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38ED3"/>
                </a:solidFill>
                <a:latin typeface="Arial"/>
                <a:cs typeface="Arial"/>
              </a:rPr>
              <a:t>openness</a:t>
            </a:r>
            <a:r>
              <a:rPr sz="2000" b="1" dirty="0">
                <a:latin typeface="Arial"/>
                <a:cs typeface="Arial"/>
              </a:rPr>
              <a:t>: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Requires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support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/>
                <a:cs typeface="Arial"/>
              </a:rPr>
              <a:t>policies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specified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applications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users:</a:t>
            </a:r>
            <a:endParaRPr sz="2000">
              <a:latin typeface="Arial MT"/>
              <a:cs typeface="Arial MT"/>
            </a:endParaRPr>
          </a:p>
          <a:p>
            <a:pPr marL="819785" indent="-349885">
              <a:lnSpc>
                <a:spcPct val="100000"/>
              </a:lnSpc>
              <a:spcBef>
                <a:spcPts val="1110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What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level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consistency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require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client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cached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data?</a:t>
            </a:r>
            <a:endParaRPr sz="1800">
              <a:latin typeface="Arial MT"/>
              <a:cs typeface="Arial MT"/>
            </a:endParaRPr>
          </a:p>
          <a:p>
            <a:pPr marL="819785" indent="-349885">
              <a:lnSpc>
                <a:spcPct val="100000"/>
              </a:lnSpc>
              <a:spcBef>
                <a:spcPts val="1095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operations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allow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downloaded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perform?</a:t>
            </a:r>
            <a:endParaRPr sz="1800">
              <a:latin typeface="Arial MT"/>
              <a:cs typeface="Arial MT"/>
            </a:endParaRPr>
          </a:p>
          <a:p>
            <a:pPr marL="819785" indent="-349885">
              <a:lnSpc>
                <a:spcPct val="100000"/>
              </a:lnSpc>
              <a:spcBef>
                <a:spcPts val="1105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QoS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requirements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adjust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face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varying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bandwidth?</a:t>
            </a:r>
            <a:endParaRPr sz="1800">
              <a:latin typeface="Arial MT"/>
              <a:cs typeface="Arial MT"/>
            </a:endParaRPr>
          </a:p>
          <a:p>
            <a:pPr marL="819785" indent="-349885">
              <a:lnSpc>
                <a:spcPct val="100000"/>
              </a:lnSpc>
              <a:spcBef>
                <a:spcPts val="1105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What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level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secrecy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require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communication?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1800">
              <a:latin typeface="Arial MT"/>
              <a:cs typeface="Arial MT"/>
            </a:endParaRPr>
          </a:p>
          <a:p>
            <a:pPr marL="755650" indent="-28575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755650" algn="l"/>
              </a:tabLst>
            </a:pPr>
            <a:r>
              <a:rPr sz="2000" spc="-10" dirty="0">
                <a:latin typeface="Arial MT"/>
                <a:cs typeface="Arial MT"/>
              </a:rPr>
              <a:t>Ideally,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distributed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provides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only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/>
                <a:cs typeface="Arial"/>
              </a:rPr>
              <a:t>mechanisms</a:t>
            </a:r>
            <a:r>
              <a:rPr sz="2000" spc="-1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marL="1155700" marR="6350" lvl="1" indent="-228600">
              <a:lnSpc>
                <a:spcPct val="100000"/>
              </a:lnSpc>
              <a:spcBef>
                <a:spcPts val="1110"/>
              </a:spcBef>
              <a:buFont typeface="Wingdings"/>
              <a:buChar char=""/>
              <a:tabLst>
                <a:tab pos="1155700" algn="l"/>
                <a:tab pos="1205230" algn="l"/>
              </a:tabLst>
            </a:pPr>
            <a:r>
              <a:rPr sz="1800" dirty="0">
                <a:latin typeface="Arial MT"/>
                <a:cs typeface="Arial MT"/>
              </a:rPr>
              <a:t>	Allow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(dynamic)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setting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caching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policies,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preferably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cacheable item.</a:t>
            </a:r>
            <a:endParaRPr sz="1800">
              <a:latin typeface="Arial MT"/>
              <a:cs typeface="Arial MT"/>
            </a:endParaRPr>
          </a:p>
          <a:p>
            <a:pPr marL="1218565" lvl="1" indent="-291465">
              <a:lnSpc>
                <a:spcPct val="100000"/>
              </a:lnSpc>
              <a:spcBef>
                <a:spcPts val="1095"/>
              </a:spcBef>
              <a:buFont typeface="Wingdings"/>
              <a:buChar char=""/>
              <a:tabLst>
                <a:tab pos="1218565" algn="l"/>
              </a:tabLst>
            </a:pPr>
            <a:r>
              <a:rPr sz="1800" dirty="0">
                <a:latin typeface="Arial MT"/>
                <a:cs typeface="Arial MT"/>
              </a:rPr>
              <a:t>Support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levels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trust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mobile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code</a:t>
            </a:r>
            <a:endParaRPr sz="1800">
              <a:latin typeface="Arial MT"/>
              <a:cs typeface="Arial MT"/>
            </a:endParaRPr>
          </a:p>
          <a:p>
            <a:pPr marL="1219200" lvl="1" indent="-292100">
              <a:lnSpc>
                <a:spcPct val="100000"/>
              </a:lnSpc>
              <a:spcBef>
                <a:spcPts val="1105"/>
              </a:spcBef>
              <a:buFont typeface="Wingdings"/>
              <a:buChar char=""/>
              <a:tabLst>
                <a:tab pos="1219200" algn="l"/>
              </a:tabLst>
            </a:pPr>
            <a:r>
              <a:rPr sz="1800" dirty="0">
                <a:latin typeface="Arial MT"/>
                <a:cs typeface="Arial MT"/>
              </a:rPr>
              <a:t>Provide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adjustable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QoS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parameters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stream</a:t>
            </a:r>
            <a:endParaRPr sz="1800">
              <a:latin typeface="Arial MT"/>
              <a:cs typeface="Arial MT"/>
            </a:endParaRPr>
          </a:p>
          <a:p>
            <a:pPr marL="1218565" lvl="1" indent="-291465">
              <a:lnSpc>
                <a:spcPct val="100000"/>
              </a:lnSpc>
              <a:spcBef>
                <a:spcPts val="1105"/>
              </a:spcBef>
              <a:buFont typeface="Wingdings"/>
              <a:buChar char=""/>
              <a:tabLst>
                <a:tab pos="1218565" algn="l"/>
              </a:tabLst>
            </a:pPr>
            <a:r>
              <a:rPr sz="1800" dirty="0">
                <a:latin typeface="Arial MT"/>
                <a:cs typeface="Arial MT"/>
              </a:rPr>
              <a:t>Offer</a:t>
            </a:r>
            <a:r>
              <a:rPr sz="1800" spc="-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encryption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algorithms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6356598"/>
            <a:ext cx="8641080" cy="50165"/>
          </a:xfrm>
          <a:custGeom>
            <a:avLst/>
            <a:gdLst/>
            <a:ahLst/>
            <a:cxnLst/>
            <a:rect l="l" t="t" r="r" b="b"/>
            <a:pathLst>
              <a:path w="8641080" h="50164">
                <a:moveTo>
                  <a:pt x="8640699" y="0"/>
                </a:moveTo>
                <a:lnTo>
                  <a:pt x="0" y="0"/>
                </a:lnTo>
                <a:lnTo>
                  <a:pt x="0" y="49789"/>
                </a:lnTo>
                <a:lnTo>
                  <a:pt x="8640699" y="49789"/>
                </a:lnTo>
                <a:lnTo>
                  <a:pt x="8640699" y="0"/>
                </a:lnTo>
                <a:close/>
              </a:path>
            </a:pathLst>
          </a:custGeom>
          <a:solidFill>
            <a:srgbClr val="487C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5" name="object 5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8190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0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519798" y="168909"/>
            <a:ext cx="20643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3.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Scalability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635" y="999870"/>
            <a:ext cx="8082280" cy="4764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9250" marR="5080" indent="-336550" algn="just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Many</a:t>
            </a:r>
            <a:r>
              <a:rPr sz="2000" spc="5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developers</a:t>
            </a:r>
            <a:r>
              <a:rPr sz="2000" spc="6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6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modern</a:t>
            </a:r>
            <a:r>
              <a:rPr sz="2000" spc="6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distributed</a:t>
            </a:r>
            <a:r>
              <a:rPr sz="2000" spc="6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6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easily</a:t>
            </a:r>
            <a:r>
              <a:rPr sz="2000" spc="6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65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the 	</a:t>
            </a:r>
            <a:r>
              <a:rPr sz="2000" dirty="0">
                <a:latin typeface="Arial MT"/>
                <a:cs typeface="Arial MT"/>
              </a:rPr>
              <a:t>adjective</a:t>
            </a:r>
            <a:r>
              <a:rPr sz="2000" spc="2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</a:t>
            </a:r>
            <a:r>
              <a:rPr sz="2000" dirty="0">
                <a:solidFill>
                  <a:srgbClr val="538ED3"/>
                </a:solidFill>
                <a:latin typeface="Arial MT"/>
                <a:cs typeface="Arial MT"/>
              </a:rPr>
              <a:t>scalable</a:t>
            </a:r>
            <a:r>
              <a:rPr sz="2000" dirty="0">
                <a:latin typeface="Arial MT"/>
                <a:cs typeface="Arial MT"/>
              </a:rPr>
              <a:t>”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without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making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clear</a:t>
            </a:r>
            <a:r>
              <a:rPr sz="2000" spc="24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why</a:t>
            </a:r>
            <a:r>
              <a:rPr sz="2000" i="1" spc="254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their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actually 	scales.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three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components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must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 cared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about:</a:t>
            </a:r>
            <a:endParaRPr sz="20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755650" algn="l"/>
              </a:tabLst>
            </a:pP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and/or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processes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(</a:t>
            </a:r>
            <a:r>
              <a:rPr sz="2000" b="1" dirty="0">
                <a:solidFill>
                  <a:srgbClr val="538ED3"/>
                </a:solidFill>
                <a:latin typeface="Arial"/>
                <a:cs typeface="Arial"/>
              </a:rPr>
              <a:t>size</a:t>
            </a:r>
            <a:r>
              <a:rPr sz="2000" b="1" spc="-50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38ED3"/>
                </a:solidFill>
                <a:latin typeface="Arial"/>
                <a:cs typeface="Arial"/>
              </a:rPr>
              <a:t>scalability</a:t>
            </a:r>
            <a:r>
              <a:rPr sz="2000" b="1" spc="-1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205"/>
              </a:spcBef>
              <a:buFont typeface="Courier New"/>
              <a:buChar char="o"/>
              <a:tabLst>
                <a:tab pos="755650" algn="l"/>
              </a:tabLst>
            </a:pPr>
            <a:r>
              <a:rPr sz="2000" dirty="0">
                <a:latin typeface="Arial MT"/>
                <a:cs typeface="Arial MT"/>
              </a:rPr>
              <a:t>Maximum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distance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nodes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(</a:t>
            </a:r>
            <a:r>
              <a:rPr sz="2000" b="1" dirty="0">
                <a:solidFill>
                  <a:srgbClr val="538ED3"/>
                </a:solidFill>
                <a:latin typeface="Arial"/>
                <a:cs typeface="Arial"/>
              </a:rPr>
              <a:t>geographical</a:t>
            </a:r>
            <a:r>
              <a:rPr sz="2000" b="1" spc="-114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38ED3"/>
                </a:solidFill>
                <a:latin typeface="Arial"/>
                <a:cs typeface="Arial"/>
              </a:rPr>
              <a:t>scalability</a:t>
            </a:r>
            <a:r>
              <a:rPr sz="2000" b="1" spc="-1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755650" algn="l"/>
              </a:tabLst>
            </a:pP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administrative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domains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(</a:t>
            </a:r>
            <a:r>
              <a:rPr sz="2000" b="1" dirty="0">
                <a:solidFill>
                  <a:srgbClr val="538ED3"/>
                </a:solidFill>
                <a:latin typeface="Arial"/>
                <a:cs typeface="Arial"/>
              </a:rPr>
              <a:t>administrative</a:t>
            </a:r>
            <a:r>
              <a:rPr sz="2000" b="1" spc="-90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38ED3"/>
                </a:solidFill>
                <a:latin typeface="Arial"/>
                <a:cs typeface="Arial"/>
              </a:rPr>
              <a:t>scalability</a:t>
            </a:r>
            <a:r>
              <a:rPr sz="2000" b="1" spc="-1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Font typeface="Courier New"/>
              <a:buChar char="o"/>
            </a:pP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5"/>
              </a:spcBef>
              <a:buFont typeface="Courier New"/>
              <a:buChar char="o"/>
            </a:pPr>
            <a:endParaRPr sz="2000">
              <a:latin typeface="Arial"/>
              <a:cs typeface="Arial"/>
            </a:endParaRPr>
          </a:p>
          <a:p>
            <a:pPr marL="355600" marR="372745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Most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account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only,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certain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extent,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size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scalability.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(non)solution: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b="1" i="1" dirty="0">
                <a:latin typeface="Arial"/>
                <a:cs typeface="Arial"/>
              </a:rPr>
              <a:t>powerful</a:t>
            </a:r>
            <a:r>
              <a:rPr sz="2000" b="1" i="1" spc="-90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servers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355600" marR="1077595" indent="-342900">
              <a:lnSpc>
                <a:spcPts val="2290"/>
              </a:lnSpc>
              <a:spcBef>
                <a:spcPts val="1365"/>
              </a:spcBef>
              <a:buChar char="•"/>
              <a:tabLst>
                <a:tab pos="355600" algn="l"/>
              </a:tabLst>
            </a:pPr>
            <a:r>
              <a:rPr sz="2000" spc="-60" dirty="0">
                <a:solidFill>
                  <a:srgbClr val="C00000"/>
                </a:solidFill>
                <a:latin typeface="Arial MT"/>
                <a:cs typeface="Arial MT"/>
              </a:rPr>
              <a:t>Today,</a:t>
            </a:r>
            <a:r>
              <a:rPr sz="2000" spc="-14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the</a:t>
            </a:r>
            <a:r>
              <a:rPr sz="2000" spc="-8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challenge</a:t>
            </a:r>
            <a:r>
              <a:rPr sz="2000" spc="-5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lies</a:t>
            </a:r>
            <a:r>
              <a:rPr sz="20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in</a:t>
            </a:r>
            <a:r>
              <a:rPr sz="2000" spc="-4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geographical</a:t>
            </a:r>
            <a:r>
              <a:rPr sz="2000" spc="-10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and</a:t>
            </a:r>
            <a:r>
              <a:rPr sz="2000" spc="-5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administrative scalability.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6356598"/>
            <a:ext cx="8641080" cy="50165"/>
          </a:xfrm>
          <a:custGeom>
            <a:avLst/>
            <a:gdLst/>
            <a:ahLst/>
            <a:cxnLst/>
            <a:rect l="l" t="t" r="r" b="b"/>
            <a:pathLst>
              <a:path w="8641080" h="50164">
                <a:moveTo>
                  <a:pt x="8640699" y="0"/>
                </a:moveTo>
                <a:lnTo>
                  <a:pt x="0" y="0"/>
                </a:lnTo>
                <a:lnTo>
                  <a:pt x="0" y="49789"/>
                </a:lnTo>
                <a:lnTo>
                  <a:pt x="8640699" y="49789"/>
                </a:lnTo>
                <a:lnTo>
                  <a:pt x="8640699" y="0"/>
                </a:lnTo>
                <a:close/>
              </a:path>
            </a:pathLst>
          </a:custGeom>
          <a:solidFill>
            <a:srgbClr val="487C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879162"/>
            <a:ext cx="7233920" cy="506095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665"/>
              </a:spcBef>
              <a:buAutoNum type="alphaLcPeriod"/>
              <a:tabLst>
                <a:tab pos="314325" algn="l"/>
              </a:tabLst>
            </a:pPr>
            <a:r>
              <a:rPr sz="1700" b="1" dirty="0">
                <a:solidFill>
                  <a:srgbClr val="538ED3"/>
                </a:solidFill>
                <a:latin typeface="Arial"/>
                <a:cs typeface="Arial"/>
              </a:rPr>
              <a:t>Hiding</a:t>
            </a:r>
            <a:r>
              <a:rPr sz="1700" b="1" spc="-70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538ED3"/>
                </a:solidFill>
                <a:latin typeface="Arial"/>
                <a:cs typeface="Arial"/>
              </a:rPr>
              <a:t>Communication</a:t>
            </a:r>
            <a:r>
              <a:rPr sz="1700" b="1" spc="-75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538ED3"/>
                </a:solidFill>
                <a:latin typeface="Arial"/>
                <a:cs typeface="Arial"/>
              </a:rPr>
              <a:t>Latency</a:t>
            </a:r>
            <a:endParaRPr sz="1700">
              <a:latin typeface="Arial"/>
              <a:cs typeface="Arial"/>
            </a:endParaRPr>
          </a:p>
          <a:p>
            <a:pPr marL="870585" lvl="1" indent="-457200">
              <a:lnSpc>
                <a:spcPct val="100000"/>
              </a:lnSpc>
              <a:spcBef>
                <a:spcPts val="595"/>
              </a:spcBef>
              <a:buChar char="•"/>
              <a:tabLst>
                <a:tab pos="870585" algn="l"/>
              </a:tabLst>
            </a:pPr>
            <a:r>
              <a:rPr sz="1800" dirty="0">
                <a:latin typeface="Arial MT"/>
                <a:cs typeface="Arial MT"/>
              </a:rPr>
              <a:t>Move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computations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clients</a:t>
            </a:r>
            <a:endParaRPr sz="1800">
              <a:latin typeface="Arial MT"/>
              <a:cs typeface="Arial MT"/>
            </a:endParaRPr>
          </a:p>
          <a:p>
            <a:pPr marL="324485" indent="-311785">
              <a:lnSpc>
                <a:spcPct val="100000"/>
              </a:lnSpc>
              <a:spcBef>
                <a:spcPts val="605"/>
              </a:spcBef>
              <a:buAutoNum type="alphaLcPeriod"/>
              <a:tabLst>
                <a:tab pos="324485" algn="l"/>
              </a:tabLst>
            </a:pPr>
            <a:r>
              <a:rPr sz="1700" b="1" dirty="0">
                <a:solidFill>
                  <a:srgbClr val="538ED3"/>
                </a:solidFill>
                <a:latin typeface="Arial"/>
                <a:cs typeface="Arial"/>
              </a:rPr>
              <a:t>Distribution</a:t>
            </a:r>
            <a:r>
              <a:rPr sz="1700" b="1" dirty="0">
                <a:latin typeface="Arial"/>
                <a:cs typeface="Arial"/>
              </a:rPr>
              <a:t>: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dirty="0">
                <a:latin typeface="Arial MT"/>
                <a:cs typeface="Arial MT"/>
              </a:rPr>
              <a:t>Partition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data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computations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across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multiple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machines:</a:t>
            </a:r>
            <a:endParaRPr sz="1700">
              <a:latin typeface="Arial MT"/>
              <a:cs typeface="Arial MT"/>
            </a:endParaRPr>
          </a:p>
          <a:p>
            <a:pPr marL="817244" lvl="1" indent="-347345">
              <a:lnSpc>
                <a:spcPct val="100000"/>
              </a:lnSpc>
              <a:spcBef>
                <a:spcPts val="600"/>
              </a:spcBef>
              <a:buChar char="•"/>
              <a:tabLst>
                <a:tab pos="817244" algn="l"/>
              </a:tabLst>
            </a:pPr>
            <a:r>
              <a:rPr sz="1700" dirty="0">
                <a:latin typeface="Arial MT"/>
                <a:cs typeface="Arial MT"/>
              </a:rPr>
              <a:t>Move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computations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clients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(Java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applets)</a:t>
            </a:r>
            <a:endParaRPr sz="1700">
              <a:latin typeface="Arial MT"/>
              <a:cs typeface="Arial MT"/>
            </a:endParaRPr>
          </a:p>
          <a:p>
            <a:pPr marL="817244" lvl="1" indent="-347345">
              <a:lnSpc>
                <a:spcPct val="100000"/>
              </a:lnSpc>
              <a:spcBef>
                <a:spcPts val="605"/>
              </a:spcBef>
              <a:buChar char="•"/>
              <a:tabLst>
                <a:tab pos="817244" algn="l"/>
              </a:tabLst>
            </a:pPr>
            <a:r>
              <a:rPr sz="1700" spc="-10" dirty="0">
                <a:latin typeface="Arial MT"/>
                <a:cs typeface="Arial MT"/>
              </a:rPr>
              <a:t>Decentralized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naming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services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(DNS)</a:t>
            </a:r>
            <a:endParaRPr sz="1700">
              <a:latin typeface="Arial MT"/>
              <a:cs typeface="Arial MT"/>
            </a:endParaRPr>
          </a:p>
          <a:p>
            <a:pPr marL="817244" lvl="1" indent="-347345">
              <a:lnSpc>
                <a:spcPct val="100000"/>
              </a:lnSpc>
              <a:spcBef>
                <a:spcPts val="600"/>
              </a:spcBef>
              <a:buChar char="•"/>
              <a:tabLst>
                <a:tab pos="817244" algn="l"/>
              </a:tabLst>
            </a:pPr>
            <a:r>
              <a:rPr sz="1700" spc="-10" dirty="0">
                <a:latin typeface="Arial MT"/>
                <a:cs typeface="Arial MT"/>
              </a:rPr>
              <a:t>Decentralized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information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systems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(WWW)</a:t>
            </a:r>
            <a:endParaRPr sz="1700">
              <a:latin typeface="Arial MT"/>
              <a:cs typeface="Arial MT"/>
            </a:endParaRPr>
          </a:p>
          <a:p>
            <a:pPr marL="314325" indent="-301625">
              <a:lnSpc>
                <a:spcPct val="100000"/>
              </a:lnSpc>
              <a:spcBef>
                <a:spcPts val="1895"/>
              </a:spcBef>
              <a:buAutoNum type="alphaLcPeriod"/>
              <a:tabLst>
                <a:tab pos="314325" algn="l"/>
              </a:tabLst>
            </a:pPr>
            <a:r>
              <a:rPr sz="1700" b="1" spc="-10" dirty="0">
                <a:solidFill>
                  <a:srgbClr val="538ED3"/>
                </a:solidFill>
                <a:latin typeface="Arial"/>
                <a:cs typeface="Arial"/>
              </a:rPr>
              <a:t>Replication</a:t>
            </a:r>
            <a:r>
              <a:rPr sz="1700" b="1" spc="-10" dirty="0">
                <a:latin typeface="Arial"/>
                <a:cs typeface="Arial"/>
              </a:rPr>
              <a:t>:</a:t>
            </a:r>
            <a:r>
              <a:rPr sz="1700" b="1" spc="-75" dirty="0">
                <a:latin typeface="Arial"/>
                <a:cs typeface="Arial"/>
              </a:rPr>
              <a:t> </a:t>
            </a:r>
            <a:r>
              <a:rPr sz="1700" dirty="0">
                <a:latin typeface="Arial MT"/>
                <a:cs typeface="Arial MT"/>
              </a:rPr>
              <a:t>Make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copies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data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available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different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machines:</a:t>
            </a:r>
            <a:endParaRPr sz="1700">
              <a:latin typeface="Arial MT"/>
              <a:cs typeface="Arial MT"/>
            </a:endParaRPr>
          </a:p>
          <a:p>
            <a:pPr marL="817244" lvl="1" indent="-347345">
              <a:lnSpc>
                <a:spcPct val="100000"/>
              </a:lnSpc>
              <a:spcBef>
                <a:spcPts val="600"/>
              </a:spcBef>
              <a:buChar char="•"/>
              <a:tabLst>
                <a:tab pos="817244" algn="l"/>
              </a:tabLst>
            </a:pPr>
            <a:r>
              <a:rPr sz="1700" dirty="0">
                <a:latin typeface="Arial MT"/>
                <a:cs typeface="Arial MT"/>
              </a:rPr>
              <a:t>Replicated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file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servers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(mainly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fault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tolerance)</a:t>
            </a:r>
            <a:endParaRPr sz="1700">
              <a:latin typeface="Arial MT"/>
              <a:cs typeface="Arial MT"/>
            </a:endParaRPr>
          </a:p>
          <a:p>
            <a:pPr marL="817244" lvl="1" indent="-347345">
              <a:lnSpc>
                <a:spcPct val="100000"/>
              </a:lnSpc>
              <a:spcBef>
                <a:spcPts val="600"/>
              </a:spcBef>
              <a:buChar char="•"/>
              <a:tabLst>
                <a:tab pos="817244" algn="l"/>
              </a:tabLst>
            </a:pPr>
            <a:r>
              <a:rPr sz="1700" spc="-10" dirty="0">
                <a:latin typeface="Arial MT"/>
                <a:cs typeface="Arial MT"/>
              </a:rPr>
              <a:t>Replicated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databases</a:t>
            </a:r>
            <a:endParaRPr sz="1700">
              <a:latin typeface="Arial MT"/>
              <a:cs typeface="Arial MT"/>
            </a:endParaRPr>
          </a:p>
          <a:p>
            <a:pPr marL="817244" lvl="1" indent="-347345">
              <a:lnSpc>
                <a:spcPct val="100000"/>
              </a:lnSpc>
              <a:spcBef>
                <a:spcPts val="600"/>
              </a:spcBef>
              <a:buChar char="•"/>
              <a:tabLst>
                <a:tab pos="817244" algn="l"/>
              </a:tabLst>
            </a:pPr>
            <a:r>
              <a:rPr sz="1700" dirty="0">
                <a:latin typeface="Arial MT"/>
                <a:cs typeface="Arial MT"/>
              </a:rPr>
              <a:t>Mirrored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Web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sites</a:t>
            </a:r>
            <a:endParaRPr sz="1700">
              <a:latin typeface="Arial MT"/>
              <a:cs typeface="Arial MT"/>
            </a:endParaRPr>
          </a:p>
          <a:p>
            <a:pPr marL="817244" lvl="1" indent="-347345">
              <a:lnSpc>
                <a:spcPct val="100000"/>
              </a:lnSpc>
              <a:spcBef>
                <a:spcPts val="600"/>
              </a:spcBef>
              <a:buChar char="•"/>
              <a:tabLst>
                <a:tab pos="817244" algn="l"/>
              </a:tabLst>
            </a:pPr>
            <a:r>
              <a:rPr sz="1700" spc="-30" dirty="0">
                <a:latin typeface="Arial MT"/>
                <a:cs typeface="Arial MT"/>
              </a:rPr>
              <a:t>Large-</a:t>
            </a:r>
            <a:r>
              <a:rPr sz="1700" dirty="0">
                <a:latin typeface="Arial MT"/>
                <a:cs typeface="Arial MT"/>
              </a:rPr>
              <a:t>scale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distributed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shared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memory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systems</a:t>
            </a:r>
            <a:endParaRPr sz="1700">
              <a:latin typeface="Arial MT"/>
              <a:cs typeface="Arial MT"/>
            </a:endParaRPr>
          </a:p>
          <a:p>
            <a:pPr marL="324485" indent="-311785">
              <a:lnSpc>
                <a:spcPct val="100000"/>
              </a:lnSpc>
              <a:spcBef>
                <a:spcPts val="1900"/>
              </a:spcBef>
              <a:buAutoNum type="alphaLcPeriod"/>
              <a:tabLst>
                <a:tab pos="324485" algn="l"/>
              </a:tabLst>
            </a:pPr>
            <a:r>
              <a:rPr sz="1700" b="1" dirty="0">
                <a:solidFill>
                  <a:srgbClr val="538ED3"/>
                </a:solidFill>
                <a:latin typeface="Arial"/>
                <a:cs typeface="Arial"/>
              </a:rPr>
              <a:t>Caching</a:t>
            </a:r>
            <a:r>
              <a:rPr sz="1700" b="1" dirty="0">
                <a:latin typeface="Arial"/>
                <a:cs typeface="Arial"/>
              </a:rPr>
              <a:t>: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dirty="0">
                <a:latin typeface="Arial MT"/>
                <a:cs typeface="Arial MT"/>
              </a:rPr>
              <a:t>Allow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client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processes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 access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local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copies:</a:t>
            </a:r>
            <a:endParaRPr sz="1700">
              <a:latin typeface="Arial MT"/>
              <a:cs typeface="Arial MT"/>
            </a:endParaRPr>
          </a:p>
          <a:p>
            <a:pPr marL="817244" lvl="1" indent="-347345">
              <a:lnSpc>
                <a:spcPct val="100000"/>
              </a:lnSpc>
              <a:spcBef>
                <a:spcPts val="600"/>
              </a:spcBef>
              <a:buChar char="•"/>
              <a:tabLst>
                <a:tab pos="817244" algn="l"/>
              </a:tabLst>
            </a:pPr>
            <a:r>
              <a:rPr sz="1700" dirty="0">
                <a:latin typeface="Arial MT"/>
                <a:cs typeface="Arial MT"/>
              </a:rPr>
              <a:t>Web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caches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(browser/Web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proxy)</a:t>
            </a:r>
            <a:endParaRPr sz="1700">
              <a:latin typeface="Arial MT"/>
              <a:cs typeface="Arial MT"/>
            </a:endParaRPr>
          </a:p>
          <a:p>
            <a:pPr marL="817244" lvl="1" indent="-347345">
              <a:lnSpc>
                <a:spcPct val="100000"/>
              </a:lnSpc>
              <a:spcBef>
                <a:spcPts val="600"/>
              </a:spcBef>
              <a:buChar char="•"/>
              <a:tabLst>
                <a:tab pos="817244" algn="l"/>
              </a:tabLst>
            </a:pPr>
            <a:r>
              <a:rPr sz="1700" dirty="0">
                <a:latin typeface="Arial MT"/>
                <a:cs typeface="Arial MT"/>
              </a:rPr>
              <a:t>File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caching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(at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server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client)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5" name="object 5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8190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0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897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3.</a:t>
            </a:r>
            <a:r>
              <a:rPr spc="-9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Scalability: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spc="-35" dirty="0">
                <a:solidFill>
                  <a:srgbClr val="000000"/>
                </a:solidFill>
              </a:rPr>
              <a:t>Techniques</a:t>
            </a:r>
            <a:r>
              <a:rPr spc="-1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Scaling</a:t>
            </a:r>
          </a:p>
        </p:txBody>
      </p:sp>
      <p:sp>
        <p:nvSpPr>
          <p:cNvPr id="9" name="object 9"/>
          <p:cNvSpPr/>
          <p:nvPr/>
        </p:nvSpPr>
        <p:spPr>
          <a:xfrm>
            <a:off x="0" y="6356598"/>
            <a:ext cx="8641080" cy="50165"/>
          </a:xfrm>
          <a:custGeom>
            <a:avLst/>
            <a:gdLst/>
            <a:ahLst/>
            <a:cxnLst/>
            <a:rect l="l" t="t" r="r" b="b"/>
            <a:pathLst>
              <a:path w="8641080" h="50164">
                <a:moveTo>
                  <a:pt x="8640699" y="0"/>
                </a:moveTo>
                <a:lnTo>
                  <a:pt x="0" y="0"/>
                </a:lnTo>
                <a:lnTo>
                  <a:pt x="0" y="49789"/>
                </a:lnTo>
                <a:lnTo>
                  <a:pt x="8640699" y="49789"/>
                </a:lnTo>
                <a:lnTo>
                  <a:pt x="8640699" y="0"/>
                </a:lnTo>
                <a:close/>
              </a:path>
            </a:pathLst>
          </a:custGeom>
          <a:solidFill>
            <a:srgbClr val="487C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843302"/>
            <a:ext cx="8086725" cy="412051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462915" indent="-450215" algn="just">
              <a:lnSpc>
                <a:spcPct val="100000"/>
              </a:lnSpc>
              <a:spcBef>
                <a:spcPts val="1335"/>
              </a:spcBef>
              <a:buChar char="•"/>
              <a:tabLst>
                <a:tab pos="462915" algn="l"/>
              </a:tabLst>
            </a:pPr>
            <a:r>
              <a:rPr sz="2000" dirty="0">
                <a:latin typeface="Arial MT"/>
                <a:cs typeface="Arial MT"/>
              </a:rPr>
              <a:t>Applying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scaling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techniques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easy,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except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thing:</a:t>
            </a:r>
            <a:endParaRPr sz="2000">
              <a:latin typeface="Arial MT"/>
              <a:cs typeface="Arial MT"/>
            </a:endParaRPr>
          </a:p>
          <a:p>
            <a:pPr marL="869315" marR="5080" lvl="1" indent="-456565" algn="just">
              <a:lnSpc>
                <a:spcPct val="100000"/>
              </a:lnSpc>
              <a:spcBef>
                <a:spcPts val="1110"/>
              </a:spcBef>
              <a:buFont typeface="Wingdings"/>
              <a:buChar char=""/>
              <a:tabLst>
                <a:tab pos="870585" algn="l"/>
              </a:tabLst>
            </a:pPr>
            <a:r>
              <a:rPr sz="1800" i="1" dirty="0">
                <a:latin typeface="Arial"/>
                <a:cs typeface="Arial"/>
              </a:rPr>
              <a:t>Having</a:t>
            </a:r>
            <a:r>
              <a:rPr sz="1800" i="1" spc="290" dirty="0">
                <a:latin typeface="Arial"/>
                <a:cs typeface="Arial"/>
              </a:rPr>
              <a:t>   </a:t>
            </a:r>
            <a:r>
              <a:rPr sz="1800" i="1" dirty="0">
                <a:latin typeface="Arial"/>
                <a:cs typeface="Arial"/>
              </a:rPr>
              <a:t>multiple</a:t>
            </a:r>
            <a:r>
              <a:rPr sz="1800" i="1" spc="305" dirty="0">
                <a:latin typeface="Arial"/>
                <a:cs typeface="Arial"/>
              </a:rPr>
              <a:t>   </a:t>
            </a:r>
            <a:r>
              <a:rPr sz="1800" i="1" dirty="0">
                <a:latin typeface="Arial"/>
                <a:cs typeface="Arial"/>
              </a:rPr>
              <a:t>copies</a:t>
            </a:r>
            <a:r>
              <a:rPr sz="1800" i="1" spc="305" dirty="0">
                <a:latin typeface="Arial"/>
                <a:cs typeface="Arial"/>
              </a:rPr>
              <a:t>   </a:t>
            </a:r>
            <a:r>
              <a:rPr sz="1800" i="1" dirty="0">
                <a:latin typeface="Arial"/>
                <a:cs typeface="Arial"/>
              </a:rPr>
              <a:t>(cached</a:t>
            </a:r>
            <a:r>
              <a:rPr sz="1800" i="1" spc="300" dirty="0">
                <a:latin typeface="Arial"/>
                <a:cs typeface="Arial"/>
              </a:rPr>
              <a:t>   </a:t>
            </a:r>
            <a:r>
              <a:rPr sz="1800" i="1" dirty="0">
                <a:latin typeface="Arial"/>
                <a:cs typeface="Arial"/>
              </a:rPr>
              <a:t>or</a:t>
            </a:r>
            <a:r>
              <a:rPr sz="1800" i="1" spc="310" dirty="0">
                <a:latin typeface="Arial"/>
                <a:cs typeface="Arial"/>
              </a:rPr>
              <a:t>   </a:t>
            </a:r>
            <a:r>
              <a:rPr sz="1800" i="1" dirty="0">
                <a:latin typeface="Arial"/>
                <a:cs typeface="Arial"/>
              </a:rPr>
              <a:t>replicated),</a:t>
            </a:r>
            <a:r>
              <a:rPr sz="1800" i="1" spc="305" dirty="0">
                <a:latin typeface="Arial"/>
                <a:cs typeface="Arial"/>
              </a:rPr>
              <a:t>   </a:t>
            </a:r>
            <a:r>
              <a:rPr sz="1800" i="1" dirty="0">
                <a:latin typeface="Arial"/>
                <a:cs typeface="Arial"/>
              </a:rPr>
              <a:t>leads</a:t>
            </a:r>
            <a:r>
              <a:rPr sz="1800" i="1" spc="310" dirty="0">
                <a:latin typeface="Arial"/>
                <a:cs typeface="Arial"/>
              </a:rPr>
              <a:t>   </a:t>
            </a:r>
            <a:r>
              <a:rPr sz="1800" i="1" spc="-25" dirty="0">
                <a:latin typeface="Arial"/>
                <a:cs typeface="Arial"/>
              </a:rPr>
              <a:t>to 	</a:t>
            </a:r>
            <a:r>
              <a:rPr sz="1800" b="1" i="1" dirty="0">
                <a:solidFill>
                  <a:srgbClr val="538ED3"/>
                </a:solidFill>
                <a:latin typeface="Arial"/>
                <a:cs typeface="Arial"/>
              </a:rPr>
              <a:t>inconsistencies</a:t>
            </a:r>
            <a:r>
              <a:rPr sz="1800" i="1" dirty="0">
                <a:latin typeface="Arial"/>
                <a:cs typeface="Arial"/>
              </a:rPr>
              <a:t>:</a:t>
            </a:r>
            <a:r>
              <a:rPr sz="1800" i="1" spc="25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modifying</a:t>
            </a:r>
            <a:r>
              <a:rPr sz="1800" i="1" spc="24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one</a:t>
            </a:r>
            <a:r>
              <a:rPr sz="1800" i="1" spc="23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copy</a:t>
            </a:r>
            <a:r>
              <a:rPr sz="1800" i="1" spc="24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makes</a:t>
            </a:r>
            <a:r>
              <a:rPr sz="1800" i="1" spc="24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that</a:t>
            </a:r>
            <a:r>
              <a:rPr sz="1800" i="1" spc="24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copy</a:t>
            </a:r>
            <a:r>
              <a:rPr sz="1800" i="1" spc="24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different</a:t>
            </a:r>
            <a:r>
              <a:rPr sz="1800" i="1" spc="240" dirty="0">
                <a:latin typeface="Arial"/>
                <a:cs typeface="Arial"/>
              </a:rPr>
              <a:t> </a:t>
            </a:r>
            <a:r>
              <a:rPr sz="1800" i="1" spc="-20" dirty="0">
                <a:latin typeface="Arial"/>
                <a:cs typeface="Arial"/>
              </a:rPr>
              <a:t>from 	</a:t>
            </a:r>
            <a:r>
              <a:rPr sz="1800" i="1" dirty="0">
                <a:latin typeface="Arial"/>
                <a:cs typeface="Arial"/>
              </a:rPr>
              <a:t>the</a:t>
            </a:r>
            <a:r>
              <a:rPr sz="1800" i="1" spc="-40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rest</a:t>
            </a:r>
            <a:r>
              <a:rPr sz="1600" i="1" spc="-10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462915" indent="-450215" algn="just">
              <a:lnSpc>
                <a:spcPct val="100000"/>
              </a:lnSpc>
              <a:spcBef>
                <a:spcPts val="1195"/>
              </a:spcBef>
              <a:buFont typeface="Arial MT"/>
              <a:buChar char="•"/>
              <a:tabLst>
                <a:tab pos="462915" algn="l"/>
              </a:tabLst>
            </a:pPr>
            <a:r>
              <a:rPr sz="2000" i="1" dirty="0">
                <a:latin typeface="Arial"/>
                <a:cs typeface="Arial"/>
              </a:rPr>
              <a:t>Always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keeping</a:t>
            </a:r>
            <a:r>
              <a:rPr sz="2000" i="1" spc="-8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copies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consistent</a:t>
            </a:r>
            <a:r>
              <a:rPr sz="2000" i="1" spc="-1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and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in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general</a:t>
            </a:r>
            <a:r>
              <a:rPr sz="2000" i="1" spc="-7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way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requires</a:t>
            </a:r>
            <a:endParaRPr sz="2000">
              <a:latin typeface="Arial"/>
              <a:cs typeface="Arial"/>
            </a:endParaRPr>
          </a:p>
          <a:p>
            <a:pPr marL="469900" algn="just">
              <a:lnSpc>
                <a:spcPct val="100000"/>
              </a:lnSpc>
            </a:pPr>
            <a:r>
              <a:rPr sz="2000" b="1" i="1" dirty="0">
                <a:solidFill>
                  <a:srgbClr val="538ED3"/>
                </a:solidFill>
                <a:latin typeface="Arial"/>
                <a:cs typeface="Arial"/>
              </a:rPr>
              <a:t>global</a:t>
            </a:r>
            <a:r>
              <a:rPr sz="2000" b="1" i="1" spc="-65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538ED3"/>
                </a:solidFill>
                <a:latin typeface="Arial"/>
                <a:cs typeface="Arial"/>
              </a:rPr>
              <a:t>synchronization</a:t>
            </a:r>
            <a:r>
              <a:rPr sz="2000" b="1" i="1" spc="-85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on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each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modification.</a:t>
            </a:r>
            <a:endParaRPr sz="2000">
              <a:latin typeface="Arial"/>
              <a:cs typeface="Arial"/>
            </a:endParaRPr>
          </a:p>
          <a:p>
            <a:pPr marL="870585" marR="983615" lvl="1" indent="-457834">
              <a:lnSpc>
                <a:spcPct val="100000"/>
              </a:lnSpc>
              <a:spcBef>
                <a:spcPts val="1105"/>
              </a:spcBef>
              <a:buFont typeface="Wingdings"/>
              <a:buChar char=""/>
              <a:tabLst>
                <a:tab pos="870585" algn="l"/>
              </a:tabLst>
            </a:pPr>
            <a:r>
              <a:rPr sz="1800" dirty="0">
                <a:latin typeface="Arial MT"/>
                <a:cs typeface="Arial MT"/>
              </a:rPr>
              <a:t>Global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synchronization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makes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large-</a:t>
            </a:r>
            <a:r>
              <a:rPr sz="1800" dirty="0">
                <a:latin typeface="Arial MT"/>
                <a:cs typeface="Arial MT"/>
              </a:rPr>
              <a:t>scale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solutions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practically impossible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  <a:p>
            <a:pPr marL="870585" lvl="1" indent="-457200">
              <a:lnSpc>
                <a:spcPct val="100000"/>
              </a:lnSpc>
              <a:spcBef>
                <a:spcPts val="1190"/>
              </a:spcBef>
              <a:buFont typeface="Wingdings"/>
              <a:buChar char=""/>
              <a:tabLst>
                <a:tab pos="870585" algn="l"/>
              </a:tabLst>
            </a:pPr>
            <a:r>
              <a:rPr sz="2000" dirty="0">
                <a:latin typeface="Arial MT"/>
                <a:cs typeface="Arial MT"/>
              </a:rPr>
              <a:t>If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tolerate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inconsistencies,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reduce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for</a:t>
            </a:r>
            <a:endParaRPr sz="2000">
              <a:latin typeface="Arial MT"/>
              <a:cs typeface="Arial MT"/>
            </a:endParaRPr>
          </a:p>
          <a:p>
            <a:pPr marL="87058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global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synchronization.</a:t>
            </a:r>
            <a:endParaRPr sz="2000">
              <a:latin typeface="Arial MT"/>
              <a:cs typeface="Arial MT"/>
            </a:endParaRPr>
          </a:p>
          <a:p>
            <a:pPr marL="1269365" lvl="2" indent="-456565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1269365" algn="l"/>
              </a:tabLst>
            </a:pPr>
            <a:r>
              <a:rPr sz="2000" spc="-25" dirty="0">
                <a:solidFill>
                  <a:srgbClr val="C00000"/>
                </a:solidFill>
                <a:latin typeface="Arial MT"/>
                <a:cs typeface="Arial MT"/>
              </a:rPr>
              <a:t>Tolerating</a:t>
            </a:r>
            <a:r>
              <a:rPr sz="2000" spc="-10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inconsistencies</a:t>
            </a:r>
            <a:r>
              <a:rPr sz="2000" spc="-13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is</a:t>
            </a:r>
            <a:r>
              <a:rPr sz="2000" spc="-7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application</a:t>
            </a:r>
            <a:r>
              <a:rPr sz="2000" spc="-1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dependent.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5" name="object 5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8190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0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717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933735"/>
                </a:solidFill>
              </a:rPr>
              <a:t>3.</a:t>
            </a:r>
            <a:r>
              <a:rPr spc="-135" dirty="0">
                <a:solidFill>
                  <a:srgbClr val="933735"/>
                </a:solidFill>
              </a:rPr>
              <a:t> </a:t>
            </a:r>
            <a:r>
              <a:rPr spc="-10" dirty="0">
                <a:solidFill>
                  <a:srgbClr val="933735"/>
                </a:solidFill>
              </a:rPr>
              <a:t>Scalability</a:t>
            </a:r>
            <a:r>
              <a:rPr spc="-10" dirty="0"/>
              <a:t>:</a:t>
            </a:r>
            <a:r>
              <a:rPr spc="-95" dirty="0"/>
              <a:t> </a:t>
            </a:r>
            <a:r>
              <a:rPr dirty="0"/>
              <a:t>Scaling</a:t>
            </a:r>
            <a:r>
              <a:rPr spc="-110" dirty="0"/>
              <a:t> </a:t>
            </a:r>
            <a:r>
              <a:rPr spc="-10" dirty="0"/>
              <a:t>problem</a:t>
            </a:r>
          </a:p>
        </p:txBody>
      </p:sp>
      <p:sp>
        <p:nvSpPr>
          <p:cNvPr id="9" name="object 9"/>
          <p:cNvSpPr/>
          <p:nvPr/>
        </p:nvSpPr>
        <p:spPr>
          <a:xfrm>
            <a:off x="0" y="6356598"/>
            <a:ext cx="8641080" cy="50165"/>
          </a:xfrm>
          <a:custGeom>
            <a:avLst/>
            <a:gdLst/>
            <a:ahLst/>
            <a:cxnLst/>
            <a:rect l="l" t="t" r="r" b="b"/>
            <a:pathLst>
              <a:path w="8641080" h="50164">
                <a:moveTo>
                  <a:pt x="8640699" y="0"/>
                </a:moveTo>
                <a:lnTo>
                  <a:pt x="0" y="0"/>
                </a:lnTo>
                <a:lnTo>
                  <a:pt x="0" y="49789"/>
                </a:lnTo>
                <a:lnTo>
                  <a:pt x="8640699" y="49789"/>
                </a:lnTo>
                <a:lnTo>
                  <a:pt x="8640699" y="0"/>
                </a:lnTo>
                <a:close/>
              </a:path>
            </a:pathLst>
          </a:custGeom>
          <a:solidFill>
            <a:srgbClr val="487C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object 10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11" name="object 11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672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5.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Distributed</a:t>
            </a:r>
            <a:r>
              <a:rPr b="1" spc="-1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Systems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Challenges-</a:t>
            </a:r>
            <a:r>
              <a:rPr b="1" spc="-50" dirty="0">
                <a:latin typeface="Calibri"/>
                <a:cs typeface="Calibri"/>
              </a:rPr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36752" y="1002284"/>
            <a:ext cx="7683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2249805" algn="l"/>
              </a:tabLst>
            </a:pPr>
            <a:r>
              <a:rPr sz="1800" b="1" spc="-25" dirty="0">
                <a:solidFill>
                  <a:srgbClr val="538ED3"/>
                </a:solidFill>
                <a:latin typeface="Arial"/>
                <a:cs typeface="Arial"/>
              </a:rPr>
              <a:t>1.</a:t>
            </a:r>
            <a:r>
              <a:rPr sz="1800" b="1" dirty="0">
                <a:solidFill>
                  <a:srgbClr val="538ED3"/>
                </a:solidFill>
                <a:latin typeface="Arial"/>
                <a:cs typeface="Arial"/>
              </a:rPr>
              <a:t>	</a:t>
            </a:r>
            <a:r>
              <a:rPr sz="1800" b="1" spc="-10" dirty="0">
                <a:solidFill>
                  <a:srgbClr val="538ED3"/>
                </a:solidFill>
                <a:latin typeface="Arial"/>
                <a:cs typeface="Arial"/>
              </a:rPr>
              <a:t>Heterogeneity</a:t>
            </a:r>
            <a:r>
              <a:rPr sz="1800" b="1" spc="-10" dirty="0">
                <a:latin typeface="Arial"/>
                <a:cs typeface="Arial"/>
              </a:rPr>
              <a:t>: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1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must</a:t>
            </a:r>
            <a:r>
              <a:rPr sz="1800" spc="2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2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constructed</a:t>
            </a:r>
            <a:r>
              <a:rPr sz="1800" spc="20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2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1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variety</a:t>
            </a:r>
            <a:r>
              <a:rPr sz="1800" spc="20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0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different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6752" y="1135710"/>
            <a:ext cx="7682865" cy="154305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210"/>
              </a:spcBef>
            </a:pPr>
            <a:r>
              <a:rPr sz="1800" dirty="0">
                <a:latin typeface="Arial MT"/>
                <a:cs typeface="Arial MT"/>
              </a:rPr>
              <a:t>networks,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OS,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HW,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programming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languages.</a:t>
            </a:r>
            <a:endParaRPr sz="1800">
              <a:latin typeface="Arial MT"/>
              <a:cs typeface="Arial MT"/>
            </a:endParaRPr>
          </a:p>
          <a:p>
            <a:pPr marL="469900" marR="53975" indent="-457200">
              <a:lnSpc>
                <a:spcPct val="100000"/>
              </a:lnSpc>
              <a:spcBef>
                <a:spcPts val="1105"/>
              </a:spcBef>
              <a:buAutoNum type="arabicPeriod" startAt="2"/>
              <a:tabLst>
                <a:tab pos="469900" algn="l"/>
              </a:tabLst>
            </a:pPr>
            <a:r>
              <a:rPr sz="1800" b="1" dirty="0">
                <a:solidFill>
                  <a:srgbClr val="538ED3"/>
                </a:solidFill>
                <a:latin typeface="Arial"/>
                <a:cs typeface="Arial"/>
              </a:rPr>
              <a:t>Openness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29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DS</a:t>
            </a:r>
            <a:r>
              <a:rPr sz="1800" spc="3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should</a:t>
            </a:r>
            <a:r>
              <a:rPr sz="1800" spc="3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2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extensible,</a:t>
            </a:r>
            <a:r>
              <a:rPr sz="1800" spc="3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2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integration</a:t>
            </a:r>
            <a:r>
              <a:rPr sz="1800" spc="3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3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components </a:t>
            </a:r>
            <a:r>
              <a:rPr sz="1800" dirty="0">
                <a:latin typeface="Arial MT"/>
                <a:cs typeface="Arial MT"/>
              </a:rPr>
              <a:t>written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programmer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challenge.</a:t>
            </a:r>
            <a:endParaRPr sz="18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090"/>
              </a:spcBef>
              <a:buAutoNum type="arabicPeriod" startAt="2"/>
              <a:tabLst>
                <a:tab pos="469265" algn="l"/>
              </a:tabLst>
            </a:pPr>
            <a:r>
              <a:rPr sz="1800" b="1" dirty="0">
                <a:solidFill>
                  <a:srgbClr val="538ED3"/>
                </a:solidFill>
                <a:latin typeface="Arial"/>
                <a:cs typeface="Arial"/>
              </a:rPr>
              <a:t>Security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Encryption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provide</a:t>
            </a:r>
            <a:r>
              <a:rPr sz="1800" spc="4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protection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shared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resources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3952" y="2652725"/>
            <a:ext cx="72243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92930" algn="l"/>
              </a:tabLst>
            </a:pPr>
            <a:r>
              <a:rPr sz="1800" dirty="0">
                <a:latin typeface="Arial MT"/>
                <a:cs typeface="Arial MT"/>
              </a:rPr>
              <a:t>and</a:t>
            </a:r>
            <a:r>
              <a:rPr sz="1800" spc="1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keeping</a:t>
            </a:r>
            <a:r>
              <a:rPr sz="1800" spc="2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sensitive</a:t>
            </a:r>
            <a:r>
              <a:rPr sz="1800" spc="20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information</a:t>
            </a:r>
            <a:r>
              <a:rPr sz="1800" spc="2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secret</a:t>
            </a:r>
            <a:r>
              <a:rPr sz="1800" dirty="0">
                <a:latin typeface="Arial MT"/>
                <a:cs typeface="Arial MT"/>
              </a:rPr>
              <a:t>	when</a:t>
            </a:r>
            <a:r>
              <a:rPr sz="1800" spc="1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transmitted.</a:t>
            </a:r>
            <a:r>
              <a:rPr sz="1800" spc="2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However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6752" y="2787522"/>
            <a:ext cx="7680325" cy="112903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205"/>
              </a:spcBef>
            </a:pP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denial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of</a:t>
            </a:r>
            <a:r>
              <a:rPr sz="18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service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(DoS)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attacks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still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problem.</a:t>
            </a:r>
            <a:endParaRPr sz="1800">
              <a:latin typeface="Arial MT"/>
              <a:cs typeface="Arial MT"/>
            </a:endParaRPr>
          </a:p>
          <a:p>
            <a:pPr marL="469900" marR="5080" indent="-457200">
              <a:lnSpc>
                <a:spcPct val="100000"/>
              </a:lnSpc>
              <a:spcBef>
                <a:spcPts val="1100"/>
              </a:spcBef>
              <a:tabLst>
                <a:tab pos="469265" algn="l"/>
              </a:tabLst>
            </a:pPr>
            <a:r>
              <a:rPr sz="1800" b="1" spc="-25" dirty="0">
                <a:solidFill>
                  <a:srgbClr val="538ED3"/>
                </a:solidFill>
                <a:latin typeface="Arial"/>
                <a:cs typeface="Arial"/>
              </a:rPr>
              <a:t>4.</a:t>
            </a:r>
            <a:r>
              <a:rPr sz="1800" b="1" dirty="0">
                <a:solidFill>
                  <a:srgbClr val="538ED3"/>
                </a:solidFill>
                <a:latin typeface="Arial"/>
                <a:cs typeface="Arial"/>
              </a:rPr>
              <a:t>	Scalability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10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DS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scalable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cost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adding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user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constant </a:t>
            </a:r>
            <a:r>
              <a:rPr sz="1800" dirty="0">
                <a:latin typeface="Arial MT"/>
                <a:cs typeface="Arial MT"/>
              </a:rPr>
              <a:t>amount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terms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resources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must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added.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6752" y="4030802"/>
            <a:ext cx="76828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38ED3"/>
                </a:solidFill>
                <a:latin typeface="Arial"/>
                <a:cs typeface="Arial"/>
              </a:rPr>
              <a:t>5.</a:t>
            </a:r>
            <a:r>
              <a:rPr sz="1800" b="1" spc="190" dirty="0">
                <a:solidFill>
                  <a:srgbClr val="538ED3"/>
                </a:solidFill>
                <a:latin typeface="Arial"/>
                <a:cs typeface="Arial"/>
              </a:rPr>
              <a:t>   </a:t>
            </a:r>
            <a:r>
              <a:rPr sz="1800" b="1" dirty="0">
                <a:solidFill>
                  <a:srgbClr val="538ED3"/>
                </a:solidFill>
                <a:latin typeface="Arial"/>
                <a:cs typeface="Arial"/>
              </a:rPr>
              <a:t>Failure</a:t>
            </a:r>
            <a:r>
              <a:rPr sz="1800" b="1" spc="240" dirty="0">
                <a:solidFill>
                  <a:srgbClr val="538ED3"/>
                </a:solidFill>
                <a:latin typeface="Arial"/>
                <a:cs typeface="Arial"/>
              </a:rPr>
              <a:t>  </a:t>
            </a:r>
            <a:r>
              <a:rPr sz="1800" b="1" dirty="0">
                <a:solidFill>
                  <a:srgbClr val="538ED3"/>
                </a:solidFill>
                <a:latin typeface="Arial"/>
                <a:cs typeface="Arial"/>
              </a:rPr>
              <a:t>handling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235" dirty="0">
                <a:latin typeface="Arial"/>
                <a:cs typeface="Arial"/>
              </a:rPr>
              <a:t> 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229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process,</a:t>
            </a:r>
            <a:r>
              <a:rPr sz="1800" spc="24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computer</a:t>
            </a:r>
            <a:r>
              <a:rPr sz="1800" spc="23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25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network</a:t>
            </a:r>
            <a:r>
              <a:rPr sz="1800" spc="24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may</a:t>
            </a:r>
            <a:r>
              <a:rPr sz="1800" spc="229" dirty="0">
                <a:latin typeface="Arial MT"/>
                <a:cs typeface="Arial MT"/>
              </a:rPr>
              <a:t>  </a:t>
            </a:r>
            <a:r>
              <a:rPr sz="1800" spc="-20" dirty="0">
                <a:latin typeface="Arial MT"/>
                <a:cs typeface="Arial MT"/>
              </a:rPr>
              <a:t>fail </a:t>
            </a:r>
            <a:r>
              <a:rPr sz="1800" dirty="0">
                <a:latin typeface="Arial MT"/>
                <a:cs typeface="Arial MT"/>
              </a:rPr>
              <a:t>independently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5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others.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component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need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aware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possible</a:t>
            </a:r>
            <a:r>
              <a:rPr sz="1800" spc="3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ways.</a:t>
            </a:r>
            <a:r>
              <a:rPr sz="1800" spc="3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DS</a:t>
            </a:r>
            <a:r>
              <a:rPr sz="1800" spc="3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need</a:t>
            </a:r>
            <a:r>
              <a:rPr sz="1800" spc="3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3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3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designed</a:t>
            </a:r>
            <a:r>
              <a:rPr sz="1800" spc="3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3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deal</a:t>
            </a:r>
            <a:r>
              <a:rPr sz="1800" spc="3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3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3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3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these failures.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375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Distributed</a:t>
            </a:r>
            <a:r>
              <a:rPr b="1" spc="-13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Systems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Challenges-</a:t>
            </a:r>
            <a:r>
              <a:rPr b="1" spc="-50" dirty="0">
                <a:latin typeface="Calibri"/>
                <a:cs typeface="Calibri"/>
              </a:rPr>
              <a:t>2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36752" y="1002284"/>
            <a:ext cx="7745095" cy="3482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marR="64135" indent="-310515" algn="just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469900" algn="l"/>
              </a:tabLst>
            </a:pPr>
            <a:r>
              <a:rPr sz="1800" b="1" dirty="0">
                <a:solidFill>
                  <a:srgbClr val="538ED3"/>
                </a:solidFill>
                <a:latin typeface="Arial"/>
                <a:cs typeface="Arial"/>
              </a:rPr>
              <a:t>Concurrency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48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Presence</a:t>
            </a:r>
            <a:r>
              <a:rPr sz="1800" spc="4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4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multiple</a:t>
            </a:r>
            <a:r>
              <a:rPr sz="1800" spc="4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users</a:t>
            </a:r>
            <a:r>
              <a:rPr sz="1800" spc="4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4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4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source</a:t>
            </a:r>
            <a:r>
              <a:rPr sz="1800" spc="4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48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concurrent 	</a:t>
            </a:r>
            <a:r>
              <a:rPr sz="1800" dirty="0">
                <a:latin typeface="Arial MT"/>
                <a:cs typeface="Arial MT"/>
              </a:rPr>
              <a:t>requests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resources.</a:t>
            </a:r>
            <a:r>
              <a:rPr sz="1800" spc="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resource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must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designed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safe 	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concurrent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environment.</a:t>
            </a:r>
            <a:endParaRPr sz="1800">
              <a:latin typeface="Arial MT"/>
              <a:cs typeface="Arial MT"/>
            </a:endParaRPr>
          </a:p>
          <a:p>
            <a:pPr marL="346075" marR="66675" indent="-333375" algn="just">
              <a:lnSpc>
                <a:spcPct val="100000"/>
              </a:lnSpc>
              <a:spcBef>
                <a:spcPts val="1105"/>
              </a:spcBef>
              <a:buAutoNum type="arabicPeriod" startAt="6"/>
              <a:tabLst>
                <a:tab pos="469900" algn="l"/>
              </a:tabLst>
            </a:pPr>
            <a:r>
              <a:rPr sz="1800" b="1" dirty="0">
                <a:solidFill>
                  <a:srgbClr val="538ED3"/>
                </a:solidFill>
                <a:latin typeface="Arial"/>
                <a:cs typeface="Arial"/>
              </a:rPr>
              <a:t>Transparency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65" dirty="0">
                <a:latin typeface="Arial"/>
                <a:cs typeface="Arial"/>
              </a:rPr>
              <a:t> 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6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aim</a:t>
            </a:r>
            <a:r>
              <a:rPr sz="1800" spc="7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7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7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make</a:t>
            </a:r>
            <a:r>
              <a:rPr sz="1800" spc="6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certain</a:t>
            </a:r>
            <a:r>
              <a:rPr sz="1800" spc="7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aspects</a:t>
            </a:r>
            <a:r>
              <a:rPr sz="1800" spc="8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70" dirty="0">
                <a:latin typeface="Arial MT"/>
                <a:cs typeface="Arial MT"/>
              </a:rPr>
              <a:t>  </a:t>
            </a:r>
            <a:r>
              <a:rPr sz="1800" spc="-10" dirty="0">
                <a:latin typeface="Arial MT"/>
                <a:cs typeface="Arial MT"/>
              </a:rPr>
              <a:t>distribution 	</a:t>
            </a:r>
            <a:r>
              <a:rPr sz="1800" dirty="0">
                <a:latin typeface="Arial MT"/>
                <a:cs typeface="Arial MT"/>
              </a:rPr>
              <a:t>invisible</a:t>
            </a:r>
            <a:r>
              <a:rPr sz="1800" spc="4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4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3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application</a:t>
            </a:r>
            <a:r>
              <a:rPr sz="1800" spc="4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programmer</a:t>
            </a:r>
            <a:r>
              <a:rPr sz="1800" spc="3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so</a:t>
            </a:r>
            <a:r>
              <a:rPr sz="1800" spc="3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3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4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need</a:t>
            </a:r>
            <a:r>
              <a:rPr sz="1800" spc="4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be 	</a:t>
            </a:r>
            <a:r>
              <a:rPr sz="1800" dirty="0">
                <a:latin typeface="Arial MT"/>
                <a:cs typeface="Arial MT"/>
              </a:rPr>
              <a:t>concerned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design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their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particular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application.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538ED3"/>
              </a:buClr>
              <a:buFont typeface="Arial"/>
              <a:buAutoNum type="arabicPeriod" startAt="6"/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5"/>
              </a:spcBef>
              <a:buClr>
                <a:srgbClr val="538ED3"/>
              </a:buClr>
              <a:buFont typeface="Arial"/>
              <a:buAutoNum type="arabicPeriod" startAt="6"/>
            </a:pPr>
            <a:endParaRPr sz="1800">
              <a:latin typeface="Arial MT"/>
              <a:cs typeface="Arial MT"/>
            </a:endParaRPr>
          </a:p>
          <a:p>
            <a:pPr marL="469900" marR="5080" indent="-457200" algn="just">
              <a:lnSpc>
                <a:spcPct val="100000"/>
              </a:lnSpc>
              <a:buAutoNum type="arabicPeriod" startAt="6"/>
              <a:tabLst>
                <a:tab pos="469900" algn="l"/>
              </a:tabLst>
            </a:pPr>
            <a:r>
              <a:rPr sz="1800" b="1" dirty="0">
                <a:solidFill>
                  <a:srgbClr val="538ED3"/>
                </a:solidFill>
                <a:latin typeface="Arial"/>
                <a:cs typeface="Arial"/>
              </a:rPr>
              <a:t>Quality</a:t>
            </a:r>
            <a:r>
              <a:rPr sz="1800" b="1" spc="470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38ED3"/>
                </a:solidFill>
                <a:latin typeface="Arial"/>
                <a:cs typeface="Arial"/>
              </a:rPr>
              <a:t>of</a:t>
            </a:r>
            <a:r>
              <a:rPr sz="1800" b="1" spc="5" dirty="0">
                <a:solidFill>
                  <a:srgbClr val="538ED3"/>
                </a:solidFill>
                <a:latin typeface="Arial"/>
                <a:cs typeface="Arial"/>
              </a:rPr>
              <a:t>  </a:t>
            </a:r>
            <a:r>
              <a:rPr sz="1800" b="1" dirty="0">
                <a:solidFill>
                  <a:srgbClr val="538ED3"/>
                </a:solidFill>
                <a:latin typeface="Arial"/>
                <a:cs typeface="Arial"/>
              </a:rPr>
              <a:t>Service</a:t>
            </a:r>
            <a:r>
              <a:rPr sz="1800" b="1" spc="490" dirty="0">
                <a:solidFill>
                  <a:srgbClr val="538ED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38ED3"/>
                </a:solidFill>
                <a:latin typeface="Arial"/>
                <a:cs typeface="Arial"/>
              </a:rPr>
              <a:t>(QoS):</a:t>
            </a:r>
            <a:r>
              <a:rPr sz="1800" b="1" spc="5" dirty="0">
                <a:solidFill>
                  <a:srgbClr val="538ED3"/>
                </a:solidFill>
                <a:latin typeface="Arial"/>
                <a:cs typeface="Arial"/>
              </a:rPr>
              <a:t>  </a:t>
            </a:r>
            <a:r>
              <a:rPr sz="1800" dirty="0">
                <a:latin typeface="Arial MT"/>
                <a:cs typeface="Arial MT"/>
              </a:rPr>
              <a:t>It  is</a:t>
            </a:r>
            <a:r>
              <a:rPr sz="1800" spc="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sufficient</a:t>
            </a:r>
            <a:r>
              <a:rPr sz="1800" spc="4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4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provide  access  </a:t>
            </a:r>
            <a:r>
              <a:rPr sz="1800" spc="-25" dirty="0">
                <a:latin typeface="Arial MT"/>
                <a:cs typeface="Arial MT"/>
              </a:rPr>
              <a:t>to </a:t>
            </a:r>
            <a:r>
              <a:rPr sz="1800" dirty="0">
                <a:latin typeface="Arial MT"/>
                <a:cs typeface="Arial MT"/>
              </a:rPr>
              <a:t>services</a:t>
            </a:r>
            <a:r>
              <a:rPr sz="1800" spc="229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229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distributed</a:t>
            </a:r>
            <a:r>
              <a:rPr sz="1800" spc="23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systems.</a:t>
            </a:r>
            <a:r>
              <a:rPr sz="1800" spc="23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229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23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also</a:t>
            </a:r>
            <a:r>
              <a:rPr sz="1800" spc="229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important</a:t>
            </a:r>
            <a:r>
              <a:rPr sz="1800" spc="24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235" dirty="0">
                <a:latin typeface="Arial MT"/>
                <a:cs typeface="Arial MT"/>
              </a:rPr>
              <a:t>  </a:t>
            </a:r>
            <a:r>
              <a:rPr sz="1800" spc="-10" dirty="0">
                <a:latin typeface="Arial MT"/>
                <a:cs typeface="Arial MT"/>
              </a:rPr>
              <a:t>provide </a:t>
            </a:r>
            <a:r>
              <a:rPr sz="1800" dirty="0">
                <a:latin typeface="Arial MT"/>
                <a:cs typeface="Arial MT"/>
              </a:rPr>
              <a:t>guarantees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regarding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 qualities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associated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 such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access. </a:t>
            </a:r>
            <a:r>
              <a:rPr sz="1800" b="1" dirty="0">
                <a:latin typeface="Arial"/>
                <a:cs typeface="Arial"/>
              </a:rPr>
              <a:t>(like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performance,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security,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reliability).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6752" y="862567"/>
            <a:ext cx="3773170" cy="3338829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</a:tabLst>
            </a:pP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network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reliable</a:t>
            </a:r>
            <a:endParaRPr sz="18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1105"/>
              </a:spcBef>
              <a:buAutoNum type="arabicPeriod"/>
              <a:tabLst>
                <a:tab pos="469265" algn="l"/>
              </a:tabLst>
            </a:pP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network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secured</a:t>
            </a:r>
            <a:endParaRPr sz="18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1090"/>
              </a:spcBef>
              <a:buAutoNum type="arabicPeriod"/>
              <a:tabLst>
                <a:tab pos="469265" algn="l"/>
              </a:tabLst>
            </a:pP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network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homogeneous</a:t>
            </a:r>
            <a:endParaRPr sz="18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1105"/>
              </a:spcBef>
              <a:buAutoNum type="arabicPeriod"/>
              <a:tabLst>
                <a:tab pos="469265" algn="l"/>
              </a:tabLst>
            </a:pP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topology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does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not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change</a:t>
            </a:r>
            <a:endParaRPr sz="18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1105"/>
              </a:spcBef>
              <a:buAutoNum type="arabicPeriod"/>
              <a:tabLst>
                <a:tab pos="469265" algn="l"/>
              </a:tabLst>
            </a:pPr>
            <a:r>
              <a:rPr sz="1800" b="1" dirty="0">
                <a:latin typeface="Arial"/>
                <a:cs typeface="Arial"/>
              </a:rPr>
              <a:t>Latency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zero</a:t>
            </a:r>
            <a:endParaRPr sz="18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1095"/>
              </a:spcBef>
              <a:buAutoNum type="arabicPeriod"/>
              <a:tabLst>
                <a:tab pos="469265" algn="l"/>
              </a:tabLst>
            </a:pPr>
            <a:r>
              <a:rPr sz="1800" b="1" dirty="0">
                <a:latin typeface="Arial"/>
                <a:cs typeface="Arial"/>
              </a:rPr>
              <a:t>Bandwidth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infinite</a:t>
            </a:r>
            <a:endParaRPr sz="18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1105"/>
              </a:spcBef>
              <a:buAutoNum type="arabicPeriod"/>
              <a:tabLst>
                <a:tab pos="469265" algn="l"/>
              </a:tabLst>
            </a:pPr>
            <a:r>
              <a:rPr sz="1800" b="1" spc="-20" dirty="0">
                <a:latin typeface="Arial"/>
                <a:cs typeface="Arial"/>
              </a:rPr>
              <a:t>Transport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cost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zero</a:t>
            </a:r>
            <a:endParaRPr sz="18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1105"/>
              </a:spcBef>
              <a:buAutoNum type="arabicPeriod"/>
              <a:tabLst>
                <a:tab pos="469265" algn="l"/>
              </a:tabLst>
            </a:pPr>
            <a:r>
              <a:rPr sz="1800" b="1" dirty="0">
                <a:latin typeface="Arial"/>
                <a:cs typeface="Arial"/>
              </a:rPr>
              <a:t>There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one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administrator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700">
              <a:lnSpc>
                <a:spcPct val="100000"/>
              </a:lnSpc>
              <a:spcBef>
                <a:spcPts val="100"/>
              </a:spcBef>
            </a:pPr>
            <a:r>
              <a:rPr dirty="0"/>
              <a:t>False</a:t>
            </a:r>
            <a:r>
              <a:rPr spc="-165" dirty="0"/>
              <a:t> </a:t>
            </a:r>
            <a:r>
              <a:rPr spc="-10" dirty="0"/>
              <a:t>assumptions</a:t>
            </a:r>
            <a:r>
              <a:rPr spc="-65" dirty="0"/>
              <a:t> </a:t>
            </a:r>
            <a:r>
              <a:rPr dirty="0"/>
              <a:t>when</a:t>
            </a:r>
            <a:r>
              <a:rPr spc="-140" dirty="0"/>
              <a:t> </a:t>
            </a:r>
            <a:r>
              <a:rPr spc="-10" dirty="0"/>
              <a:t>developing</a:t>
            </a:r>
            <a:r>
              <a:rPr spc="-130" dirty="0"/>
              <a:t> </a:t>
            </a:r>
            <a:r>
              <a:rPr spc="-25" dirty="0"/>
              <a:t>DS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6752" y="848566"/>
            <a:ext cx="3287395" cy="13970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5"/>
              </a:spcBef>
              <a:buFont typeface="Arial MT"/>
              <a:buChar char="–"/>
              <a:tabLst>
                <a:tab pos="469265" algn="l"/>
              </a:tabLst>
            </a:pPr>
            <a:r>
              <a:rPr sz="2000" b="1" spc="-10" dirty="0">
                <a:latin typeface="Arial"/>
                <a:cs typeface="Arial"/>
              </a:rPr>
              <a:t>Multiprocessors</a:t>
            </a:r>
            <a:endParaRPr sz="20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–"/>
              <a:tabLst>
                <a:tab pos="469265" algn="l"/>
              </a:tabLst>
            </a:pPr>
            <a:r>
              <a:rPr sz="2000" b="1" spc="-10" dirty="0">
                <a:latin typeface="Arial"/>
                <a:cs typeface="Arial"/>
              </a:rPr>
              <a:t>Multicomputer</a:t>
            </a:r>
            <a:endParaRPr sz="20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–"/>
              <a:tabLst>
                <a:tab pos="469265" algn="l"/>
              </a:tabLst>
            </a:pPr>
            <a:r>
              <a:rPr sz="2000" b="1" dirty="0">
                <a:latin typeface="Arial"/>
                <a:cs typeface="Arial"/>
              </a:rPr>
              <a:t>Networks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computers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434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6.</a:t>
            </a:r>
            <a:r>
              <a:rPr b="1" spc="-9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Distributed</a:t>
            </a:r>
            <a:r>
              <a:rPr b="1" spc="-17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Systems:</a:t>
            </a:r>
            <a:r>
              <a:rPr b="1" spc="-105" dirty="0"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Hardware</a:t>
            </a:r>
            <a:r>
              <a:rPr b="1" spc="-1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C00000"/>
                </a:solidFill>
                <a:latin typeface="Calibri"/>
                <a:cs typeface="Calibri"/>
              </a:rPr>
              <a:t>concepts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6752" y="810259"/>
            <a:ext cx="7868284" cy="1684020"/>
          </a:xfrm>
          <a:prstGeom prst="rect">
            <a:avLst/>
          </a:prstGeom>
        </p:spPr>
        <p:txBody>
          <a:bodyPr vert="horz" wrap="square" lIns="0" tIns="201295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585"/>
              </a:spcBef>
              <a:buAutoNum type="arabicPeriod"/>
              <a:tabLst>
                <a:tab pos="347980" algn="l"/>
              </a:tabLst>
            </a:pPr>
            <a:r>
              <a:rPr sz="2400" b="1" spc="-10" dirty="0">
                <a:solidFill>
                  <a:srgbClr val="4F81BB"/>
                </a:solidFill>
                <a:latin typeface="Arial"/>
                <a:cs typeface="Arial"/>
              </a:rPr>
              <a:t>Multiprocessors</a:t>
            </a:r>
            <a:endParaRPr sz="2400">
              <a:latin typeface="Arial"/>
              <a:cs typeface="Arial"/>
            </a:endParaRPr>
          </a:p>
          <a:p>
            <a:pPr marL="868680" marR="5080" lvl="1" indent="-457200">
              <a:lnSpc>
                <a:spcPct val="100000"/>
              </a:lnSpc>
              <a:spcBef>
                <a:spcPts val="1120"/>
              </a:spcBef>
              <a:buChar char="•"/>
              <a:tabLst>
                <a:tab pos="868680" algn="l"/>
              </a:tabLst>
            </a:pPr>
            <a:r>
              <a:rPr sz="1800" dirty="0">
                <a:latin typeface="Arial MT"/>
                <a:cs typeface="Arial MT"/>
              </a:rPr>
              <a:t>Multiprocessing</a:t>
            </a:r>
            <a:r>
              <a:rPr sz="1800" spc="4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4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4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4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4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two</a:t>
            </a:r>
            <a:r>
              <a:rPr sz="1800" spc="4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4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4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CPUs</a:t>
            </a:r>
            <a:r>
              <a:rPr sz="1800" spc="9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within</a:t>
            </a:r>
            <a:r>
              <a:rPr sz="1800" spc="2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4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single </a:t>
            </a:r>
            <a:r>
              <a:rPr sz="1800" dirty="0">
                <a:latin typeface="Arial MT"/>
                <a:cs typeface="Arial MT"/>
              </a:rPr>
              <a:t>computer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system.</a:t>
            </a:r>
            <a:endParaRPr sz="1800">
              <a:latin typeface="Arial MT"/>
              <a:cs typeface="Arial MT"/>
            </a:endParaRPr>
          </a:p>
          <a:p>
            <a:pPr marL="868680" lvl="1" indent="-457200">
              <a:lnSpc>
                <a:spcPct val="100000"/>
              </a:lnSpc>
              <a:spcBef>
                <a:spcPts val="1090"/>
              </a:spcBef>
              <a:buChar char="•"/>
              <a:tabLst>
                <a:tab pos="868680" algn="l"/>
                <a:tab pos="2492375" algn="l"/>
              </a:tabLst>
            </a:pPr>
            <a:r>
              <a:rPr sz="1800" spc="-10" dirty="0">
                <a:latin typeface="Arial MT"/>
                <a:cs typeface="Arial MT"/>
              </a:rPr>
              <a:t>Multiprocessor</a:t>
            </a:r>
            <a:r>
              <a:rPr sz="1800" dirty="0">
                <a:latin typeface="Arial MT"/>
                <a:cs typeface="Arial MT"/>
              </a:rPr>
              <a:t>	is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system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having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two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 more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processing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12" name="object 12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1907539" y="168909"/>
            <a:ext cx="66643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Distributed</a:t>
            </a:r>
            <a:r>
              <a:rPr spc="-110" dirty="0"/>
              <a:t> </a:t>
            </a:r>
            <a:r>
              <a:rPr spc="-20" dirty="0"/>
              <a:t>Systems:</a:t>
            </a:r>
            <a:r>
              <a:rPr spc="-160" dirty="0"/>
              <a:t> </a:t>
            </a:r>
            <a:r>
              <a:rPr dirty="0"/>
              <a:t>Hardware</a:t>
            </a:r>
            <a:r>
              <a:rPr spc="-1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3239" y="2465959"/>
            <a:ext cx="7009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  <a:tab pos="1789430" algn="l"/>
                <a:tab pos="3201035" algn="l"/>
                <a:tab pos="3909695" algn="l"/>
                <a:tab pos="4874895" algn="l"/>
                <a:tab pos="5586730" algn="l"/>
                <a:tab pos="6626225" algn="l"/>
              </a:tabLst>
            </a:pPr>
            <a:r>
              <a:rPr sz="1800" spc="-10" dirty="0">
                <a:latin typeface="Arial MT"/>
                <a:cs typeface="Arial MT"/>
              </a:rPr>
              <a:t>units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(multiple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processors)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each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sharing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main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memory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and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6039" y="2600070"/>
            <a:ext cx="6268720" cy="85471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205"/>
              </a:spcBef>
            </a:pPr>
            <a:r>
              <a:rPr sz="1800" dirty="0">
                <a:latin typeface="Arial MT"/>
                <a:cs typeface="Arial MT"/>
              </a:rPr>
              <a:t>peripherals,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order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simultaneously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programs.</a:t>
            </a:r>
            <a:endParaRPr sz="18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100"/>
              </a:spcBef>
              <a:buFont typeface="Wingdings"/>
              <a:buChar char=""/>
              <a:tabLst>
                <a:tab pos="469265" algn="l"/>
              </a:tabLst>
            </a:pPr>
            <a:r>
              <a:rPr sz="1800" b="1" dirty="0">
                <a:solidFill>
                  <a:srgbClr val="1F477B"/>
                </a:solidFill>
                <a:latin typeface="Arial"/>
                <a:cs typeface="Arial"/>
              </a:rPr>
              <a:t>Processor</a:t>
            </a:r>
            <a:r>
              <a:rPr sz="1800" b="1" spc="-45" dirty="0">
                <a:solidFill>
                  <a:srgbClr val="1F477B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F477B"/>
                </a:solidFill>
                <a:latin typeface="Arial"/>
                <a:cs typeface="Arial"/>
              </a:rPr>
              <a:t>symmetry: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93239" y="3563873"/>
            <a:ext cx="70084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469900" algn="l"/>
                <a:tab pos="861694" algn="l"/>
                <a:tab pos="1189355" algn="l"/>
                <a:tab pos="2976880" algn="l"/>
                <a:tab pos="3968115" algn="l"/>
                <a:tab pos="4398010" algn="l"/>
                <a:tab pos="5196205" algn="l"/>
                <a:tab pos="5829300" algn="l"/>
                <a:tab pos="6283325" algn="l"/>
              </a:tabLst>
            </a:pPr>
            <a:r>
              <a:rPr sz="1800" spc="-25" dirty="0">
                <a:latin typeface="Arial MT"/>
                <a:cs typeface="Arial MT"/>
              </a:rPr>
              <a:t>In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multiprocessing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system,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all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CPUs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may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be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equally </a:t>
            </a:r>
            <a:r>
              <a:rPr sz="1800" dirty="0">
                <a:latin typeface="Arial MT"/>
                <a:cs typeface="Arial MT"/>
              </a:rPr>
              <a:t>participating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some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reserved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special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purposes.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93239" y="4249673"/>
            <a:ext cx="7005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469900" algn="l"/>
                <a:tab pos="1503045" algn="l"/>
                <a:tab pos="2044064" algn="l"/>
                <a:tab pos="2660015" algn="l"/>
                <a:tab pos="3045460" algn="l"/>
                <a:tab pos="3803015" algn="l"/>
                <a:tab pos="4684395" algn="l"/>
                <a:tab pos="5173345" algn="l"/>
                <a:tab pos="5928360" algn="l"/>
              </a:tabLst>
            </a:pPr>
            <a:r>
              <a:rPr sz="1800" spc="-10" dirty="0">
                <a:latin typeface="Arial MT"/>
                <a:cs typeface="Arial MT"/>
              </a:rPr>
              <a:t>Systems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that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treat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all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CPUs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equally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are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called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solidFill>
                  <a:srgbClr val="4F81BB"/>
                </a:solidFill>
                <a:latin typeface="Arial MT"/>
                <a:cs typeface="Arial MT"/>
              </a:rPr>
              <a:t>Symmetric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93239" y="4383785"/>
            <a:ext cx="4383405" cy="168275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1800" dirty="0">
                <a:solidFill>
                  <a:srgbClr val="4F81BB"/>
                </a:solidFill>
                <a:latin typeface="Arial MT"/>
                <a:cs typeface="Arial MT"/>
              </a:rPr>
              <a:t>Multiprocessing</a:t>
            </a:r>
            <a:r>
              <a:rPr sz="1800" spc="-65" dirty="0">
                <a:solidFill>
                  <a:srgbClr val="4F81B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F81BB"/>
                </a:solidFill>
                <a:latin typeface="Arial MT"/>
                <a:cs typeface="Arial MT"/>
              </a:rPr>
              <a:t>(SMP)</a:t>
            </a:r>
            <a:r>
              <a:rPr sz="1800" spc="-95" dirty="0">
                <a:solidFill>
                  <a:srgbClr val="4F81B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F81BB"/>
                </a:solidFill>
                <a:latin typeface="Arial MT"/>
                <a:cs typeface="Arial MT"/>
              </a:rPr>
              <a:t>systems</a:t>
            </a:r>
            <a:endParaRPr sz="18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105"/>
              </a:spcBef>
              <a:buFont typeface="Wingdings"/>
              <a:buChar char=""/>
              <a:tabLst>
                <a:tab pos="469900" algn="l"/>
              </a:tabLst>
            </a:pPr>
            <a:r>
              <a:rPr sz="1800" spc="-10" dirty="0">
                <a:latin typeface="Arial MT"/>
                <a:cs typeface="Arial MT"/>
              </a:rPr>
              <a:t>Asymmetric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Multiprocessing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(ASMP).</a:t>
            </a:r>
            <a:endParaRPr sz="18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095"/>
              </a:spcBef>
              <a:buFont typeface="Wingdings"/>
              <a:buChar char="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Non-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Uniform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Memory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Access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(NUMA)</a:t>
            </a:r>
            <a:endParaRPr sz="18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105"/>
              </a:spcBef>
              <a:buFont typeface="Wingdings"/>
              <a:buChar char="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Clustered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Multiprocessing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6752" y="862567"/>
            <a:ext cx="6205220" cy="458152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469265" algn="l"/>
              </a:tabLst>
            </a:pPr>
            <a:r>
              <a:rPr sz="1800" b="1" dirty="0">
                <a:latin typeface="Arial"/>
                <a:cs typeface="Arial"/>
              </a:rPr>
              <a:t>Multiprocessors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Communication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Architecture</a:t>
            </a:r>
            <a:endParaRPr sz="1800">
              <a:latin typeface="Arial"/>
              <a:cs typeface="Arial"/>
            </a:endParaRPr>
          </a:p>
          <a:p>
            <a:pPr marL="533400" indent="-520700">
              <a:lnSpc>
                <a:spcPct val="100000"/>
              </a:lnSpc>
              <a:spcBef>
                <a:spcPts val="1105"/>
              </a:spcBef>
              <a:buClr>
                <a:srgbClr val="000000"/>
              </a:buClr>
              <a:buFont typeface="Arial MT"/>
              <a:buChar char="–"/>
              <a:tabLst>
                <a:tab pos="533400" algn="l"/>
              </a:tabLst>
            </a:pPr>
            <a:r>
              <a:rPr sz="1800" b="1" dirty="0">
                <a:solidFill>
                  <a:srgbClr val="4F81BB"/>
                </a:solidFill>
                <a:latin typeface="Arial"/>
                <a:cs typeface="Arial"/>
              </a:rPr>
              <a:t>Message</a:t>
            </a:r>
            <a:r>
              <a:rPr sz="1800" b="1" spc="-40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F81BB"/>
                </a:solidFill>
                <a:latin typeface="Arial"/>
                <a:cs typeface="Arial"/>
              </a:rPr>
              <a:t>Passing</a:t>
            </a:r>
            <a:endParaRPr sz="1800">
              <a:latin typeface="Arial"/>
              <a:cs typeface="Arial"/>
            </a:endParaRPr>
          </a:p>
          <a:p>
            <a:pPr marL="868680" lvl="1" indent="-457200">
              <a:lnSpc>
                <a:spcPct val="100000"/>
              </a:lnSpc>
              <a:spcBef>
                <a:spcPts val="1090"/>
              </a:spcBef>
              <a:buChar char="•"/>
              <a:tabLst>
                <a:tab pos="868680" algn="l"/>
              </a:tabLst>
            </a:pPr>
            <a:r>
              <a:rPr sz="1800" dirty="0">
                <a:latin typeface="Arial MT"/>
                <a:cs typeface="Arial MT"/>
              </a:rPr>
              <a:t>Separate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address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space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processor</a:t>
            </a:r>
            <a:endParaRPr sz="1800">
              <a:latin typeface="Arial MT"/>
              <a:cs typeface="Arial MT"/>
            </a:endParaRPr>
          </a:p>
          <a:p>
            <a:pPr marL="868680" lvl="1" indent="-457200">
              <a:lnSpc>
                <a:spcPct val="100000"/>
              </a:lnSpc>
              <a:spcBef>
                <a:spcPts val="1105"/>
              </a:spcBef>
              <a:buChar char="•"/>
              <a:tabLst>
                <a:tab pos="868680" algn="l"/>
              </a:tabLst>
            </a:pPr>
            <a:r>
              <a:rPr sz="1800" dirty="0">
                <a:latin typeface="Arial MT"/>
                <a:cs typeface="Arial MT"/>
              </a:rPr>
              <a:t>Processors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communicate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message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passing</a:t>
            </a:r>
            <a:endParaRPr sz="1800">
              <a:latin typeface="Arial MT"/>
              <a:cs typeface="Arial MT"/>
            </a:endParaRPr>
          </a:p>
          <a:p>
            <a:pPr marL="868680" lvl="1" indent="-457200">
              <a:lnSpc>
                <a:spcPct val="100000"/>
              </a:lnSpc>
              <a:spcBef>
                <a:spcPts val="1105"/>
              </a:spcBef>
              <a:buChar char="•"/>
              <a:tabLst>
                <a:tab pos="868680" algn="l"/>
              </a:tabLst>
            </a:pPr>
            <a:r>
              <a:rPr sz="1800" dirty="0">
                <a:latin typeface="Arial MT"/>
                <a:cs typeface="Arial MT"/>
              </a:rPr>
              <a:t>Processors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local</a:t>
            </a:r>
            <a:r>
              <a:rPr sz="1800" u="heavy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message</a:t>
            </a:r>
            <a:r>
              <a:rPr sz="1800" u="heavy" spc="-4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queue</a:t>
            </a:r>
            <a:r>
              <a:rPr sz="1800" u="heavy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memories</a:t>
            </a:r>
            <a:endParaRPr sz="1800">
              <a:latin typeface="Arial MT"/>
              <a:cs typeface="Arial MT"/>
            </a:endParaRPr>
          </a:p>
          <a:p>
            <a:pPr marL="868680" lvl="1" indent="-457200">
              <a:lnSpc>
                <a:spcPct val="100000"/>
              </a:lnSpc>
              <a:spcBef>
                <a:spcPts val="1095"/>
              </a:spcBef>
              <a:buChar char="•"/>
              <a:tabLst>
                <a:tab pos="868680" algn="l"/>
              </a:tabLst>
            </a:pPr>
            <a:r>
              <a:rPr sz="1800" dirty="0">
                <a:latin typeface="Arial MT"/>
                <a:cs typeface="Arial MT"/>
              </a:rPr>
              <a:t>Focus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attention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costly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non-</a:t>
            </a:r>
            <a:r>
              <a:rPr sz="1800" dirty="0">
                <a:latin typeface="Arial MT"/>
                <a:cs typeface="Arial MT"/>
              </a:rPr>
              <a:t>local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operations</a:t>
            </a:r>
            <a:endParaRPr sz="18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105"/>
              </a:spcBef>
              <a:buFont typeface="Arial MT"/>
              <a:buChar char="–"/>
              <a:tabLst>
                <a:tab pos="469265" algn="l"/>
              </a:tabLst>
            </a:pPr>
            <a:r>
              <a:rPr sz="1800" b="1" dirty="0">
                <a:solidFill>
                  <a:srgbClr val="4F81BB"/>
                </a:solidFill>
                <a:latin typeface="Arial"/>
                <a:cs typeface="Arial"/>
              </a:rPr>
              <a:t>Shared</a:t>
            </a:r>
            <a:r>
              <a:rPr sz="1800" b="1" spc="-20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F81BB"/>
                </a:solidFill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  <a:p>
            <a:pPr marL="868680" lvl="1" indent="-457200">
              <a:lnSpc>
                <a:spcPct val="100000"/>
              </a:lnSpc>
              <a:spcBef>
                <a:spcPts val="1105"/>
              </a:spcBef>
              <a:buChar char="•"/>
              <a:tabLst>
                <a:tab pos="868680" algn="l"/>
              </a:tabLst>
            </a:pPr>
            <a:r>
              <a:rPr sz="1800" dirty="0">
                <a:latin typeface="Arial MT"/>
                <a:cs typeface="Arial MT"/>
              </a:rPr>
              <a:t>Processors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communicate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shared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address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space</a:t>
            </a:r>
            <a:endParaRPr sz="1800">
              <a:latin typeface="Arial MT"/>
              <a:cs typeface="Arial MT"/>
            </a:endParaRPr>
          </a:p>
          <a:p>
            <a:pPr marL="868680" lvl="1" indent="-457200">
              <a:lnSpc>
                <a:spcPct val="100000"/>
              </a:lnSpc>
              <a:spcBef>
                <a:spcPts val="1090"/>
              </a:spcBef>
              <a:buChar char="•"/>
              <a:tabLst>
                <a:tab pos="868680" algn="l"/>
              </a:tabLst>
            </a:pPr>
            <a:r>
              <a:rPr sz="1800" dirty="0">
                <a:latin typeface="Arial MT"/>
                <a:cs typeface="Arial MT"/>
              </a:rPr>
              <a:t>Processors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communicate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read/write</a:t>
            </a:r>
            <a:endParaRPr sz="1800">
              <a:latin typeface="Arial MT"/>
              <a:cs typeface="Arial MT"/>
            </a:endParaRPr>
          </a:p>
          <a:p>
            <a:pPr marL="868680" lvl="1" indent="-457200">
              <a:lnSpc>
                <a:spcPct val="100000"/>
              </a:lnSpc>
              <a:spcBef>
                <a:spcPts val="1105"/>
              </a:spcBef>
              <a:buChar char="•"/>
              <a:tabLst>
                <a:tab pos="868680" algn="l"/>
              </a:tabLst>
            </a:pPr>
            <a:r>
              <a:rPr sz="1800" dirty="0">
                <a:latin typeface="Arial MT"/>
                <a:cs typeface="Arial MT"/>
              </a:rPr>
              <a:t>Easy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small-</a:t>
            </a:r>
            <a:r>
              <a:rPr sz="1800" dirty="0">
                <a:latin typeface="Arial MT"/>
                <a:cs typeface="Arial MT"/>
              </a:rPr>
              <a:t>scale</a:t>
            </a:r>
            <a:r>
              <a:rPr sz="1800" spc="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machines</a:t>
            </a:r>
            <a:endParaRPr sz="1800">
              <a:latin typeface="Arial MT"/>
              <a:cs typeface="Arial MT"/>
            </a:endParaRPr>
          </a:p>
          <a:p>
            <a:pPr marL="868680" lvl="1" indent="-457200">
              <a:lnSpc>
                <a:spcPct val="100000"/>
              </a:lnSpc>
              <a:spcBef>
                <a:spcPts val="1105"/>
              </a:spcBef>
              <a:buChar char="•"/>
              <a:tabLst>
                <a:tab pos="868680" algn="l"/>
              </a:tabLst>
            </a:pPr>
            <a:r>
              <a:rPr sz="1800" dirty="0">
                <a:latin typeface="Arial MT"/>
                <a:cs typeface="Arial MT"/>
              </a:rPr>
              <a:t>Lower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latency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61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Distributed</a:t>
            </a:r>
            <a:r>
              <a:rPr spc="-105" dirty="0"/>
              <a:t> </a:t>
            </a:r>
            <a:r>
              <a:rPr spc="-25" dirty="0"/>
              <a:t>Systems:</a:t>
            </a:r>
            <a:r>
              <a:rPr spc="-130" dirty="0"/>
              <a:t> </a:t>
            </a:r>
            <a:r>
              <a:rPr spc="-20" dirty="0"/>
              <a:t>Hardware</a:t>
            </a:r>
            <a:r>
              <a:rPr spc="-16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6752" y="848566"/>
            <a:ext cx="4474210" cy="13970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5"/>
              </a:spcBef>
              <a:buFont typeface="Wingdings"/>
              <a:buChar char=""/>
              <a:tabLst>
                <a:tab pos="469265" algn="l"/>
              </a:tabLst>
            </a:pPr>
            <a:r>
              <a:rPr sz="2000" b="1" dirty="0">
                <a:latin typeface="Arial"/>
                <a:cs typeface="Arial"/>
              </a:rPr>
              <a:t>Distinguished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features:</a:t>
            </a:r>
            <a:endParaRPr sz="2000">
              <a:latin typeface="Arial"/>
              <a:cs typeface="Arial"/>
            </a:endParaRPr>
          </a:p>
          <a:p>
            <a:pPr marL="868680" lvl="1" indent="-457200">
              <a:lnSpc>
                <a:spcPct val="100000"/>
              </a:lnSpc>
              <a:spcBef>
                <a:spcPts val="1200"/>
              </a:spcBef>
              <a:buChar char="•"/>
              <a:tabLst>
                <a:tab pos="868680" algn="l"/>
              </a:tabLst>
            </a:pPr>
            <a:r>
              <a:rPr sz="2000" dirty="0">
                <a:solidFill>
                  <a:srgbClr val="4F81BB"/>
                </a:solidFill>
                <a:latin typeface="Arial MT"/>
                <a:cs typeface="Arial MT"/>
              </a:rPr>
              <a:t>Private</a:t>
            </a:r>
            <a:r>
              <a:rPr sz="2000" spc="-55" dirty="0">
                <a:solidFill>
                  <a:srgbClr val="4F81BB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F81BB"/>
                </a:solidFill>
                <a:latin typeface="Arial MT"/>
                <a:cs typeface="Arial MT"/>
              </a:rPr>
              <a:t>shared</a:t>
            </a:r>
            <a:r>
              <a:rPr sz="2000" spc="-75" dirty="0">
                <a:solidFill>
                  <a:srgbClr val="4F81BB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memory</a:t>
            </a:r>
            <a:endParaRPr sz="2000">
              <a:latin typeface="Arial MT"/>
              <a:cs typeface="Arial MT"/>
            </a:endParaRPr>
          </a:p>
          <a:p>
            <a:pPr marL="868680" lvl="1" indent="-457200">
              <a:lnSpc>
                <a:spcPct val="100000"/>
              </a:lnSpc>
              <a:spcBef>
                <a:spcPts val="1200"/>
              </a:spcBef>
              <a:buChar char="•"/>
              <a:tabLst>
                <a:tab pos="868680" algn="l"/>
              </a:tabLst>
            </a:pPr>
            <a:r>
              <a:rPr sz="2000" dirty="0">
                <a:solidFill>
                  <a:srgbClr val="4F81BB"/>
                </a:solidFill>
                <a:latin typeface="Arial MT"/>
                <a:cs typeface="Arial MT"/>
              </a:rPr>
              <a:t>Bus</a:t>
            </a:r>
            <a:r>
              <a:rPr sz="2000" spc="-45" dirty="0">
                <a:solidFill>
                  <a:srgbClr val="4F81BB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F81BB"/>
                </a:solidFill>
                <a:latin typeface="Arial MT"/>
                <a:cs typeface="Arial MT"/>
              </a:rPr>
              <a:t>switched</a:t>
            </a:r>
            <a:r>
              <a:rPr sz="2000" spc="-65" dirty="0">
                <a:solidFill>
                  <a:srgbClr val="4F81BB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interconnection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8" name="object 8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61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Distributed</a:t>
            </a:r>
            <a:r>
              <a:rPr spc="-105" dirty="0"/>
              <a:t> </a:t>
            </a:r>
            <a:r>
              <a:rPr spc="-25" dirty="0"/>
              <a:t>Systems:</a:t>
            </a:r>
            <a:r>
              <a:rPr spc="-130" dirty="0"/>
              <a:t> </a:t>
            </a:r>
            <a:r>
              <a:rPr spc="-20" dirty="0"/>
              <a:t>Hardware</a:t>
            </a:r>
            <a:r>
              <a:rPr spc="-160" dirty="0"/>
              <a:t> </a:t>
            </a:r>
            <a:r>
              <a:rPr spc="-10" dirty="0"/>
              <a:t>concepts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813" y="2339339"/>
            <a:ext cx="8677910" cy="4052315"/>
            <a:chOff x="35813" y="2339339"/>
            <a:chExt cx="8677910" cy="405231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4144" y="2339339"/>
              <a:ext cx="6618732" cy="405231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813" y="6383274"/>
              <a:ext cx="8677910" cy="0"/>
            </a:xfrm>
            <a:custGeom>
              <a:avLst/>
              <a:gdLst/>
              <a:ahLst/>
              <a:cxnLst/>
              <a:rect l="l" t="t" r="r" b="b"/>
              <a:pathLst>
                <a:path w="8677910">
                  <a:moveTo>
                    <a:pt x="0" y="0"/>
                  </a:moveTo>
                  <a:lnTo>
                    <a:pt x="8677529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0" y="0"/>
            <a:ext cx="8682355" cy="981710"/>
            <a:chOff x="0" y="0"/>
            <a:chExt cx="8682355" cy="981710"/>
          </a:xfrm>
        </p:grpSpPr>
        <p:sp>
          <p:nvSpPr>
            <p:cNvPr id="10" name="object 10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960221" y="909320"/>
            <a:ext cx="3866515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060"/>
              </a:lnSpc>
            </a:pPr>
            <a:r>
              <a:rPr sz="2800" b="1" dirty="0">
                <a:solidFill>
                  <a:srgbClr val="000000"/>
                </a:solidFill>
                <a:latin typeface="Calibri"/>
                <a:cs typeface="Calibri"/>
              </a:rPr>
              <a:t>3.</a:t>
            </a:r>
            <a:r>
              <a:rPr sz="2800" b="1" spc="6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latin typeface="Arial"/>
                <a:cs typeface="Arial"/>
              </a:rPr>
              <a:t>Networks</a:t>
            </a:r>
            <a:r>
              <a:rPr sz="2400" b="1" spc="-1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Computers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29817" y="910589"/>
            <a:ext cx="7883525" cy="0"/>
          </a:xfrm>
          <a:custGeom>
            <a:avLst/>
            <a:gdLst/>
            <a:ahLst/>
            <a:cxnLst/>
            <a:rect l="l" t="t" r="r" b="b"/>
            <a:pathLst>
              <a:path w="7883525">
                <a:moveTo>
                  <a:pt x="0" y="0"/>
                </a:moveTo>
                <a:lnTo>
                  <a:pt x="7883271" y="0"/>
                </a:lnTo>
              </a:path>
            </a:pathLst>
          </a:custGeom>
          <a:ln w="50292">
            <a:solidFill>
              <a:srgbClr val="487C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978204" y="1440154"/>
            <a:ext cx="4610100" cy="1033144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High</a:t>
            </a:r>
            <a:r>
              <a:rPr sz="2000" b="1" spc="-45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degree</a:t>
            </a:r>
            <a:r>
              <a:rPr sz="2000" b="1" spc="-75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of</a:t>
            </a:r>
            <a:r>
              <a:rPr sz="2000" b="1" spc="-30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node</a:t>
            </a:r>
            <a:r>
              <a:rPr sz="2000" b="1" spc="-50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F81BB"/>
                </a:solidFill>
                <a:latin typeface="Arial"/>
                <a:cs typeface="Arial"/>
              </a:rPr>
              <a:t>heterogeneity</a:t>
            </a:r>
            <a:r>
              <a:rPr sz="2000" b="1" spc="-1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756285" marR="36830" lvl="1" indent="-287020">
              <a:lnSpc>
                <a:spcPct val="100000"/>
              </a:lnSpc>
              <a:spcBef>
                <a:spcPts val="705"/>
              </a:spcBef>
              <a:buSzPct val="111111"/>
              <a:buFont typeface="Wingdings"/>
              <a:buChar char=""/>
              <a:tabLst>
                <a:tab pos="756285" algn="l"/>
                <a:tab pos="824865" algn="l"/>
                <a:tab pos="2827655" algn="l"/>
                <a:tab pos="3738879" algn="l"/>
              </a:tabLst>
            </a:pPr>
            <a:r>
              <a:rPr sz="1800" dirty="0">
                <a:latin typeface="Arial MT"/>
                <a:cs typeface="Arial MT"/>
              </a:rPr>
              <a:t>	</a:t>
            </a:r>
            <a:r>
              <a:rPr sz="1800" spc="-40" dirty="0">
                <a:latin typeface="Arial MT"/>
                <a:cs typeface="Arial MT"/>
              </a:rPr>
              <a:t>High-</a:t>
            </a:r>
            <a:r>
              <a:rPr sz="1800" spc="-10" dirty="0">
                <a:latin typeface="Arial MT"/>
                <a:cs typeface="Arial MT"/>
              </a:rPr>
              <a:t>performance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parallel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systems </a:t>
            </a:r>
            <a:r>
              <a:rPr sz="1800" spc="-10" dirty="0">
                <a:latin typeface="Arial MT"/>
                <a:cs typeface="Arial MT"/>
              </a:rPr>
              <a:t>multicomputer)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14746" y="1896871"/>
            <a:ext cx="2110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3089" algn="l"/>
              </a:tabLst>
            </a:pPr>
            <a:r>
              <a:rPr sz="1800" spc="-10" dirty="0">
                <a:latin typeface="Arial MT"/>
                <a:cs typeface="Arial MT"/>
              </a:rPr>
              <a:t>(multiprocessors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as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82839" y="1896871"/>
            <a:ext cx="824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sz="1800" spc="-20" dirty="0">
                <a:latin typeface="Arial MT"/>
                <a:cs typeface="Arial MT"/>
              </a:rPr>
              <a:t>well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as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8204" y="2455614"/>
            <a:ext cx="7745095" cy="37903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819785" indent="-350520">
              <a:lnSpc>
                <a:spcPct val="100000"/>
              </a:lnSpc>
              <a:spcBef>
                <a:spcPts val="500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spc="-30" dirty="0">
                <a:latin typeface="Arial MT"/>
                <a:cs typeface="Arial MT"/>
              </a:rPr>
              <a:t>High-</a:t>
            </a:r>
            <a:r>
              <a:rPr sz="1800" dirty="0">
                <a:latin typeface="Arial MT"/>
                <a:cs typeface="Arial MT"/>
              </a:rPr>
              <a:t>end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PCs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workstations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(servers)</a:t>
            </a:r>
            <a:endParaRPr sz="1800">
              <a:latin typeface="Arial MT"/>
              <a:cs typeface="Arial MT"/>
            </a:endParaRPr>
          </a:p>
          <a:p>
            <a:pPr marL="819785" indent="-350520">
              <a:lnSpc>
                <a:spcPct val="100000"/>
              </a:lnSpc>
              <a:spcBef>
                <a:spcPts val="395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Simple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network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(offer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users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network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access)</a:t>
            </a:r>
            <a:endParaRPr sz="1800">
              <a:latin typeface="Arial MT"/>
              <a:cs typeface="Arial MT"/>
            </a:endParaRPr>
          </a:p>
          <a:p>
            <a:pPr marL="819785" indent="-350520">
              <a:lnSpc>
                <a:spcPct val="100000"/>
              </a:lnSpc>
              <a:spcBef>
                <a:spcPts val="409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Mobile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(palmtops,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laptops)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High</a:t>
            </a:r>
            <a:r>
              <a:rPr sz="2000" b="1" spc="-35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degree</a:t>
            </a:r>
            <a:r>
              <a:rPr sz="2000" b="1" spc="-60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of</a:t>
            </a:r>
            <a:r>
              <a:rPr sz="2000" b="1" spc="-25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network</a:t>
            </a:r>
            <a:r>
              <a:rPr sz="2000" b="1" spc="-80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F81BB"/>
                </a:solidFill>
                <a:latin typeface="Arial"/>
                <a:cs typeface="Arial"/>
              </a:rPr>
              <a:t>heterogeneity</a:t>
            </a:r>
            <a:r>
              <a:rPr sz="2000" b="1" spc="-1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819785" lvl="1" indent="-350520">
              <a:lnSpc>
                <a:spcPct val="100000"/>
              </a:lnSpc>
              <a:spcBef>
                <a:spcPts val="405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spc="-25" dirty="0">
                <a:latin typeface="Arial MT"/>
                <a:cs typeface="Arial MT"/>
              </a:rPr>
              <a:t>Local-</a:t>
            </a:r>
            <a:r>
              <a:rPr sz="1800" dirty="0">
                <a:latin typeface="Arial MT"/>
                <a:cs typeface="Arial MT"/>
              </a:rPr>
              <a:t>area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gigabit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networks</a:t>
            </a:r>
            <a:endParaRPr sz="1800">
              <a:latin typeface="Arial MT"/>
              <a:cs typeface="Arial MT"/>
            </a:endParaRPr>
          </a:p>
          <a:p>
            <a:pPr marL="819785" lvl="1" indent="-350520">
              <a:lnSpc>
                <a:spcPct val="100000"/>
              </a:lnSpc>
              <a:spcBef>
                <a:spcPts val="409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Wireless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connections</a:t>
            </a:r>
            <a:endParaRPr sz="1800">
              <a:latin typeface="Arial MT"/>
              <a:cs typeface="Arial MT"/>
            </a:endParaRPr>
          </a:p>
          <a:p>
            <a:pPr marL="819785" lvl="1" indent="-350520">
              <a:lnSpc>
                <a:spcPct val="100000"/>
              </a:lnSpc>
              <a:spcBef>
                <a:spcPts val="395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spc="-25" dirty="0">
                <a:latin typeface="Arial MT"/>
                <a:cs typeface="Arial MT"/>
              </a:rPr>
              <a:t>Long-</a:t>
            </a:r>
            <a:r>
              <a:rPr sz="1800" dirty="0">
                <a:latin typeface="Arial MT"/>
                <a:cs typeface="Arial MT"/>
              </a:rPr>
              <a:t>haul,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high-</a:t>
            </a:r>
            <a:r>
              <a:rPr sz="1800" dirty="0">
                <a:latin typeface="Arial MT"/>
                <a:cs typeface="Arial MT"/>
              </a:rPr>
              <a:t>latency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POTS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connections</a:t>
            </a:r>
            <a:endParaRPr sz="1800">
              <a:latin typeface="Arial MT"/>
              <a:cs typeface="Arial MT"/>
            </a:endParaRPr>
          </a:p>
          <a:p>
            <a:pPr marL="819785" lvl="1" indent="-350520">
              <a:lnSpc>
                <a:spcPct val="100000"/>
              </a:lnSpc>
              <a:spcBef>
                <a:spcPts val="395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spc="-25" dirty="0">
                <a:latin typeface="Arial MT"/>
                <a:cs typeface="Arial MT"/>
              </a:rPr>
              <a:t>Wide-</a:t>
            </a:r>
            <a:r>
              <a:rPr sz="1800" dirty="0">
                <a:latin typeface="Arial MT"/>
                <a:cs typeface="Arial MT"/>
              </a:rPr>
              <a:t>area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switched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megabit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connections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390"/>
              </a:spcBef>
              <a:buFont typeface="Wingdings"/>
              <a:buChar char=""/>
            </a:pP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Observation: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Ideally,</a:t>
            </a:r>
            <a:r>
              <a:rPr sz="2000" spc="-5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a</a:t>
            </a:r>
            <a:r>
              <a:rPr sz="2000" spc="-7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distributed</a:t>
            </a:r>
            <a:r>
              <a:rPr sz="2000" spc="-11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system</a:t>
            </a:r>
            <a:r>
              <a:rPr sz="2000" spc="-9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hides</a:t>
            </a:r>
            <a:r>
              <a:rPr sz="2000" spc="-8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these</a:t>
            </a:r>
            <a:r>
              <a:rPr sz="2000" spc="-8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differences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936852"/>
            <a:ext cx="3934460" cy="11303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Distributed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Operating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System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Network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Operating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System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-10" dirty="0">
                <a:latin typeface="Arial"/>
                <a:cs typeface="Arial"/>
              </a:rPr>
              <a:t>Middleware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346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Distributed</a:t>
            </a:r>
            <a:r>
              <a:rPr b="1" spc="-1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Systems:</a:t>
            </a:r>
            <a:r>
              <a:rPr b="1" spc="-130" dirty="0"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C00000"/>
                </a:solidFill>
                <a:latin typeface="Calibri"/>
                <a:cs typeface="Calibri"/>
              </a:rPr>
              <a:t>Software</a:t>
            </a:r>
            <a:r>
              <a:rPr b="1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C00000"/>
                </a:solidFill>
                <a:latin typeface="Calibri"/>
                <a:cs typeface="Calibri"/>
              </a:rPr>
              <a:t>concepts</a:t>
            </a: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" y="2497835"/>
            <a:ext cx="8101583" cy="3593591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936852"/>
            <a:ext cx="7973059" cy="141351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Distributed</a:t>
            </a:r>
            <a:r>
              <a:rPr sz="2000" b="1" spc="-60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Operating</a:t>
            </a:r>
            <a:r>
              <a:rPr sz="2000" b="1" spc="-65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F81BB"/>
                </a:solidFill>
                <a:latin typeface="Arial"/>
                <a:cs typeface="Arial"/>
              </a:rPr>
              <a:t>System</a:t>
            </a:r>
            <a:endParaRPr sz="2000">
              <a:latin typeface="Arial"/>
              <a:cs typeface="Arial"/>
            </a:endParaRPr>
          </a:p>
          <a:p>
            <a:pPr marL="754380" lvl="1" indent="-284480">
              <a:lnSpc>
                <a:spcPct val="100000"/>
              </a:lnSpc>
              <a:spcBef>
                <a:spcPts val="505"/>
              </a:spcBef>
              <a:buFont typeface="Arial MT"/>
              <a:buChar char="–"/>
              <a:tabLst>
                <a:tab pos="754380" algn="l"/>
              </a:tabLst>
            </a:pPr>
            <a:r>
              <a:rPr sz="2000" b="1" dirty="0">
                <a:latin typeface="Arial"/>
                <a:cs typeface="Arial"/>
              </a:rPr>
              <a:t>Some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characteristics</a:t>
            </a:r>
            <a:endParaRPr sz="2000">
              <a:latin typeface="Arial"/>
              <a:cs typeface="Arial"/>
            </a:endParaRPr>
          </a:p>
          <a:p>
            <a:pPr marL="1219200" lvl="2" indent="-292100">
              <a:lnSpc>
                <a:spcPct val="100000"/>
              </a:lnSpc>
              <a:spcBef>
                <a:spcPts val="405"/>
              </a:spcBef>
              <a:buChar char="•"/>
              <a:tabLst>
                <a:tab pos="1219200" algn="l"/>
              </a:tabLst>
            </a:pPr>
            <a:r>
              <a:rPr sz="1800" dirty="0">
                <a:latin typeface="Arial MT"/>
                <a:cs typeface="Arial MT"/>
              </a:rPr>
              <a:t>OS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knows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about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other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computers</a:t>
            </a:r>
            <a:endParaRPr sz="1800">
              <a:latin typeface="Arial MT"/>
              <a:cs typeface="Arial MT"/>
            </a:endParaRPr>
          </a:p>
          <a:p>
            <a:pPr marL="1219200" lvl="2" indent="-292100">
              <a:lnSpc>
                <a:spcPct val="100000"/>
              </a:lnSpc>
              <a:spcBef>
                <a:spcPts val="395"/>
              </a:spcBef>
              <a:buChar char="•"/>
              <a:tabLst>
                <a:tab pos="1219200" algn="l"/>
              </a:tabLst>
            </a:pPr>
            <a:r>
              <a:rPr sz="1800" dirty="0">
                <a:latin typeface="Arial MT"/>
                <a:cs typeface="Arial MT"/>
              </a:rPr>
              <a:t>Services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generally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(transparently)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distributed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computers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33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Distributed</a:t>
            </a:r>
            <a:r>
              <a:rPr spc="-105" dirty="0"/>
              <a:t> </a:t>
            </a:r>
            <a:r>
              <a:rPr spc="-20" dirty="0"/>
              <a:t>Systems:</a:t>
            </a:r>
            <a:r>
              <a:rPr spc="-140" dirty="0"/>
              <a:t> </a:t>
            </a:r>
            <a:r>
              <a:rPr dirty="0"/>
              <a:t>Software</a:t>
            </a:r>
            <a:r>
              <a:rPr spc="-180" dirty="0"/>
              <a:t> </a:t>
            </a:r>
            <a:r>
              <a:rPr spc="-10" dirty="0"/>
              <a:t>concepts</a:t>
            </a: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3579" y="3009900"/>
            <a:ext cx="6013704" cy="2734056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0947" y="944372"/>
            <a:ext cx="7637145" cy="511238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3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Multicomputer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Operating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System</a:t>
            </a:r>
            <a:endParaRPr sz="1800">
              <a:latin typeface="Arial"/>
              <a:cs typeface="Arial"/>
            </a:endParaRPr>
          </a:p>
          <a:p>
            <a:pPr marL="307975" marR="5080" indent="-283845" algn="just">
              <a:lnSpc>
                <a:spcPct val="88100"/>
              </a:lnSpc>
              <a:spcBef>
                <a:spcPts val="495"/>
              </a:spcBef>
              <a:buFont typeface="Courier New"/>
              <a:buChar char="o"/>
              <a:tabLst>
                <a:tab pos="311150" algn="l"/>
              </a:tabLst>
            </a:pPr>
            <a:r>
              <a:rPr sz="1800" b="1" dirty="0">
                <a:latin typeface="Arial"/>
                <a:cs typeface="Arial"/>
              </a:rPr>
              <a:t>Harder</a:t>
            </a:r>
            <a:r>
              <a:rPr sz="1800" b="1" spc="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than</a:t>
            </a:r>
            <a:r>
              <a:rPr sz="1800" b="1" spc="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traditional</a:t>
            </a:r>
            <a:r>
              <a:rPr sz="1800" b="1" spc="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(multiprocessor)</a:t>
            </a:r>
            <a:r>
              <a:rPr sz="1800" b="1" spc="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OS:</a:t>
            </a:r>
            <a:r>
              <a:rPr sz="1800" b="1" spc="7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Because</a:t>
            </a:r>
            <a:r>
              <a:rPr sz="1800" spc="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not 	</a:t>
            </a:r>
            <a:r>
              <a:rPr sz="1800" dirty="0">
                <a:latin typeface="Arial MT"/>
                <a:cs typeface="Arial MT"/>
              </a:rPr>
              <a:t>shared,</a:t>
            </a:r>
            <a:r>
              <a:rPr sz="1800" spc="14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emphasis</a:t>
            </a:r>
            <a:r>
              <a:rPr sz="1800" spc="14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shifts</a:t>
            </a:r>
            <a:r>
              <a:rPr sz="1800" spc="14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3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processor</a:t>
            </a:r>
            <a:r>
              <a:rPr sz="1800" spc="14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communication</a:t>
            </a:r>
            <a:r>
              <a:rPr sz="1800" spc="14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130" dirty="0">
                <a:latin typeface="Arial MT"/>
                <a:cs typeface="Arial MT"/>
              </a:rPr>
              <a:t>  </a:t>
            </a:r>
            <a:r>
              <a:rPr sz="1800" spc="-10" dirty="0">
                <a:latin typeface="Arial MT"/>
                <a:cs typeface="Arial MT"/>
              </a:rPr>
              <a:t>message 	passing: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85"/>
              </a:spcBef>
              <a:buFont typeface="Courier New"/>
              <a:buChar char="o"/>
            </a:pPr>
            <a:endParaRPr sz="1800">
              <a:latin typeface="Arial MT"/>
              <a:cs typeface="Arial MT"/>
            </a:endParaRPr>
          </a:p>
          <a:p>
            <a:pPr marL="709930" lvl="1" indent="-227965">
              <a:lnSpc>
                <a:spcPct val="100000"/>
              </a:lnSpc>
              <a:buChar char="•"/>
              <a:tabLst>
                <a:tab pos="709930" algn="l"/>
              </a:tabLst>
            </a:pPr>
            <a:r>
              <a:rPr sz="1800" dirty="0">
                <a:latin typeface="Arial MT"/>
                <a:cs typeface="Arial MT"/>
              </a:rPr>
              <a:t>Often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simple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global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communication:</a:t>
            </a:r>
            <a:endParaRPr sz="1800">
              <a:latin typeface="Arial MT"/>
              <a:cs typeface="Arial MT"/>
            </a:endParaRPr>
          </a:p>
          <a:p>
            <a:pPr marL="1167765" marR="1376680" lvl="2" indent="-229235">
              <a:lnSpc>
                <a:spcPts val="1910"/>
              </a:lnSpc>
              <a:spcBef>
                <a:spcPts val="509"/>
              </a:spcBef>
              <a:buChar char="–"/>
              <a:tabLst>
                <a:tab pos="1167765" algn="l"/>
              </a:tabLst>
            </a:pP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bus-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multi-</a:t>
            </a:r>
            <a:r>
              <a:rPr sz="1800" dirty="0">
                <a:latin typeface="Arial MT"/>
                <a:cs typeface="Arial MT"/>
              </a:rPr>
              <a:t>computers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provide </a:t>
            </a:r>
            <a:r>
              <a:rPr sz="1800" spc="-10" dirty="0">
                <a:latin typeface="Arial MT"/>
                <a:cs typeface="Arial MT"/>
              </a:rPr>
              <a:t>hardware broadcasting</a:t>
            </a:r>
            <a:endParaRPr sz="1800">
              <a:latin typeface="Arial MT"/>
              <a:cs typeface="Arial MT"/>
            </a:endParaRPr>
          </a:p>
          <a:p>
            <a:pPr marL="1167130" lvl="2" indent="-227965">
              <a:lnSpc>
                <a:spcPts val="2130"/>
              </a:lnSpc>
              <a:spcBef>
                <a:spcPts val="110"/>
              </a:spcBef>
              <a:buChar char="–"/>
              <a:tabLst>
                <a:tab pos="1167130" algn="l"/>
              </a:tabLst>
            </a:pPr>
            <a:r>
              <a:rPr sz="1800" dirty="0">
                <a:latin typeface="Arial MT"/>
                <a:cs typeface="Arial MT"/>
              </a:rPr>
              <a:t>Efficient</a:t>
            </a:r>
            <a:r>
              <a:rPr sz="1800" spc="-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broadcasting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may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require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network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interface</a:t>
            </a:r>
            <a:endParaRPr sz="1800">
              <a:latin typeface="Arial MT"/>
              <a:cs typeface="Arial MT"/>
            </a:endParaRPr>
          </a:p>
          <a:p>
            <a:pPr marL="1167765">
              <a:lnSpc>
                <a:spcPts val="2130"/>
              </a:lnSpc>
            </a:pPr>
            <a:r>
              <a:rPr sz="1800" spc="-10" dirty="0">
                <a:latin typeface="Arial MT"/>
                <a:cs typeface="Arial MT"/>
              </a:rPr>
              <a:t>programming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techniques</a:t>
            </a:r>
            <a:endParaRPr sz="1800">
              <a:latin typeface="Arial MT"/>
              <a:cs typeface="Arial MT"/>
            </a:endParaRPr>
          </a:p>
          <a:p>
            <a:pPr marL="709930" lvl="1" indent="-227965">
              <a:lnSpc>
                <a:spcPct val="100000"/>
              </a:lnSpc>
              <a:spcBef>
                <a:spcPts val="204"/>
              </a:spcBef>
              <a:buChar char="•"/>
              <a:tabLst>
                <a:tab pos="709930" algn="l"/>
              </a:tabLst>
            </a:pPr>
            <a:r>
              <a:rPr sz="1800" dirty="0">
                <a:latin typeface="Arial MT"/>
                <a:cs typeface="Arial MT"/>
              </a:rPr>
              <a:t>No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simple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system-</a:t>
            </a:r>
            <a:r>
              <a:rPr sz="1800" dirty="0">
                <a:latin typeface="Arial MT"/>
                <a:cs typeface="Arial MT"/>
              </a:rPr>
              <a:t>wide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synchronization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mechanisms</a:t>
            </a:r>
            <a:endParaRPr sz="1800">
              <a:latin typeface="Arial MT"/>
              <a:cs typeface="Arial MT"/>
            </a:endParaRPr>
          </a:p>
          <a:p>
            <a:pPr marL="710565" marR="256540" lvl="1" indent="-228600">
              <a:lnSpc>
                <a:spcPts val="2100"/>
              </a:lnSpc>
              <a:spcBef>
                <a:spcPts val="265"/>
              </a:spcBef>
              <a:buChar char="•"/>
              <a:tabLst>
                <a:tab pos="710565" algn="l"/>
              </a:tabLst>
            </a:pPr>
            <a:r>
              <a:rPr sz="1800" dirty="0">
                <a:latin typeface="Arial MT"/>
                <a:cs typeface="Arial MT"/>
              </a:rPr>
              <a:t>Virtual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(distributed)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shared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requires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maintain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global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map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software</a:t>
            </a:r>
            <a:endParaRPr sz="1800">
              <a:latin typeface="Arial MT"/>
              <a:cs typeface="Arial MT"/>
            </a:endParaRPr>
          </a:p>
          <a:p>
            <a:pPr marL="709930" lvl="1" indent="-227965">
              <a:lnSpc>
                <a:spcPts val="2030"/>
              </a:lnSpc>
              <a:spcBef>
                <a:spcPts val="180"/>
              </a:spcBef>
              <a:buChar char="•"/>
              <a:tabLst>
                <a:tab pos="709930" algn="l"/>
              </a:tabLst>
            </a:pPr>
            <a:r>
              <a:rPr sz="1800" dirty="0">
                <a:latin typeface="Arial MT"/>
                <a:cs typeface="Arial MT"/>
              </a:rPr>
              <a:t>Inherent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distributed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resource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management: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central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point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where</a:t>
            </a:r>
            <a:endParaRPr sz="1800">
              <a:latin typeface="Arial MT"/>
              <a:cs typeface="Arial MT"/>
            </a:endParaRPr>
          </a:p>
          <a:p>
            <a:pPr marL="710565">
              <a:lnSpc>
                <a:spcPts val="2030"/>
              </a:lnSpc>
            </a:pPr>
            <a:r>
              <a:rPr sz="1800" dirty="0">
                <a:latin typeface="Arial MT"/>
                <a:cs typeface="Arial MT"/>
              </a:rPr>
              <a:t>allocation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decisions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made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800">
              <a:latin typeface="Arial MT"/>
              <a:cs typeface="Arial MT"/>
            </a:endParaRPr>
          </a:p>
          <a:p>
            <a:pPr marL="311150" marR="603885" indent="-287020">
              <a:lnSpc>
                <a:spcPts val="2100"/>
              </a:lnSpc>
              <a:buFont typeface="Arial MT"/>
              <a:buChar char="•"/>
              <a:tabLst>
                <a:tab pos="311150" algn="l"/>
              </a:tabLst>
            </a:pPr>
            <a:r>
              <a:rPr sz="1600" b="1" dirty="0">
                <a:latin typeface="Arial"/>
                <a:cs typeface="Arial"/>
              </a:rPr>
              <a:t>Practice: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very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few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truly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multicomputer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operating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systems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exist </a:t>
            </a:r>
            <a:r>
              <a:rPr sz="1800" dirty="0">
                <a:latin typeface="Arial MT"/>
                <a:cs typeface="Arial MT"/>
              </a:rPr>
              <a:t>(example: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Amoeba</a:t>
            </a:r>
            <a:r>
              <a:rPr sz="1800" spc="-10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Distributed</a:t>
            </a:r>
            <a:r>
              <a:rPr spc="-75" dirty="0"/>
              <a:t> </a:t>
            </a:r>
            <a:r>
              <a:rPr spc="-20" dirty="0"/>
              <a:t>Systems:</a:t>
            </a:r>
            <a:r>
              <a:rPr spc="-145" dirty="0"/>
              <a:t> </a:t>
            </a:r>
            <a:r>
              <a:rPr dirty="0"/>
              <a:t>Software</a:t>
            </a:r>
            <a:r>
              <a:rPr spc="-155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942479"/>
            <a:ext cx="7792720" cy="228981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Network</a:t>
            </a:r>
            <a:r>
              <a:rPr sz="2000" b="1" spc="-85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Operating</a:t>
            </a:r>
            <a:r>
              <a:rPr sz="2000" b="1" spc="-80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F81BB"/>
                </a:solidFill>
                <a:latin typeface="Arial"/>
                <a:cs typeface="Arial"/>
              </a:rPr>
              <a:t>Systems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05"/>
              </a:spcBef>
              <a:tabLst>
                <a:tab pos="882650" algn="l"/>
              </a:tabLst>
            </a:pPr>
            <a:r>
              <a:rPr sz="1800" dirty="0">
                <a:latin typeface="Arial MT"/>
                <a:cs typeface="Arial MT"/>
              </a:rPr>
              <a:t>–	</a:t>
            </a:r>
            <a:r>
              <a:rPr sz="1800" b="1" dirty="0">
                <a:latin typeface="Arial"/>
                <a:cs typeface="Arial"/>
              </a:rPr>
              <a:t>Some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characteristics:</a:t>
            </a:r>
            <a:endParaRPr sz="1800">
              <a:latin typeface="Arial"/>
              <a:cs typeface="Arial"/>
            </a:endParaRPr>
          </a:p>
          <a:p>
            <a:pPr marL="755650" indent="-285750">
              <a:lnSpc>
                <a:spcPct val="100000"/>
              </a:lnSpc>
              <a:spcBef>
                <a:spcPts val="409"/>
              </a:spcBef>
              <a:buFont typeface="Wingdings"/>
              <a:buChar char=""/>
              <a:tabLst>
                <a:tab pos="755650" algn="l"/>
              </a:tabLst>
            </a:pP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own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operating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system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networking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facilities</a:t>
            </a:r>
            <a:endParaRPr sz="1800">
              <a:latin typeface="Arial MT"/>
              <a:cs typeface="Arial MT"/>
            </a:endParaRPr>
          </a:p>
          <a:p>
            <a:pPr marL="755650" indent="-285750">
              <a:lnSpc>
                <a:spcPct val="100000"/>
              </a:lnSpc>
              <a:spcBef>
                <a:spcPts val="395"/>
              </a:spcBef>
              <a:buFont typeface="Wingdings"/>
              <a:buChar char=""/>
              <a:tabLst>
                <a:tab pos="755650" algn="l"/>
              </a:tabLst>
            </a:pPr>
            <a:r>
              <a:rPr sz="1800" dirty="0">
                <a:latin typeface="Arial MT"/>
                <a:cs typeface="Arial MT"/>
              </a:rPr>
              <a:t>Computers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work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independently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(i.e.,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may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different</a:t>
            </a:r>
            <a:endParaRPr sz="18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operating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systems)</a:t>
            </a:r>
            <a:endParaRPr sz="1800">
              <a:latin typeface="Arial MT"/>
              <a:cs typeface="Arial MT"/>
            </a:endParaRPr>
          </a:p>
          <a:p>
            <a:pPr marL="755650" indent="-285750">
              <a:lnSpc>
                <a:spcPct val="100000"/>
              </a:lnSpc>
              <a:spcBef>
                <a:spcPts val="400"/>
              </a:spcBef>
              <a:buFont typeface="Wingdings"/>
              <a:buChar char=""/>
              <a:tabLst>
                <a:tab pos="755650" algn="l"/>
              </a:tabLst>
            </a:pPr>
            <a:r>
              <a:rPr sz="1800" dirty="0">
                <a:latin typeface="Arial MT"/>
                <a:cs typeface="Arial MT"/>
              </a:rPr>
              <a:t>Services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individual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nodes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(ftp,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telnet,WWW)</a:t>
            </a:r>
            <a:endParaRPr sz="1800">
              <a:latin typeface="Arial MT"/>
              <a:cs typeface="Arial MT"/>
            </a:endParaRPr>
          </a:p>
          <a:p>
            <a:pPr marL="755650" indent="-285750">
              <a:lnSpc>
                <a:spcPct val="100000"/>
              </a:lnSpc>
              <a:spcBef>
                <a:spcPts val="405"/>
              </a:spcBef>
              <a:buFont typeface="Wingdings"/>
              <a:buChar char=""/>
              <a:tabLst>
                <a:tab pos="755650" algn="l"/>
              </a:tabLst>
            </a:pPr>
            <a:r>
              <a:rPr sz="1800" dirty="0">
                <a:latin typeface="Arial MT"/>
                <a:cs typeface="Arial MT"/>
              </a:rPr>
              <a:t>Highly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oriented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(basically,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processors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share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only</a:t>
            </a:r>
            <a:r>
              <a:rPr sz="1800" i="1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 MT"/>
                <a:cs typeface="Arial MT"/>
              </a:rPr>
              <a:t>files)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Distributed</a:t>
            </a:r>
            <a:r>
              <a:rPr spc="-75" dirty="0"/>
              <a:t> </a:t>
            </a:r>
            <a:r>
              <a:rPr spc="-20" dirty="0"/>
              <a:t>Systems:</a:t>
            </a:r>
            <a:r>
              <a:rPr spc="-145" dirty="0"/>
              <a:t> </a:t>
            </a:r>
            <a:r>
              <a:rPr dirty="0"/>
              <a:t>Software</a:t>
            </a:r>
            <a:r>
              <a:rPr spc="-155" dirty="0"/>
              <a:t> </a:t>
            </a:r>
            <a:r>
              <a:rPr spc="-10" dirty="0"/>
              <a:t>concepts</a:t>
            </a: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6776" y="3752088"/>
            <a:ext cx="5172456" cy="246888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937615"/>
            <a:ext cx="2527935" cy="106489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-10" dirty="0">
                <a:solidFill>
                  <a:srgbClr val="4F81BB"/>
                </a:solidFill>
                <a:latin typeface="Arial"/>
                <a:cs typeface="Arial"/>
              </a:rPr>
              <a:t>Middleware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90"/>
              </a:spcBef>
              <a:tabLst>
                <a:tab pos="817244" algn="l"/>
                <a:tab pos="1165860" algn="l"/>
                <a:tab pos="1640205" algn="l"/>
              </a:tabLst>
            </a:pPr>
            <a:r>
              <a:rPr sz="2000" dirty="0">
                <a:latin typeface="Arial MT"/>
                <a:cs typeface="Arial MT"/>
              </a:rPr>
              <a:t>–	</a:t>
            </a:r>
            <a:r>
              <a:rPr sz="2000" spc="-2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software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applications.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9" name="object 9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33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Distributed</a:t>
            </a:r>
            <a:r>
              <a:rPr spc="-105" dirty="0"/>
              <a:t> </a:t>
            </a:r>
            <a:r>
              <a:rPr spc="-20" dirty="0"/>
              <a:t>Systems:</a:t>
            </a:r>
            <a:r>
              <a:rPr spc="-140" dirty="0"/>
              <a:t> </a:t>
            </a:r>
            <a:r>
              <a:rPr dirty="0"/>
              <a:t>Software</a:t>
            </a:r>
            <a:r>
              <a:rPr spc="-1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04464" y="1366774"/>
            <a:ext cx="54178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56895" algn="l"/>
                <a:tab pos="1608455" algn="l"/>
                <a:tab pos="2647950" algn="l"/>
                <a:tab pos="4039870" algn="l"/>
                <a:tab pos="4415790" algn="l"/>
              </a:tabLst>
            </a:pPr>
            <a:r>
              <a:rPr sz="2000" spc="-20" dirty="0">
                <a:latin typeface="Times New Roman"/>
                <a:cs typeface="Times New Roman"/>
              </a:rPr>
              <a:t>that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connects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software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components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or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enterprise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2835" y="2420238"/>
            <a:ext cx="762825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10" dirty="0">
                <a:latin typeface="Arial MT"/>
                <a:cs typeface="Arial MT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Middleware</a:t>
            </a:r>
            <a:r>
              <a:rPr sz="2000" b="1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layer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lies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7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operating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</a:t>
            </a:r>
            <a:r>
              <a:rPr sz="2000" u="sng" spc="4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applications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side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distributed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computer network.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942479"/>
            <a:ext cx="7907655" cy="168910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-10" dirty="0">
                <a:solidFill>
                  <a:srgbClr val="4F81BB"/>
                </a:solidFill>
                <a:latin typeface="Arial"/>
                <a:cs typeface="Arial"/>
              </a:rPr>
              <a:t>Middleware</a:t>
            </a:r>
            <a:endParaRPr sz="2000">
              <a:latin typeface="Arial"/>
              <a:cs typeface="Arial"/>
            </a:endParaRPr>
          </a:p>
          <a:p>
            <a:pPr marL="870585" lvl="1" indent="-400685">
              <a:lnSpc>
                <a:spcPct val="100000"/>
              </a:lnSpc>
              <a:spcBef>
                <a:spcPts val="405"/>
              </a:spcBef>
              <a:buSzPct val="88888"/>
              <a:buFont typeface="Arial MT"/>
              <a:buChar char="–"/>
              <a:tabLst>
                <a:tab pos="870585" algn="l"/>
              </a:tabLst>
            </a:pPr>
            <a:r>
              <a:rPr sz="1800" b="1" dirty="0">
                <a:latin typeface="Arial"/>
                <a:cs typeface="Arial"/>
              </a:rPr>
              <a:t>Some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characteristics:</a:t>
            </a:r>
            <a:endParaRPr sz="1800">
              <a:latin typeface="Arial"/>
              <a:cs typeface="Arial"/>
            </a:endParaRPr>
          </a:p>
          <a:p>
            <a:pPr marL="1219200" lvl="2" indent="-292100">
              <a:lnSpc>
                <a:spcPct val="100000"/>
              </a:lnSpc>
              <a:spcBef>
                <a:spcPts val="409"/>
              </a:spcBef>
              <a:buChar char="•"/>
              <a:tabLst>
                <a:tab pos="1219200" algn="l"/>
              </a:tabLst>
            </a:pPr>
            <a:r>
              <a:rPr sz="1800" dirty="0">
                <a:latin typeface="Arial MT"/>
                <a:cs typeface="Arial MT"/>
              </a:rPr>
              <a:t>OS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know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about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other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computers</a:t>
            </a:r>
            <a:endParaRPr sz="1800">
              <a:latin typeface="Arial MT"/>
              <a:cs typeface="Arial MT"/>
            </a:endParaRPr>
          </a:p>
          <a:p>
            <a:pPr marL="1219200" lvl="2" indent="-292100">
              <a:lnSpc>
                <a:spcPct val="100000"/>
              </a:lnSpc>
              <a:spcBef>
                <a:spcPts val="395"/>
              </a:spcBef>
              <a:buChar char="•"/>
              <a:tabLst>
                <a:tab pos="1219200" algn="l"/>
              </a:tabLst>
            </a:pPr>
            <a:r>
              <a:rPr sz="1800" dirty="0">
                <a:latin typeface="Arial MT"/>
                <a:cs typeface="Arial MT"/>
              </a:rPr>
              <a:t>OS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generally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same</a:t>
            </a:r>
            <a:endParaRPr sz="18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400"/>
              </a:spcBef>
              <a:buChar char="•"/>
              <a:tabLst>
                <a:tab pos="1155065" algn="l"/>
              </a:tabLst>
            </a:pPr>
            <a:r>
              <a:rPr sz="1800" dirty="0">
                <a:latin typeface="Arial MT"/>
                <a:cs typeface="Arial MT"/>
              </a:rPr>
              <a:t>Services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generally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(transparently)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distributed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computers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33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Distributed</a:t>
            </a:r>
            <a:r>
              <a:rPr spc="-105" dirty="0"/>
              <a:t> </a:t>
            </a:r>
            <a:r>
              <a:rPr spc="-20" dirty="0"/>
              <a:t>Systems:</a:t>
            </a:r>
            <a:r>
              <a:rPr spc="-140" dirty="0"/>
              <a:t> </a:t>
            </a:r>
            <a:r>
              <a:rPr dirty="0"/>
              <a:t>Software</a:t>
            </a:r>
            <a:r>
              <a:rPr spc="-180" dirty="0"/>
              <a:t> </a:t>
            </a:r>
            <a:r>
              <a:rPr spc="-10" dirty="0"/>
              <a:t>concepts</a:t>
            </a: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9632" y="2881883"/>
            <a:ext cx="5553456" cy="331470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857275"/>
            <a:ext cx="8056880" cy="161163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0"/>
              </a:spcBef>
              <a:buFont typeface="Wingdings"/>
              <a:buChar char=""/>
              <a:tabLst>
                <a:tab pos="354965" algn="l"/>
              </a:tabLst>
            </a:pPr>
            <a:r>
              <a:rPr sz="1900" b="1" dirty="0">
                <a:solidFill>
                  <a:srgbClr val="4F81BB"/>
                </a:solidFill>
                <a:latin typeface="Arial"/>
                <a:cs typeface="Arial"/>
              </a:rPr>
              <a:t>Needs</a:t>
            </a:r>
            <a:r>
              <a:rPr sz="1900" b="1" spc="-30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F81BB"/>
                </a:solidFill>
                <a:latin typeface="Arial"/>
                <a:cs typeface="Arial"/>
              </a:rPr>
              <a:t>for</a:t>
            </a:r>
            <a:r>
              <a:rPr sz="1900" b="1" spc="-75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4F81BB"/>
                </a:solidFill>
                <a:latin typeface="Arial"/>
                <a:cs typeface="Arial"/>
              </a:rPr>
              <a:t>Middleware</a:t>
            </a:r>
            <a:endParaRPr sz="1900">
              <a:latin typeface="Arial"/>
              <a:cs typeface="Arial"/>
            </a:endParaRPr>
          </a:p>
          <a:p>
            <a:pPr marL="422275" indent="-409575">
              <a:lnSpc>
                <a:spcPct val="100000"/>
              </a:lnSpc>
              <a:spcBef>
                <a:spcPts val="905"/>
              </a:spcBef>
              <a:buFont typeface="Arial MT"/>
              <a:buChar char="•"/>
              <a:tabLst>
                <a:tab pos="422275" algn="l"/>
              </a:tabLst>
            </a:pPr>
            <a:r>
              <a:rPr sz="1900" b="1" dirty="0">
                <a:latin typeface="Arial"/>
                <a:cs typeface="Arial"/>
              </a:rPr>
              <a:t>Motivation:</a:t>
            </a:r>
            <a:r>
              <a:rPr sz="1900" b="1" spc="-90" dirty="0">
                <a:latin typeface="Arial"/>
                <a:cs typeface="Arial"/>
              </a:rPr>
              <a:t> </a:t>
            </a:r>
            <a:r>
              <a:rPr sz="1900" spc="-55" dirty="0">
                <a:latin typeface="Arial MT"/>
                <a:cs typeface="Arial MT"/>
              </a:rPr>
              <a:t>Too</a:t>
            </a:r>
            <a:r>
              <a:rPr sz="1900" spc="-1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many</a:t>
            </a:r>
            <a:r>
              <a:rPr sz="1900" spc="-10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networked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applications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were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difficult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12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integrate:</a:t>
            </a:r>
            <a:endParaRPr sz="1900">
              <a:latin typeface="Arial MT"/>
              <a:cs typeface="Arial MT"/>
            </a:endParaRPr>
          </a:p>
          <a:p>
            <a:pPr marL="819785" lvl="1" indent="-349885">
              <a:lnSpc>
                <a:spcPct val="100000"/>
              </a:lnSpc>
              <a:spcBef>
                <a:spcPts val="900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Departments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running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NOSs</a:t>
            </a:r>
            <a:endParaRPr sz="1800">
              <a:latin typeface="Arial MT"/>
              <a:cs typeface="Arial MT"/>
            </a:endParaRPr>
          </a:p>
          <a:p>
            <a:pPr marL="819785" lvl="1" indent="-349885">
              <a:lnSpc>
                <a:spcPct val="100000"/>
              </a:lnSpc>
              <a:spcBef>
                <a:spcPts val="900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Integration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interoperability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level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primitive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Services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10" name="object 10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Distributed</a:t>
            </a:r>
            <a:r>
              <a:rPr spc="-75" dirty="0"/>
              <a:t> </a:t>
            </a:r>
            <a:r>
              <a:rPr spc="-20" dirty="0"/>
              <a:t>Systems:</a:t>
            </a:r>
            <a:r>
              <a:rPr spc="-145" dirty="0"/>
              <a:t> </a:t>
            </a:r>
            <a:r>
              <a:rPr dirty="0"/>
              <a:t>Software</a:t>
            </a:r>
            <a:r>
              <a:rPr spc="-155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635" y="2823930"/>
            <a:ext cx="4774565" cy="104965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422275" indent="-409575">
              <a:lnSpc>
                <a:spcPct val="100000"/>
              </a:lnSpc>
              <a:spcBef>
                <a:spcPts val="975"/>
              </a:spcBef>
              <a:buChar char="•"/>
              <a:tabLst>
                <a:tab pos="422275" algn="l"/>
              </a:tabLst>
            </a:pPr>
            <a:r>
              <a:rPr sz="1900" dirty="0">
                <a:latin typeface="Arial MT"/>
                <a:cs typeface="Arial MT"/>
              </a:rPr>
              <a:t>Need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for</a:t>
            </a:r>
            <a:r>
              <a:rPr sz="1900" spc="-1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federated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information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systems:</a:t>
            </a:r>
            <a:endParaRPr sz="1900">
              <a:latin typeface="Arial MT"/>
              <a:cs typeface="Arial MT"/>
            </a:endParaRPr>
          </a:p>
          <a:p>
            <a:pPr marL="756285" marR="5080" lvl="1" indent="-287020">
              <a:lnSpc>
                <a:spcPts val="1910"/>
              </a:lnSpc>
              <a:spcBef>
                <a:spcPts val="1110"/>
              </a:spcBef>
              <a:buFont typeface="Wingdings"/>
              <a:buChar char=""/>
              <a:tabLst>
                <a:tab pos="756285" algn="l"/>
                <a:tab pos="819785" algn="l"/>
                <a:tab pos="2109470" algn="l"/>
                <a:tab pos="3132455" algn="l"/>
                <a:tab pos="4450715" algn="l"/>
              </a:tabLst>
            </a:pP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Arial MT"/>
                <a:cs typeface="Arial MT"/>
              </a:rPr>
              <a:t>Combining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different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databases,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30" dirty="0">
                <a:latin typeface="Arial MT"/>
                <a:cs typeface="Arial MT"/>
              </a:rPr>
              <a:t>but </a:t>
            </a:r>
            <a:r>
              <a:rPr sz="1800" spc="-10" dirty="0">
                <a:latin typeface="Arial MT"/>
                <a:cs typeface="Arial MT"/>
              </a:rPr>
              <a:t>applications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90209" y="3336797"/>
            <a:ext cx="3114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7285" algn="l"/>
                <a:tab pos="1463675" algn="l"/>
                <a:tab pos="2260600" algn="l"/>
                <a:tab pos="2915920" algn="l"/>
              </a:tabLst>
            </a:pPr>
            <a:r>
              <a:rPr sz="1800" spc="-10" dirty="0">
                <a:latin typeface="Arial MT"/>
                <a:cs typeface="Arial MT"/>
              </a:rPr>
              <a:t>providing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50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single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view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to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635" y="3965194"/>
            <a:ext cx="8061959" cy="197929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753745" marR="5080" indent="-284480">
              <a:lnSpc>
                <a:spcPts val="1910"/>
              </a:lnSpc>
              <a:spcBef>
                <a:spcPts val="370"/>
              </a:spcBef>
              <a:buFont typeface="Wingdings"/>
              <a:buChar char=""/>
              <a:tabLst>
                <a:tab pos="756285" algn="l"/>
              </a:tabLst>
            </a:pPr>
            <a:r>
              <a:rPr sz="1800" dirty="0">
                <a:latin typeface="Arial MT"/>
                <a:cs typeface="Arial MT"/>
              </a:rPr>
              <a:t>Setting</a:t>
            </a:r>
            <a:r>
              <a:rPr sz="1800" spc="1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up</a:t>
            </a:r>
            <a:r>
              <a:rPr sz="1800" spc="46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enterprise-</a:t>
            </a:r>
            <a:r>
              <a:rPr sz="1800" dirty="0">
                <a:latin typeface="Arial MT"/>
                <a:cs typeface="Arial MT"/>
              </a:rPr>
              <a:t>wide</a:t>
            </a:r>
            <a:r>
              <a:rPr sz="1800" spc="7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Internet</a:t>
            </a:r>
            <a:r>
              <a:rPr sz="1800" spc="1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services,</a:t>
            </a:r>
            <a:r>
              <a:rPr sz="1800" spc="2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making  use</a:t>
            </a:r>
            <a:r>
              <a:rPr sz="1800" spc="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4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existing 	</a:t>
            </a:r>
            <a:r>
              <a:rPr sz="1800" dirty="0">
                <a:latin typeface="Arial MT"/>
                <a:cs typeface="Arial MT"/>
              </a:rPr>
              <a:t>information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systems</a:t>
            </a:r>
            <a:endParaRPr sz="1800">
              <a:latin typeface="Arial MT"/>
              <a:cs typeface="Arial MT"/>
            </a:endParaRPr>
          </a:p>
          <a:p>
            <a:pPr marL="755650" indent="-285750">
              <a:lnSpc>
                <a:spcPct val="100000"/>
              </a:lnSpc>
              <a:spcBef>
                <a:spcPts val="770"/>
              </a:spcBef>
              <a:buFont typeface="Wingdings"/>
              <a:buChar char=""/>
              <a:tabLst>
                <a:tab pos="755650" algn="l"/>
              </a:tabLst>
            </a:pPr>
            <a:r>
              <a:rPr sz="1800" dirty="0">
                <a:latin typeface="Arial MT"/>
                <a:cs typeface="Arial MT"/>
              </a:rPr>
              <a:t>Allow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transactions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databases</a:t>
            </a:r>
            <a:endParaRPr sz="1800">
              <a:latin typeface="Arial MT"/>
              <a:cs typeface="Arial MT"/>
            </a:endParaRPr>
          </a:p>
          <a:p>
            <a:pPr marL="755650" indent="-285750">
              <a:lnSpc>
                <a:spcPct val="100000"/>
              </a:lnSpc>
              <a:spcBef>
                <a:spcPts val="900"/>
              </a:spcBef>
              <a:buFont typeface="Wingdings"/>
              <a:buChar char=""/>
              <a:tabLst>
                <a:tab pos="755650" algn="l"/>
              </a:tabLst>
            </a:pPr>
            <a:r>
              <a:rPr sz="1800" dirty="0">
                <a:latin typeface="Arial MT"/>
                <a:cs typeface="Arial MT"/>
              </a:rPr>
              <a:t>Allow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extensibility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future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services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mobility,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tele-</a:t>
            </a:r>
            <a:r>
              <a:rPr sz="1800" spc="-10" dirty="0">
                <a:latin typeface="Arial MT"/>
                <a:cs typeface="Arial MT"/>
              </a:rPr>
              <a:t>working)</a:t>
            </a:r>
            <a:endParaRPr sz="1800">
              <a:latin typeface="Arial MT"/>
              <a:cs typeface="Arial MT"/>
            </a:endParaRPr>
          </a:p>
          <a:p>
            <a:pPr marL="422275" indent="-409575">
              <a:lnSpc>
                <a:spcPts val="2240"/>
              </a:lnSpc>
              <a:spcBef>
                <a:spcPts val="825"/>
              </a:spcBef>
              <a:buFont typeface="Arial MT"/>
              <a:buChar char="•"/>
              <a:tabLst>
                <a:tab pos="422275" algn="l"/>
              </a:tabLst>
            </a:pPr>
            <a:r>
              <a:rPr sz="1900" b="1" dirty="0">
                <a:latin typeface="Arial"/>
                <a:cs typeface="Arial"/>
              </a:rPr>
              <a:t>Constraint</a:t>
            </a:r>
            <a:r>
              <a:rPr sz="1900" dirty="0">
                <a:latin typeface="Arial MT"/>
                <a:cs typeface="Arial MT"/>
              </a:rPr>
              <a:t>: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use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existing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operating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systems,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treat</a:t>
            </a:r>
            <a:r>
              <a:rPr sz="1900" spc="-8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them</a:t>
            </a:r>
            <a:r>
              <a:rPr sz="1900" spc="-8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as</a:t>
            </a:r>
            <a:r>
              <a:rPr sz="1900" spc="-9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the</a:t>
            </a:r>
            <a:endParaRPr sz="1900">
              <a:latin typeface="Arial MT"/>
              <a:cs typeface="Arial MT"/>
            </a:endParaRPr>
          </a:p>
          <a:p>
            <a:pPr marL="355600">
              <a:lnSpc>
                <a:spcPts val="2240"/>
              </a:lnSpc>
            </a:pPr>
            <a:r>
              <a:rPr sz="1900" dirty="0">
                <a:latin typeface="Arial MT"/>
                <a:cs typeface="Arial MT"/>
              </a:rPr>
              <a:t>underlying</a:t>
            </a:r>
            <a:r>
              <a:rPr sz="1900" spc="-114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environment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619758" y="168909"/>
            <a:ext cx="653160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Distributed</a:t>
            </a:r>
            <a:r>
              <a:rPr spc="-85" dirty="0"/>
              <a:t> </a:t>
            </a:r>
            <a:r>
              <a:rPr spc="-25" dirty="0"/>
              <a:t>Systems:</a:t>
            </a:r>
            <a:r>
              <a:rPr spc="-150" dirty="0"/>
              <a:t> </a:t>
            </a:r>
            <a:r>
              <a:rPr dirty="0"/>
              <a:t>Software</a:t>
            </a:r>
            <a:r>
              <a:rPr spc="-155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813612" y="788568"/>
            <a:ext cx="8020050" cy="557466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45"/>
              </a:spcBef>
              <a:buFont typeface="Wingdings"/>
              <a:buChar char=""/>
              <a:tabLst>
                <a:tab pos="354965" algn="l"/>
              </a:tabLst>
            </a:pPr>
            <a:r>
              <a:rPr sz="1900" b="1" spc="-10" dirty="0">
                <a:solidFill>
                  <a:srgbClr val="4F81BB"/>
                </a:solidFill>
                <a:latin typeface="Arial"/>
                <a:cs typeface="Arial"/>
              </a:rPr>
              <a:t>Middleware</a:t>
            </a:r>
            <a:r>
              <a:rPr sz="1900" b="1" spc="-80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4F81BB"/>
                </a:solidFill>
                <a:latin typeface="Arial"/>
                <a:cs typeface="Arial"/>
              </a:rPr>
              <a:t>Services</a:t>
            </a:r>
            <a:endParaRPr sz="1900">
              <a:latin typeface="Arial"/>
              <a:cs typeface="Arial"/>
            </a:endParaRPr>
          </a:p>
          <a:p>
            <a:pPr marL="469265" marR="12065" indent="-457200">
              <a:lnSpc>
                <a:spcPts val="1820"/>
              </a:lnSpc>
              <a:spcBef>
                <a:spcPts val="1095"/>
              </a:spcBef>
              <a:buAutoNum type="arabicPeriod"/>
              <a:tabLst>
                <a:tab pos="469265" algn="l"/>
              </a:tabLst>
            </a:pPr>
            <a:r>
              <a:rPr sz="1900" b="1" i="1" dirty="0">
                <a:latin typeface="Arial"/>
                <a:cs typeface="Arial"/>
              </a:rPr>
              <a:t>Communication</a:t>
            </a:r>
            <a:r>
              <a:rPr sz="1900" b="1" i="1" spc="35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services</a:t>
            </a:r>
            <a:r>
              <a:rPr sz="1900" b="1" dirty="0">
                <a:latin typeface="Arial"/>
                <a:cs typeface="Arial"/>
              </a:rPr>
              <a:t>:</a:t>
            </a:r>
            <a:r>
              <a:rPr sz="1900" b="1" spc="50" dirty="0">
                <a:latin typeface="Arial"/>
                <a:cs typeface="Arial"/>
              </a:rPr>
              <a:t> </a:t>
            </a:r>
            <a:r>
              <a:rPr sz="1900" dirty="0">
                <a:latin typeface="Arial MT"/>
                <a:cs typeface="Arial MT"/>
              </a:rPr>
              <a:t>Abandon</a:t>
            </a:r>
            <a:r>
              <a:rPr sz="1900" spc="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primitive</a:t>
            </a:r>
            <a:r>
              <a:rPr sz="1900" spc="25" dirty="0">
                <a:latin typeface="Arial MT"/>
                <a:cs typeface="Arial MT"/>
              </a:rPr>
              <a:t> </a:t>
            </a:r>
            <a:r>
              <a:rPr sz="1900" spc="-30" dirty="0">
                <a:latin typeface="Arial MT"/>
                <a:cs typeface="Arial MT"/>
              </a:rPr>
              <a:t>socket-</a:t>
            </a:r>
            <a:r>
              <a:rPr sz="1900" dirty="0">
                <a:latin typeface="Arial MT"/>
                <a:cs typeface="Arial MT"/>
              </a:rPr>
              <a:t>based</a:t>
            </a:r>
            <a:r>
              <a:rPr sz="1900" spc="4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message </a:t>
            </a:r>
            <a:r>
              <a:rPr sz="1900" dirty="0">
                <a:latin typeface="Arial MT"/>
                <a:cs typeface="Arial MT"/>
              </a:rPr>
              <a:t>passing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favor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of:</a:t>
            </a:r>
            <a:endParaRPr sz="1900">
              <a:latin typeface="Arial MT"/>
              <a:cs typeface="Arial MT"/>
            </a:endParaRPr>
          </a:p>
          <a:p>
            <a:pPr marL="819785" lvl="1" indent="-350520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Procedure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calls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networks</a:t>
            </a:r>
            <a:endParaRPr sz="1800">
              <a:latin typeface="Arial MT"/>
              <a:cs typeface="Arial MT"/>
            </a:endParaRPr>
          </a:p>
          <a:p>
            <a:pPr marL="819785" lvl="1" indent="-350520">
              <a:lnSpc>
                <a:spcPct val="100000"/>
              </a:lnSpc>
              <a:spcBef>
                <a:spcPts val="600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spc="-30" dirty="0">
                <a:latin typeface="Arial MT"/>
                <a:cs typeface="Arial MT"/>
              </a:rPr>
              <a:t>Remote-</a:t>
            </a:r>
            <a:r>
              <a:rPr sz="1800" dirty="0">
                <a:latin typeface="Arial MT"/>
                <a:cs typeface="Arial MT"/>
              </a:rPr>
              <a:t>object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method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invocation</a:t>
            </a:r>
            <a:endParaRPr sz="1800">
              <a:latin typeface="Arial MT"/>
              <a:cs typeface="Arial MT"/>
            </a:endParaRPr>
          </a:p>
          <a:p>
            <a:pPr marL="819785" lvl="1" indent="-350520">
              <a:lnSpc>
                <a:spcPct val="100000"/>
              </a:lnSpc>
              <a:spcBef>
                <a:spcPts val="700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spc="-25" dirty="0">
                <a:latin typeface="Arial MT"/>
                <a:cs typeface="Arial MT"/>
              </a:rPr>
              <a:t>Message-</a:t>
            </a:r>
            <a:r>
              <a:rPr sz="1800" dirty="0">
                <a:latin typeface="Arial MT"/>
                <a:cs typeface="Arial MT"/>
              </a:rPr>
              <a:t>queuing</a:t>
            </a:r>
            <a:r>
              <a:rPr sz="1800" spc="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systems</a:t>
            </a:r>
            <a:endParaRPr sz="1800">
              <a:latin typeface="Arial MT"/>
              <a:cs typeface="Arial MT"/>
            </a:endParaRPr>
          </a:p>
          <a:p>
            <a:pPr marL="806450" lvl="1" indent="-337185">
              <a:lnSpc>
                <a:spcPct val="100000"/>
              </a:lnSpc>
              <a:spcBef>
                <a:spcPts val="600"/>
              </a:spcBef>
              <a:buFont typeface="Wingdings"/>
              <a:buChar char=""/>
              <a:tabLst>
                <a:tab pos="806450" algn="l"/>
              </a:tabLst>
            </a:pPr>
            <a:r>
              <a:rPr sz="1800" dirty="0">
                <a:latin typeface="Arial MT"/>
                <a:cs typeface="Arial MT"/>
              </a:rPr>
              <a:t>Advanced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communication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streams</a:t>
            </a:r>
            <a:endParaRPr sz="1800">
              <a:latin typeface="Arial MT"/>
              <a:cs typeface="Arial MT"/>
            </a:endParaRPr>
          </a:p>
          <a:p>
            <a:pPr marL="819785" lvl="1" indent="-350520">
              <a:lnSpc>
                <a:spcPct val="100000"/>
              </a:lnSpc>
              <a:spcBef>
                <a:spcPts val="705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Event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notification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service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975"/>
              </a:spcBef>
              <a:buFont typeface="Wingdings"/>
              <a:buChar char=""/>
            </a:pPr>
            <a:endParaRPr sz="1800">
              <a:latin typeface="Arial MT"/>
              <a:cs typeface="Arial MT"/>
            </a:endParaRPr>
          </a:p>
          <a:p>
            <a:pPr marL="469265" marR="5080" indent="-457200">
              <a:lnSpc>
                <a:spcPts val="1820"/>
              </a:lnSpc>
              <a:buAutoNum type="arabicPeriod"/>
              <a:tabLst>
                <a:tab pos="469265" algn="l"/>
              </a:tabLst>
            </a:pPr>
            <a:r>
              <a:rPr sz="1900" b="1" i="1" dirty="0">
                <a:latin typeface="Arial"/>
                <a:cs typeface="Arial"/>
              </a:rPr>
              <a:t>Information</a:t>
            </a:r>
            <a:r>
              <a:rPr sz="1900" b="1" i="1" spc="185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system</a:t>
            </a:r>
            <a:r>
              <a:rPr sz="1900" b="1" i="1" spc="180" dirty="0">
                <a:latin typeface="Arial"/>
                <a:cs typeface="Arial"/>
              </a:rPr>
              <a:t> </a:t>
            </a:r>
            <a:r>
              <a:rPr sz="1900" b="1" i="1" dirty="0">
                <a:latin typeface="Arial"/>
                <a:cs typeface="Arial"/>
              </a:rPr>
              <a:t>services</a:t>
            </a:r>
            <a:r>
              <a:rPr sz="1900" b="1" dirty="0">
                <a:latin typeface="Arial"/>
                <a:cs typeface="Arial"/>
              </a:rPr>
              <a:t>:</a:t>
            </a:r>
            <a:r>
              <a:rPr sz="1900" b="1" spc="215" dirty="0">
                <a:latin typeface="Arial"/>
                <a:cs typeface="Arial"/>
              </a:rPr>
              <a:t> </a:t>
            </a:r>
            <a:r>
              <a:rPr sz="1900" dirty="0">
                <a:latin typeface="Arial MT"/>
                <a:cs typeface="Arial MT"/>
              </a:rPr>
              <a:t>Services</a:t>
            </a:r>
            <a:r>
              <a:rPr sz="1900" spc="204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that</a:t>
            </a:r>
            <a:r>
              <a:rPr sz="1900" spc="1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help</a:t>
            </a:r>
            <a:r>
              <a:rPr sz="1900" spc="19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manage</a:t>
            </a:r>
            <a:r>
              <a:rPr sz="1900" spc="2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data</a:t>
            </a:r>
            <a:r>
              <a:rPr sz="1900" spc="18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</a:t>
            </a:r>
            <a:r>
              <a:rPr sz="1900" spc="185" dirty="0">
                <a:latin typeface="Arial MT"/>
                <a:cs typeface="Arial MT"/>
              </a:rPr>
              <a:t> </a:t>
            </a:r>
            <a:r>
              <a:rPr sz="1900" spc="-50" dirty="0">
                <a:latin typeface="Arial MT"/>
                <a:cs typeface="Arial MT"/>
              </a:rPr>
              <a:t>a </a:t>
            </a:r>
            <a:r>
              <a:rPr sz="1900" dirty="0">
                <a:latin typeface="Arial MT"/>
                <a:cs typeface="Arial MT"/>
              </a:rPr>
              <a:t>distributed</a:t>
            </a:r>
            <a:r>
              <a:rPr sz="1900" spc="-114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system:</a:t>
            </a:r>
            <a:endParaRPr sz="1900">
              <a:latin typeface="Arial MT"/>
              <a:cs typeface="Arial MT"/>
            </a:endParaRPr>
          </a:p>
          <a:p>
            <a:pPr marL="819785" lvl="1" indent="-350520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spc="-25" dirty="0">
                <a:latin typeface="Arial MT"/>
                <a:cs typeface="Arial MT"/>
              </a:rPr>
              <a:t>Large-</a:t>
            </a:r>
            <a:r>
              <a:rPr sz="1800" dirty="0">
                <a:latin typeface="Arial MT"/>
                <a:cs typeface="Arial MT"/>
              </a:rPr>
              <a:t>scale,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system-</a:t>
            </a:r>
            <a:r>
              <a:rPr sz="1800" dirty="0">
                <a:latin typeface="Arial MT"/>
                <a:cs typeface="Arial MT"/>
              </a:rPr>
              <a:t>wide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naming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services</a:t>
            </a:r>
            <a:endParaRPr sz="1800">
              <a:latin typeface="Arial MT"/>
              <a:cs typeface="Arial MT"/>
            </a:endParaRPr>
          </a:p>
          <a:p>
            <a:pPr marL="806450" lvl="1" indent="-337185">
              <a:lnSpc>
                <a:spcPct val="100000"/>
              </a:lnSpc>
              <a:spcBef>
                <a:spcPts val="710"/>
              </a:spcBef>
              <a:buFont typeface="Wingdings"/>
              <a:buChar char=""/>
              <a:tabLst>
                <a:tab pos="806450" algn="l"/>
              </a:tabLst>
            </a:pPr>
            <a:r>
              <a:rPr sz="1800" dirty="0">
                <a:latin typeface="Arial MT"/>
                <a:cs typeface="Arial MT"/>
              </a:rPr>
              <a:t>Advanced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directory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services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(search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engines)</a:t>
            </a:r>
            <a:endParaRPr sz="1800">
              <a:latin typeface="Arial MT"/>
              <a:cs typeface="Arial MT"/>
            </a:endParaRPr>
          </a:p>
          <a:p>
            <a:pPr marL="819785" lvl="1" indent="-350520">
              <a:lnSpc>
                <a:spcPct val="100000"/>
              </a:lnSpc>
              <a:spcBef>
                <a:spcPts val="695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Location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tracking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mobile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objects</a:t>
            </a:r>
            <a:endParaRPr sz="1800">
              <a:latin typeface="Arial MT"/>
              <a:cs typeface="Arial MT"/>
            </a:endParaRPr>
          </a:p>
          <a:p>
            <a:pPr marL="819785" lvl="1" indent="-350520">
              <a:lnSpc>
                <a:spcPct val="100000"/>
              </a:lnSpc>
              <a:spcBef>
                <a:spcPts val="695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Persistent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storage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facilities</a:t>
            </a:r>
            <a:endParaRPr sz="1800">
              <a:latin typeface="Arial MT"/>
              <a:cs typeface="Arial MT"/>
            </a:endParaRPr>
          </a:p>
          <a:p>
            <a:pPr marL="819785" lvl="1" indent="-350520">
              <a:lnSpc>
                <a:spcPct val="100000"/>
              </a:lnSpc>
              <a:spcBef>
                <a:spcPts val="600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caching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replication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9817" y="838961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Distributed</a:t>
            </a:r>
            <a:r>
              <a:rPr spc="-75" dirty="0"/>
              <a:t> </a:t>
            </a:r>
            <a:r>
              <a:rPr spc="-20" dirty="0"/>
              <a:t>Systems:</a:t>
            </a:r>
            <a:r>
              <a:rPr spc="-145" dirty="0"/>
              <a:t> </a:t>
            </a:r>
            <a:r>
              <a:rPr dirty="0"/>
              <a:t>Software</a:t>
            </a:r>
            <a:r>
              <a:rPr spc="-155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832205" y="999870"/>
            <a:ext cx="7673340" cy="3955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0195" indent="-277495">
              <a:lnSpc>
                <a:spcPct val="100000"/>
              </a:lnSpc>
              <a:spcBef>
                <a:spcPts val="105"/>
              </a:spcBef>
              <a:buFont typeface="Arial"/>
              <a:buAutoNum type="arabicPeriod" startAt="3"/>
              <a:tabLst>
                <a:tab pos="290195" algn="l"/>
              </a:tabLst>
            </a:pPr>
            <a:r>
              <a:rPr sz="2000" b="1" i="1" dirty="0">
                <a:latin typeface="Arial"/>
                <a:cs typeface="Arial"/>
              </a:rPr>
              <a:t>Control</a:t>
            </a:r>
            <a:r>
              <a:rPr sz="2000" b="1" i="1" spc="-8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services</a:t>
            </a:r>
            <a:r>
              <a:rPr sz="2000" b="1" dirty="0">
                <a:latin typeface="Arial"/>
                <a:cs typeface="Arial"/>
              </a:rPr>
              <a:t>: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Services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giving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applications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control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over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when,</a:t>
            </a:r>
            <a:endParaRPr sz="2000">
              <a:latin typeface="Arial MT"/>
              <a:cs typeface="Arial MT"/>
            </a:endParaRPr>
          </a:p>
          <a:p>
            <a:pPr marL="28511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where,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access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data:</a:t>
            </a:r>
            <a:endParaRPr sz="2000">
              <a:latin typeface="Arial MT"/>
              <a:cs typeface="Arial MT"/>
            </a:endParaRPr>
          </a:p>
          <a:p>
            <a:pPr marL="751205" lvl="1" indent="-351790">
              <a:lnSpc>
                <a:spcPct val="100000"/>
              </a:lnSpc>
              <a:spcBef>
                <a:spcPts val="1110"/>
              </a:spcBef>
              <a:buFont typeface="Wingdings"/>
              <a:buChar char=""/>
              <a:tabLst>
                <a:tab pos="751205" algn="l"/>
              </a:tabLst>
            </a:pPr>
            <a:r>
              <a:rPr sz="1800" dirty="0">
                <a:latin typeface="Arial MT"/>
                <a:cs typeface="Arial MT"/>
              </a:rPr>
              <a:t>Distributed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transaction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processing</a:t>
            </a:r>
            <a:endParaRPr sz="1800">
              <a:latin typeface="Arial MT"/>
              <a:cs typeface="Arial MT"/>
            </a:endParaRPr>
          </a:p>
          <a:p>
            <a:pPr marL="751205" lvl="1" indent="-351790">
              <a:lnSpc>
                <a:spcPct val="100000"/>
              </a:lnSpc>
              <a:spcBef>
                <a:spcPts val="1095"/>
              </a:spcBef>
              <a:buFont typeface="Wingdings"/>
              <a:buChar char=""/>
              <a:tabLst>
                <a:tab pos="751205" algn="l"/>
              </a:tabLst>
            </a:pP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migration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Wingdings"/>
              <a:buChar char=""/>
            </a:pP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880"/>
              </a:spcBef>
              <a:buFont typeface="Wingdings"/>
              <a:buChar char=""/>
            </a:pPr>
            <a:endParaRPr sz="1800">
              <a:latin typeface="Arial MT"/>
              <a:cs typeface="Arial MT"/>
            </a:endParaRPr>
          </a:p>
          <a:p>
            <a:pPr marL="285115" marR="1129030" indent="-203200">
              <a:lnSpc>
                <a:spcPct val="100000"/>
              </a:lnSpc>
              <a:buAutoNum type="arabicPeriod" startAt="4"/>
              <a:tabLst>
                <a:tab pos="285115" algn="l"/>
                <a:tab pos="359410" algn="l"/>
              </a:tabLst>
            </a:pPr>
            <a:r>
              <a:rPr sz="2000" b="1" i="1" dirty="0">
                <a:latin typeface="Arial"/>
                <a:cs typeface="Arial"/>
              </a:rPr>
              <a:t>Security</a:t>
            </a:r>
            <a:r>
              <a:rPr sz="2000" b="1" i="1" spc="-5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services</a:t>
            </a:r>
            <a:r>
              <a:rPr sz="2000" b="1" dirty="0">
                <a:latin typeface="Arial"/>
                <a:cs typeface="Arial"/>
              </a:rPr>
              <a:t>: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Services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secure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processing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spc="-10" dirty="0">
                <a:latin typeface="Arial MT"/>
                <a:cs typeface="Arial MT"/>
              </a:rPr>
              <a:t>communication:</a:t>
            </a:r>
            <a:endParaRPr sz="2000">
              <a:latin typeface="Arial MT"/>
              <a:cs typeface="Arial MT"/>
            </a:endParaRPr>
          </a:p>
          <a:p>
            <a:pPr marL="735965" lvl="1" indent="-336550">
              <a:lnSpc>
                <a:spcPct val="100000"/>
              </a:lnSpc>
              <a:spcBef>
                <a:spcPts val="1100"/>
              </a:spcBef>
              <a:buFont typeface="Wingdings"/>
              <a:buChar char=""/>
              <a:tabLst>
                <a:tab pos="735965" algn="l"/>
              </a:tabLst>
            </a:pPr>
            <a:r>
              <a:rPr sz="1800" dirty="0">
                <a:latin typeface="Arial MT"/>
                <a:cs typeface="Arial MT"/>
              </a:rPr>
              <a:t>Authentication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authorization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services</a:t>
            </a:r>
            <a:endParaRPr sz="1800">
              <a:latin typeface="Arial MT"/>
              <a:cs typeface="Arial MT"/>
            </a:endParaRPr>
          </a:p>
          <a:p>
            <a:pPr marL="751205" lvl="1" indent="-351790">
              <a:lnSpc>
                <a:spcPct val="100000"/>
              </a:lnSpc>
              <a:spcBef>
                <a:spcPts val="1110"/>
              </a:spcBef>
              <a:buFont typeface="Wingdings"/>
              <a:buChar char=""/>
              <a:tabLst>
                <a:tab pos="751205" algn="l"/>
              </a:tabLst>
            </a:pPr>
            <a:r>
              <a:rPr sz="1800" dirty="0">
                <a:latin typeface="Arial MT"/>
                <a:cs typeface="Arial MT"/>
              </a:rPr>
              <a:t>Simple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encryption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services</a:t>
            </a:r>
            <a:endParaRPr sz="1800">
              <a:latin typeface="Arial MT"/>
              <a:cs typeface="Arial MT"/>
            </a:endParaRPr>
          </a:p>
          <a:p>
            <a:pPr marL="735965" lvl="1" indent="-336550">
              <a:lnSpc>
                <a:spcPct val="100000"/>
              </a:lnSpc>
              <a:spcBef>
                <a:spcPts val="1100"/>
              </a:spcBef>
              <a:buFont typeface="Wingdings"/>
              <a:buChar char=""/>
              <a:tabLst>
                <a:tab pos="735965" algn="l"/>
              </a:tabLst>
            </a:pPr>
            <a:r>
              <a:rPr sz="1800" dirty="0">
                <a:latin typeface="Arial MT"/>
                <a:cs typeface="Arial MT"/>
              </a:rPr>
              <a:t>Auditing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service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848566"/>
            <a:ext cx="5617210" cy="36836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Comparison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NOS,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DOS,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Middleware</a:t>
            </a:r>
            <a:endParaRPr sz="2000">
              <a:latin typeface="Arial"/>
              <a:cs typeface="Arial"/>
            </a:endParaRPr>
          </a:p>
          <a:p>
            <a:pPr marL="870585" lvl="1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870585" algn="l"/>
              </a:tabLst>
            </a:pPr>
            <a:r>
              <a:rPr sz="2000" dirty="0">
                <a:latin typeface="Arial MT"/>
                <a:cs typeface="Arial MT"/>
              </a:rPr>
              <a:t>Degree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transparency.</a:t>
            </a:r>
            <a:endParaRPr sz="2000">
              <a:latin typeface="Arial MT"/>
              <a:cs typeface="Arial MT"/>
            </a:endParaRPr>
          </a:p>
          <a:p>
            <a:pPr marL="870585" lvl="1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870585" algn="l"/>
              </a:tabLst>
            </a:pP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operating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node?</a:t>
            </a:r>
            <a:endParaRPr sz="2000">
              <a:latin typeface="Arial MT"/>
              <a:cs typeface="Arial MT"/>
            </a:endParaRPr>
          </a:p>
          <a:p>
            <a:pPr marL="870585" lvl="1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870585" algn="l"/>
              </a:tabLst>
            </a:pP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copies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operating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system.</a:t>
            </a:r>
            <a:endParaRPr sz="2000">
              <a:latin typeface="Arial MT"/>
              <a:cs typeface="Arial MT"/>
            </a:endParaRPr>
          </a:p>
          <a:p>
            <a:pPr marL="870585" lvl="1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870585" algn="l"/>
              </a:tabLst>
            </a:pPr>
            <a:r>
              <a:rPr sz="2000" dirty="0">
                <a:latin typeface="Arial MT"/>
                <a:cs typeface="Arial MT"/>
              </a:rPr>
              <a:t>Basis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communication.</a:t>
            </a:r>
            <a:endParaRPr sz="2000">
              <a:latin typeface="Arial MT"/>
              <a:cs typeface="Arial MT"/>
            </a:endParaRPr>
          </a:p>
          <a:p>
            <a:pPr marL="870585" lvl="1" indent="-45720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870585" algn="l"/>
              </a:tabLst>
            </a:pP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resources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managed?</a:t>
            </a:r>
            <a:endParaRPr sz="2000">
              <a:latin typeface="Arial MT"/>
              <a:cs typeface="Arial MT"/>
            </a:endParaRPr>
          </a:p>
          <a:p>
            <a:pPr marL="870585" lvl="1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870585" algn="l"/>
              </a:tabLst>
            </a:pP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easy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scale?</a:t>
            </a:r>
            <a:endParaRPr sz="2000">
              <a:latin typeface="Arial MT"/>
              <a:cs typeface="Arial MT"/>
            </a:endParaRPr>
          </a:p>
          <a:p>
            <a:pPr marL="870585" lvl="1" indent="-4572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870585" algn="l"/>
              </a:tabLst>
            </a:pP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system?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5" name="object 5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33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Distributed</a:t>
            </a:r>
            <a:r>
              <a:rPr spc="-105" dirty="0"/>
              <a:t> </a:t>
            </a:r>
            <a:r>
              <a:rPr spc="-20" dirty="0"/>
              <a:t>Systems:</a:t>
            </a:r>
            <a:r>
              <a:rPr spc="-140" dirty="0"/>
              <a:t> </a:t>
            </a:r>
            <a:r>
              <a:rPr dirty="0"/>
              <a:t>Software</a:t>
            </a:r>
            <a:r>
              <a:rPr spc="-1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450590" y="6469989"/>
            <a:ext cx="221361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10" dirty="0">
                <a:solidFill>
                  <a:srgbClr val="878787"/>
                </a:solidFill>
                <a:latin typeface="Calibri"/>
                <a:cs typeface="Calibri"/>
              </a:rPr>
              <a:t>Distributed</a:t>
            </a:r>
            <a:r>
              <a:rPr sz="1200" spc="-3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78787"/>
                </a:solidFill>
                <a:latin typeface="Calibri"/>
                <a:cs typeface="Calibri"/>
              </a:rPr>
              <a:t>Computing</a:t>
            </a:r>
            <a:r>
              <a:rPr sz="1200" spc="-1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Calibri"/>
                <a:cs typeface="Calibri"/>
              </a:rPr>
              <a:t>@2019-</a:t>
            </a:r>
            <a:r>
              <a:rPr sz="1200" spc="-20" dirty="0">
                <a:solidFill>
                  <a:srgbClr val="878787"/>
                </a:solidFill>
                <a:latin typeface="Calibri"/>
                <a:cs typeface="Calibri"/>
              </a:rPr>
              <a:t>2020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10" name="object 10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454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7.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DS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Architecture</a:t>
            </a:r>
            <a:r>
              <a:rPr b="1" spc="-9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Models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635" y="999235"/>
            <a:ext cx="80270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har char="•"/>
              <a:tabLst>
                <a:tab pos="46926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architecture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1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F81BB"/>
                </a:solidFill>
                <a:latin typeface="Arial MT"/>
                <a:cs typeface="Arial MT"/>
              </a:rPr>
              <a:t>structure</a:t>
            </a:r>
            <a:r>
              <a:rPr sz="2400" spc="140" dirty="0">
                <a:solidFill>
                  <a:srgbClr val="4F81BB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terms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139" y="1364691"/>
            <a:ext cx="76098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74214" algn="l"/>
                <a:tab pos="3731260" algn="l"/>
                <a:tab pos="5947410" algn="l"/>
                <a:tab pos="7010400" algn="l"/>
              </a:tabLst>
            </a:pPr>
            <a:r>
              <a:rPr sz="2400" spc="-10" dirty="0">
                <a:latin typeface="Arial MT"/>
                <a:cs typeface="Arial MT"/>
              </a:rPr>
              <a:t>separately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specified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4F81BB"/>
                </a:solidFill>
                <a:latin typeface="Arial MT"/>
                <a:cs typeface="Arial MT"/>
              </a:rPr>
              <a:t>components</a:t>
            </a:r>
            <a:r>
              <a:rPr sz="2400" dirty="0">
                <a:solidFill>
                  <a:srgbClr val="4F81BB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their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635" y="1554225"/>
            <a:ext cx="8004175" cy="147637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490"/>
              </a:spcBef>
            </a:pPr>
            <a:r>
              <a:rPr sz="2400" spc="-10" dirty="0">
                <a:solidFill>
                  <a:srgbClr val="4F81BB"/>
                </a:solidFill>
                <a:latin typeface="Arial MT"/>
                <a:cs typeface="Arial MT"/>
              </a:rPr>
              <a:t>interrelationships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469900" marR="5080" indent="-457200">
              <a:lnSpc>
                <a:spcPct val="100000"/>
              </a:lnSpc>
              <a:spcBef>
                <a:spcPts val="1395"/>
              </a:spcBef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overall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goal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ensure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structure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meet </a:t>
            </a:r>
            <a:r>
              <a:rPr sz="2400" dirty="0">
                <a:latin typeface="Arial MT"/>
                <a:cs typeface="Arial MT"/>
              </a:rPr>
              <a:t>present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likely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future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demands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635" y="3194430"/>
            <a:ext cx="80606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Char char="•"/>
              <a:tabLst>
                <a:tab pos="469900" algn="l"/>
                <a:tab pos="1229995" algn="l"/>
                <a:tab pos="3129280" algn="l"/>
                <a:tab pos="4264660" algn="l"/>
                <a:tab pos="4755515" algn="l"/>
                <a:tab pos="5161280" algn="l"/>
                <a:tab pos="6450330" algn="l"/>
                <a:tab pos="7178040" algn="l"/>
              </a:tabLst>
            </a:pPr>
            <a:r>
              <a:rPr sz="2400" spc="-2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architectural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design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of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building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has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similar </a:t>
            </a:r>
            <a:r>
              <a:rPr sz="2400" spc="-10" dirty="0">
                <a:latin typeface="Arial MT"/>
                <a:cs typeface="Arial MT"/>
              </a:rPr>
              <a:t>aspects.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765929"/>
            <a:ext cx="8021320" cy="1390015"/>
          </a:xfrm>
          <a:prstGeom prst="rect">
            <a:avLst/>
          </a:prstGeom>
        </p:spPr>
        <p:txBody>
          <a:bodyPr vert="horz" wrap="square" lIns="0" tIns="224154" rIns="0" bIns="0" rtlCol="0">
            <a:spAutoFit/>
          </a:bodyPr>
          <a:lstStyle/>
          <a:p>
            <a:pPr marL="553085" indent="-540385">
              <a:lnSpc>
                <a:spcPct val="100000"/>
              </a:lnSpc>
              <a:spcBef>
                <a:spcPts val="1764"/>
              </a:spcBef>
              <a:buClr>
                <a:srgbClr val="000000"/>
              </a:buClr>
              <a:buFont typeface="Arial MT"/>
              <a:buChar char="•"/>
              <a:tabLst>
                <a:tab pos="553085" algn="l"/>
              </a:tabLst>
            </a:pPr>
            <a:r>
              <a:rPr sz="2400" spc="-20" dirty="0">
                <a:solidFill>
                  <a:srgbClr val="4F81BB"/>
                </a:solidFill>
                <a:latin typeface="Calibri"/>
                <a:cs typeface="Calibri"/>
              </a:rPr>
              <a:t>Architectural</a:t>
            </a:r>
            <a:r>
              <a:rPr sz="2400" spc="-10" dirty="0">
                <a:solidFill>
                  <a:srgbClr val="4F81BB"/>
                </a:solidFill>
                <a:latin typeface="Calibri"/>
                <a:cs typeface="Calibri"/>
              </a:rPr>
              <a:t> Elements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395"/>
              </a:spcBef>
              <a:buFont typeface="Wingdings"/>
              <a:buChar char=""/>
              <a:tabLst>
                <a:tab pos="469265" algn="l"/>
              </a:tabLst>
            </a:pPr>
            <a:r>
              <a:rPr sz="2000" spc="-30" dirty="0">
                <a:latin typeface="Arial MT"/>
                <a:cs typeface="Arial MT"/>
              </a:rPr>
              <a:t>To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understand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fundamental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building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block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DS,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necessary</a:t>
            </a:r>
            <a:endParaRPr sz="20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consider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four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questions: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10" name="object 10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4802885" y="168909"/>
            <a:ext cx="37846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Calibri"/>
                <a:cs typeface="Calibri"/>
              </a:rPr>
              <a:t>Architecture </a:t>
            </a:r>
            <a:r>
              <a:rPr b="1" spc="-20" dirty="0">
                <a:latin typeface="Calibri"/>
                <a:cs typeface="Calibri"/>
              </a:rPr>
              <a:t>Models-</a:t>
            </a:r>
            <a:r>
              <a:rPr b="1" spc="-50" dirty="0">
                <a:latin typeface="Calibri"/>
                <a:cs typeface="Calibri"/>
              </a:rPr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6039" y="2127631"/>
            <a:ext cx="7258050" cy="85471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</a:tabLst>
            </a:pPr>
            <a:r>
              <a:rPr sz="1800" b="1" dirty="0">
                <a:latin typeface="Arial"/>
                <a:cs typeface="Arial"/>
              </a:rPr>
              <a:t>What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entities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that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communicating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DS?</a:t>
            </a:r>
            <a:endParaRPr sz="18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1105"/>
              </a:spcBef>
              <a:buAutoNum type="arabicPeriod"/>
              <a:tabLst>
                <a:tab pos="469265" algn="l"/>
                <a:tab pos="1170940" algn="l"/>
                <a:tab pos="1667510" algn="l"/>
                <a:tab pos="2352040" algn="l"/>
                <a:tab pos="4107815" algn="l"/>
                <a:tab pos="4554855" algn="l"/>
                <a:tab pos="4832350" algn="l"/>
                <a:tab pos="5572760" algn="l"/>
              </a:tabLst>
            </a:pPr>
            <a:r>
              <a:rPr sz="1800" b="1" spc="-25" dirty="0">
                <a:latin typeface="Arial"/>
                <a:cs typeface="Arial"/>
              </a:rPr>
              <a:t>How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do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0" dirty="0">
                <a:latin typeface="Arial"/>
                <a:cs typeface="Arial"/>
              </a:rPr>
              <a:t>they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10" dirty="0">
                <a:latin typeface="Arial"/>
                <a:cs typeface="Arial"/>
              </a:rPr>
              <a:t>communicate,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or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50" dirty="0">
                <a:latin typeface="Arial"/>
                <a:cs typeface="Arial"/>
              </a:rPr>
              <a:t>,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0" dirty="0">
                <a:latin typeface="Arial"/>
                <a:cs typeface="Arial"/>
              </a:rPr>
              <a:t>what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10" dirty="0">
                <a:latin typeface="Arial"/>
                <a:cs typeface="Arial"/>
              </a:rPr>
              <a:t>communication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6039" y="2813431"/>
            <a:ext cx="7227570" cy="112903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200"/>
              </a:spcBef>
            </a:pPr>
            <a:r>
              <a:rPr sz="1800" b="1" dirty="0">
                <a:latin typeface="Arial"/>
                <a:cs typeface="Arial"/>
              </a:rPr>
              <a:t>paradigm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used?</a:t>
            </a:r>
            <a:endParaRPr sz="1800">
              <a:latin typeface="Arial"/>
              <a:cs typeface="Arial"/>
            </a:endParaRPr>
          </a:p>
          <a:p>
            <a:pPr marL="469265" marR="5080" indent="-457200">
              <a:lnSpc>
                <a:spcPct val="100000"/>
              </a:lnSpc>
              <a:spcBef>
                <a:spcPts val="1105"/>
              </a:spcBef>
              <a:tabLst>
                <a:tab pos="469265" algn="l"/>
              </a:tabLst>
            </a:pPr>
            <a:r>
              <a:rPr sz="1800" b="1" spc="-25" dirty="0">
                <a:latin typeface="Arial"/>
                <a:cs typeface="Arial"/>
              </a:rPr>
              <a:t>3.</a:t>
            </a:r>
            <a:r>
              <a:rPr sz="1800" b="1" dirty="0">
                <a:latin typeface="Arial"/>
                <a:cs typeface="Arial"/>
              </a:rPr>
              <a:t>	What</a:t>
            </a:r>
            <a:r>
              <a:rPr sz="1800" b="1" spc="3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roles</a:t>
            </a:r>
            <a:r>
              <a:rPr sz="1800" b="1" spc="3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3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responsibilities</a:t>
            </a:r>
            <a:r>
              <a:rPr sz="1800" b="1" spc="3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r>
              <a:rPr sz="1800" b="1" spc="3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they</a:t>
            </a:r>
            <a:r>
              <a:rPr sz="1800" b="1" spc="3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have</a:t>
            </a:r>
            <a:r>
              <a:rPr sz="1800" b="1" spc="4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3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3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overall architecture?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6039" y="4051554"/>
            <a:ext cx="7260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1164590" algn="l"/>
                <a:tab pos="1716405" algn="l"/>
                <a:tab pos="2394585" algn="l"/>
                <a:tab pos="3482975" algn="l"/>
                <a:tab pos="3975100" algn="l"/>
                <a:tab pos="4402455" algn="l"/>
                <a:tab pos="4954270" algn="l"/>
                <a:tab pos="6076950" algn="l"/>
              </a:tabLst>
            </a:pPr>
            <a:r>
              <a:rPr sz="1800" b="1" spc="-25" dirty="0">
                <a:latin typeface="Arial"/>
                <a:cs typeface="Arial"/>
              </a:rPr>
              <a:t>4.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How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are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0" dirty="0">
                <a:latin typeface="Arial"/>
                <a:cs typeface="Arial"/>
              </a:rPr>
              <a:t>they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10" dirty="0">
                <a:latin typeface="Arial"/>
                <a:cs typeface="Arial"/>
              </a:rPr>
              <a:t>mapped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on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to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the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10" dirty="0">
                <a:latin typeface="Arial"/>
                <a:cs typeface="Arial"/>
              </a:rPr>
              <a:t>physical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0" dirty="0">
                <a:latin typeface="Arial"/>
                <a:cs typeface="Arial"/>
              </a:rPr>
              <a:t>distributed </a:t>
            </a:r>
            <a:r>
              <a:rPr sz="1800" b="1" dirty="0">
                <a:latin typeface="Arial"/>
                <a:cs typeface="Arial"/>
              </a:rPr>
              <a:t>infrastructure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(placement)?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848566"/>
            <a:ext cx="8087359" cy="422084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90195" indent="-277495">
              <a:lnSpc>
                <a:spcPct val="100000"/>
              </a:lnSpc>
              <a:spcBef>
                <a:spcPts val="1295"/>
              </a:spcBef>
              <a:buAutoNum type="arabicPeriod"/>
              <a:tabLst>
                <a:tab pos="290195" algn="l"/>
              </a:tabLst>
            </a:pPr>
            <a:r>
              <a:rPr sz="2000" b="1" dirty="0">
                <a:latin typeface="Arial"/>
                <a:cs typeface="Arial"/>
              </a:rPr>
              <a:t>What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are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entities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that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are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communicating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25" dirty="0">
                <a:latin typeface="Arial"/>
                <a:cs typeface="Arial"/>
              </a:rPr>
              <a:t> DS?</a:t>
            </a:r>
            <a:endParaRPr sz="2000">
              <a:latin typeface="Arial"/>
              <a:cs typeface="Arial"/>
            </a:endParaRPr>
          </a:p>
          <a:p>
            <a:pPr marL="867410" lvl="1" indent="-454025">
              <a:lnSpc>
                <a:spcPct val="100000"/>
              </a:lnSpc>
              <a:spcBef>
                <a:spcPts val="1200"/>
              </a:spcBef>
              <a:buChar char="–"/>
              <a:tabLst>
                <a:tab pos="86741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entities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communicate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DS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processes.</a:t>
            </a:r>
            <a:r>
              <a:rPr sz="2000" spc="1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Reading</a:t>
            </a:r>
            <a:endParaRPr sz="2000">
              <a:latin typeface="Arial MT"/>
              <a:cs typeface="Arial MT"/>
            </a:endParaRPr>
          </a:p>
          <a:p>
            <a:pPr marL="87058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inter-processes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communication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paradigms.</a:t>
            </a:r>
            <a:endParaRPr sz="2000">
              <a:latin typeface="Arial MT"/>
              <a:cs typeface="Arial MT"/>
            </a:endParaRPr>
          </a:p>
          <a:p>
            <a:pPr marL="862965" marR="6350" lvl="1" indent="-450215" algn="just">
              <a:lnSpc>
                <a:spcPct val="100000"/>
              </a:lnSpc>
              <a:spcBef>
                <a:spcPts val="1200"/>
              </a:spcBef>
              <a:buChar char="–"/>
              <a:tabLst>
                <a:tab pos="870585" algn="l"/>
              </a:tabLst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some</a:t>
            </a:r>
            <a:r>
              <a:rPr sz="2000" spc="2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primitive</a:t>
            </a:r>
            <a:r>
              <a:rPr sz="2000" spc="2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environments,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2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sensor</a:t>
            </a:r>
            <a:r>
              <a:rPr sz="2000" spc="2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networks,</a:t>
            </a:r>
            <a:r>
              <a:rPr sz="2000" spc="22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	</a:t>
            </a:r>
            <a:r>
              <a:rPr sz="2000" dirty="0">
                <a:latin typeface="Arial MT"/>
                <a:cs typeface="Arial MT"/>
              </a:rPr>
              <a:t>entities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communicate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nodes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862965" marR="5080" lvl="1" indent="-450215" algn="just">
              <a:lnSpc>
                <a:spcPct val="100000"/>
              </a:lnSpc>
              <a:spcBef>
                <a:spcPts val="1205"/>
              </a:spcBef>
              <a:buChar char="–"/>
              <a:tabLst>
                <a:tab pos="870585" algn="l"/>
              </a:tabLst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204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most</a:t>
            </a:r>
            <a:r>
              <a:rPr sz="2000" spc="204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distributed</a:t>
            </a:r>
            <a:r>
              <a:rPr sz="2000" spc="21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20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environments,</a:t>
            </a:r>
            <a:r>
              <a:rPr sz="2000" spc="21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processes</a:t>
            </a:r>
            <a:r>
              <a:rPr sz="2000" spc="210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are 	</a:t>
            </a:r>
            <a:r>
              <a:rPr sz="2000" dirty="0">
                <a:latin typeface="Arial MT"/>
                <a:cs typeface="Arial MT"/>
              </a:rPr>
              <a:t>supplemented</a:t>
            </a:r>
            <a:r>
              <a:rPr sz="2000" spc="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threads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threads</a:t>
            </a:r>
            <a:r>
              <a:rPr sz="2000" spc="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endpoints</a:t>
            </a:r>
            <a:r>
              <a:rPr sz="2000" spc="7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 	</a:t>
            </a:r>
            <a:r>
              <a:rPr sz="2000" spc="-10" dirty="0">
                <a:latin typeface="Arial MT"/>
                <a:cs typeface="Arial MT"/>
              </a:rPr>
              <a:t>communication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  <a:p>
            <a:pPr marL="870585" lvl="1" indent="-457200">
              <a:lnSpc>
                <a:spcPct val="100000"/>
              </a:lnSpc>
              <a:spcBef>
                <a:spcPts val="1200"/>
              </a:spcBef>
              <a:buChar char="–"/>
              <a:tabLst>
                <a:tab pos="870585" algn="l"/>
              </a:tabLst>
            </a:pPr>
            <a:r>
              <a:rPr sz="2000" spc="-10" dirty="0">
                <a:latin typeface="Arial MT"/>
                <a:cs typeface="Arial MT"/>
              </a:rPr>
              <a:t>Problem-</a:t>
            </a:r>
            <a:r>
              <a:rPr sz="2000" dirty="0">
                <a:latin typeface="Arial MT"/>
                <a:cs typeface="Arial MT"/>
              </a:rPr>
              <a:t>oriented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abstractions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been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proposed:</a:t>
            </a:r>
            <a:endParaRPr sz="2000">
              <a:latin typeface="Arial MT"/>
              <a:cs typeface="Arial MT"/>
            </a:endParaRPr>
          </a:p>
          <a:p>
            <a:pPr marL="1270000" marR="57785" lvl="2" indent="-457200">
              <a:lnSpc>
                <a:spcPct val="100000"/>
              </a:lnSpc>
              <a:spcBef>
                <a:spcPts val="1115"/>
              </a:spcBef>
              <a:buChar char="•"/>
              <a:tabLst>
                <a:tab pos="1270000" algn="l"/>
              </a:tabLst>
            </a:pPr>
            <a:r>
              <a:rPr sz="1800" dirty="0">
                <a:solidFill>
                  <a:srgbClr val="4F81BB"/>
                </a:solidFill>
                <a:latin typeface="Arial MT"/>
                <a:cs typeface="Arial MT"/>
              </a:rPr>
              <a:t>OBJECTS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1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Proposed</a:t>
            </a:r>
            <a:r>
              <a:rPr sz="1800" spc="2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encourage</a:t>
            </a:r>
            <a:r>
              <a:rPr sz="1800" spc="2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1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1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OO</a:t>
            </a:r>
            <a:r>
              <a:rPr sz="1800" spc="1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approaches</a:t>
            </a:r>
            <a:r>
              <a:rPr sz="1800" spc="19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in DS.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10" name="object 10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Architectural</a:t>
            </a:r>
            <a:r>
              <a:rPr spc="-90" dirty="0"/>
              <a:t> </a:t>
            </a:r>
            <a:r>
              <a:rPr spc="-10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6039" y="5179821"/>
            <a:ext cx="326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har char="•"/>
              <a:tabLst>
                <a:tab pos="469265" algn="l"/>
                <a:tab pos="2326005" algn="l"/>
              </a:tabLst>
            </a:pPr>
            <a:r>
              <a:rPr sz="1800" spc="-10" dirty="0">
                <a:solidFill>
                  <a:srgbClr val="4F81BB"/>
                </a:solidFill>
                <a:latin typeface="Arial MT"/>
                <a:cs typeface="Arial MT"/>
              </a:rPr>
              <a:t>COMPONENTS</a:t>
            </a:r>
            <a:r>
              <a:rPr sz="1800" spc="-10" dirty="0">
                <a:latin typeface="Arial MT"/>
                <a:cs typeface="Arial MT"/>
              </a:rPr>
              <a:t>: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resemble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93239" y="5179821"/>
            <a:ext cx="68052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890" algn="r">
              <a:lnSpc>
                <a:spcPct val="100000"/>
              </a:lnSpc>
              <a:spcBef>
                <a:spcPts val="100"/>
              </a:spcBef>
              <a:tabLst>
                <a:tab pos="875665" algn="l"/>
                <a:tab pos="1209675" algn="l"/>
                <a:tab pos="1744980" algn="l"/>
                <a:tab pos="2329815" algn="l"/>
              </a:tabLst>
            </a:pPr>
            <a:r>
              <a:rPr sz="1800" spc="-10" dirty="0">
                <a:latin typeface="Arial MT"/>
                <a:cs typeface="Arial MT"/>
              </a:rPr>
              <a:t>objects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in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that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they</a:t>
            </a:r>
            <a:r>
              <a:rPr sz="1800" dirty="0">
                <a:latin typeface="Arial MT"/>
                <a:cs typeface="Arial MT"/>
              </a:rPr>
              <a:t>	offer</a:t>
            </a:r>
            <a:r>
              <a:rPr sz="1800" spc="75" dirty="0">
                <a:latin typeface="Arial MT"/>
                <a:cs typeface="Arial MT"/>
              </a:rPr>
              <a:t>  </a:t>
            </a:r>
            <a:r>
              <a:rPr sz="1800" spc="-10" dirty="0">
                <a:latin typeface="Arial MT"/>
                <a:cs typeface="Arial MT"/>
              </a:rPr>
              <a:t>problem-</a:t>
            </a:r>
            <a:endParaRPr sz="18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tabLst>
                <a:tab pos="982980" algn="l"/>
                <a:tab pos="2372995" algn="l"/>
                <a:tab pos="2798445" algn="l"/>
                <a:tab pos="3744595" algn="l"/>
                <a:tab pos="4220210" algn="l"/>
                <a:tab pos="4761230" algn="l"/>
                <a:tab pos="5248910" algn="l"/>
                <a:tab pos="5825490" algn="l"/>
              </a:tabLst>
            </a:pPr>
            <a:r>
              <a:rPr sz="1800" spc="-10" dirty="0">
                <a:latin typeface="Arial MT"/>
                <a:cs typeface="Arial MT"/>
              </a:rPr>
              <a:t>oriented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abstractions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for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building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DS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and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are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also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accessed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93239" y="5727903"/>
            <a:ext cx="17843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through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interface.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Architectural</a:t>
            </a:r>
            <a:r>
              <a:rPr spc="-90" dirty="0"/>
              <a:t> </a:t>
            </a:r>
            <a:r>
              <a:rPr spc="-10" dirty="0"/>
              <a:t>Elements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635" y="999870"/>
            <a:ext cx="8085455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105"/>
              </a:spcBef>
              <a:buAutoNum type="arabicPeriod" startAt="2"/>
              <a:tabLst>
                <a:tab pos="314325" algn="l"/>
              </a:tabLst>
            </a:pPr>
            <a:r>
              <a:rPr sz="2000" b="1" dirty="0">
                <a:latin typeface="Arial"/>
                <a:cs typeface="Arial"/>
              </a:rPr>
              <a:t>How</a:t>
            </a:r>
            <a:r>
              <a:rPr sz="2000" b="1" spc="1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do</a:t>
            </a:r>
            <a:r>
              <a:rPr sz="2000" b="1" spc="1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they</a:t>
            </a:r>
            <a:r>
              <a:rPr sz="2000" b="1" spc="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communicate,</a:t>
            </a:r>
            <a:r>
              <a:rPr sz="2000" b="1" spc="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or</a:t>
            </a:r>
            <a:r>
              <a:rPr sz="2000" b="1" spc="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,</a:t>
            </a:r>
            <a:r>
              <a:rPr sz="2000" b="1" spc="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what</a:t>
            </a:r>
            <a:r>
              <a:rPr sz="2000" b="1" spc="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communication</a:t>
            </a:r>
            <a:r>
              <a:rPr sz="2000" b="1" spc="114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paradigm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used?</a:t>
            </a:r>
            <a:endParaRPr sz="2000">
              <a:latin typeface="Arial"/>
              <a:cs typeface="Arial"/>
            </a:endParaRPr>
          </a:p>
          <a:p>
            <a:pPr marL="469265" lvl="1" indent="-4565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469265" algn="l"/>
              </a:tabLst>
            </a:pPr>
            <a:r>
              <a:rPr sz="2000" spc="-10" dirty="0">
                <a:latin typeface="Arial MT"/>
                <a:cs typeface="Arial MT"/>
              </a:rPr>
              <a:t>Communication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paradigm</a:t>
            </a:r>
            <a:endParaRPr sz="2000">
              <a:latin typeface="Arial MT"/>
              <a:cs typeface="Arial MT"/>
            </a:endParaRPr>
          </a:p>
          <a:p>
            <a:pPr marL="1263650" marR="6985" lvl="2" indent="-450850" algn="just">
              <a:lnSpc>
                <a:spcPct val="100000"/>
              </a:lnSpc>
              <a:spcBef>
                <a:spcPts val="1200"/>
              </a:spcBef>
              <a:buAutoNum type="alphaLcPeriod"/>
              <a:tabLst>
                <a:tab pos="1270000" algn="l"/>
              </a:tabLst>
            </a:pPr>
            <a:r>
              <a:rPr sz="2000" b="1" spc="-20" dirty="0">
                <a:solidFill>
                  <a:srgbClr val="4F81BB"/>
                </a:solidFill>
                <a:latin typeface="Arial"/>
                <a:cs typeface="Arial"/>
              </a:rPr>
              <a:t>Inter-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process</a:t>
            </a:r>
            <a:r>
              <a:rPr sz="2000" b="1" spc="105" dirty="0">
                <a:solidFill>
                  <a:srgbClr val="4F81BB"/>
                </a:solidFill>
                <a:latin typeface="Arial"/>
                <a:cs typeface="Arial"/>
              </a:rPr>
              <a:t> 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communication</a:t>
            </a:r>
            <a:r>
              <a:rPr sz="2000" b="1" dirty="0">
                <a:latin typeface="Arial"/>
                <a:cs typeface="Arial"/>
              </a:rPr>
              <a:t>:</a:t>
            </a:r>
            <a:r>
              <a:rPr sz="2000" b="1" spc="110" dirty="0">
                <a:latin typeface="Arial"/>
                <a:cs typeface="Arial"/>
              </a:rPr>
              <a:t>  </a:t>
            </a:r>
            <a:r>
              <a:rPr sz="2000" dirty="0">
                <a:latin typeface="Arial MT"/>
                <a:cs typeface="Arial MT"/>
              </a:rPr>
              <a:t>Communication</a:t>
            </a:r>
            <a:r>
              <a:rPr sz="2000" spc="110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between 	</a:t>
            </a:r>
            <a:r>
              <a:rPr sz="2000" dirty="0">
                <a:latin typeface="Arial MT"/>
                <a:cs typeface="Arial MT"/>
              </a:rPr>
              <a:t>processes</a:t>
            </a:r>
            <a:r>
              <a:rPr sz="2000" spc="4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3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DS,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including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b="1" i="1" spc="-25" dirty="0">
                <a:latin typeface="Arial"/>
                <a:cs typeface="Arial"/>
              </a:rPr>
              <a:t>message-</a:t>
            </a:r>
            <a:r>
              <a:rPr sz="2000" b="1" i="1" dirty="0">
                <a:latin typeface="Arial"/>
                <a:cs typeface="Arial"/>
              </a:rPr>
              <a:t>passing</a:t>
            </a:r>
            <a:r>
              <a:rPr sz="2000" b="1" i="1" spc="40" dirty="0">
                <a:latin typeface="Arial"/>
                <a:cs typeface="Arial"/>
              </a:rPr>
              <a:t>  </a:t>
            </a:r>
            <a:r>
              <a:rPr sz="2000" spc="-10" dirty="0">
                <a:latin typeface="Arial MT"/>
                <a:cs typeface="Arial MT"/>
              </a:rPr>
              <a:t>primitives, 	</a:t>
            </a:r>
            <a:r>
              <a:rPr sz="2000" dirty="0">
                <a:latin typeface="Arial MT"/>
                <a:cs typeface="Arial MT"/>
              </a:rPr>
              <a:t>direct</a:t>
            </a:r>
            <a:r>
              <a:rPr sz="2000" spc="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access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API</a:t>
            </a:r>
            <a:r>
              <a:rPr sz="2000" spc="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offered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Internet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protocol</a:t>
            </a:r>
            <a:r>
              <a:rPr sz="2000" spc="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(Socket 	Programming)</a:t>
            </a:r>
            <a:endParaRPr sz="2000">
              <a:latin typeface="Arial MT"/>
              <a:cs typeface="Arial MT"/>
            </a:endParaRPr>
          </a:p>
          <a:p>
            <a:pPr marL="1263650" marR="5080" lvl="2" indent="-450850" algn="just">
              <a:lnSpc>
                <a:spcPct val="100000"/>
              </a:lnSpc>
              <a:spcBef>
                <a:spcPts val="1205"/>
              </a:spcBef>
              <a:buAutoNum type="alphaLcPeriod"/>
              <a:tabLst>
                <a:tab pos="1270000" algn="l"/>
              </a:tabLst>
            </a:pP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Remote</a:t>
            </a:r>
            <a:r>
              <a:rPr sz="2000" b="1" spc="325" dirty="0">
                <a:solidFill>
                  <a:srgbClr val="4F81BB"/>
                </a:solidFill>
                <a:latin typeface="Arial"/>
                <a:cs typeface="Arial"/>
              </a:rPr>
              <a:t> 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invocation</a:t>
            </a:r>
            <a:r>
              <a:rPr sz="2000" b="1" dirty="0">
                <a:latin typeface="Arial"/>
                <a:cs typeface="Arial"/>
              </a:rPr>
              <a:t>:</a:t>
            </a:r>
            <a:r>
              <a:rPr sz="2000" b="1" spc="325" dirty="0">
                <a:latin typeface="Arial"/>
                <a:cs typeface="Arial"/>
              </a:rPr>
              <a:t>  </a:t>
            </a:r>
            <a:r>
              <a:rPr sz="2000" dirty="0">
                <a:latin typeface="Arial MT"/>
                <a:cs typeface="Arial MT"/>
              </a:rPr>
              <a:t>Based</a:t>
            </a:r>
            <a:r>
              <a:rPr sz="2000" spc="32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3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320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two-</a:t>
            </a:r>
            <a:r>
              <a:rPr sz="2000" dirty="0">
                <a:latin typeface="Arial MT"/>
                <a:cs typeface="Arial MT"/>
              </a:rPr>
              <a:t>way</a:t>
            </a:r>
            <a:r>
              <a:rPr sz="2000" spc="325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exchange 	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communicating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entities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DS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resulting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	</a:t>
            </a:r>
            <a:r>
              <a:rPr sz="2000" dirty="0">
                <a:latin typeface="Arial MT"/>
                <a:cs typeface="Arial MT"/>
              </a:rPr>
              <a:t>calling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remote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operation,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procedure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method.</a:t>
            </a:r>
            <a:endParaRPr sz="2000">
              <a:latin typeface="Arial MT"/>
              <a:cs typeface="Arial MT"/>
            </a:endParaRPr>
          </a:p>
          <a:p>
            <a:pPr marL="1270000" marR="6985" indent="-38100" algn="just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Arial"/>
                <a:cs typeface="Arial"/>
              </a:rPr>
              <a:t>-</a:t>
            </a:r>
            <a:r>
              <a:rPr sz="2000" b="1" spc="150" dirty="0">
                <a:latin typeface="Arial"/>
                <a:cs typeface="Arial"/>
              </a:rPr>
              <a:t>  </a:t>
            </a:r>
            <a:r>
              <a:rPr sz="2000" b="1" i="1" spc="-40" dirty="0">
                <a:latin typeface="Arial"/>
                <a:cs typeface="Arial"/>
              </a:rPr>
              <a:t>Request-</a:t>
            </a:r>
            <a:r>
              <a:rPr sz="2000" b="1" i="1" dirty="0">
                <a:latin typeface="Arial"/>
                <a:cs typeface="Arial"/>
              </a:rPr>
              <a:t>reply</a:t>
            </a:r>
            <a:r>
              <a:rPr sz="2000" b="1" i="1" spc="135" dirty="0">
                <a:latin typeface="Arial"/>
                <a:cs typeface="Arial"/>
              </a:rPr>
              <a:t>  </a:t>
            </a:r>
            <a:r>
              <a:rPr sz="2000" b="1" i="1" dirty="0">
                <a:latin typeface="Arial"/>
                <a:cs typeface="Arial"/>
              </a:rPr>
              <a:t>protocols</a:t>
            </a:r>
            <a:r>
              <a:rPr sz="2000" b="1" dirty="0">
                <a:latin typeface="Arial"/>
                <a:cs typeface="Arial"/>
              </a:rPr>
              <a:t>:</a:t>
            </a:r>
            <a:r>
              <a:rPr sz="2000" b="1" spc="275" dirty="0">
                <a:latin typeface="Arial"/>
                <a:cs typeface="Arial"/>
              </a:rPr>
              <a:t>  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13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pattern</a:t>
            </a:r>
            <a:r>
              <a:rPr sz="2000" spc="13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imposed</a:t>
            </a:r>
            <a:r>
              <a:rPr sz="2000" spc="13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135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an </a:t>
            </a:r>
            <a:r>
              <a:rPr sz="2000" dirty="0">
                <a:latin typeface="Arial MT"/>
                <a:cs typeface="Arial MT"/>
              </a:rPr>
              <a:t>underlying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message-</a:t>
            </a:r>
            <a:r>
              <a:rPr sz="2000" dirty="0">
                <a:latin typeface="Arial MT"/>
                <a:cs typeface="Arial MT"/>
              </a:rPr>
              <a:t>passing</a:t>
            </a:r>
            <a:r>
              <a:rPr sz="2000" spc="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service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support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client-</a:t>
            </a:r>
            <a:r>
              <a:rPr sz="2000" spc="-10" dirty="0">
                <a:latin typeface="Arial MT"/>
                <a:cs typeface="Arial MT"/>
              </a:rPr>
              <a:t>server computing.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848566"/>
            <a:ext cx="8085455" cy="15494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5"/>
              </a:spcBef>
              <a:buFont typeface="Wingdings"/>
              <a:buChar char=""/>
              <a:tabLst>
                <a:tab pos="469265" algn="l"/>
              </a:tabLst>
            </a:pPr>
            <a:r>
              <a:rPr sz="2000" spc="-10" dirty="0">
                <a:latin typeface="Arial MT"/>
                <a:cs typeface="Arial MT"/>
              </a:rPr>
              <a:t>Communication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paradigm</a:t>
            </a:r>
            <a:endParaRPr sz="2000">
              <a:latin typeface="Arial MT"/>
              <a:cs typeface="Arial MT"/>
            </a:endParaRPr>
          </a:p>
          <a:p>
            <a:pPr marL="1270000" marR="5080" indent="-38100" algn="just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Arial"/>
                <a:cs typeface="Arial"/>
              </a:rPr>
              <a:t>-</a:t>
            </a:r>
            <a:r>
              <a:rPr sz="2000" b="1" spc="225" dirty="0">
                <a:latin typeface="Arial"/>
                <a:cs typeface="Arial"/>
              </a:rPr>
              <a:t>  </a:t>
            </a:r>
            <a:r>
              <a:rPr sz="2000" b="1" i="1" dirty="0">
                <a:latin typeface="Arial"/>
                <a:cs typeface="Arial"/>
              </a:rPr>
              <a:t>Remote</a:t>
            </a:r>
            <a:r>
              <a:rPr sz="2000" b="1" i="1" spc="215" dirty="0">
                <a:latin typeface="Arial"/>
                <a:cs typeface="Arial"/>
              </a:rPr>
              <a:t>  </a:t>
            </a:r>
            <a:r>
              <a:rPr sz="2000" b="1" i="1" dirty="0">
                <a:latin typeface="Arial"/>
                <a:cs typeface="Arial"/>
              </a:rPr>
              <a:t>procedure</a:t>
            </a:r>
            <a:r>
              <a:rPr sz="2000" b="1" i="1" spc="225" dirty="0">
                <a:latin typeface="Arial"/>
                <a:cs typeface="Arial"/>
              </a:rPr>
              <a:t>  </a:t>
            </a:r>
            <a:r>
              <a:rPr sz="2000" b="1" i="1" dirty="0">
                <a:latin typeface="Arial"/>
                <a:cs typeface="Arial"/>
              </a:rPr>
              <a:t>calls</a:t>
            </a:r>
            <a:r>
              <a:rPr sz="2000" b="1" i="1" spc="215" dirty="0">
                <a:latin typeface="Arial"/>
                <a:cs typeface="Arial"/>
              </a:rPr>
              <a:t>  </a:t>
            </a:r>
            <a:r>
              <a:rPr sz="2000" b="1" i="1" dirty="0">
                <a:latin typeface="Arial"/>
                <a:cs typeface="Arial"/>
              </a:rPr>
              <a:t>(RPC)</a:t>
            </a:r>
            <a:r>
              <a:rPr sz="2000" b="1" dirty="0">
                <a:latin typeface="Arial"/>
                <a:cs typeface="Arial"/>
              </a:rPr>
              <a:t>:</a:t>
            </a:r>
            <a:r>
              <a:rPr sz="2000" b="1" spc="225" dirty="0">
                <a:latin typeface="Arial"/>
                <a:cs typeface="Arial"/>
              </a:rPr>
              <a:t> 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22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procedures</a:t>
            </a:r>
            <a:r>
              <a:rPr sz="2000" spc="235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in </a:t>
            </a:r>
            <a:r>
              <a:rPr sz="2000" dirty="0">
                <a:latin typeface="Arial MT"/>
                <a:cs typeface="Arial MT"/>
              </a:rPr>
              <a:t>processes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remote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computers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called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are </a:t>
            </a:r>
            <a:r>
              <a:rPr sz="2000" dirty="0">
                <a:latin typeface="Arial MT"/>
                <a:cs typeface="Arial MT"/>
              </a:rPr>
              <a:t>procedures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address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space.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Architectural</a:t>
            </a:r>
            <a:r>
              <a:rPr spc="-90" dirty="0"/>
              <a:t> </a:t>
            </a:r>
            <a:r>
              <a:rPr spc="-10" dirty="0"/>
              <a:t>Elements</a:t>
            </a: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9339" y="2683764"/>
            <a:ext cx="3599688" cy="2848356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848566"/>
            <a:ext cx="8084184" cy="279527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5"/>
              </a:spcBef>
              <a:buFont typeface="Wingdings"/>
              <a:buChar char=""/>
              <a:tabLst>
                <a:tab pos="469265" algn="l"/>
              </a:tabLst>
            </a:pPr>
            <a:r>
              <a:rPr sz="2000" spc="-10" dirty="0">
                <a:latin typeface="Arial MT"/>
                <a:cs typeface="Arial MT"/>
              </a:rPr>
              <a:t>Communication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paradigm</a:t>
            </a:r>
            <a:endParaRPr sz="2000">
              <a:latin typeface="Arial MT"/>
              <a:cs typeface="Arial MT"/>
            </a:endParaRPr>
          </a:p>
          <a:p>
            <a:pPr marL="1231900" algn="just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Arial"/>
                <a:cs typeface="Arial"/>
              </a:rPr>
              <a:t>-</a:t>
            </a:r>
            <a:r>
              <a:rPr sz="2000" b="1" spc="175" dirty="0">
                <a:latin typeface="Arial"/>
                <a:cs typeface="Arial"/>
              </a:rPr>
              <a:t>  </a:t>
            </a:r>
            <a:r>
              <a:rPr sz="2000" b="1" i="1" dirty="0">
                <a:latin typeface="Arial"/>
                <a:cs typeface="Arial"/>
              </a:rPr>
              <a:t>Remote</a:t>
            </a:r>
            <a:r>
              <a:rPr sz="2000" b="1" i="1" spc="18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method</a:t>
            </a:r>
            <a:r>
              <a:rPr sz="2000" b="1" i="1" spc="18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invocation</a:t>
            </a:r>
            <a:r>
              <a:rPr sz="2000" b="1" i="1" spc="16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(RMI)</a:t>
            </a:r>
            <a:r>
              <a:rPr sz="2000" b="1" dirty="0">
                <a:latin typeface="Arial"/>
                <a:cs typeface="Arial"/>
              </a:rPr>
              <a:t>:</a:t>
            </a:r>
            <a:r>
              <a:rPr sz="2000" b="1" spc="16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resembles</a:t>
            </a:r>
            <a:r>
              <a:rPr sz="2000" spc="17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RPC</a:t>
            </a:r>
            <a:r>
              <a:rPr sz="2000" spc="18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but</a:t>
            </a:r>
            <a:endParaRPr sz="2000">
              <a:latin typeface="Arial MT"/>
              <a:cs typeface="Arial MT"/>
            </a:endParaRPr>
          </a:p>
          <a:p>
            <a:pPr marL="1270000" algn="just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world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distributed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objects.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>
              <a:latin typeface="Arial MT"/>
              <a:cs typeface="Arial MT"/>
            </a:endParaRPr>
          </a:p>
          <a:p>
            <a:pPr marL="1270000" marR="5080" indent="-178435" algn="just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=&gt;</a:t>
            </a:r>
            <a:r>
              <a:rPr sz="2000" b="1" spc="50" dirty="0">
                <a:latin typeface="Arial"/>
                <a:cs typeface="Arial"/>
              </a:rPr>
              <a:t> 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4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communication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represents</a:t>
            </a:r>
            <a:r>
              <a:rPr sz="2000" spc="5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60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two-</a:t>
            </a:r>
            <a:r>
              <a:rPr sz="2000" dirty="0">
                <a:latin typeface="Arial MT"/>
                <a:cs typeface="Arial MT"/>
              </a:rPr>
              <a:t>way</a:t>
            </a:r>
            <a:r>
              <a:rPr sz="2000" spc="50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relationship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2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SENDER</a:t>
            </a:r>
            <a:r>
              <a:rPr sz="2000" spc="3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2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RECEIVER,</a:t>
            </a:r>
            <a:r>
              <a:rPr sz="2000" spc="3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3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senders</a:t>
            </a:r>
            <a:r>
              <a:rPr sz="2000" spc="2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explicitly </a:t>
            </a:r>
            <a:r>
              <a:rPr sz="2000" dirty="0">
                <a:latin typeface="Arial MT"/>
                <a:cs typeface="Arial MT"/>
              </a:rPr>
              <a:t>directing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messages/invocations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 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associated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receivers.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Architectural</a:t>
            </a:r>
            <a:r>
              <a:rPr spc="-90" dirty="0"/>
              <a:t> </a:t>
            </a:r>
            <a:r>
              <a:rPr spc="-10" dirty="0"/>
              <a:t>Elements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848566"/>
            <a:ext cx="8032115" cy="20066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dirty="0">
                <a:solidFill>
                  <a:srgbClr val="4F81BB"/>
                </a:solidFill>
                <a:latin typeface="Arial MT"/>
                <a:cs typeface="Arial MT"/>
              </a:rPr>
              <a:t>c.</a:t>
            </a:r>
            <a:r>
              <a:rPr sz="2000" spc="-50" dirty="0">
                <a:solidFill>
                  <a:srgbClr val="4F81BB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Indirect</a:t>
            </a:r>
            <a:r>
              <a:rPr sz="2000" b="1" spc="-50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F81BB"/>
                </a:solidFill>
                <a:latin typeface="Arial"/>
                <a:cs typeface="Arial"/>
              </a:rPr>
              <a:t>communication</a:t>
            </a:r>
            <a:endParaRPr sz="2000">
              <a:latin typeface="Arial"/>
              <a:cs typeface="Arial"/>
            </a:endParaRPr>
          </a:p>
          <a:p>
            <a:pPr marL="870585" indent="-457200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870585" algn="l"/>
              </a:tabLst>
            </a:pPr>
            <a:r>
              <a:rPr sz="2000" dirty="0">
                <a:latin typeface="Arial MT"/>
                <a:cs typeface="Arial MT"/>
              </a:rPr>
              <a:t>Senders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know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who</a:t>
            </a:r>
            <a:r>
              <a:rPr sz="2000" spc="1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sending</a:t>
            </a:r>
            <a:r>
              <a:rPr sz="2000" spc="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1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</a:t>
            </a:r>
            <a:r>
              <a:rPr sz="2000" b="1" spc="-10" dirty="0">
                <a:latin typeface="Arial"/>
                <a:cs typeface="Arial"/>
              </a:rPr>
              <a:t>space</a:t>
            </a:r>
            <a:endParaRPr sz="2000">
              <a:latin typeface="Arial"/>
              <a:cs typeface="Arial"/>
            </a:endParaRPr>
          </a:p>
          <a:p>
            <a:pPr marL="870585">
              <a:lnSpc>
                <a:spcPct val="100000"/>
              </a:lnSpc>
            </a:pPr>
            <a:r>
              <a:rPr sz="2000" b="1" spc="-10" dirty="0">
                <a:latin typeface="Arial"/>
                <a:cs typeface="Arial"/>
              </a:rPr>
              <a:t>uncoupling</a:t>
            </a:r>
            <a:r>
              <a:rPr sz="2000" spc="-1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 marL="870585" marR="13970" indent="-457834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870585" algn="l"/>
              </a:tabLst>
            </a:pPr>
            <a:r>
              <a:rPr sz="2000" dirty="0">
                <a:latin typeface="Arial MT"/>
                <a:cs typeface="Arial MT"/>
              </a:rPr>
              <a:t>Senders</a:t>
            </a:r>
            <a:r>
              <a:rPr sz="2000" spc="2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2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receivers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2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25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2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2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exist</a:t>
            </a:r>
            <a:r>
              <a:rPr sz="2000" spc="25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2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2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26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time 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b="1" dirty="0">
                <a:latin typeface="Arial"/>
                <a:cs typeface="Arial"/>
              </a:rPr>
              <a:t>time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coupling</a:t>
            </a:r>
            <a:r>
              <a:rPr sz="2000" spc="-1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713470" cy="981710"/>
            <a:chOff x="0" y="0"/>
            <a:chExt cx="8713470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9817" y="910589"/>
              <a:ext cx="7883525" cy="0"/>
            </a:xfrm>
            <a:custGeom>
              <a:avLst/>
              <a:gdLst/>
              <a:ahLst/>
              <a:cxnLst/>
              <a:rect l="l" t="t" r="r" b="b"/>
              <a:pathLst>
                <a:path w="7883525">
                  <a:moveTo>
                    <a:pt x="0" y="0"/>
                  </a:moveTo>
                  <a:lnTo>
                    <a:pt x="7883271" y="0"/>
                  </a:lnTo>
                </a:path>
              </a:pathLst>
            </a:custGeom>
            <a:ln w="50292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Architectural</a:t>
            </a:r>
            <a:r>
              <a:rPr spc="-90" dirty="0"/>
              <a:t> </a:t>
            </a:r>
            <a:r>
              <a:rPr spc="-10" dirty="0"/>
              <a:t>Elements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848566"/>
            <a:ext cx="3427095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90195" indent="-277495">
              <a:lnSpc>
                <a:spcPct val="100000"/>
              </a:lnSpc>
              <a:spcBef>
                <a:spcPts val="1295"/>
              </a:spcBef>
              <a:buAutoNum type="arabicPeriod" startAt="3"/>
              <a:tabLst>
                <a:tab pos="290195" algn="l"/>
              </a:tabLst>
            </a:pPr>
            <a:r>
              <a:rPr sz="2000" b="1" dirty="0">
                <a:latin typeface="Arial"/>
                <a:cs typeface="Arial"/>
              </a:rPr>
              <a:t>Roles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responsibilities</a:t>
            </a:r>
            <a:endParaRPr sz="2000">
              <a:latin typeface="Arial"/>
              <a:cs typeface="Arial"/>
            </a:endParaRPr>
          </a:p>
          <a:p>
            <a:pPr marL="469265" lvl="1" indent="-4565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469265" algn="l"/>
              </a:tabLst>
            </a:pP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Client</a:t>
            </a:r>
            <a:r>
              <a:rPr sz="2000" b="1" spc="-55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–</a:t>
            </a:r>
            <a:r>
              <a:rPr sz="2000" b="1" spc="-20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F81BB"/>
                </a:solidFill>
                <a:latin typeface="Arial"/>
                <a:cs typeface="Arial"/>
              </a:rPr>
              <a:t>Server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8" name="object 8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Architectural</a:t>
            </a:r>
            <a:r>
              <a:rPr spc="-90" dirty="0"/>
              <a:t> </a:t>
            </a:r>
            <a:r>
              <a:rPr spc="-10" dirty="0"/>
              <a:t>Elements</a:t>
            </a: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6924" y="1961388"/>
            <a:ext cx="6829044" cy="24673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36039" y="4658614"/>
            <a:ext cx="7219950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000" dirty="0">
                <a:latin typeface="Arial MT"/>
                <a:cs typeface="Arial MT"/>
              </a:rPr>
              <a:t>Client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processes interact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individual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server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processes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in </a:t>
            </a:r>
            <a:r>
              <a:rPr sz="2000" dirty="0">
                <a:latin typeface="Arial MT"/>
                <a:cs typeface="Arial MT"/>
              </a:rPr>
              <a:t>order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access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resources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manage.</a:t>
            </a:r>
            <a:endParaRPr sz="20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469265" algn="l"/>
              </a:tabLst>
            </a:pPr>
            <a:r>
              <a:rPr sz="2000" dirty="0">
                <a:latin typeface="Arial MT"/>
                <a:cs typeface="Arial MT"/>
              </a:rPr>
              <a:t>Servers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turn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clients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servers.</a:t>
            </a:r>
            <a:endParaRPr sz="20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469265" algn="l"/>
              </a:tabLst>
            </a:pPr>
            <a:r>
              <a:rPr sz="2000" dirty="0">
                <a:latin typeface="Arial MT"/>
                <a:cs typeface="Arial MT"/>
              </a:rPr>
              <a:t>Eg,: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WEB</a:t>
            </a:r>
            <a:r>
              <a:rPr sz="2000" spc="-10" dirty="0">
                <a:latin typeface="Arial MT"/>
                <a:cs typeface="Arial MT"/>
              </a:rPr>
              <a:t> SERVER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Architectural</a:t>
            </a:r>
            <a:r>
              <a:rPr spc="-90" dirty="0"/>
              <a:t> </a:t>
            </a:r>
            <a:r>
              <a:rPr spc="-10" dirty="0"/>
              <a:t>Elements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635" y="999870"/>
            <a:ext cx="47148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69265" algn="l"/>
              </a:tabLst>
            </a:pPr>
            <a:r>
              <a:rPr sz="2000" spc="-20" dirty="0">
                <a:latin typeface="Arial MT"/>
                <a:cs typeface="Arial MT"/>
              </a:rPr>
              <a:t>A</a:t>
            </a:r>
            <a:r>
              <a:rPr sz="2000" spc="-1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service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provided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multiple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servers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7548" y="1755648"/>
            <a:ext cx="5241036" cy="436321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969390"/>
            <a:ext cx="19634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Font typeface="Wingdings"/>
              <a:buChar char=""/>
              <a:tabLst>
                <a:tab pos="469265" algn="l"/>
              </a:tabLst>
            </a:pPr>
            <a:r>
              <a:rPr sz="2000" b="1" spc="-25" dirty="0">
                <a:solidFill>
                  <a:srgbClr val="4F81BB"/>
                </a:solidFill>
                <a:latin typeface="Arial"/>
                <a:cs typeface="Arial"/>
              </a:rPr>
              <a:t>Peer-</a:t>
            </a:r>
            <a:r>
              <a:rPr sz="2000" b="1" spc="-20" dirty="0">
                <a:solidFill>
                  <a:srgbClr val="4F81BB"/>
                </a:solidFill>
                <a:latin typeface="Arial"/>
                <a:cs typeface="Arial"/>
              </a:rPr>
              <a:t>to-peer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8" name="object 8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Architectural</a:t>
            </a:r>
            <a:r>
              <a:rPr spc="-90" dirty="0"/>
              <a:t> </a:t>
            </a:r>
            <a:r>
              <a:rPr spc="-10" dirty="0"/>
              <a:t>Elements</a:t>
            </a: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2255" y="1220724"/>
            <a:ext cx="2958083" cy="29733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36039" y="4267708"/>
            <a:ext cx="7230109" cy="1025922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40"/>
              </a:spcBef>
              <a:buFont typeface="Wingdings"/>
              <a:buChar char="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processes involved 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task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activity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play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similar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roles.</a:t>
            </a:r>
            <a:endParaRPr sz="1800" dirty="0">
              <a:latin typeface="Arial MT"/>
              <a:cs typeface="Arial MT"/>
            </a:endParaRPr>
          </a:p>
          <a:p>
            <a:pPr marL="469265" marR="5080" indent="-457200">
              <a:lnSpc>
                <a:spcPts val="1900"/>
              </a:lnSpc>
              <a:spcBef>
                <a:spcPts val="1120"/>
              </a:spcBef>
              <a:buFont typeface="Wingdings"/>
              <a:buChar char="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Interacting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cooperatively</a:t>
            </a:r>
            <a:r>
              <a:rPr sz="1800" spc="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peers</a:t>
            </a:r>
            <a:r>
              <a:rPr sz="1800" spc="1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without</a:t>
            </a:r>
            <a:r>
              <a:rPr sz="1800" spc="1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distinction</a:t>
            </a:r>
            <a:r>
              <a:rPr sz="1800" spc="1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between </a:t>
            </a:r>
            <a:r>
              <a:rPr sz="1800" dirty="0">
                <a:latin typeface="Arial MT"/>
                <a:cs typeface="Arial MT"/>
              </a:rPr>
              <a:t>client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server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run.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10" name="object 10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Architectural</a:t>
            </a:r>
            <a:r>
              <a:rPr spc="-90" dirty="0"/>
              <a:t> </a:t>
            </a:r>
            <a:r>
              <a:rPr spc="-10" dirty="0"/>
              <a:t>Elements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635" y="999870"/>
            <a:ext cx="15646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4.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Placement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635" y="1456766"/>
            <a:ext cx="8025765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6565" marR="5080" indent="-456565" algn="r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5656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final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issues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considered is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how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entities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F81BB"/>
                </a:solidFill>
                <a:latin typeface="Arial MT"/>
                <a:cs typeface="Arial MT"/>
              </a:rPr>
              <a:t>objects</a:t>
            </a:r>
            <a:r>
              <a:rPr sz="2000" spc="10" dirty="0">
                <a:solidFill>
                  <a:srgbClr val="4F81BB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or</a:t>
            </a:r>
            <a:endParaRPr sz="2000">
              <a:latin typeface="Arial MT"/>
              <a:cs typeface="Arial MT"/>
            </a:endParaRPr>
          </a:p>
          <a:p>
            <a:pPr marR="17780" algn="r">
              <a:lnSpc>
                <a:spcPct val="100000"/>
              </a:lnSpc>
            </a:pPr>
            <a:r>
              <a:rPr sz="2000" dirty="0">
                <a:solidFill>
                  <a:srgbClr val="4F81BB"/>
                </a:solidFill>
                <a:latin typeface="Arial MT"/>
                <a:cs typeface="Arial MT"/>
              </a:rPr>
              <a:t>services</a:t>
            </a:r>
            <a:r>
              <a:rPr sz="2000" spc="-85" dirty="0">
                <a:solidFill>
                  <a:srgbClr val="4F81BB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map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underlying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physical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distributed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infrastructure</a:t>
            </a:r>
            <a:endParaRPr sz="2000">
              <a:latin typeface="Arial MT"/>
              <a:cs typeface="Arial MT"/>
            </a:endParaRPr>
          </a:p>
          <a:p>
            <a:pPr marL="456565" marR="5715" indent="-456565" algn="r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456565" algn="l"/>
              </a:tabLst>
            </a:pPr>
            <a:r>
              <a:rPr sz="2000" dirty="0">
                <a:latin typeface="Arial MT"/>
                <a:cs typeface="Arial MT"/>
              </a:rPr>
              <a:t>Placement</a:t>
            </a:r>
            <a:r>
              <a:rPr sz="2000" spc="1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must</a:t>
            </a:r>
            <a:r>
              <a:rPr sz="2000" spc="1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1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determined</a:t>
            </a:r>
            <a:r>
              <a:rPr sz="2000" spc="1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1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strong</a:t>
            </a:r>
            <a:r>
              <a:rPr sz="2000" spc="1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application</a:t>
            </a:r>
            <a:r>
              <a:rPr sz="2000" spc="1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knowledge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635" y="2371953"/>
            <a:ext cx="7305040" cy="941069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there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few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universal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guidelines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placement</a:t>
            </a:r>
            <a:r>
              <a:rPr sz="2000" spc="105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strategies.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  <a:tabLst>
                <a:tab pos="469265" algn="l"/>
              </a:tabLst>
            </a:pPr>
            <a:r>
              <a:rPr sz="2000" b="1" spc="-25" dirty="0">
                <a:solidFill>
                  <a:srgbClr val="4F81BB"/>
                </a:solidFill>
                <a:latin typeface="Arial"/>
                <a:cs typeface="Arial"/>
              </a:rPr>
              <a:t>1.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	Mapping</a:t>
            </a:r>
            <a:r>
              <a:rPr sz="2000" b="1" spc="-80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of</a:t>
            </a:r>
            <a:r>
              <a:rPr sz="2000" b="1" spc="-45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Services</a:t>
            </a:r>
            <a:r>
              <a:rPr sz="2000" b="1" spc="-15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to</a:t>
            </a:r>
            <a:r>
              <a:rPr sz="2000" b="1" spc="-50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multiple</a:t>
            </a:r>
            <a:r>
              <a:rPr sz="2000" b="1" spc="-75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F81BB"/>
                </a:solidFill>
                <a:latin typeface="Arial"/>
                <a:cs typeface="Arial"/>
              </a:rPr>
              <a:t>servers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6447" y="3428238"/>
            <a:ext cx="76822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8630" marR="5080" indent="-456565" algn="just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Services</a:t>
            </a:r>
            <a:r>
              <a:rPr sz="1800" spc="16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may</a:t>
            </a:r>
            <a:r>
              <a:rPr sz="1800" spc="16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16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implemented</a:t>
            </a:r>
            <a:r>
              <a:rPr sz="1800" spc="16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16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several</a:t>
            </a:r>
            <a:r>
              <a:rPr sz="1800" spc="140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server</a:t>
            </a:r>
            <a:r>
              <a:rPr sz="1800" spc="315" dirty="0">
                <a:latin typeface="Arial MT"/>
                <a:cs typeface="Arial MT"/>
              </a:rPr>
              <a:t>   </a:t>
            </a:r>
            <a:r>
              <a:rPr sz="1800" dirty="0">
                <a:latin typeface="Arial MT"/>
                <a:cs typeface="Arial MT"/>
              </a:rPr>
              <a:t>processes</a:t>
            </a:r>
            <a:r>
              <a:rPr sz="1800" spc="150" dirty="0">
                <a:latin typeface="Arial MT"/>
                <a:cs typeface="Arial MT"/>
              </a:rPr>
              <a:t>  </a:t>
            </a:r>
            <a:r>
              <a:rPr sz="1800" spc="-25" dirty="0">
                <a:latin typeface="Arial MT"/>
                <a:cs typeface="Arial MT"/>
              </a:rPr>
              <a:t>in 	</a:t>
            </a:r>
            <a:r>
              <a:rPr sz="1800" dirty="0">
                <a:latin typeface="Arial MT"/>
                <a:cs typeface="Arial MT"/>
              </a:rPr>
              <a:t>separate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host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computers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interacting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necessary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provide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service 	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client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processes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7591" y="4351020"/>
            <a:ext cx="6505956" cy="202844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848566"/>
            <a:ext cx="8019415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89560" indent="-276860">
              <a:lnSpc>
                <a:spcPct val="100000"/>
              </a:lnSpc>
              <a:spcBef>
                <a:spcPts val="1295"/>
              </a:spcBef>
              <a:buAutoNum type="arabicPeriod" startAt="2"/>
              <a:tabLst>
                <a:tab pos="289560" algn="l"/>
              </a:tabLst>
            </a:pPr>
            <a:r>
              <a:rPr sz="2000" b="1" spc="-10" dirty="0">
                <a:solidFill>
                  <a:srgbClr val="4F81BB"/>
                </a:solidFill>
                <a:latin typeface="Arial"/>
                <a:cs typeface="Arial"/>
              </a:rPr>
              <a:t>Caching</a:t>
            </a:r>
            <a:endParaRPr sz="2000">
              <a:latin typeface="Arial"/>
              <a:cs typeface="Arial"/>
            </a:endParaRPr>
          </a:p>
          <a:p>
            <a:pPr marL="870585" lvl="1" indent="-457200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87058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cache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store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recently used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objects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closer </a:t>
            </a:r>
            <a:r>
              <a:rPr sz="2000" spc="-25" dirty="0">
                <a:latin typeface="Arial MT"/>
                <a:cs typeface="Arial MT"/>
              </a:rPr>
              <a:t>to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9" name="object 9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Architectural</a:t>
            </a:r>
            <a:r>
              <a:rPr spc="-90" dirty="0"/>
              <a:t> </a:t>
            </a:r>
            <a:r>
              <a:rPr spc="-10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3952" y="1762125"/>
            <a:ext cx="72104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20395" algn="l"/>
                <a:tab pos="1399540" algn="l"/>
                <a:tab pos="1811020" algn="l"/>
                <a:tab pos="2134235" algn="l"/>
                <a:tab pos="3361054" algn="l"/>
                <a:tab pos="3883660" algn="l"/>
                <a:tab pos="4279900" algn="l"/>
                <a:tab pos="5185410" algn="l"/>
                <a:tab pos="5863590" algn="l"/>
                <a:tab pos="6398895" algn="l"/>
              </a:tabLst>
            </a:pPr>
            <a:r>
              <a:rPr sz="2000" spc="-25" dirty="0">
                <a:latin typeface="Arial MT"/>
                <a:cs typeface="Arial MT"/>
              </a:rPr>
              <a:t>one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client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or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60" dirty="0">
                <a:latin typeface="Arial MT"/>
                <a:cs typeface="Arial MT"/>
              </a:rPr>
              <a:t>a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particular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set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of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clients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than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the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objects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6752" y="1915515"/>
            <a:ext cx="7684770" cy="35312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300"/>
              </a:spcBef>
            </a:pPr>
            <a:r>
              <a:rPr sz="2000" spc="-10" dirty="0">
                <a:latin typeface="Arial MT"/>
                <a:cs typeface="Arial MT"/>
              </a:rPr>
              <a:t>themselves.</a:t>
            </a:r>
            <a:endParaRPr sz="20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469265" algn="l"/>
              </a:tabLst>
            </a:pP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1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new</a:t>
            </a:r>
            <a:r>
              <a:rPr sz="2000" spc="1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1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received</a:t>
            </a:r>
            <a:r>
              <a:rPr sz="2000" spc="1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server</a:t>
            </a:r>
            <a:r>
              <a:rPr sz="2000" spc="1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added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</a:t>
            </a:r>
            <a:endParaRPr sz="20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local</a:t>
            </a:r>
            <a:r>
              <a:rPr sz="20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cache</a:t>
            </a:r>
            <a:r>
              <a:rPr sz="2000" u="heavy" spc="-8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store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replacing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some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existing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necessary.</a:t>
            </a:r>
            <a:endParaRPr sz="2000">
              <a:latin typeface="Arial MT"/>
              <a:cs typeface="Arial MT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4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4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4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48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needed</a:t>
            </a:r>
            <a:r>
              <a:rPr sz="2000" spc="-2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4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4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client</a:t>
            </a:r>
            <a:r>
              <a:rPr sz="2000" spc="4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process,</a:t>
            </a:r>
            <a:r>
              <a:rPr sz="2000" spc="-2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caching </a:t>
            </a:r>
            <a:r>
              <a:rPr sz="2000" dirty="0">
                <a:latin typeface="Arial MT"/>
                <a:cs typeface="Arial MT"/>
              </a:rPr>
              <a:t>service</a:t>
            </a:r>
            <a:r>
              <a:rPr sz="2000" spc="-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first</a:t>
            </a:r>
            <a:r>
              <a:rPr sz="2000" spc="-1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checks  the</a:t>
            </a:r>
            <a:r>
              <a:rPr sz="2000" spc="-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cache</a:t>
            </a:r>
            <a:r>
              <a:rPr sz="2000" spc="-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supplies</a:t>
            </a:r>
            <a:r>
              <a:rPr sz="2000" spc="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10" dirty="0">
                <a:latin typeface="Arial MT"/>
                <a:cs typeface="Arial MT"/>
              </a:rPr>
              <a:t>  </a:t>
            </a:r>
            <a:r>
              <a:rPr sz="2000" spc="-20" dirty="0">
                <a:latin typeface="Arial MT"/>
                <a:cs typeface="Arial MT"/>
              </a:rPr>
              <a:t>from </a:t>
            </a:r>
            <a:r>
              <a:rPr sz="2000" dirty="0">
                <a:latin typeface="Arial MT"/>
                <a:cs typeface="Arial MT"/>
              </a:rPr>
              <a:t>there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if</a:t>
            </a:r>
            <a:r>
              <a:rPr sz="20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an</a:t>
            </a:r>
            <a:r>
              <a:rPr sz="2000" u="heavy" spc="-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up-</a:t>
            </a:r>
            <a:r>
              <a:rPr sz="2000" u="heavy" spc="-1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to-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date</a:t>
            </a:r>
            <a:r>
              <a:rPr sz="2000" u="heavy" spc="-7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copy</a:t>
            </a:r>
            <a:r>
              <a:rPr sz="2000" u="heavy" spc="-7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is</a:t>
            </a:r>
            <a:r>
              <a:rPr sz="2000" u="heavy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available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469265" algn="l"/>
              </a:tabLst>
            </a:pPr>
            <a:r>
              <a:rPr sz="2000" dirty="0">
                <a:latin typeface="Arial MT"/>
                <a:cs typeface="Arial MT"/>
              </a:rPr>
              <a:t>If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not,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up-</a:t>
            </a:r>
            <a:r>
              <a:rPr sz="2000" u="heavy" spc="-1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to-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date</a:t>
            </a:r>
            <a:r>
              <a:rPr sz="2000" u="heavy" spc="-10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copy</a:t>
            </a:r>
            <a:r>
              <a:rPr sz="2000" u="heavy" spc="-4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is</a:t>
            </a:r>
            <a:r>
              <a:rPr sz="2000" u="heavy" spc="-1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fetched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469900" marR="7620" indent="-457200" algn="just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Caches</a:t>
            </a:r>
            <a:r>
              <a:rPr sz="2000" spc="4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4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484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co-</a:t>
            </a:r>
            <a:r>
              <a:rPr sz="2000" dirty="0">
                <a:latin typeface="Arial MT"/>
                <a:cs typeface="Arial MT"/>
              </a:rPr>
              <a:t>located</a:t>
            </a:r>
            <a:r>
              <a:rPr sz="2000" spc="-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48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4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client</a:t>
            </a:r>
            <a:r>
              <a:rPr sz="2000" spc="4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4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4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47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be </a:t>
            </a:r>
            <a:r>
              <a:rPr sz="2000" dirty="0">
                <a:latin typeface="Arial MT"/>
                <a:cs typeface="Arial MT"/>
              </a:rPr>
              <a:t>located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proxy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server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several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clients.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Architectural</a:t>
            </a:r>
            <a:r>
              <a:rPr spc="-90" dirty="0"/>
              <a:t> </a:t>
            </a:r>
            <a:r>
              <a:rPr spc="-10" dirty="0"/>
              <a:t>Elements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635" y="999870"/>
            <a:ext cx="24263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69265" algn="l"/>
              </a:tabLst>
            </a:pPr>
            <a:r>
              <a:rPr sz="2000" spc="-10" dirty="0">
                <a:latin typeface="Arial MT"/>
                <a:cs typeface="Arial MT"/>
              </a:rPr>
              <a:t>Caching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example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5044" y="1696211"/>
            <a:ext cx="5399532" cy="30099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843302"/>
            <a:ext cx="8089265" cy="438340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361315" indent="-348615">
              <a:lnSpc>
                <a:spcPct val="100000"/>
              </a:lnSpc>
              <a:spcBef>
                <a:spcPts val="1335"/>
              </a:spcBef>
              <a:buAutoNum type="arabicPeriod" startAt="3"/>
              <a:tabLst>
                <a:tab pos="361315" algn="l"/>
              </a:tabLst>
            </a:pP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Mobile</a:t>
            </a:r>
            <a:r>
              <a:rPr sz="2000" b="1" spc="-55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4F81BB"/>
                </a:solidFill>
                <a:latin typeface="Arial"/>
                <a:cs typeface="Arial"/>
              </a:rPr>
              <a:t>code</a:t>
            </a:r>
            <a:endParaRPr sz="2000">
              <a:latin typeface="Arial"/>
              <a:cs typeface="Arial"/>
            </a:endParaRPr>
          </a:p>
          <a:p>
            <a:pPr marL="870585" lvl="1" indent="-457200">
              <a:lnSpc>
                <a:spcPct val="100000"/>
              </a:lnSpc>
              <a:spcBef>
                <a:spcPts val="1110"/>
              </a:spcBef>
              <a:buFont typeface="Wingdings"/>
              <a:buChar char=""/>
              <a:tabLst>
                <a:tab pos="870585" algn="l"/>
                <a:tab pos="2101850" algn="l"/>
                <a:tab pos="3132455" algn="l"/>
                <a:tab pos="4010025" algn="l"/>
                <a:tab pos="4963160" algn="l"/>
                <a:tab pos="5650230" algn="l"/>
                <a:tab pos="6221730" algn="l"/>
                <a:tab pos="6781800" algn="l"/>
                <a:tab pos="7632065" algn="l"/>
              </a:tabLst>
            </a:pPr>
            <a:r>
              <a:rPr sz="1800" spc="-10" dirty="0">
                <a:latin typeface="Arial MT"/>
                <a:cs typeface="Arial MT"/>
              </a:rPr>
              <a:t>Accessing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services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means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running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code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0" dirty="0">
                <a:latin typeface="Arial MT"/>
                <a:cs typeface="Arial MT"/>
              </a:rPr>
              <a:t>that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25" dirty="0">
                <a:latin typeface="Arial MT"/>
                <a:cs typeface="Arial MT"/>
              </a:rPr>
              <a:t>can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invoke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their</a:t>
            </a:r>
            <a:endParaRPr sz="1800">
              <a:latin typeface="Arial MT"/>
              <a:cs typeface="Arial MT"/>
            </a:endParaRPr>
          </a:p>
          <a:p>
            <a:pPr marL="87058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 MT"/>
                <a:cs typeface="Arial MT"/>
              </a:rPr>
              <a:t>operations.</a:t>
            </a:r>
            <a:endParaRPr sz="1800">
              <a:latin typeface="Arial MT"/>
              <a:cs typeface="Arial MT"/>
            </a:endParaRPr>
          </a:p>
          <a:p>
            <a:pPr marL="869315" marR="7620" lvl="1" indent="-456565" algn="just">
              <a:lnSpc>
                <a:spcPct val="100000"/>
              </a:lnSpc>
              <a:spcBef>
                <a:spcPts val="1090"/>
              </a:spcBef>
              <a:buFont typeface="Wingdings"/>
              <a:buChar char=""/>
              <a:tabLst>
                <a:tab pos="870585" algn="l"/>
              </a:tabLst>
            </a:pPr>
            <a:r>
              <a:rPr sz="1800" dirty="0">
                <a:latin typeface="Arial MT"/>
                <a:cs typeface="Arial MT"/>
              </a:rPr>
              <a:t>Some</a:t>
            </a:r>
            <a:r>
              <a:rPr sz="1800" spc="3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services</a:t>
            </a:r>
            <a:r>
              <a:rPr sz="1800" spc="3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3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likely</a:t>
            </a:r>
            <a:r>
              <a:rPr sz="1800" spc="3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3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3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</a:t>
            </a:r>
            <a:r>
              <a:rPr sz="1800" spc="3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standardized</a:t>
            </a:r>
            <a:r>
              <a:rPr sz="1800" spc="3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3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3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3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access 	</a:t>
            </a:r>
            <a:r>
              <a:rPr sz="1800" dirty="0">
                <a:latin typeface="Arial MT"/>
                <a:cs typeface="Arial MT"/>
              </a:rPr>
              <a:t>them</a:t>
            </a:r>
            <a:r>
              <a:rPr sz="1800" spc="4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3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4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existing</a:t>
            </a:r>
            <a:r>
              <a:rPr sz="1800" spc="3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415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well-</a:t>
            </a:r>
            <a:r>
              <a:rPr sz="1800" dirty="0">
                <a:latin typeface="Arial MT"/>
                <a:cs typeface="Arial MT"/>
              </a:rPr>
              <a:t>known</a:t>
            </a:r>
            <a:r>
              <a:rPr sz="1800" spc="409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application</a:t>
            </a:r>
            <a:r>
              <a:rPr sz="1800" spc="3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3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4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Web</a:t>
            </a:r>
            <a:r>
              <a:rPr sz="1800" spc="3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40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	</a:t>
            </a:r>
            <a:r>
              <a:rPr sz="1800" dirty="0">
                <a:latin typeface="Arial MT"/>
                <a:cs typeface="Arial MT"/>
              </a:rPr>
              <a:t>most</a:t>
            </a:r>
            <a:r>
              <a:rPr sz="1800" spc="2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common</a:t>
            </a:r>
            <a:r>
              <a:rPr sz="1800" spc="2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example</a:t>
            </a:r>
            <a:r>
              <a:rPr sz="1800" spc="2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this,</a:t>
            </a:r>
            <a:r>
              <a:rPr sz="1800" spc="2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2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even</a:t>
            </a:r>
            <a:r>
              <a:rPr sz="1800" spc="2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there,</a:t>
            </a:r>
            <a:r>
              <a:rPr sz="1800" spc="210" dirty="0">
                <a:latin typeface="Arial MT"/>
                <a:cs typeface="Arial MT"/>
              </a:rPr>
              <a:t> </a:t>
            </a:r>
            <a:r>
              <a:rPr sz="1800" b="1" i="1" dirty="0">
                <a:latin typeface="Arial"/>
                <a:cs typeface="Arial"/>
              </a:rPr>
              <a:t>some</a:t>
            </a:r>
            <a:r>
              <a:rPr sz="1800" b="1" i="1" spc="204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web</a:t>
            </a:r>
            <a:r>
              <a:rPr sz="1800" b="1" i="1" spc="2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sites</a:t>
            </a:r>
            <a:r>
              <a:rPr sz="1800" b="1" i="1" spc="210" dirty="0">
                <a:latin typeface="Arial"/>
                <a:cs typeface="Arial"/>
              </a:rPr>
              <a:t> </a:t>
            </a:r>
            <a:r>
              <a:rPr sz="1800" b="1" i="1" spc="-25" dirty="0">
                <a:latin typeface="Arial"/>
                <a:cs typeface="Arial"/>
              </a:rPr>
              <a:t>use 	</a:t>
            </a:r>
            <a:r>
              <a:rPr sz="1800" b="1" i="1" dirty="0">
                <a:latin typeface="Arial"/>
                <a:cs typeface="Arial"/>
              </a:rPr>
              <a:t>functionality</a:t>
            </a:r>
            <a:r>
              <a:rPr sz="1800" b="1" i="1" spc="50" dirty="0">
                <a:latin typeface="Arial"/>
                <a:cs typeface="Arial"/>
              </a:rPr>
              <a:t>  </a:t>
            </a:r>
            <a:r>
              <a:rPr sz="1800" b="1" i="1" dirty="0">
                <a:latin typeface="Arial"/>
                <a:cs typeface="Arial"/>
              </a:rPr>
              <a:t>not</a:t>
            </a:r>
            <a:r>
              <a:rPr sz="1800" b="1" i="1" spc="60" dirty="0">
                <a:latin typeface="Arial"/>
                <a:cs typeface="Arial"/>
              </a:rPr>
              <a:t>  </a:t>
            </a:r>
            <a:r>
              <a:rPr sz="1800" b="1" i="1" dirty="0">
                <a:latin typeface="Arial"/>
                <a:cs typeface="Arial"/>
              </a:rPr>
              <a:t>found</a:t>
            </a:r>
            <a:r>
              <a:rPr sz="1800" b="1" i="1" spc="60" dirty="0">
                <a:latin typeface="Arial"/>
                <a:cs typeface="Arial"/>
              </a:rPr>
              <a:t>  </a:t>
            </a:r>
            <a:r>
              <a:rPr sz="1800" b="1" i="1" dirty="0">
                <a:latin typeface="Arial"/>
                <a:cs typeface="Arial"/>
              </a:rPr>
              <a:t>in</a:t>
            </a:r>
            <a:r>
              <a:rPr sz="1800" b="1" i="1" spc="50" dirty="0">
                <a:latin typeface="Arial"/>
                <a:cs typeface="Arial"/>
              </a:rPr>
              <a:t>  </a:t>
            </a:r>
            <a:r>
              <a:rPr sz="1800" b="1" i="1" dirty="0">
                <a:latin typeface="Arial"/>
                <a:cs typeface="Arial"/>
              </a:rPr>
              <a:t>standard</a:t>
            </a:r>
            <a:r>
              <a:rPr sz="1800" b="1" i="1" spc="60" dirty="0">
                <a:latin typeface="Arial"/>
                <a:cs typeface="Arial"/>
              </a:rPr>
              <a:t>  </a:t>
            </a:r>
            <a:r>
              <a:rPr sz="1800" b="1" i="1" dirty="0">
                <a:latin typeface="Arial"/>
                <a:cs typeface="Arial"/>
              </a:rPr>
              <a:t>browsers</a:t>
            </a:r>
            <a:r>
              <a:rPr sz="1800" b="1" i="1" spc="65" dirty="0">
                <a:latin typeface="Arial"/>
                <a:cs typeface="Arial"/>
              </a:rPr>
              <a:t>  </a:t>
            </a:r>
            <a:r>
              <a:rPr sz="1800" b="1" i="1" dirty="0">
                <a:latin typeface="Arial"/>
                <a:cs typeface="Arial"/>
              </a:rPr>
              <a:t>and</a:t>
            </a:r>
            <a:r>
              <a:rPr sz="1800" b="1" i="1" spc="55" dirty="0">
                <a:latin typeface="Arial"/>
                <a:cs typeface="Arial"/>
              </a:rPr>
              <a:t>  </a:t>
            </a:r>
            <a:r>
              <a:rPr sz="1800" b="1" i="1" dirty="0">
                <a:latin typeface="Arial"/>
                <a:cs typeface="Arial"/>
              </a:rPr>
              <a:t>require</a:t>
            </a:r>
            <a:r>
              <a:rPr sz="1800" b="1" i="1" spc="55" dirty="0">
                <a:latin typeface="Arial"/>
                <a:cs typeface="Arial"/>
              </a:rPr>
              <a:t>  </a:t>
            </a:r>
            <a:r>
              <a:rPr sz="1800" b="1" i="1" spc="-25" dirty="0">
                <a:latin typeface="Arial"/>
                <a:cs typeface="Arial"/>
              </a:rPr>
              <a:t>the 	</a:t>
            </a:r>
            <a:r>
              <a:rPr sz="1800" b="1" i="1" dirty="0">
                <a:latin typeface="Arial"/>
                <a:cs typeface="Arial"/>
              </a:rPr>
              <a:t>downloading</a:t>
            </a:r>
            <a:r>
              <a:rPr sz="1800" b="1" i="1" spc="-7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of</a:t>
            </a:r>
            <a:r>
              <a:rPr sz="1800" b="1" i="1" spc="-3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additional</a:t>
            </a:r>
            <a:r>
              <a:rPr sz="1800" b="1" i="1" spc="-40" dirty="0">
                <a:latin typeface="Arial"/>
                <a:cs typeface="Arial"/>
              </a:rPr>
              <a:t> </a:t>
            </a:r>
            <a:r>
              <a:rPr sz="1800" b="1" i="1" spc="-10" dirty="0">
                <a:latin typeface="Arial"/>
                <a:cs typeface="Arial"/>
              </a:rPr>
              <a:t>code.</a:t>
            </a:r>
            <a:endParaRPr sz="1800">
              <a:latin typeface="Arial"/>
              <a:cs typeface="Arial"/>
            </a:endParaRPr>
          </a:p>
          <a:p>
            <a:pPr marL="290195" indent="-277495">
              <a:lnSpc>
                <a:spcPct val="100000"/>
              </a:lnSpc>
              <a:spcBef>
                <a:spcPts val="1195"/>
              </a:spcBef>
              <a:buAutoNum type="arabicPeriod" startAt="3"/>
              <a:tabLst>
                <a:tab pos="290195" algn="l"/>
              </a:tabLst>
            </a:pP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Mobile</a:t>
            </a:r>
            <a:r>
              <a:rPr sz="2000" b="1" spc="-55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F81BB"/>
                </a:solidFill>
                <a:latin typeface="Arial"/>
                <a:cs typeface="Arial"/>
              </a:rPr>
              <a:t>agents</a:t>
            </a:r>
            <a:endParaRPr sz="2000">
              <a:latin typeface="Arial"/>
              <a:cs typeface="Arial"/>
            </a:endParaRPr>
          </a:p>
          <a:p>
            <a:pPr marL="869315" marR="5080" lvl="1" indent="-456565" algn="just">
              <a:lnSpc>
                <a:spcPct val="100000"/>
              </a:lnSpc>
              <a:spcBef>
                <a:spcPts val="1115"/>
              </a:spcBef>
              <a:buFont typeface="Wingdings"/>
              <a:buChar char=""/>
              <a:tabLst>
                <a:tab pos="870585" algn="l"/>
              </a:tabLst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2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mobile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agent</a:t>
            </a:r>
            <a:r>
              <a:rPr sz="1800" spc="2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2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running</a:t>
            </a:r>
            <a:r>
              <a:rPr sz="1800" u="heavy" spc="26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program</a:t>
            </a:r>
            <a:r>
              <a:rPr sz="1800" u="heavy" spc="254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(including</a:t>
            </a:r>
            <a:r>
              <a:rPr sz="1800" spc="2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both</a:t>
            </a:r>
            <a:r>
              <a:rPr sz="1800" spc="2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code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2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data) 	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1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travels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one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computer</a:t>
            </a:r>
            <a:r>
              <a:rPr sz="1800" spc="1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another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1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network</a:t>
            </a:r>
            <a:r>
              <a:rPr sz="1800" spc="1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carrying</a:t>
            </a:r>
            <a:r>
              <a:rPr sz="1800" spc="1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out</a:t>
            </a:r>
            <a:r>
              <a:rPr sz="1800" spc="17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 	</a:t>
            </a:r>
            <a:r>
              <a:rPr sz="1800" dirty="0">
                <a:latin typeface="Arial MT"/>
                <a:cs typeface="Arial MT"/>
              </a:rPr>
              <a:t>task</a:t>
            </a:r>
            <a:r>
              <a:rPr sz="1800" spc="229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22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someone’s</a:t>
            </a:r>
            <a:r>
              <a:rPr sz="1800" spc="229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behalf,</a:t>
            </a:r>
            <a:r>
              <a:rPr sz="1800" spc="229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such</a:t>
            </a:r>
            <a:r>
              <a:rPr sz="1800" spc="22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229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collecting</a:t>
            </a:r>
            <a:r>
              <a:rPr sz="1800" spc="235" dirty="0">
                <a:latin typeface="Arial MT"/>
                <a:cs typeface="Arial MT"/>
              </a:rPr>
              <a:t>  </a:t>
            </a:r>
            <a:r>
              <a:rPr sz="1800" dirty="0">
                <a:latin typeface="Arial MT"/>
                <a:cs typeface="Arial MT"/>
              </a:rPr>
              <a:t>information,</a:t>
            </a:r>
            <a:r>
              <a:rPr sz="1800" spc="235" dirty="0">
                <a:latin typeface="Arial MT"/>
                <a:cs typeface="Arial MT"/>
              </a:rPr>
              <a:t>  </a:t>
            </a:r>
            <a:r>
              <a:rPr sz="1800" spc="-25" dirty="0">
                <a:latin typeface="Arial MT"/>
                <a:cs typeface="Arial MT"/>
              </a:rPr>
              <a:t>and 	</a:t>
            </a:r>
            <a:r>
              <a:rPr sz="1800" dirty="0">
                <a:latin typeface="Arial MT"/>
                <a:cs typeface="Arial MT"/>
              </a:rPr>
              <a:t>eventually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returning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 the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results.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Architectural</a:t>
            </a:r>
            <a:r>
              <a:rPr spc="-90" dirty="0"/>
              <a:t> </a:t>
            </a:r>
            <a:r>
              <a:rPr spc="-10" dirty="0"/>
              <a:t>Elements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079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Types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Distributed</a:t>
            </a:r>
            <a:r>
              <a:rPr b="1" spc="-140" dirty="0">
                <a:latin typeface="Calibri"/>
                <a:cs typeface="Calibri"/>
              </a:rPr>
              <a:t> </a:t>
            </a:r>
            <a:r>
              <a:rPr b="1" spc="-45" dirty="0">
                <a:latin typeface="Calibri"/>
                <a:cs typeface="Calibri"/>
              </a:rPr>
              <a:t>Systems-</a:t>
            </a:r>
            <a:r>
              <a:rPr b="1" spc="-50" dirty="0">
                <a:latin typeface="Calibri"/>
                <a:cs typeface="Calibri"/>
              </a:rPr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36752" y="999235"/>
            <a:ext cx="7665084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Char char="–"/>
              <a:tabLst>
                <a:tab pos="469900" algn="l"/>
                <a:tab pos="1212215" algn="l"/>
                <a:tab pos="2261870" algn="l"/>
                <a:tab pos="2717800" algn="l"/>
                <a:tab pos="3357879" algn="l"/>
                <a:tab pos="4984750" algn="l"/>
                <a:tab pos="6610984" algn="l"/>
                <a:tab pos="7319645" algn="l"/>
              </a:tabLst>
            </a:pPr>
            <a:r>
              <a:rPr sz="2400" spc="-2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nodes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3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distributed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computing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can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5" dirty="0">
                <a:latin typeface="Arial MT"/>
                <a:cs typeface="Arial MT"/>
              </a:rPr>
              <a:t>be </a:t>
            </a:r>
            <a:r>
              <a:rPr sz="2400" dirty="0">
                <a:latin typeface="Arial MT"/>
                <a:cs typeface="Arial MT"/>
              </a:rPr>
              <a:t>arranged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of:</a:t>
            </a:r>
            <a:endParaRPr sz="2400">
              <a:latin typeface="Arial MT"/>
              <a:cs typeface="Arial MT"/>
            </a:endParaRPr>
          </a:p>
          <a:p>
            <a:pPr marL="868680" lvl="1" indent="-457200">
              <a:lnSpc>
                <a:spcPct val="100000"/>
              </a:lnSpc>
              <a:spcBef>
                <a:spcPts val="1205"/>
              </a:spcBef>
              <a:buChar char="•"/>
              <a:tabLst>
                <a:tab pos="868680" algn="l"/>
              </a:tabLst>
            </a:pPr>
            <a:r>
              <a:rPr sz="2000" dirty="0">
                <a:latin typeface="Arial MT"/>
                <a:cs typeface="Arial MT"/>
              </a:rPr>
              <a:t>Client/Server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systems</a:t>
            </a:r>
            <a:endParaRPr sz="2000">
              <a:latin typeface="Arial MT"/>
              <a:cs typeface="Arial MT"/>
            </a:endParaRPr>
          </a:p>
          <a:p>
            <a:pPr marL="868680" lvl="1" indent="-457200">
              <a:lnSpc>
                <a:spcPct val="100000"/>
              </a:lnSpc>
              <a:spcBef>
                <a:spcPts val="1200"/>
              </a:spcBef>
              <a:buChar char="•"/>
              <a:tabLst>
                <a:tab pos="868680" algn="l"/>
              </a:tabLst>
            </a:pPr>
            <a:r>
              <a:rPr sz="2000" dirty="0">
                <a:latin typeface="Arial MT"/>
                <a:cs typeface="Arial MT"/>
              </a:rPr>
              <a:t>Peer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Systems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840993"/>
            <a:ext cx="7844790" cy="518858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342265" marR="74295" indent="-342265" algn="r">
              <a:lnSpc>
                <a:spcPct val="100000"/>
              </a:lnSpc>
              <a:spcBef>
                <a:spcPts val="1110"/>
              </a:spcBef>
              <a:buFont typeface="Arial MT"/>
              <a:buChar char="•"/>
              <a:tabLst>
                <a:tab pos="342265" algn="l"/>
              </a:tabLst>
            </a:pPr>
            <a:r>
              <a:rPr sz="2000" b="1" dirty="0">
                <a:latin typeface="Arial"/>
                <a:cs typeface="Arial"/>
              </a:rPr>
              <a:t>Servers: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Generally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provide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services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related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shared</a:t>
            </a:r>
            <a:r>
              <a:rPr sz="2000" i="1" spc="-8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resource</a:t>
            </a:r>
            <a:r>
              <a:rPr sz="2000" spc="-1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marL="349885" marR="34290" lvl="1" indent="-349885" algn="r">
              <a:lnSpc>
                <a:spcPct val="100000"/>
              </a:lnSpc>
              <a:spcBef>
                <a:spcPts val="905"/>
              </a:spcBef>
              <a:buFont typeface="Wingdings"/>
              <a:buChar char=""/>
              <a:tabLst>
                <a:tab pos="349885" algn="l"/>
              </a:tabLst>
            </a:pPr>
            <a:r>
              <a:rPr sz="1800" dirty="0">
                <a:latin typeface="Arial MT"/>
                <a:cs typeface="Arial MT"/>
              </a:rPr>
              <a:t>Servers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systems,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databases,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implementation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repositories,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etc.</a:t>
            </a:r>
            <a:endParaRPr sz="1800">
              <a:latin typeface="Arial MT"/>
              <a:cs typeface="Arial MT"/>
            </a:endParaRPr>
          </a:p>
          <a:p>
            <a:pPr marL="819785" lvl="1" indent="-349885">
              <a:lnSpc>
                <a:spcPct val="100000"/>
              </a:lnSpc>
              <a:spcBef>
                <a:spcPts val="905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Servers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shared,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documents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(Web,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VoD)</a:t>
            </a:r>
            <a:endParaRPr sz="1800">
              <a:latin typeface="Arial MT"/>
              <a:cs typeface="Arial MT"/>
            </a:endParaRPr>
          </a:p>
          <a:p>
            <a:pPr marL="819785" lvl="1" indent="-349885">
              <a:lnSpc>
                <a:spcPct val="100000"/>
              </a:lnSpc>
              <a:spcBef>
                <a:spcPts val="900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Servers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shared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applications</a:t>
            </a:r>
            <a:endParaRPr sz="1800">
              <a:latin typeface="Arial MT"/>
              <a:cs typeface="Arial MT"/>
            </a:endParaRPr>
          </a:p>
          <a:p>
            <a:pPr marL="819785" lvl="1" indent="-349885">
              <a:lnSpc>
                <a:spcPct val="100000"/>
              </a:lnSpc>
              <a:spcBef>
                <a:spcPts val="900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Servers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shared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distributed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objects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dirty="0">
                <a:latin typeface="Arial"/>
                <a:cs typeface="Arial"/>
              </a:rPr>
              <a:t>Clients: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Allow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remote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service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access:</a:t>
            </a:r>
            <a:endParaRPr sz="2000">
              <a:latin typeface="Arial MT"/>
              <a:cs typeface="Arial MT"/>
            </a:endParaRPr>
          </a:p>
          <a:p>
            <a:pPr marL="812165" lvl="1" indent="-342265">
              <a:lnSpc>
                <a:spcPts val="2030"/>
              </a:lnSpc>
              <a:spcBef>
                <a:spcPts val="844"/>
              </a:spcBef>
              <a:buSzPct val="88888"/>
              <a:buFont typeface="Wingdings"/>
              <a:buChar char=""/>
              <a:tabLst>
                <a:tab pos="812165" algn="l"/>
              </a:tabLst>
            </a:pPr>
            <a:r>
              <a:rPr sz="1800" dirty="0">
                <a:latin typeface="Arial MT"/>
                <a:cs typeface="Arial MT"/>
              </a:rPr>
              <a:t>Programming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interface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transforming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client’s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local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service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calls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</a:t>
            </a:r>
            <a:endParaRPr sz="1800">
              <a:latin typeface="Arial MT"/>
              <a:cs typeface="Arial MT"/>
            </a:endParaRPr>
          </a:p>
          <a:p>
            <a:pPr marL="756285">
              <a:lnSpc>
                <a:spcPts val="2030"/>
              </a:lnSpc>
            </a:pPr>
            <a:r>
              <a:rPr sz="1800" dirty="0">
                <a:latin typeface="Arial MT"/>
                <a:cs typeface="Arial MT"/>
              </a:rPr>
              <a:t>request/reply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messages</a:t>
            </a:r>
            <a:endParaRPr sz="1800">
              <a:latin typeface="Arial MT"/>
              <a:cs typeface="Arial MT"/>
            </a:endParaRPr>
          </a:p>
          <a:p>
            <a:pPr marL="756285" marR="104139" lvl="1" indent="-287020">
              <a:lnSpc>
                <a:spcPts val="2100"/>
              </a:lnSpc>
              <a:spcBef>
                <a:spcPts val="865"/>
              </a:spcBef>
              <a:buFont typeface="Wingdings"/>
              <a:buChar char=""/>
              <a:tabLst>
                <a:tab pos="756285" algn="l"/>
                <a:tab pos="819785" algn="l"/>
              </a:tabLst>
            </a:pP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Arial MT"/>
                <a:cs typeface="Arial MT"/>
              </a:rPr>
              <a:t>Devices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(relatively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simple)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digital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components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(barcode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readers, </a:t>
            </a:r>
            <a:r>
              <a:rPr sz="1800" dirty="0">
                <a:latin typeface="Arial MT"/>
                <a:cs typeface="Arial MT"/>
              </a:rPr>
              <a:t>teller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machines,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hand-</a:t>
            </a:r>
            <a:r>
              <a:rPr sz="1800" dirty="0">
                <a:latin typeface="Arial MT"/>
                <a:cs typeface="Arial MT"/>
              </a:rPr>
              <a:t>held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phones)</a:t>
            </a:r>
            <a:endParaRPr sz="1800">
              <a:latin typeface="Arial MT"/>
              <a:cs typeface="Arial MT"/>
            </a:endParaRPr>
          </a:p>
          <a:p>
            <a:pPr marL="819785" lvl="1" indent="-349885">
              <a:lnSpc>
                <a:spcPct val="100000"/>
              </a:lnSpc>
              <a:spcBef>
                <a:spcPts val="840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Computers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independent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interfaces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specific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services</a:t>
            </a:r>
            <a:endParaRPr sz="1800">
              <a:latin typeface="Arial MT"/>
              <a:cs typeface="Arial MT"/>
            </a:endParaRPr>
          </a:p>
          <a:p>
            <a:pPr marL="819785" lvl="1" indent="-349885">
              <a:lnSpc>
                <a:spcPts val="2130"/>
              </a:lnSpc>
              <a:spcBef>
                <a:spcPts val="840"/>
              </a:spcBef>
              <a:buFont typeface="Wingdings"/>
              <a:buChar char=""/>
              <a:tabLst>
                <a:tab pos="819785" algn="l"/>
              </a:tabLst>
            </a:pPr>
            <a:r>
              <a:rPr sz="1800" dirty="0">
                <a:latin typeface="Arial MT"/>
                <a:cs typeface="Arial MT"/>
              </a:rPr>
              <a:t>Computers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providing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integrated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interface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related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services</a:t>
            </a:r>
            <a:endParaRPr sz="1800">
              <a:latin typeface="Arial MT"/>
              <a:cs typeface="Arial MT"/>
            </a:endParaRPr>
          </a:p>
          <a:p>
            <a:pPr marL="756285">
              <a:lnSpc>
                <a:spcPts val="2130"/>
              </a:lnSpc>
            </a:pPr>
            <a:r>
              <a:rPr sz="1800" dirty="0">
                <a:latin typeface="Arial MT"/>
                <a:cs typeface="Arial MT"/>
              </a:rPr>
              <a:t>(compound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documents)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Client-</a:t>
            </a:r>
            <a:r>
              <a:rPr dirty="0"/>
              <a:t>Server</a:t>
            </a:r>
            <a:r>
              <a:rPr spc="90" dirty="0"/>
              <a:t> </a:t>
            </a:r>
            <a:r>
              <a:rPr spc="-10" dirty="0"/>
              <a:t>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48044"/>
            <a:ext cx="8676005" cy="396240"/>
            <a:chOff x="0" y="6448044"/>
            <a:chExt cx="8676005" cy="39624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52616"/>
              <a:ext cx="1447800" cy="39166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452616"/>
              <a:ext cx="8676005" cy="0"/>
            </a:xfrm>
            <a:custGeom>
              <a:avLst/>
              <a:gdLst/>
              <a:ahLst/>
              <a:cxnLst/>
              <a:rect l="l" t="t" r="r" b="b"/>
              <a:pathLst>
                <a:path w="8676005">
                  <a:moveTo>
                    <a:pt x="0" y="0"/>
                  </a:moveTo>
                  <a:lnTo>
                    <a:pt x="867600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Client-</a:t>
            </a:r>
            <a:r>
              <a:rPr dirty="0"/>
              <a:t>Server</a:t>
            </a:r>
            <a:r>
              <a:rPr spc="90" dirty="0"/>
              <a:t> </a:t>
            </a:r>
            <a:r>
              <a:rPr spc="-10" dirty="0"/>
              <a:t>Model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635" y="999870"/>
            <a:ext cx="25190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Application</a:t>
            </a:r>
            <a:r>
              <a:rPr sz="2000" b="1" spc="-65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F81BB"/>
                </a:solidFill>
                <a:latin typeface="Arial"/>
                <a:cs typeface="Arial"/>
              </a:rPr>
              <a:t>Layering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095" y="1751076"/>
            <a:ext cx="6944868" cy="378104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35" y="974852"/>
            <a:ext cx="8083550" cy="3836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790" marR="5080" indent="-33909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spc="-40" dirty="0">
                <a:latin typeface="Calibri"/>
                <a:cs typeface="Calibri"/>
              </a:rPr>
              <a:t>Peer-</a:t>
            </a:r>
            <a:r>
              <a:rPr sz="2400" b="1" spc="-45" dirty="0">
                <a:latin typeface="Calibri"/>
                <a:cs typeface="Calibri"/>
              </a:rPr>
              <a:t>to-</a:t>
            </a:r>
            <a:r>
              <a:rPr sz="2400" b="1" dirty="0">
                <a:latin typeface="Calibri"/>
                <a:cs typeface="Calibri"/>
              </a:rPr>
              <a:t>peer</a:t>
            </a:r>
            <a:r>
              <a:rPr sz="2400" b="1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b="1" dirty="0">
                <a:latin typeface="Calibri"/>
                <a:cs typeface="Calibri"/>
              </a:rPr>
              <a:t>P2P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computing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networking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distributed 	</a:t>
            </a:r>
            <a:r>
              <a:rPr sz="2400" dirty="0">
                <a:latin typeface="Calibri"/>
                <a:cs typeface="Calibri"/>
              </a:rPr>
              <a:t>application</a:t>
            </a:r>
            <a:r>
              <a:rPr sz="2400" spc="5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architecture</a:t>
            </a:r>
            <a:r>
              <a:rPr sz="2400" spc="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partitions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workloads 	between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peers.</a:t>
            </a:r>
            <a:endParaRPr sz="2400">
              <a:latin typeface="Calibri"/>
              <a:cs typeface="Calibri"/>
            </a:endParaRPr>
          </a:p>
          <a:p>
            <a:pPr marL="351790" marR="5715" indent="-339090" algn="just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Peers</a:t>
            </a:r>
            <a:r>
              <a:rPr sz="2400" spc="4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4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equally</a:t>
            </a:r>
            <a:r>
              <a:rPr sz="2400" spc="45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privileged,</a:t>
            </a:r>
            <a:r>
              <a:rPr sz="2400" spc="4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equipotent</a:t>
            </a:r>
            <a:r>
              <a:rPr sz="2400" spc="4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participants</a:t>
            </a:r>
            <a:r>
              <a:rPr sz="2400" spc="4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4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application.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said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peer-</a:t>
            </a:r>
            <a:r>
              <a:rPr sz="2400" spc="-30" dirty="0">
                <a:latin typeface="Calibri"/>
                <a:cs typeface="Calibri"/>
              </a:rPr>
              <a:t>to-</a:t>
            </a:r>
            <a:r>
              <a:rPr sz="2400" dirty="0">
                <a:latin typeface="Calibri"/>
                <a:cs typeface="Calibri"/>
              </a:rPr>
              <a:t>peer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spc="-10" dirty="0">
                <a:latin typeface="Calibri"/>
                <a:cs typeface="Calibri"/>
              </a:rPr>
              <a:t>nodes.</a:t>
            </a:r>
            <a:endParaRPr sz="2400">
              <a:latin typeface="Calibri"/>
              <a:cs typeface="Calibri"/>
            </a:endParaRPr>
          </a:p>
          <a:p>
            <a:pPr marL="351790" marR="5080" indent="-339090" algn="just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Peers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portion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resources,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3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processing 	</a:t>
            </a:r>
            <a:r>
              <a:rPr sz="2400" dirty="0">
                <a:latin typeface="Calibri"/>
                <a:cs typeface="Calibri"/>
              </a:rPr>
              <a:t>power,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storage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bandwidth,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directly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available 	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3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3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participants,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3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3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3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central 	</a:t>
            </a:r>
            <a:r>
              <a:rPr sz="2400" spc="-20" dirty="0">
                <a:latin typeface="Calibri"/>
                <a:cs typeface="Calibri"/>
              </a:rPr>
              <a:t>coordination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servers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stable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hosts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7" name="object 7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dirty="0"/>
              <a:t>P2P</a:t>
            </a:r>
            <a:r>
              <a:rPr spc="705" dirty="0"/>
              <a:t> </a:t>
            </a:r>
            <a:r>
              <a:rPr spc="-20" dirty="0"/>
              <a:t>Model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7"/>
          <p:cNvGrpSpPr/>
          <p:nvPr/>
        </p:nvGrpSpPr>
        <p:grpSpPr>
          <a:xfrm>
            <a:off x="0" y="0"/>
            <a:ext cx="8677275" cy="981710"/>
            <a:chOff x="0" y="0"/>
            <a:chExt cx="8677275" cy="981710"/>
          </a:xfrm>
        </p:grpSpPr>
        <p:sp>
          <p:nvSpPr>
            <p:cNvPr id="8" name="object 8"/>
            <p:cNvSpPr/>
            <p:nvPr/>
          </p:nvSpPr>
          <p:spPr>
            <a:xfrm>
              <a:off x="792480" y="908303"/>
              <a:ext cx="7884795" cy="0"/>
            </a:xfrm>
            <a:custGeom>
              <a:avLst/>
              <a:gdLst/>
              <a:ahLst/>
              <a:cxnLst/>
              <a:rect l="l" t="t" r="r" b="b"/>
              <a:pathLst>
                <a:path w="7884795">
                  <a:moveTo>
                    <a:pt x="0" y="0"/>
                  </a:moveTo>
                  <a:lnTo>
                    <a:pt x="788479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P2P</a:t>
            </a:r>
            <a:r>
              <a:rPr spc="705" dirty="0"/>
              <a:t> </a:t>
            </a:r>
            <a:r>
              <a:rPr spc="-20" dirty="0"/>
              <a:t>Model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35940" y="999185"/>
            <a:ext cx="19215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Peer</a:t>
            </a:r>
            <a:r>
              <a:rPr sz="2000" b="1" spc="-40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to</a:t>
            </a:r>
            <a:r>
              <a:rPr sz="2000" b="1" spc="-50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F81BB"/>
                </a:solidFill>
                <a:latin typeface="Arial"/>
                <a:cs typeface="Arial"/>
              </a:rPr>
              <a:t>Peer</a:t>
            </a:r>
            <a:r>
              <a:rPr sz="2000" b="1" spc="-10" dirty="0">
                <a:solidFill>
                  <a:srgbClr val="4F81BB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4F81BB"/>
                </a:solidFill>
                <a:latin typeface="Arial"/>
                <a:cs typeface="Arial"/>
              </a:rPr>
              <a:t>DS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8640" y="1408727"/>
            <a:ext cx="107314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095" y="1484375"/>
            <a:ext cx="4648200" cy="457271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6448044"/>
            <a:ext cx="8676005" cy="396240"/>
            <a:chOff x="0" y="6448044"/>
            <a:chExt cx="8676005" cy="39624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452616"/>
              <a:ext cx="1447800" cy="39166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6452616"/>
              <a:ext cx="8676005" cy="0"/>
            </a:xfrm>
            <a:custGeom>
              <a:avLst/>
              <a:gdLst/>
              <a:ahLst/>
              <a:cxnLst/>
              <a:rect l="l" t="t" r="r" b="b"/>
              <a:pathLst>
                <a:path w="8676005">
                  <a:moveTo>
                    <a:pt x="0" y="0"/>
                  </a:moveTo>
                  <a:lnTo>
                    <a:pt x="8676005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0" y="0"/>
            <a:ext cx="8749665" cy="986155"/>
            <a:chOff x="0" y="0"/>
            <a:chExt cx="8749665" cy="986155"/>
          </a:xfrm>
        </p:grpSpPr>
        <p:sp>
          <p:nvSpPr>
            <p:cNvPr id="6" name="object 6"/>
            <p:cNvSpPr/>
            <p:nvPr/>
          </p:nvSpPr>
          <p:spPr>
            <a:xfrm>
              <a:off x="486155" y="981455"/>
              <a:ext cx="8263255" cy="0"/>
            </a:xfrm>
            <a:custGeom>
              <a:avLst/>
              <a:gdLst/>
              <a:ahLst/>
              <a:cxnLst/>
              <a:rect l="l" t="t" r="r" b="b"/>
              <a:pathLst>
                <a:path w="8263255">
                  <a:moveTo>
                    <a:pt x="0" y="0"/>
                  </a:moveTo>
                  <a:lnTo>
                    <a:pt x="8263128" y="0"/>
                  </a:lnTo>
                </a:path>
              </a:pathLst>
            </a:custGeom>
            <a:ln w="9144">
              <a:solidFill>
                <a:srgbClr val="48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31163" cy="98145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499609" y="182626"/>
            <a:ext cx="6445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latin typeface="Calibri"/>
                <a:cs typeface="Calibri"/>
              </a:rPr>
              <a:t>End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5284" y="1412747"/>
            <a:ext cx="2901695" cy="288645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0" dirty="0"/>
              <a:t>Distributed</a:t>
            </a:r>
            <a:r>
              <a:rPr spc="45" dirty="0"/>
              <a:t> </a:t>
            </a:r>
            <a:r>
              <a:rPr spc="-20" dirty="0"/>
              <a:t>Computing</a:t>
            </a:r>
            <a:r>
              <a:rPr spc="60" dirty="0"/>
              <a:t> </a:t>
            </a:r>
            <a:r>
              <a:rPr spc="-25" dirty="0"/>
              <a:t>@2024-</a:t>
            </a:r>
            <a:r>
              <a:rPr spc="-20" dirty="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</TotalTime>
  <Words>4050</Words>
  <Application>Microsoft Macintosh PowerPoint</Application>
  <PresentationFormat>On-screen Show (4:3)</PresentationFormat>
  <Paragraphs>621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8" baseType="lpstr">
      <vt:lpstr>Aptos</vt:lpstr>
      <vt:lpstr>Arial</vt:lpstr>
      <vt:lpstr>Arial MT</vt:lpstr>
      <vt:lpstr>Calibri</vt:lpstr>
      <vt:lpstr>Courier New</vt:lpstr>
      <vt:lpstr>Symbol</vt:lpstr>
      <vt:lpstr>Times New Roman</vt:lpstr>
      <vt:lpstr>Wingdings</vt:lpstr>
      <vt:lpstr>Office Theme</vt:lpstr>
      <vt:lpstr>Introduction to Distributed Systems</vt:lpstr>
      <vt:lpstr>Contents</vt:lpstr>
      <vt:lpstr>1. Introduction-1</vt:lpstr>
      <vt:lpstr>Introduction-2</vt:lpstr>
      <vt:lpstr>Introduction-3</vt:lpstr>
      <vt:lpstr>Introduction-3</vt:lpstr>
      <vt:lpstr>Introduction-4</vt:lpstr>
      <vt:lpstr>Introduction-5</vt:lpstr>
      <vt:lpstr>Why Parallel and distributed Computing-2 ?</vt:lpstr>
      <vt:lpstr>PowerPoint Presentation</vt:lpstr>
      <vt:lpstr>3. Advantages of Distributed System over Centralized systems</vt:lpstr>
      <vt:lpstr>Advantages of Distributed Systems over Independent PCs</vt:lpstr>
      <vt:lpstr>Disadvantages of Distributed Systems</vt:lpstr>
      <vt:lpstr>4. Distributed System Goals</vt:lpstr>
      <vt:lpstr>Distributed Systems Goals in details</vt:lpstr>
      <vt:lpstr>1. Transparency (cont’d)</vt:lpstr>
      <vt:lpstr>2. Openness</vt:lpstr>
      <vt:lpstr>2. Openness (cont’d)</vt:lpstr>
      <vt:lpstr>3. Scalability</vt:lpstr>
      <vt:lpstr>3. Scalability: Techniques of Scaling</vt:lpstr>
      <vt:lpstr>3. Scalability: Scaling problem</vt:lpstr>
      <vt:lpstr>5. Distributed Systems Challenges-1</vt:lpstr>
      <vt:lpstr>Distributed Systems Challenges-2</vt:lpstr>
      <vt:lpstr>False assumptions when developing DS</vt:lpstr>
      <vt:lpstr>6. Distributed Systems: Hardware concepts</vt:lpstr>
      <vt:lpstr>Distributed Systems: Hardware concepts</vt:lpstr>
      <vt:lpstr>Distributed Systems: Hardware concepts</vt:lpstr>
      <vt:lpstr>Distributed Systems: Hardware concepts</vt:lpstr>
      <vt:lpstr>3. Networks of Computers</vt:lpstr>
      <vt:lpstr>Distributed Systems: Software concepts</vt:lpstr>
      <vt:lpstr>Distributed Systems: Software concepts</vt:lpstr>
      <vt:lpstr>Distributed Systems: Software concepts</vt:lpstr>
      <vt:lpstr>Distributed Systems: Software concepts</vt:lpstr>
      <vt:lpstr>Distributed Systems: Software concepts</vt:lpstr>
      <vt:lpstr>Distributed Systems: Software concepts</vt:lpstr>
      <vt:lpstr>Distributed Systems: Software concepts</vt:lpstr>
      <vt:lpstr>Distributed Systems: Software concepts</vt:lpstr>
      <vt:lpstr>Distributed Systems: Software concepts</vt:lpstr>
      <vt:lpstr>Distributed Systems: Software concepts</vt:lpstr>
      <vt:lpstr>7. DS Architecture Models</vt:lpstr>
      <vt:lpstr>Architecture Models-2</vt:lpstr>
      <vt:lpstr>Architectural Elements</vt:lpstr>
      <vt:lpstr>Architectural Elements</vt:lpstr>
      <vt:lpstr>Architectural Elements</vt:lpstr>
      <vt:lpstr>Architectural Elements</vt:lpstr>
      <vt:lpstr>Architectural Elements</vt:lpstr>
      <vt:lpstr>Architectural Elements</vt:lpstr>
      <vt:lpstr>Architectural Elements</vt:lpstr>
      <vt:lpstr>Architectural Elements</vt:lpstr>
      <vt:lpstr>Architectural Elements</vt:lpstr>
      <vt:lpstr>Architectural Elements</vt:lpstr>
      <vt:lpstr>Architectural Elements</vt:lpstr>
      <vt:lpstr>Architectural Elements</vt:lpstr>
      <vt:lpstr>Types of Distributed Systems-1</vt:lpstr>
      <vt:lpstr>Client-Server Model</vt:lpstr>
      <vt:lpstr>Client-Server Model</vt:lpstr>
      <vt:lpstr>P2P Model</vt:lpstr>
      <vt:lpstr>P2P Model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SYSTEMS</dc:title>
  <dc:creator>Administrator</dc:creator>
  <cp:lastModifiedBy>Rwigema James</cp:lastModifiedBy>
  <cp:revision>4</cp:revision>
  <dcterms:created xsi:type="dcterms:W3CDTF">2026-10-04T05:30:36Z</dcterms:created>
  <dcterms:modified xsi:type="dcterms:W3CDTF">2026-10-10T12:22:22Z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2025-02-10T00:00:00Z</vt:filetime>
  </property>
  <property fmtid="{D5CDD505-2E9C-101B-9397-08002B2CF9AE}" pid="4" name="Creator">
    <vt:lpwstr>Microsoft® PowerPoint® 2013</vt:lpwstr>
  </property>
  <property fmtid="{D5CDD505-2E9C-101B-9397-08002B2CF9AE}" pid="5" name="LastSaved">
    <vt:filetime>2026-10-04T00:00:00Z</vt:filetime>
  </property>
  <property fmtid="{D5CDD505-2E9C-101B-9397-08002B2CF9AE}" pid="6" name="Producer">
    <vt:lpwstr>Microsoft® PowerPoint® 2013</vt:lpwstr>
  </property>
</Properties>
</file>