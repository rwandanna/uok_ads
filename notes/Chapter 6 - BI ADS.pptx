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9" r:id="rId1"/>
  </p:sldMasterIdLst>
  <p:notesMasterIdLst>
    <p:notesMasterId r:id="rId67"/>
  </p:notesMasterIdLst>
  <p:handoutMasterIdLst>
    <p:handoutMasterId r:id="rId68"/>
  </p:handoutMasterIdLst>
  <p:sldIdLst>
    <p:sldId id="384" r:id="rId2"/>
    <p:sldId id="357" r:id="rId3"/>
    <p:sldId id="327" r:id="rId4"/>
    <p:sldId id="376" r:id="rId5"/>
    <p:sldId id="377" r:id="rId6"/>
    <p:sldId id="272" r:id="rId7"/>
    <p:sldId id="379" r:id="rId8"/>
    <p:sldId id="261" r:id="rId9"/>
    <p:sldId id="262" r:id="rId10"/>
    <p:sldId id="263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28" r:id="rId20"/>
    <p:sldId id="331" r:id="rId21"/>
    <p:sldId id="329" r:id="rId22"/>
    <p:sldId id="358" r:id="rId23"/>
    <p:sldId id="385" r:id="rId24"/>
    <p:sldId id="378" r:id="rId25"/>
    <p:sldId id="325" r:id="rId26"/>
    <p:sldId id="281" r:id="rId27"/>
    <p:sldId id="313" r:id="rId28"/>
    <p:sldId id="336" r:id="rId29"/>
    <p:sldId id="386" r:id="rId30"/>
    <p:sldId id="337" r:id="rId31"/>
    <p:sldId id="380" r:id="rId32"/>
    <p:sldId id="335" r:id="rId33"/>
    <p:sldId id="315" r:id="rId34"/>
    <p:sldId id="359" r:id="rId35"/>
    <p:sldId id="341" r:id="rId36"/>
    <p:sldId id="297" r:id="rId37"/>
    <p:sldId id="374" r:id="rId38"/>
    <p:sldId id="355" r:id="rId39"/>
    <p:sldId id="356" r:id="rId40"/>
    <p:sldId id="286" r:id="rId41"/>
    <p:sldId id="361" r:id="rId42"/>
    <p:sldId id="360" r:id="rId43"/>
    <p:sldId id="363" r:id="rId44"/>
    <p:sldId id="364" r:id="rId45"/>
    <p:sldId id="342" r:id="rId46"/>
    <p:sldId id="344" r:id="rId47"/>
    <p:sldId id="365" r:id="rId48"/>
    <p:sldId id="366" r:id="rId49"/>
    <p:sldId id="343" r:id="rId50"/>
    <p:sldId id="348" r:id="rId51"/>
    <p:sldId id="347" r:id="rId52"/>
    <p:sldId id="346" r:id="rId53"/>
    <p:sldId id="345" r:id="rId54"/>
    <p:sldId id="349" r:id="rId55"/>
    <p:sldId id="351" r:id="rId56"/>
    <p:sldId id="352" r:id="rId57"/>
    <p:sldId id="350" r:id="rId58"/>
    <p:sldId id="367" r:id="rId59"/>
    <p:sldId id="368" r:id="rId60"/>
    <p:sldId id="381" r:id="rId61"/>
    <p:sldId id="369" r:id="rId62"/>
    <p:sldId id="370" r:id="rId63"/>
    <p:sldId id="371" r:id="rId64"/>
    <p:sldId id="372" r:id="rId65"/>
    <p:sldId id="373" r:id="rId6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1" autoAdjust="0"/>
    <p:restoredTop sz="94861" autoAdjust="0"/>
  </p:normalViewPr>
  <p:slideViewPr>
    <p:cSldViewPr>
      <p:cViewPr varScale="1">
        <p:scale>
          <a:sx n="112" d="100"/>
          <a:sy n="112" d="100"/>
        </p:scale>
        <p:origin x="17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177FFD-BFA0-14A4-70CD-252EF95A7B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UR-College of Science ant Technology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A68DD-35B5-66C7-4874-256AE5A59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E2CE30-6E73-6C46-B11E-20C6E94175D2}" type="datetime1">
              <a:rPr lang="en-US"/>
              <a:pPr>
                <a:defRPr/>
              </a:pPr>
              <a:t>10/10/26</a:t>
            </a:fld>
            <a:endParaRPr lang="en-R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1B277-DC14-9886-ABA5-EF74360214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Dr. James Rwigema</a:t>
            </a:r>
            <a:endParaRPr lang="en-R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49C26-81C8-EBB4-6B4B-9A01BF00ED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B57B04E-060B-8741-B7CF-29909B8AEEAA}" type="slidenum">
              <a:rPr lang="en-RW"/>
              <a:pPr>
                <a:defRPr/>
              </a:pPr>
              <a:t>‹#›</a:t>
            </a:fld>
            <a:endParaRPr lang="en-R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4BA417-66F0-1817-A9F7-878DC74328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UR-College of Science ant Technology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A5888-3B56-53FB-C622-00E71BEF6F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B62AF98-238D-B64E-8480-EAC7BF6C4058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8909E4-8684-66C8-3D3E-A8F8EEE0C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1F73AC-02B4-A1B9-8524-B521373D2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42620-C454-CFD9-1AD8-D6DD9E28A2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AFE97-41F7-E5C8-167C-E8AFB6D82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5AD41A5-9EFF-3948-8888-37BF783EF8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>
            <a:extLst>
              <a:ext uri="{FF2B5EF4-FFF2-40B4-BE49-F238E27FC236}">
                <a16:creationId xmlns:a16="http://schemas.microsoft.com/office/drawing/2014/main" id="{16D9DE35-569F-13F9-2220-EF1C06D91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2" name="Notes Placeholder 2">
            <a:extLst>
              <a:ext uri="{FF2B5EF4-FFF2-40B4-BE49-F238E27FC236}">
                <a16:creationId xmlns:a16="http://schemas.microsoft.com/office/drawing/2014/main" id="{37CDB6C2-534D-C315-49DE-CFB4630B8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RW" altLang="en-RW"/>
          </a:p>
        </p:txBody>
      </p:sp>
      <p:sp>
        <p:nvSpPr>
          <p:cNvPr id="87043" name="Header Placeholder 3">
            <a:extLst>
              <a:ext uri="{FF2B5EF4-FFF2-40B4-BE49-F238E27FC236}">
                <a16:creationId xmlns:a16="http://schemas.microsoft.com/office/drawing/2014/main" id="{A94B528C-1F3D-77E9-97DC-120F759D55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RW"/>
              <a:t>UR-College of Science ant Technology</a:t>
            </a:r>
          </a:p>
        </p:txBody>
      </p:sp>
      <p:sp>
        <p:nvSpPr>
          <p:cNvPr id="87044" name="Date Placeholder 4">
            <a:extLst>
              <a:ext uri="{FF2B5EF4-FFF2-40B4-BE49-F238E27FC236}">
                <a16:creationId xmlns:a16="http://schemas.microsoft.com/office/drawing/2014/main" id="{1691711A-C71C-6A4C-B605-AF43B1069C7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69C9C8-34F2-E845-9798-C196A61D0160}" type="datetime1">
              <a:rPr lang="en-US" altLang="en-RW" smtClean="0"/>
              <a:pPr/>
              <a:t>10/10/26</a:t>
            </a:fld>
            <a:endParaRPr lang="en-US" altLang="en-RW"/>
          </a:p>
        </p:txBody>
      </p:sp>
      <p:sp>
        <p:nvSpPr>
          <p:cNvPr id="87045" name="Footer Placeholder 5">
            <a:extLst>
              <a:ext uri="{FF2B5EF4-FFF2-40B4-BE49-F238E27FC236}">
                <a16:creationId xmlns:a16="http://schemas.microsoft.com/office/drawing/2014/main" id="{0B44C7E9-DFF6-1451-8D3E-19B7AAFED3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RW"/>
              <a:t>Dr. James Rwigema</a:t>
            </a:r>
          </a:p>
        </p:txBody>
      </p:sp>
      <p:sp>
        <p:nvSpPr>
          <p:cNvPr id="87046" name="Slide Number Placeholder 6">
            <a:extLst>
              <a:ext uri="{FF2B5EF4-FFF2-40B4-BE49-F238E27FC236}">
                <a16:creationId xmlns:a16="http://schemas.microsoft.com/office/drawing/2014/main" id="{22BA1418-99C9-B035-2DEF-FCBFC2D91F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CD400F-8D81-F04F-96E7-8F2F5A171982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77FA98A8-4F30-1E36-DD5F-854D8B8BA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5D408A83-E4CA-DFEA-805E-C9C962645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RW" altLang="en-RW"/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5D5345B6-FA7A-085C-EA7D-AE274E1780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192173-57B0-114F-BD39-6B2DA97670A2}" type="slidenum">
              <a:rPr lang="en-US" altLang="en-US" smtClean="0"/>
              <a:pPr/>
              <a:t>50</a:t>
            </a:fld>
            <a:endParaRPr lang="en-US" altLang="en-US"/>
          </a:p>
        </p:txBody>
      </p:sp>
      <p:sp>
        <p:nvSpPr>
          <p:cNvPr id="70660" name="Date Placeholder 1">
            <a:extLst>
              <a:ext uri="{FF2B5EF4-FFF2-40B4-BE49-F238E27FC236}">
                <a16:creationId xmlns:a16="http://schemas.microsoft.com/office/drawing/2014/main" id="{9C215A6D-512A-2429-B48A-9345D91A53B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46B6A8-FB07-B144-B4F1-1CDE126F4D1B}" type="datetime1">
              <a:rPr lang="en-US" altLang="en-RW" smtClean="0"/>
              <a:pPr/>
              <a:t>10/10/26</a:t>
            </a:fld>
            <a:endParaRPr lang="en-US" altLang="en-RW"/>
          </a:p>
        </p:txBody>
      </p:sp>
      <p:sp>
        <p:nvSpPr>
          <p:cNvPr id="70661" name="Footer Placeholder 2">
            <a:extLst>
              <a:ext uri="{FF2B5EF4-FFF2-40B4-BE49-F238E27FC236}">
                <a16:creationId xmlns:a16="http://schemas.microsoft.com/office/drawing/2014/main" id="{3713F889-5717-C3AB-C9A8-4ECD336909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RW"/>
              <a:t>Dr. James Rwigema</a:t>
            </a:r>
          </a:p>
        </p:txBody>
      </p:sp>
      <p:sp>
        <p:nvSpPr>
          <p:cNvPr id="70662" name="Header Placeholder 3">
            <a:extLst>
              <a:ext uri="{FF2B5EF4-FFF2-40B4-BE49-F238E27FC236}">
                <a16:creationId xmlns:a16="http://schemas.microsoft.com/office/drawing/2014/main" id="{80D27B3A-45BD-EC2A-C9AE-491C8E0ABD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RW"/>
              <a:t>UR-College of Science ant Technology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DB7F-8E6D-653E-89B2-E8E0FE71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6EC98-16B9-FF4B-A0DF-6FB06DC66C98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AC8F-F3C1-EF0B-82DD-27062CAA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A0EF7-4FFA-ABC1-FB2D-5D5CC649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99598-3A61-254E-85BC-924159DDFC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893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B6B7F-8849-836E-988F-9CD8217B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A8CC4-C353-1743-B758-00457B230CA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3811-248F-74F6-118D-1D21FEB8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2AE6-A457-4ED7-7BA6-13AA1731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C5CC4-B77B-A147-A6F3-2BFB8D812F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18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EB0CD-47B1-6FDF-2EC1-739A528A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570B6-CFFB-D041-BA2F-3A0C730EC39C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7BFB1-0AF4-A24C-E123-624EEF0C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62CF-2168-72F2-09A0-67F66237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1FFAD-8AA7-D84A-811C-C25158FFD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114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73FF5A-1945-F2EC-D332-1286DBDE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7B56F-8AE3-9645-9B79-7DA9DED6CFE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28E09E-9CE7-B7EA-4088-C27106BD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3A667F-F818-E33D-6483-2C8892C0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370F4-5C05-9B4B-9514-467DDD9811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69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A43A15A-6A89-8CC7-2930-27794C15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ACEE4-0F6E-4240-BE4E-8C0270721CF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EBCF10-CB73-B69C-DDBD-9031FA96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DB02CA-6FB4-64F3-BD1A-527596C0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99E7B-6B53-6A44-BBE8-025E790C63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3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C42F751-A686-2561-9150-3B12EEF3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80761-6A78-7740-9899-2EAEA78F844C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B13D08-E9F5-128C-4711-5518724F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41D1C0D-4E69-94CF-30B4-735E9736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5D25E-CD39-4E48-91A0-1E64963646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73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E0562A8-7D42-DE70-7022-2BFB6188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654C3-FBA2-2648-AA59-AE448F779CEB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5C3E8B-7002-B7DD-6D44-9AE39B72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099677-5CB5-5537-5127-6768035A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9E8AA-7F79-3042-B876-73B5649C91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10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F9E203B-78D5-33A0-C563-5975B776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47885-3619-5445-AF6D-4A9E9A4E86F3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628C8B-5A54-DA37-B965-0FAE78FC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AA83E4-D8CA-5898-05B4-187F0B85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96FCC-C105-4444-9D13-CC516BDD28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89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9768BE-375F-CE36-313B-57460520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BD5BF-44AB-DA4E-BF35-FE917820FF0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6588A3-EFBE-27D4-1358-DEB3F630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643FA6-CD98-EF3B-B910-D8ED029A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86D28-0524-EA4C-B5A6-52288040EF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40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BA7FD-97C5-BD70-8035-CEF882FA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92F8B-29E8-A74A-9432-02586CBE481C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2234B-134F-33D1-6923-93C7E252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8DBE1-3965-7FA8-0D80-BD697A0F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95B7-F56D-A847-B5BB-9D1D7DEEB6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74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5702-4A9E-3BE5-817D-557AB861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B7AEF-59F4-DF48-980E-FE904DD15201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663A-90AE-B9D9-2042-04E168B5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ECFFD-54CE-0FE1-C990-407FD32A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FB17-1358-C24C-9313-EF9CBDA3B8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5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394EFFA-0020-8BBF-5395-623A500D1DA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161778-81B0-F93C-78D3-AE30A5741A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9079D-F4AF-58DA-AED4-7DD3F2E2A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8DDDC-ADBE-CA4F-8400-E1D3B87FE38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C51C9-D350-9491-4D23-C22B962ED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B81E8-9B10-C415-F31E-B399D3985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48A8925-7E5D-5F4A-86B7-2C7FC4BA8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>
            <a:extLst>
              <a:ext uri="{FF2B5EF4-FFF2-40B4-BE49-F238E27FC236}">
                <a16:creationId xmlns:a16="http://schemas.microsoft.com/office/drawing/2014/main" id="{4CAC8EC4-A9B8-5BDA-4827-40D9A8E1AD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66D82B-D423-FD4E-BC0B-5E78B3239315}" type="slidenum">
              <a:rPr lang="en-US" altLang="en-US" smtClean="0">
                <a:solidFill>
                  <a:srgbClr val="898989"/>
                </a:solidFill>
              </a:rPr>
              <a:pPr/>
              <a:t>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9458" name="TextBox 10">
            <a:extLst>
              <a:ext uri="{FF2B5EF4-FFF2-40B4-BE49-F238E27FC236}">
                <a16:creationId xmlns:a16="http://schemas.microsoft.com/office/drawing/2014/main" id="{071C9957-A5DD-75C6-4C46-9A6733E9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0"/>
            <a:ext cx="5721350" cy="62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en-US" altLang="en-US" sz="2400" b="1" dirty="0">
                <a:latin typeface="Tahoma" panose="020B0604030504040204" pitchFamily="34" charset="0"/>
                <a:cs typeface="Tahoma" panose="020B0604030504040204" pitchFamily="34" charset="0"/>
              </a:rPr>
              <a:t>Business Intelligence Overview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B6DC5-4D8F-6C72-B771-01DD446707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3832134-3A6F-E049-B273-2F675355BE78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82E4D-029A-C2B5-C982-31D89E6F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7B892-BA17-6D6B-A7CC-4C7AA784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73225"/>
            <a:ext cx="7848600" cy="43434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Decision Making Process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Data, Information,knowledge,decision making-Action cycle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Intelligence-overview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Intelligence-Definition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Intelligence Process </a:t>
            </a:r>
            <a:endParaRPr lang="en-US" altLang="en-US" sz="2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Intelligence Components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en-US" sz="29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Intelligence Layers </a:t>
            </a:r>
            <a:endParaRPr lang="en-US" altLang="en-US" sz="2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9CED6834-B58E-2C1F-C52B-FFC5C3938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B75694-93C4-3C4D-8B28-BBC0960FCBDD}" type="slidenum">
              <a:rPr lang="en-US" altLang="en-US" smtClean="0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0483" name="TextBox 6">
            <a:extLst>
              <a:ext uri="{FF2B5EF4-FFF2-40B4-BE49-F238E27FC236}">
                <a16:creationId xmlns:a16="http://schemas.microsoft.com/office/drawing/2014/main" id="{3D9F3339-277F-004F-E2B6-A91C2BC55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68580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en-US" altLang="en-US" sz="2800" b="1">
                <a:latin typeface="Tahoma" panose="020B0604030504040204" pitchFamily="34" charset="0"/>
                <a:cs typeface="Tahoma" panose="020B0604030504040204" pitchFamily="34" charset="0"/>
              </a:rPr>
              <a:t>Introduction to Business Intelligence</a:t>
            </a:r>
            <a:endParaRPr lang="en-US" altLang="en-US" sz="2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A00A1F-DE5D-7B14-F9D7-8F76108080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F42A96-3E35-EC48-AAA8-6E555DFF4ED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6E120-AA8A-D96F-67EC-9DD847D0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1461A56-EAE2-64EE-B63E-FAA15C42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65425"/>
            <a:ext cx="7315200" cy="1325563"/>
          </a:xfrm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Equipping the Organization for Effective Decision Making and </a:t>
            </a:r>
            <a:r>
              <a:rPr lang="en-US" altLang="en-US" sz="2800" b="1" dirty="0">
                <a:latin typeface="+mn-lt"/>
                <a:cs typeface="Times New Roman" panose="02020603050405020304" pitchFamily="18" charset="0"/>
              </a:rPr>
              <a:t>Decision-Making Process </a:t>
            </a:r>
          </a:p>
        </p:txBody>
      </p:sp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6458F2F2-09D9-C2F8-BC07-FFB1B486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9F50FD-CE51-DC4C-867B-FC4E9EC96436}" type="slidenum">
              <a:rPr lang="en-US" altLang="en-US" smtClean="0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223DD-EDAD-1D49-1A5D-2899100C6F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77EEEC-22E0-9A4E-8926-2AF494A38E68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3DF45-7815-4A3E-6A3A-1E229F49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C211E17C-DB92-1604-F843-AA66957844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D8D539-5CE3-FD42-A3E3-609ACC2DBF92}" type="slidenum">
              <a:rPr lang="en-US" altLang="en-US" smtClean="0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57A09-21EE-9F31-7756-83BA31DAC395}"/>
              </a:ext>
            </a:extLst>
          </p:cNvPr>
          <p:cNvSpPr txBox="1"/>
          <p:nvPr/>
        </p:nvSpPr>
        <p:spPr>
          <a:xfrm>
            <a:off x="533400" y="1143000"/>
            <a:ext cx="7829550" cy="5159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0000"/>
                </a:solidFill>
                <a:latin typeface="+mn-lt"/>
              </a:rPr>
              <a:t>Decision making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is a daily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activity for any human being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When it comes to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business organizations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decision making </a:t>
            </a:r>
            <a:r>
              <a:rPr lang="en-US" sz="2400" dirty="0">
                <a:latin typeface="+mn-lt"/>
              </a:rPr>
              <a:t>is a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habit and a process </a:t>
            </a:r>
            <a:r>
              <a:rPr lang="en-US" sz="2400" dirty="0">
                <a:latin typeface="+mn-lt"/>
              </a:rPr>
              <a:t>as well.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0000"/>
                </a:solidFill>
                <a:latin typeface="+mn-lt"/>
              </a:rPr>
              <a:t>Effective and successful decisions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make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profit to the company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and unsuccessful ones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make losses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Therefore, corporate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decision making process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is the most </a:t>
            </a:r>
            <a:r>
              <a:rPr lang="en-US" sz="2400" b="1" dirty="0">
                <a:solidFill>
                  <a:srgbClr val="000000"/>
                </a:solidFill>
                <a:latin typeface="+mn-lt"/>
              </a:rPr>
              <a:t>critical process in any organization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.</a:t>
            </a: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B1013B93-14FC-2CC0-D1B4-0DAEFC72C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28600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1735D-61D0-A243-866F-AF651EDB99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26463C-D717-9B4F-93F0-886EC99936D2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C03C7-DC8E-8D2D-D5F8-67322667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0DA362D3-48E0-1926-C572-349312B06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8226E7-4C43-9B47-BD06-A263CAC5367E}" type="slidenum">
              <a:rPr lang="en-US" altLang="en-US" smtClean="0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3554" name="TextBox 5">
            <a:extLst>
              <a:ext uri="{FF2B5EF4-FFF2-40B4-BE49-F238E27FC236}">
                <a16:creationId xmlns:a16="http://schemas.microsoft.com/office/drawing/2014/main" id="{E59CC851-CBAA-B4E2-AB23-B727D7CD1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841375"/>
            <a:ext cx="8366125" cy="525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 the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decision-making process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, we choose one course of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action from a few possible alternatives.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 the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process of decision making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, we may use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many tools, techniques and perceptions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 addition, we may make our own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private decisions 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or may prefer a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collective decision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Usually,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decision making 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is hard.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Majority of corporate decisions involve some level of </a:t>
            </a:r>
            <a:r>
              <a:rPr lang="en-US" altLang="en-US" sz="19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dissatisfaction or conflict with another party</a:t>
            </a:r>
            <a:r>
              <a:rPr lang="en-US" altLang="en-US" sz="19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3555" name="TextBox 7">
            <a:extLst>
              <a:ext uri="{FF2B5EF4-FFF2-40B4-BE49-F238E27FC236}">
                <a16:creationId xmlns:a16="http://schemas.microsoft.com/office/drawing/2014/main" id="{691DAD6F-939B-8163-6422-7E807237D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457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Introduction cont’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96739-A2AB-D5CE-D146-CD8077EFF0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74C7828-E4A7-4E4D-828D-968D51BD26B0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C0C61-CC5B-B468-03AE-09BE4938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Content Placeholder 1">
            <a:extLst>
              <a:ext uri="{FF2B5EF4-FFF2-40B4-BE49-F238E27FC236}">
                <a16:creationId xmlns:a16="http://schemas.microsoft.com/office/drawing/2014/main" id="{25470EF4-FCE1-BEB6-463C-630D64CD5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57400"/>
            <a:ext cx="7886700" cy="32035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 b="1"/>
              <a:t>Decision making </a:t>
            </a:r>
            <a:r>
              <a:rPr lang="en-US" altLang="en-US" sz="2400"/>
              <a:t>can be </a:t>
            </a:r>
            <a:r>
              <a:rPr lang="en-US" altLang="en-US" sz="2400" b="1"/>
              <a:t>regarded as the mental processes resulting </a:t>
            </a:r>
            <a:r>
              <a:rPr lang="en-US" altLang="en-US" sz="2400"/>
              <a:t>in </a:t>
            </a:r>
            <a:r>
              <a:rPr lang="en-US" altLang="en-US" sz="2400" b="1">
                <a:solidFill>
                  <a:srgbClr val="FF0000"/>
                </a:solidFill>
              </a:rPr>
              <a:t>the selection of a course of action among several alternatives.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 b="1"/>
              <a:t>Every decision-making process </a:t>
            </a:r>
            <a:r>
              <a:rPr lang="en-US" altLang="en-US" sz="2400"/>
              <a:t>produces a </a:t>
            </a:r>
            <a:r>
              <a:rPr lang="en-US" altLang="en-US" sz="2400" b="1"/>
              <a:t>final choice</a:t>
            </a:r>
            <a:r>
              <a:rPr lang="en-US" altLang="en-US" sz="2400"/>
              <a:t>.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/>
              <a:t>The output can be an </a:t>
            </a:r>
            <a:r>
              <a:rPr lang="en-US" altLang="en-US" sz="2400" b="1"/>
              <a:t>action or an opinion of choice</a:t>
            </a:r>
            <a:r>
              <a:rPr lang="en-US" altLang="en-US" sz="2400"/>
              <a:t>.</a:t>
            </a:r>
          </a:p>
        </p:txBody>
      </p:sp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9C47EA40-4367-5850-2229-57CE839B5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2A084EE-F127-9948-84B2-2F60A1B78331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TextBox 5">
            <a:extLst>
              <a:ext uri="{FF2B5EF4-FFF2-40B4-BE49-F238E27FC236}">
                <a16:creationId xmlns:a16="http://schemas.microsoft.com/office/drawing/2014/main" id="{A3449869-5013-769E-E5FA-6D4104EFC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0" y="101758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/>
              <a:t>Introduction cont’</a:t>
            </a:r>
            <a:endParaRPr lang="en-US" altLang="en-US" sz="24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A6CB1-0423-C2A2-721B-D24B191184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48B895-33C6-544F-A44C-283CAAA7E9F5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875F9-B8D7-4446-C164-BF8E3EE5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3">
            <a:extLst>
              <a:ext uri="{FF2B5EF4-FFF2-40B4-BE49-F238E27FC236}">
                <a16:creationId xmlns:a16="http://schemas.microsoft.com/office/drawing/2014/main" id="{A786E3F2-8113-258A-F60B-8699A8DC42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62B7DC-E975-F344-AAC5-FBC13AADB043}" type="slidenum">
              <a:rPr lang="en-US" altLang="en-US" smtClean="0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5602" name="TextBox 5">
            <a:extLst>
              <a:ext uri="{FF2B5EF4-FFF2-40B4-BE49-F238E27FC236}">
                <a16:creationId xmlns:a16="http://schemas.microsoft.com/office/drawing/2014/main" id="{15E5E338-6C3A-E913-D2EA-630C63568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949450"/>
            <a:ext cx="7872412" cy="443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b="1">
                <a:latin typeface="Tahoma" panose="020B0604030504040204" pitchFamily="34" charset="0"/>
                <a:cs typeface="Tahoma" panose="020B0604030504040204" pitchFamily="34" charset="0"/>
              </a:rPr>
              <a:t>Decision making </a:t>
            </a: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is the 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process of making choices by identifying a decision, gathering information, and assessing alternative resolutions.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US" altLang="en-US" b="1">
                <a:latin typeface="Tahoma" panose="020B0604030504040204" pitchFamily="34" charset="0"/>
                <a:cs typeface="Tahoma" panose="020B0604030504040204" pitchFamily="34" charset="0"/>
              </a:rPr>
              <a:t>a step-by-step decision-making process </a:t>
            </a: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can help you make more </a:t>
            </a:r>
            <a:r>
              <a:rPr lang="en-US" altLang="en-US" b="1">
                <a:latin typeface="Tahoma" panose="020B0604030504040204" pitchFamily="34" charset="0"/>
                <a:cs typeface="Tahoma" panose="020B0604030504040204" pitchFamily="34" charset="0"/>
              </a:rPr>
              <a:t>deliberate, thoughtful decisions </a:t>
            </a: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by organizing relevant information and dening alternatives.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This approach increases the chances that you will choose the most satisfying alternative possible. </a:t>
            </a:r>
          </a:p>
        </p:txBody>
      </p:sp>
      <p:sp>
        <p:nvSpPr>
          <p:cNvPr id="25603" name="TextBox 6">
            <a:extLst>
              <a:ext uri="{FF2B5EF4-FFF2-40B4-BE49-F238E27FC236}">
                <a16:creationId xmlns:a16="http://schemas.microsoft.com/office/drawing/2014/main" id="{0BAEFFC4-3FC5-CF8E-A271-10AB0AEF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810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Definition:</a:t>
            </a:r>
          </a:p>
        </p:txBody>
      </p:sp>
      <p:sp>
        <p:nvSpPr>
          <p:cNvPr id="25604" name="TextBox 8">
            <a:extLst>
              <a:ext uri="{FF2B5EF4-FFF2-40B4-BE49-F238E27FC236}">
                <a16:creationId xmlns:a16="http://schemas.microsoft.com/office/drawing/2014/main" id="{FD57833E-A4D5-85C0-94DC-09C8A5E0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168400"/>
            <a:ext cx="4572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In general: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B226D-C7C6-D197-1852-8D4220F593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1BF2F1E-9893-504B-BEAB-B4D7EC42197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6D9C5-6F6E-70B9-83BB-F14C4955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Content Placeholder 1">
            <a:extLst>
              <a:ext uri="{FF2B5EF4-FFF2-40B4-BE49-F238E27FC236}">
                <a16:creationId xmlns:a16="http://schemas.microsoft.com/office/drawing/2014/main" id="{C2CCB258-1A7F-3429-91F7-AAB21EC3E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889375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</a:pP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Decision :</a:t>
            </a:r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lnSpc>
                <a:spcPct val="200000"/>
              </a:lnSpc>
              <a:buFont typeface="Wingdings 3" pitchFamily="2" charset="2"/>
              <a:buNone/>
            </a:pPr>
            <a:r>
              <a:rPr lang="en-US" altLang="en-US" sz="20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Making a choice from two or more alternative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Decision Making:</a:t>
            </a:r>
          </a:p>
          <a:p>
            <a:pPr algn="just" eaLnBrk="1" hangingPunct="1">
              <a:lnSpc>
                <a:spcPct val="200000"/>
              </a:lnSpc>
              <a:buFont typeface="Wingdings 3" pitchFamily="2" charset="2"/>
              <a:buNone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process of examining your possibilities and options, comparing them, and choosing a course of action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en-US" altLang="en-US"/>
          </a:p>
        </p:txBody>
      </p:sp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1089D532-2153-3FD2-7BB1-FF48B8A068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CD3781-4278-314E-9758-639F458DCBBA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TextBox 5">
            <a:extLst>
              <a:ext uri="{FF2B5EF4-FFF2-40B4-BE49-F238E27FC236}">
                <a16:creationId xmlns:a16="http://schemas.microsoft.com/office/drawing/2014/main" id="{861A533E-E5F4-56D6-42CC-38905C744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12813"/>
            <a:ext cx="457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RW" sz="2400" b="1">
                <a:latin typeface="Tahoma" panose="020B0604030504040204" pitchFamily="34" charset="0"/>
                <a:cs typeface="Tahoma" panose="020B0604030504040204" pitchFamily="34" charset="0"/>
              </a:rPr>
              <a:t>Definition cont’</a:t>
            </a:r>
            <a:endParaRPr lang="en-RW" altLang="en-RW" sz="24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6A613-D3A0-A37E-7B8B-01AF1C83205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E6D0CC-0145-724C-841C-4AE8CCBB02F3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A3D08-77E0-C8F7-C6E1-65AE1B55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32685C-B10A-9410-6554-45A2382AF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981200"/>
            <a:ext cx="4800600" cy="3203575"/>
          </a:xfrm>
        </p:spPr>
        <p:txBody>
          <a:bodyPr>
            <a:normAutofit/>
          </a:bodyPr>
          <a:lstStyle/>
          <a:p>
            <a:pPr marL="365760" indent="-256032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b="1" dirty="0"/>
              <a:t>There are</a:t>
            </a:r>
            <a:r>
              <a:rPr lang="en-US" b="1" dirty="0">
                <a:solidFill>
                  <a:srgbClr val="FF0000"/>
                </a:solidFill>
              </a:rPr>
              <a:t> 8 </a:t>
            </a:r>
            <a:r>
              <a:rPr lang="en-US" b="1" dirty="0"/>
              <a:t>steps of Decision Making:</a:t>
            </a:r>
          </a:p>
          <a:p>
            <a:pPr marL="452628" indent="-34290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dirty="0"/>
              <a:t>Identification of problem</a:t>
            </a:r>
          </a:p>
          <a:p>
            <a:pPr marL="452628" indent="-34290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dirty="0"/>
              <a:t>Identification of decision Criteria</a:t>
            </a:r>
          </a:p>
          <a:p>
            <a:pPr marL="452628" indent="-34290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dirty="0"/>
              <a:t>Allocating weight to criteria</a:t>
            </a:r>
          </a:p>
          <a:p>
            <a:pPr marL="452628" indent="-342900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dirty="0"/>
              <a:t>Develop alternatives</a:t>
            </a:r>
          </a:p>
        </p:txBody>
      </p:sp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687389B2-CCAF-96E4-4725-425555E05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6530D16D-57EA-8F44-8B35-A30BA373CC19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TextBox 5">
            <a:extLst>
              <a:ext uri="{FF2B5EF4-FFF2-40B4-BE49-F238E27FC236}">
                <a16:creationId xmlns:a16="http://schemas.microsoft.com/office/drawing/2014/main" id="{BF79CA71-BE8D-271C-F34B-459082F7F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362200"/>
            <a:ext cx="33464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24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/>
              <a:t>Analysis of Alternatives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/>
              <a:t>Selection of alternatives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/>
              <a:t>Implementation of the best alternatives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en-US"/>
              <a:t>Evaluation of decision effectiveness</a:t>
            </a:r>
          </a:p>
        </p:txBody>
      </p:sp>
      <p:sp>
        <p:nvSpPr>
          <p:cNvPr id="27652" name="TextBox 7">
            <a:extLst>
              <a:ext uri="{FF2B5EF4-FFF2-40B4-BE49-F238E27FC236}">
                <a16:creationId xmlns:a16="http://schemas.microsoft.com/office/drawing/2014/main" id="{9676EA92-6883-46FB-B8F7-5E7795195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811213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Decision Making Process</a:t>
            </a:r>
            <a:endParaRPr lang="en-US" altLang="en-US" sz="32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9E4C3-ABC3-6667-73E2-D386046302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548AF86-B3A7-E848-9500-10720215995A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8E2AC-0CD7-4909-E52E-163135B2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Content Placeholder 1">
            <a:extLst>
              <a:ext uri="{FF2B5EF4-FFF2-40B4-BE49-F238E27FC236}">
                <a16:creationId xmlns:a16="http://schemas.microsoft.com/office/drawing/2014/main" id="{E7504036-32FC-6AD7-963A-0A419725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691062"/>
          </a:xfrm>
        </p:spPr>
        <p:txBody>
          <a:bodyPr/>
          <a:lstStyle/>
          <a:p>
            <a:pPr marL="365125" indent="-255588" algn="just" eaLnBrk="1" hangingPunct="1">
              <a:lnSpc>
                <a:spcPct val="170000"/>
              </a:lnSpc>
              <a:buFont typeface="Wingdings 3" pitchFamily="2" charset="2"/>
              <a:buChar char="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A problem is defined as a </a:t>
            </a:r>
            <a:r>
              <a:rPr lang="en-US" altLang="en-US" sz="1700" b="1" i="1">
                <a:latin typeface="Tahoma" panose="020B0604030504040204" pitchFamily="34" charset="0"/>
                <a:cs typeface="Tahoma" panose="020B0604030504040204" pitchFamily="34" charset="0"/>
              </a:rPr>
              <a:t>discrepancy between an existing and a desired state of affairs. </a:t>
            </a:r>
          </a:p>
          <a:p>
            <a:pPr marL="365125" indent="-255588" algn="just" eaLnBrk="1" hangingPunct="1">
              <a:lnSpc>
                <a:spcPct val="170000"/>
              </a:lnSpc>
              <a:buFont typeface="Wingdings 3" pitchFamily="2" charset="2"/>
              <a:buChar char="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Some cautions about problem identification include the following: </a:t>
            </a:r>
          </a:p>
          <a:p>
            <a:pPr marL="620713" lvl="1" algn="just" eaLnBrk="1" hangingPunct="1">
              <a:lnSpc>
                <a:spcPct val="170000"/>
              </a:lnSpc>
              <a:spcBef>
                <a:spcPts val="325"/>
              </a:spcBef>
              <a:buFont typeface="Verdana" panose="020B0604030504040204" pitchFamily="34" charset="0"/>
              <a:buChar char="◦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1.Make sure it’s a problem and not just a symptom of a problem.</a:t>
            </a:r>
          </a:p>
          <a:p>
            <a:pPr marL="620713" lvl="1" algn="just" eaLnBrk="1" hangingPunct="1">
              <a:lnSpc>
                <a:spcPct val="170000"/>
              </a:lnSpc>
              <a:spcBef>
                <a:spcPts val="325"/>
              </a:spcBef>
              <a:buFont typeface="Verdana" panose="020B0604030504040204" pitchFamily="34" charset="0"/>
              <a:buChar char="◦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2.Problem identification is subjective.</a:t>
            </a:r>
          </a:p>
          <a:p>
            <a:pPr marL="620713" lvl="1" algn="just" eaLnBrk="1" hangingPunct="1">
              <a:lnSpc>
                <a:spcPct val="170000"/>
              </a:lnSpc>
              <a:spcBef>
                <a:spcPts val="325"/>
              </a:spcBef>
              <a:buFont typeface="Verdana" panose="020B0604030504040204" pitchFamily="34" charset="0"/>
              <a:buChar char="◦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altLang="en-US" sz="17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.Discrepancies </a:t>
            </a: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can be found by comparing </a:t>
            </a:r>
            <a:r>
              <a:rPr lang="en-US" altLang="en-US" sz="1700" b="1">
                <a:latin typeface="Tahoma" panose="020B0604030504040204" pitchFamily="34" charset="0"/>
                <a:cs typeface="Tahoma" panose="020B0604030504040204" pitchFamily="34" charset="0"/>
              </a:rPr>
              <a:t>current results with some standard. </a:t>
            </a:r>
          </a:p>
          <a:p>
            <a:pPr marL="620713" lvl="1" algn="just" eaLnBrk="1" hangingPunct="1">
              <a:lnSpc>
                <a:spcPct val="170000"/>
              </a:lnSpc>
              <a:spcBef>
                <a:spcPts val="325"/>
              </a:spcBef>
              <a:buFont typeface="Verdana" panose="020B0604030504040204" pitchFamily="34" charset="0"/>
              <a:buChar char="◦"/>
            </a:pP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4.</a:t>
            </a:r>
            <a:r>
              <a:rPr lang="en-US" altLang="en-US" sz="1700" b="1">
                <a:latin typeface="Tahoma" panose="020B0604030504040204" pitchFamily="34" charset="0"/>
                <a:cs typeface="Tahoma" panose="020B0604030504040204" pitchFamily="34" charset="0"/>
              </a:rPr>
              <a:t>Managers aren’t likely to characterize a discrepancy </a:t>
            </a: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as </a:t>
            </a:r>
            <a:r>
              <a:rPr lang="en-US" altLang="en-US" sz="1700" b="1">
                <a:latin typeface="Tahoma" panose="020B0604030504040204" pitchFamily="34" charset="0"/>
                <a:cs typeface="Tahoma" panose="020B0604030504040204" pitchFamily="34" charset="0"/>
              </a:rPr>
              <a:t>a problem </a:t>
            </a:r>
            <a:r>
              <a:rPr lang="en-US" altLang="en-US" sz="1700">
                <a:latin typeface="Tahoma" panose="020B0604030504040204" pitchFamily="34" charset="0"/>
                <a:cs typeface="Tahoma" panose="020B0604030504040204" pitchFamily="34" charset="0"/>
              </a:rPr>
              <a:t>if they perceive that they </a:t>
            </a:r>
            <a:r>
              <a:rPr lang="en-US" altLang="en-US" sz="1700" b="1">
                <a:latin typeface="Tahoma" panose="020B0604030504040204" pitchFamily="34" charset="0"/>
                <a:cs typeface="Tahoma" panose="020B0604030504040204" pitchFamily="34" charset="0"/>
              </a:rPr>
              <a:t>don’t have the authority, information, or other resources needed to act on it.</a:t>
            </a:r>
          </a:p>
        </p:txBody>
      </p:sp>
      <p:sp>
        <p:nvSpPr>
          <p:cNvPr id="28674" name="Title 2">
            <a:extLst>
              <a:ext uri="{FF2B5EF4-FFF2-40B4-BE49-F238E27FC236}">
                <a16:creationId xmlns:a16="http://schemas.microsoft.com/office/drawing/2014/main" id="{E3742C7B-A8F9-9D47-2BE9-8C58D708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7200"/>
            <a:ext cx="5543550" cy="625475"/>
          </a:xfrm>
        </p:spPr>
        <p:txBody>
          <a:bodyPr/>
          <a:lstStyle/>
          <a:p>
            <a:pPr eaLnBrk="1" hangingPunct="1"/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Step1: Identifying The Problem </a:t>
            </a:r>
          </a:p>
        </p:txBody>
      </p:sp>
      <p:pic>
        <p:nvPicPr>
          <p:cNvPr id="28675" name="Content Placeholder 5" descr="images (7).jpg">
            <a:extLst>
              <a:ext uri="{FF2B5EF4-FFF2-40B4-BE49-F238E27FC236}">
                <a16:creationId xmlns:a16="http://schemas.microsoft.com/office/drawing/2014/main" id="{F01D9976-DC86-7231-9A4F-43F88DA6C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5" y="5562600"/>
            <a:ext cx="123825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C0B387AA-6DD9-5AB5-20EC-E26D978CF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A0C43073-6604-DC4F-8E53-395FCA53E48D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613C8-2C51-11CE-7C92-37FEE756C9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2B72CBC-B953-8542-9C55-E8A019EFDC20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8754A-62E7-7637-8D95-B41CA058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Content Placeholder 3" descr="images (5).jpg">
            <a:extLst>
              <a:ext uri="{FF2B5EF4-FFF2-40B4-BE49-F238E27FC236}">
                <a16:creationId xmlns:a16="http://schemas.microsoft.com/office/drawing/2014/main" id="{79E0C445-8E82-B4F2-68E2-95C15C5AC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524000"/>
            <a:ext cx="7620000" cy="4267200"/>
          </a:xfrm>
        </p:spPr>
      </p:pic>
      <p:sp>
        <p:nvSpPr>
          <p:cNvPr id="16387" name="Title 2">
            <a:extLst>
              <a:ext uri="{FF2B5EF4-FFF2-40B4-BE49-F238E27FC236}">
                <a16:creationId xmlns:a16="http://schemas.microsoft.com/office/drawing/2014/main" id="{EFEE0DF9-C3B9-CF0B-AF8A-BBA442C4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17513"/>
            <a:ext cx="5543550" cy="1082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latin typeface="+mn-lt"/>
              </a:rPr>
              <a:t>Identifying The Problem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9BC154DA-55B1-4542-BA92-A70184E6D1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39DEEA2-8A75-CE42-BFA4-51421082C13F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865E9-AE4C-C7ED-E4E3-5DB6F2413E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FB1885C-901A-0C4F-A5F7-945D3BEDB43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D647C-E286-8250-E49F-9627EE0B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AAB3F6-E85C-4880-D333-CDCDD8561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9413"/>
            <a:ext cx="7886700" cy="4351337"/>
          </a:xfrm>
        </p:spPr>
        <p:txBody>
          <a:bodyPr>
            <a:normAutofit/>
          </a:bodyPr>
          <a:lstStyle/>
          <a:p>
            <a:pPr marL="365760" indent="-256032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/>
              <a:t>Decision criteria </a:t>
            </a:r>
            <a:r>
              <a:rPr lang="en-US" sz="2400" dirty="0"/>
              <a:t>are factors that are Important (relevant) to Resolving the  problem.</a:t>
            </a:r>
          </a:p>
          <a:p>
            <a:pPr marL="850392" lvl="1" indent="-457200" algn="just" eaLnBrk="1" fontAlgn="auto" hangingPunct="1">
              <a:lnSpc>
                <a:spcPct val="200000"/>
              </a:lnSpc>
              <a:spcBef>
                <a:spcPts val="324"/>
              </a:spcBef>
              <a:spcAft>
                <a:spcPts val="0"/>
              </a:spcAft>
              <a:buFont typeface="+mj-lt"/>
              <a:buAutoNum type="alphaUcPeriod"/>
              <a:defRPr/>
            </a:pPr>
            <a:r>
              <a:rPr lang="en-US" sz="2400" dirty="0"/>
              <a:t>Costs that will be incurred(investment required)</a:t>
            </a:r>
          </a:p>
          <a:p>
            <a:pPr marL="850392" lvl="1" indent="-457200" algn="just" eaLnBrk="1" fontAlgn="auto" hangingPunct="1">
              <a:lnSpc>
                <a:spcPct val="200000"/>
              </a:lnSpc>
              <a:spcBef>
                <a:spcPts val="324"/>
              </a:spcBef>
              <a:spcAft>
                <a:spcPts val="0"/>
              </a:spcAft>
              <a:buFont typeface="+mj-lt"/>
              <a:buAutoNum type="alphaUcPeriod"/>
              <a:defRPr/>
            </a:pPr>
            <a:r>
              <a:rPr lang="en-US" sz="2400" dirty="0"/>
              <a:t>Risk likely to be encountered( chance of failure)</a:t>
            </a:r>
          </a:p>
          <a:p>
            <a:pPr marL="850392" lvl="1" indent="-457200" algn="just" eaLnBrk="1" fontAlgn="auto" hangingPunct="1">
              <a:lnSpc>
                <a:spcPct val="200000"/>
              </a:lnSpc>
              <a:spcBef>
                <a:spcPts val="324"/>
              </a:spcBef>
              <a:spcAft>
                <a:spcPts val="0"/>
              </a:spcAft>
              <a:buFont typeface="+mj-lt"/>
              <a:buAutoNum type="alphaUcPeriod"/>
              <a:defRPr/>
            </a:pPr>
            <a:r>
              <a:rPr lang="en-US" sz="2400" dirty="0"/>
              <a:t>Outcomes that are desired (growth of the firm)</a:t>
            </a:r>
          </a:p>
          <a:p>
            <a:pPr marL="624078" indent="-514350" algn="just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lphaUcPeriod"/>
              <a:defRPr/>
            </a:pPr>
            <a:endParaRPr lang="en-US" dirty="0"/>
          </a:p>
        </p:txBody>
      </p:sp>
      <p:sp>
        <p:nvSpPr>
          <p:cNvPr id="30722" name="Title 2">
            <a:extLst>
              <a:ext uri="{FF2B5EF4-FFF2-40B4-BE49-F238E27FC236}">
                <a16:creationId xmlns:a16="http://schemas.microsoft.com/office/drawing/2014/main" id="{0232E95C-380C-770E-02A5-9E8987C9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7315200" cy="1143000"/>
          </a:xfrm>
        </p:spPr>
        <p:txBody>
          <a:bodyPr/>
          <a:lstStyle/>
          <a:p>
            <a:pPr eaLnBrk="1" hangingPunct="1"/>
            <a:r>
              <a:rPr lang="en-US" altLang="en-RW" sz="2800" b="1">
                <a:latin typeface="Tahoma" panose="020B0604030504040204" pitchFamily="34" charset="0"/>
                <a:cs typeface="Tahoma" panose="020B0604030504040204" pitchFamily="34" charset="0"/>
              </a:rPr>
              <a:t>Step2: Identifying Decision Criteria</a:t>
            </a:r>
            <a:br>
              <a:rPr lang="en-US" altLang="en-RW" sz="2800" b="1">
                <a:latin typeface="Tahoma" panose="020B0604030504040204" pitchFamily="34" charset="0"/>
                <a:cs typeface="Tahoma" panose="020B0604030504040204" pitchFamily="34" charset="0"/>
              </a:rPr>
            </a:br>
            <a:endParaRPr lang="en-US" altLang="en-RW" sz="28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73D812DE-64E5-0EC7-6ACF-1FA827C00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B82C6327-58E0-E141-B620-334C05B2B5F5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7C0C8-4C01-38E3-4133-8C82765A27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E8ECEE5-7C36-4E47-82AA-461BFBAA1ED0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A28F3-9052-CEE4-B7AA-487FDE19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1">
            <a:extLst>
              <a:ext uri="{FF2B5EF4-FFF2-40B4-BE49-F238E27FC236}">
                <a16:creationId xmlns:a16="http://schemas.microsoft.com/office/drawing/2014/main" id="{7CC70130-61DE-6B50-8DD9-7170E0BE6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7886700" cy="4572000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Decision criteria are not of equal importance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 algn="just" eaLnBrk="1" hangingPunct="1">
              <a:lnSpc>
                <a:spcPct val="200000"/>
              </a:lnSpc>
            </a:pP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Assigning a weight to each item places the items in the correct priority order of their importance in the decision making.</a:t>
            </a:r>
          </a:p>
          <a:p>
            <a:pPr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Each possible solution must have features or </a:t>
            </a:r>
            <a:r>
              <a:rPr lang="en-US" altLang="en-US" sz="180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cons and pros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A manager should </a:t>
            </a: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score the criteria according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to the need of the </a:t>
            </a: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situation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1746" name="Title 2">
            <a:extLst>
              <a:ext uri="{FF2B5EF4-FFF2-40B4-BE49-F238E27FC236}">
                <a16:creationId xmlns:a16="http://schemas.microsoft.com/office/drawing/2014/main" id="{D7019BFC-E976-405D-64F3-910DD1FF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b="1">
                <a:latin typeface="Tahoma" panose="020B0604030504040204" pitchFamily="34" charset="0"/>
                <a:cs typeface="Tahoma" panose="020B0604030504040204" pitchFamily="34" charset="0"/>
              </a:rPr>
              <a:t>Step3: Allocating Weights to the Criteria</a:t>
            </a:r>
          </a:p>
        </p:txBody>
      </p:sp>
      <p:pic>
        <p:nvPicPr>
          <p:cNvPr id="31747" name="Content Placeholder 7" descr="images (9).jpg">
            <a:extLst>
              <a:ext uri="{FF2B5EF4-FFF2-40B4-BE49-F238E27FC236}">
                <a16:creationId xmlns:a16="http://schemas.microsoft.com/office/drawing/2014/main" id="{440527C8-ACDB-2478-983B-54168E3BD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5181600"/>
            <a:ext cx="20193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8805E5E4-2576-BF48-5E7F-496A94F4A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170FDEE-A31B-754B-BB55-AB01989CB4ED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D8170-7714-CA45-BE27-5DB60CCDB9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B4D22F-5CE6-C24F-BD64-C7402F3C7B55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FFA37-31D1-6F6D-323D-F63BF7BC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Content Placeholder 1">
            <a:extLst>
              <a:ext uri="{FF2B5EF4-FFF2-40B4-BE49-F238E27FC236}">
                <a16:creationId xmlns:a16="http://schemas.microsoft.com/office/drawing/2014/main" id="{C1F0CA2B-6DD2-41E5-8D9F-476349A1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23988"/>
            <a:ext cx="7886700" cy="435133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As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manager</a:t>
            </a: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it is advised you select a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viable alternative that could also resolve the problem. 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At this point we are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just listing </a:t>
            </a: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not </a:t>
            </a:r>
            <a:r>
              <a:rPr lang="en-US" altLang="en-US" sz="24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evaluating the alternatives.</a:t>
            </a:r>
          </a:p>
        </p:txBody>
      </p:sp>
      <p:sp>
        <p:nvSpPr>
          <p:cNvPr id="32770" name="Title 2">
            <a:extLst>
              <a:ext uri="{FF2B5EF4-FFF2-40B4-BE49-F238E27FC236}">
                <a16:creationId xmlns:a16="http://schemas.microsoft.com/office/drawing/2014/main" id="{B223AFDC-D473-DC90-13BF-8234550DA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b="1">
                <a:latin typeface="Tahoma" panose="020B0604030504040204" pitchFamily="34" charset="0"/>
                <a:cs typeface="Tahoma" panose="020B0604030504040204" pitchFamily="34" charset="0"/>
              </a:rPr>
              <a:t>Step4: developing Alternatives </a:t>
            </a:r>
          </a:p>
        </p:txBody>
      </p:sp>
      <p:pic>
        <p:nvPicPr>
          <p:cNvPr id="32771" name="Content Placeholder 3" descr="images (8).jpg">
            <a:extLst>
              <a:ext uri="{FF2B5EF4-FFF2-40B4-BE49-F238E27FC236}">
                <a16:creationId xmlns:a16="http://schemas.microsoft.com/office/drawing/2014/main" id="{9E0D2289-B922-600E-CCBF-6908C2EA0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629025"/>
            <a:ext cx="3887788" cy="289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473373A5-00EB-3AF3-39F8-F4F711B49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4D2BC07A-650F-5D4B-BEA5-BB9A88D56C4C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E869B-82AD-9FBD-5E09-AE1B3DD973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9E123E0-CC79-C640-BA43-B1AB7A5940C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7A19-9470-129E-9558-587F28C8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ontent Placeholder 1">
            <a:extLst>
              <a:ext uri="{FF2B5EF4-FFF2-40B4-BE49-F238E27FC236}">
                <a16:creationId xmlns:a16="http://schemas.microsoft.com/office/drawing/2014/main" id="{93233511-269B-9C16-B621-9B79865F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371600"/>
            <a:ext cx="8302625" cy="4351338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Appraising each alternative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strengths and weaknesses</a:t>
            </a:r>
          </a:p>
          <a:p>
            <a:pPr lvl="1" algn="just" eaLnBrk="1" hangingPunct="1">
              <a:lnSpc>
                <a:spcPct val="200000"/>
              </a:lnSpc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An alternative’s appraisal is based on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its ability to resolve the issues identified in steps 2 and 3.</a:t>
            </a:r>
          </a:p>
          <a:p>
            <a:pPr eaLnBrk="1" hangingPunct="1"/>
            <a:endParaRPr lang="en-US" altLang="en-US"/>
          </a:p>
        </p:txBody>
      </p:sp>
      <p:sp>
        <p:nvSpPr>
          <p:cNvPr id="33794" name="Title 2">
            <a:extLst>
              <a:ext uri="{FF2B5EF4-FFF2-40B4-BE49-F238E27FC236}">
                <a16:creationId xmlns:a16="http://schemas.microsoft.com/office/drawing/2014/main" id="{D27CC75C-1B4D-6249-3D8C-A191CF8B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2600"/>
            <a:ext cx="5695950" cy="777875"/>
          </a:xfrm>
        </p:spPr>
        <p:txBody>
          <a:bodyPr/>
          <a:lstStyle/>
          <a:p>
            <a:pPr eaLnBrk="1" hangingPunct="1"/>
            <a:r>
              <a:rPr lang="en-US" altLang="en-US" sz="2800" b="1">
                <a:latin typeface="Tahoma" panose="020B0604030504040204" pitchFamily="34" charset="0"/>
                <a:cs typeface="Tahoma" panose="020B0604030504040204" pitchFamily="34" charset="0"/>
              </a:rPr>
              <a:t>Step5: Analyzing Alternatives</a:t>
            </a:r>
          </a:p>
        </p:txBody>
      </p:sp>
      <p:pic>
        <p:nvPicPr>
          <p:cNvPr id="33795" name="Content Placeholder 3" descr="images (11).jpg">
            <a:extLst>
              <a:ext uri="{FF2B5EF4-FFF2-40B4-BE49-F238E27FC236}">
                <a16:creationId xmlns:a16="http://schemas.microsoft.com/office/drawing/2014/main" id="{625CD82A-270D-2BFE-1EDD-C1E42EA90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3890963"/>
            <a:ext cx="25908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E38A6CCB-93A4-88CC-BD84-127A9A0813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E318B6-8D05-6E42-A85E-3C7435715065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1A8F1-12BD-8DF0-6C2E-08A381AEBF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CADD3E-F5A9-204D-9828-A6E81EFB48FE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B5398-63CD-AA94-7371-48F9C3E4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2">
            <a:extLst>
              <a:ext uri="{FF2B5EF4-FFF2-40B4-BE49-F238E27FC236}">
                <a16:creationId xmlns:a16="http://schemas.microsoft.com/office/drawing/2014/main" id="{886DEBC0-4252-EE00-B147-E051379D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latin typeface="Tahoma" panose="020B0604030504040204" pitchFamily="34" charset="0"/>
                <a:cs typeface="Tahoma" panose="020B0604030504040204" pitchFamily="34" charset="0"/>
              </a:rPr>
              <a:t>Step6: Selecting Alternatives  </a:t>
            </a:r>
          </a:p>
        </p:txBody>
      </p:sp>
      <p:sp>
        <p:nvSpPr>
          <p:cNvPr id="34818" name="Content Placeholder 5">
            <a:extLst>
              <a:ext uri="{FF2B5EF4-FFF2-40B4-BE49-F238E27FC236}">
                <a16:creationId xmlns:a16="http://schemas.microsoft.com/office/drawing/2014/main" id="{1F513929-8038-27EB-3122-B86C4C4F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66863"/>
            <a:ext cx="7886700" cy="4352925"/>
          </a:xfrm>
        </p:spPr>
        <p:txBody>
          <a:bodyPr/>
          <a:lstStyle/>
          <a:p>
            <a:pPr lvl="1" algn="just" eaLnBrk="1" hangingPunct="1">
              <a:lnSpc>
                <a:spcPct val="150000"/>
              </a:lnSpc>
              <a:buFont typeface="Verdana" panose="020B0604030504040204" pitchFamily="34" charset="0"/>
              <a:buNone/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Choosing the best alternative or the one that scored the highest total in step 5.</a:t>
            </a:r>
          </a:p>
        </p:txBody>
      </p:sp>
      <p:pic>
        <p:nvPicPr>
          <p:cNvPr id="34819" name="Content Placeholder 3" descr="images (10).jpg">
            <a:extLst>
              <a:ext uri="{FF2B5EF4-FFF2-40B4-BE49-F238E27FC236}">
                <a16:creationId xmlns:a16="http://schemas.microsoft.com/office/drawing/2014/main" id="{13089437-7FF7-2857-EBE5-2E9B89F68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260850"/>
            <a:ext cx="20955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Content Placeholder 3" descr="images (13).jpg">
            <a:extLst>
              <a:ext uri="{FF2B5EF4-FFF2-40B4-BE49-F238E27FC236}">
                <a16:creationId xmlns:a16="http://schemas.microsoft.com/office/drawing/2014/main" id="{D7FB89D1-0BD4-2D0F-47B6-4781E4BA8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05163"/>
            <a:ext cx="50292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Slide Number Placeholder 8">
            <a:extLst>
              <a:ext uri="{FF2B5EF4-FFF2-40B4-BE49-F238E27FC236}">
                <a16:creationId xmlns:a16="http://schemas.microsoft.com/office/drawing/2014/main" id="{040EF5C5-6C0D-60B9-D603-B22FC2D3B2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CC211D24-7FBD-824C-BAEC-DBF7217F8447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E5E28-1890-3BCD-6A29-B84AD4B94CB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6C2BC1-C0C6-AA48-BD14-CABBD223E2F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89014-7AEF-9A21-0780-2A2CC845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Content Placeholder 1">
            <a:extLst>
              <a:ext uri="{FF2B5EF4-FFF2-40B4-BE49-F238E27FC236}">
                <a16:creationId xmlns:a16="http://schemas.microsoft.com/office/drawing/2014/main" id="{74458CDB-447C-99E5-35F8-619E95BAF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17775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</a:pPr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Putting the decision into action by conveying into those affected and getting their commitment to it.</a:t>
            </a:r>
          </a:p>
        </p:txBody>
      </p:sp>
      <p:sp>
        <p:nvSpPr>
          <p:cNvPr id="35842" name="Title 2">
            <a:extLst>
              <a:ext uri="{FF2B5EF4-FFF2-40B4-BE49-F238E27FC236}">
                <a16:creationId xmlns:a16="http://schemas.microsoft.com/office/drawing/2014/main" id="{A5F88A43-6DA5-A253-134A-0A86046D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753350" cy="1325563"/>
          </a:xfrm>
        </p:spPr>
        <p:txBody>
          <a:bodyPr/>
          <a:lstStyle/>
          <a:p>
            <a:pPr eaLnBrk="1" hangingPunct="1"/>
            <a:r>
              <a:rPr lang="en-US" altLang="en-US" sz="2800" b="1">
                <a:latin typeface="Tahoma" panose="020B0604030504040204" pitchFamily="34" charset="0"/>
                <a:cs typeface="Tahoma" panose="020B0604030504040204" pitchFamily="34" charset="0"/>
              </a:rPr>
              <a:t>Step 7: Implementing the Decision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9FC91A4-6C24-2A77-D58E-09CA002F34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E3CF8E55-53C0-5A44-843C-F91CCB5632E0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D3BDC-3101-15E1-9794-A87188DF82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7DA75D-BB34-A046-A1F1-6D78B945FD9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10622-6614-A4B9-887D-B88EF393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Content Placeholder 1">
            <a:extLst>
              <a:ext uri="{FF2B5EF4-FFF2-40B4-BE49-F238E27FC236}">
                <a16:creationId xmlns:a16="http://schemas.microsoft.com/office/drawing/2014/main" id="{C8B84B88-8C9D-D7F3-60CD-283666785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7886700" cy="2895600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Evaluating the outcome or result of the decision to see if the problem was resolved. </a:t>
            </a:r>
          </a:p>
          <a:p>
            <a:pPr algn="just" eaLnBrk="1" hangingPunct="1">
              <a:lnSpc>
                <a:spcPct val="200000"/>
              </a:lnSpc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If the problem still persists, the managers should re-assess the problem and start over again.</a:t>
            </a:r>
          </a:p>
        </p:txBody>
      </p:sp>
      <p:sp>
        <p:nvSpPr>
          <p:cNvPr id="36866" name="Title 2">
            <a:extLst>
              <a:ext uri="{FF2B5EF4-FFF2-40B4-BE49-F238E27FC236}">
                <a16:creationId xmlns:a16="http://schemas.microsoft.com/office/drawing/2014/main" id="{9325E8D7-C9C4-44FA-54E9-CD880E40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Step8: Evaluating the Decision’s Effectiveness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36867" name="Content Placeholder 3" descr="images (12).jpg">
            <a:extLst>
              <a:ext uri="{FF2B5EF4-FFF2-40B4-BE49-F238E27FC236}">
                <a16:creationId xmlns:a16="http://schemas.microsoft.com/office/drawing/2014/main" id="{297DCFE9-BADC-D93F-7D6F-F60AC00A2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110038"/>
            <a:ext cx="2895600" cy="261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CA7D3DD1-A682-A65E-136B-84E2B52236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FFD29AA9-83D1-4841-802F-372FD894C2BF}" type="slidenum">
              <a:rPr lang="en-US" altLang="en-US" sz="900" smtClean="0">
                <a:latin typeface="Lucida Sans Unicode" panose="020B0602030504020204" pitchFamily="34" charset="0"/>
                <a:cs typeface="Arial" panose="020B0604020202020204" pitchFamily="34" charset="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900"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13609-42F4-EFF7-F22A-A21DCBF3A8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5DCEC4A-EA90-1747-9DB5-36884591F2B0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E9C51-5F0D-E23E-F792-25E253D8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3">
            <a:extLst>
              <a:ext uri="{FF2B5EF4-FFF2-40B4-BE49-F238E27FC236}">
                <a16:creationId xmlns:a16="http://schemas.microsoft.com/office/drawing/2014/main" id="{C57B1866-14A6-D57B-B2CC-8D6206CF1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68263"/>
            <a:ext cx="6253162" cy="442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0" name="Picture 4">
            <a:extLst>
              <a:ext uri="{FF2B5EF4-FFF2-40B4-BE49-F238E27FC236}">
                <a16:creationId xmlns:a16="http://schemas.microsoft.com/office/drawing/2014/main" id="{9AA37E02-A6E7-E769-981F-BE8F2573F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075" y="4357688"/>
            <a:ext cx="3581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5">
            <a:extLst>
              <a:ext uri="{FF2B5EF4-FFF2-40B4-BE49-F238E27FC236}">
                <a16:creationId xmlns:a16="http://schemas.microsoft.com/office/drawing/2014/main" id="{16D8877E-62EA-1A5A-B201-4E2B6E0B2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4648200"/>
            <a:ext cx="404971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000" b="1">
                <a:solidFill>
                  <a:srgbClr val="640000"/>
                </a:solidFill>
                <a:latin typeface="BookAntiqua"/>
              </a:rPr>
              <a:t>Decision making steps include</a:t>
            </a:r>
          </a:p>
          <a:p>
            <a:pPr algn="just">
              <a:lnSpc>
                <a:spcPct val="150000"/>
              </a:lnSpc>
            </a:pPr>
            <a:r>
              <a:rPr lang="en-US" altLang="en-US">
                <a:solidFill>
                  <a:srgbClr val="000000"/>
                </a:solidFill>
                <a:latin typeface="BookAntiqua"/>
              </a:rPr>
              <a:t>– Problem identification,</a:t>
            </a:r>
          </a:p>
          <a:p>
            <a:pPr algn="just">
              <a:lnSpc>
                <a:spcPct val="150000"/>
              </a:lnSpc>
            </a:pPr>
            <a:r>
              <a:rPr lang="en-US" altLang="en-US">
                <a:solidFill>
                  <a:srgbClr val="000000"/>
                </a:solidFill>
                <a:latin typeface="BookAntiqua"/>
              </a:rPr>
              <a:t>– Finding alternative solutions,</a:t>
            </a:r>
          </a:p>
          <a:p>
            <a:pPr algn="just">
              <a:lnSpc>
                <a:spcPct val="150000"/>
              </a:lnSpc>
            </a:pPr>
            <a:r>
              <a:rPr lang="en-US" altLang="en-US">
                <a:solidFill>
                  <a:srgbClr val="000000"/>
                </a:solidFill>
                <a:latin typeface="BookAntiqua"/>
              </a:rPr>
              <a:t>– Making a choice</a:t>
            </a:r>
            <a:endParaRPr lang="en-US" altLang="en-US"/>
          </a:p>
        </p:txBody>
      </p:sp>
      <p:sp>
        <p:nvSpPr>
          <p:cNvPr id="37892" name="Rectangle 1">
            <a:extLst>
              <a:ext uri="{FF2B5EF4-FFF2-40B4-BE49-F238E27FC236}">
                <a16:creationId xmlns:a16="http://schemas.microsoft.com/office/drawing/2014/main" id="{3CD4F7F7-9FB3-B9A1-F3B7-E89D163C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609600"/>
            <a:ext cx="3176587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400" b="1">
                <a:latin typeface="BookAntiqua"/>
              </a:rPr>
              <a:t>Fig.1:Summary of Decision making steps</a:t>
            </a:r>
          </a:p>
        </p:txBody>
      </p:sp>
      <p:sp>
        <p:nvSpPr>
          <p:cNvPr id="37893" name="Slide Number Placeholder 2">
            <a:extLst>
              <a:ext uri="{FF2B5EF4-FFF2-40B4-BE49-F238E27FC236}">
                <a16:creationId xmlns:a16="http://schemas.microsoft.com/office/drawing/2014/main" id="{41F3FA4B-2180-C93D-F22D-E4BB8469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3B2375-2FEE-C14C-8D5E-D42CA22C7FF8}" type="slidenum">
              <a:rPr lang="en-US" altLang="en-US" smtClean="0">
                <a:solidFill>
                  <a:srgbClr val="898989"/>
                </a:solidFill>
              </a:rPr>
              <a:pPr/>
              <a:t>19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AB9B5-2FA6-9160-10E5-B4491F6717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6640EEF-3FD4-F84B-A620-A120AAB835AB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B4724-3388-5E83-5B2D-09A755E7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AD6C8AD0-74E7-9FEA-6709-1D895443D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58763"/>
            <a:ext cx="4279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000000"/>
                </a:solidFill>
                <a:latin typeface="Univers LT 47 CondensedLt"/>
              </a:rPr>
              <a:t>Who Makes Decisions? </a:t>
            </a:r>
            <a:endParaRPr lang="en-US" altLang="en-US" sz="2800" b="1"/>
          </a:p>
        </p:txBody>
      </p:sp>
      <p:sp>
        <p:nvSpPr>
          <p:cNvPr id="38914" name="Rectangle 4">
            <a:extLst>
              <a:ext uri="{FF2B5EF4-FFF2-40B4-BE49-F238E27FC236}">
                <a16:creationId xmlns:a16="http://schemas.microsoft.com/office/drawing/2014/main" id="{D4A10A4C-A11C-8BD0-35AE-60B40A94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1074738"/>
            <a:ext cx="5892800" cy="554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US" altLang="en-US" b="1">
                <a:solidFill>
                  <a:srgbClr val="64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Decision making at different levels:</a:t>
            </a:r>
          </a:p>
          <a:p>
            <a:pPr algn="just">
              <a:lnSpc>
                <a:spcPct val="200000"/>
              </a:lnSpc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Operational</a:t>
            </a:r>
          </a:p>
          <a:p>
            <a:pPr algn="just">
              <a:lnSpc>
                <a:spcPct val="200000"/>
              </a:lnSpc>
            </a:pPr>
            <a:r>
              <a:rPr lang="en-US" altLang="en-US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• Related to daily activities with </a:t>
            </a:r>
            <a:r>
              <a:rPr lang="en-US" altLang="en-US" b="1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short-term effect</a:t>
            </a:r>
          </a:p>
          <a:p>
            <a:pPr algn="just">
              <a:lnSpc>
                <a:spcPct val="200000"/>
              </a:lnSpc>
            </a:pPr>
            <a:r>
              <a:rPr lang="en-US" altLang="en-US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• Structured decisions taken by </a:t>
            </a:r>
            <a:r>
              <a:rPr lang="en-US" altLang="en-US" b="1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lower management</a:t>
            </a:r>
          </a:p>
          <a:p>
            <a:pPr algn="just">
              <a:lnSpc>
                <a:spcPct val="200000"/>
              </a:lnSpc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Tactical</a:t>
            </a:r>
          </a:p>
          <a:p>
            <a:pPr algn="just">
              <a:lnSpc>
                <a:spcPct val="200000"/>
              </a:lnSpc>
            </a:pPr>
            <a:r>
              <a:rPr lang="en-US" altLang="en-US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• Semi-structured decisions taken by </a:t>
            </a:r>
            <a:r>
              <a:rPr lang="en-US" altLang="en-US" b="1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middle management</a:t>
            </a:r>
          </a:p>
          <a:p>
            <a:pPr algn="just">
              <a:lnSpc>
                <a:spcPct val="200000"/>
              </a:lnSpc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– Strategic</a:t>
            </a:r>
          </a:p>
          <a:p>
            <a:pPr algn="just">
              <a:lnSpc>
                <a:spcPct val="200000"/>
              </a:lnSpc>
            </a:pPr>
            <a:r>
              <a:rPr lang="en-US" altLang="en-US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• Long-term effect</a:t>
            </a:r>
          </a:p>
          <a:p>
            <a:pPr algn="just">
              <a:lnSpc>
                <a:spcPct val="200000"/>
              </a:lnSpc>
            </a:pPr>
            <a:r>
              <a:rPr lang="en-US" altLang="en-US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• Unstructured decisions taken by </a:t>
            </a:r>
            <a:r>
              <a:rPr lang="en-US" altLang="en-US" b="1">
                <a:solidFill>
                  <a:srgbClr val="00009A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top management</a:t>
            </a:r>
            <a:endParaRPr lang="en-US" altLang="en-US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1D88C3AE-599A-4775-4C27-19851912B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481138"/>
            <a:ext cx="2586038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4">
            <a:extLst>
              <a:ext uri="{FF2B5EF4-FFF2-40B4-BE49-F238E27FC236}">
                <a16:creationId xmlns:a16="http://schemas.microsoft.com/office/drawing/2014/main" id="{B32106FC-A0C7-33B6-01BF-888809C5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946525"/>
            <a:ext cx="265271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400" b="1">
                <a:latin typeface="Tahoma" panose="020B0604030504040204" pitchFamily="34" charset="0"/>
                <a:cs typeface="Tahoma" panose="020B0604030504040204" pitchFamily="34" charset="0"/>
              </a:rPr>
              <a:t>Fig.2:Who makes Decisions</a:t>
            </a:r>
          </a:p>
        </p:txBody>
      </p:sp>
      <p:sp>
        <p:nvSpPr>
          <p:cNvPr id="38917" name="Slide Number Placeholder 2">
            <a:extLst>
              <a:ext uri="{FF2B5EF4-FFF2-40B4-BE49-F238E27FC236}">
                <a16:creationId xmlns:a16="http://schemas.microsoft.com/office/drawing/2014/main" id="{39AFE710-777C-D66B-A9E3-85D717C9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027776-6D34-A649-BC20-2F46C09F982B}" type="slidenum">
              <a:rPr lang="en-US" altLang="en-US" smtClean="0">
                <a:solidFill>
                  <a:srgbClr val="898989"/>
                </a:solidFill>
              </a:rPr>
              <a:pPr/>
              <a:t>20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BE2FB-AA50-84D7-25FF-74F19CD74A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24C9DD-590F-AE45-B98B-8F22B530E69E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D96B4-71CF-B03A-41AB-C71A1E40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6">
            <a:extLst>
              <a:ext uri="{FF2B5EF4-FFF2-40B4-BE49-F238E27FC236}">
                <a16:creationId xmlns:a16="http://schemas.microsoft.com/office/drawing/2014/main" id="{2B5651A4-ABDE-F1EF-ED3A-1D1DB40E6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8763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8" name="Rectangle 2">
            <a:extLst>
              <a:ext uri="{FF2B5EF4-FFF2-40B4-BE49-F238E27FC236}">
                <a16:creationId xmlns:a16="http://schemas.microsoft.com/office/drawing/2014/main" id="{46802631-3A2D-6BF9-70C1-EA98AFC8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6200775"/>
            <a:ext cx="4973637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Fig.3:Action cycle of Decision making</a:t>
            </a:r>
          </a:p>
        </p:txBody>
      </p:sp>
      <p:sp>
        <p:nvSpPr>
          <p:cNvPr id="39939" name="Slide Number Placeholder 2">
            <a:extLst>
              <a:ext uri="{FF2B5EF4-FFF2-40B4-BE49-F238E27FC236}">
                <a16:creationId xmlns:a16="http://schemas.microsoft.com/office/drawing/2014/main" id="{31930DC1-5142-5D0B-F599-D982CEA8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8352AB-0ABC-314B-A026-0FC838AA88DC}" type="slidenum">
              <a:rPr lang="en-US" altLang="en-US" smtClean="0">
                <a:solidFill>
                  <a:srgbClr val="898989"/>
                </a:solidFill>
              </a:rPr>
              <a:pPr/>
              <a:t>21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11CA2-2B11-33BB-9792-864AA3A095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745AB8-C551-7E41-85E3-248A3E80A89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D8F75-CCF7-F6C5-8024-3A5543EA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3">
            <a:extLst>
              <a:ext uri="{FF2B5EF4-FFF2-40B4-BE49-F238E27FC236}">
                <a16:creationId xmlns:a16="http://schemas.microsoft.com/office/drawing/2014/main" id="{FD4982A3-2065-4470-A1F0-EB8E5809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9FB115-E318-F746-AB1F-75210CEE2069}" type="slidenum">
              <a:rPr lang="en-US" altLang="en-US" smtClean="0">
                <a:solidFill>
                  <a:srgbClr val="898989"/>
                </a:solidFill>
              </a:rPr>
              <a:pPr/>
              <a:t>22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0962" name="Picture 4">
            <a:extLst>
              <a:ext uri="{FF2B5EF4-FFF2-40B4-BE49-F238E27FC236}">
                <a16:creationId xmlns:a16="http://schemas.microsoft.com/office/drawing/2014/main" id="{D559C959-833C-6EBC-EF8A-05611C10D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27150"/>
            <a:ext cx="86010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0B00B3-4976-7313-190E-9DEB8E689E83}"/>
              </a:ext>
            </a:extLst>
          </p:cNvPr>
          <p:cNvSpPr txBox="1"/>
          <p:nvPr/>
        </p:nvSpPr>
        <p:spPr>
          <a:xfrm>
            <a:off x="533400" y="838200"/>
            <a:ext cx="4572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+mn-lt"/>
              </a:rPr>
              <a:t>Explanation:</a:t>
            </a:r>
            <a:endParaRPr lang="en-RW" sz="20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FEA1F6-AF7D-E2D3-9539-F2AA569B32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F13505-6C5A-7A49-849E-B17E6F78613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1E5EE-6E73-6D8A-24EB-D41D7450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7124-1AC6-7A2D-DCB7-33B476D6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5492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 dirty="0">
                <a:latin typeface="+mn-lt"/>
              </a:rPr>
              <a:t>Characteristics of Data for Good Decision Making</a:t>
            </a:r>
          </a:p>
        </p:txBody>
      </p:sp>
      <p:pic>
        <p:nvPicPr>
          <p:cNvPr id="41986" name="Picture 2" descr="Image result for characteristics of data">
            <a:extLst>
              <a:ext uri="{FF2B5EF4-FFF2-40B4-BE49-F238E27FC236}">
                <a16:creationId xmlns:a16="http://schemas.microsoft.com/office/drawing/2014/main" id="{9B7EA221-F87B-BF3A-3458-961B6EE6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990600"/>
            <a:ext cx="72898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5CBFA-6BD1-F12F-50C3-4307DEB700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24ED448-A3CD-784B-81A0-5A33EEBDC162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643D1-84A8-B664-4E7A-24AD6C15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6FF2B77B-8125-949E-795C-A6296E1768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657FE8-DB46-AB49-95E0-86DB9BE955F3}" type="slidenum">
              <a:rPr lang="en-US" altLang="en-US" smtClean="0">
                <a:solidFill>
                  <a:srgbClr val="898989"/>
                </a:solidFill>
              </a:rPr>
              <a:pPr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Content Placeholder 2">
            <a:extLst>
              <a:ext uri="{FF2B5EF4-FFF2-40B4-BE49-F238E27FC236}">
                <a16:creationId xmlns:a16="http://schemas.microsoft.com/office/drawing/2014/main" id="{190B3A98-82AC-AB0A-9033-342D92113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00163"/>
            <a:ext cx="8305800" cy="4724400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When it comes to making decisions, one should always weigh the </a:t>
            </a: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positive and negative business consequences 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altLang="en-US" sz="20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should favor the positive outcomes.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This avoids the </a:t>
            </a:r>
            <a:r>
              <a:rPr lang="en-US" altLang="en-US" sz="20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possible losses to the organization 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altLang="en-US" sz="2000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keeps the company running with a sustained growth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But, making the </a:t>
            </a:r>
            <a:r>
              <a:rPr lang="en-US" altLang="en-US" sz="2000" b="1">
                <a:latin typeface="Tahoma" panose="020B0604030504040204" pitchFamily="34" charset="0"/>
                <a:cs typeface="Tahoma" panose="020B0604030504040204" pitchFamily="34" charset="0"/>
              </a:rPr>
              <a:t>decisions and accepting its consequences is the only way to stay in control of your corporate life and time</a:t>
            </a:r>
            <a:r>
              <a:rPr lang="en-US" altLang="en-US" sz="20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altLang="en-US"/>
          </a:p>
        </p:txBody>
      </p:sp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49158A98-67AB-E541-460C-559FF4C69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80BCB6-CA27-6141-9D2D-FCCCC574A9EF}" type="slidenum">
              <a:rPr lang="en-US" altLang="en-US" smtClean="0">
                <a:solidFill>
                  <a:srgbClr val="898989"/>
                </a:solidFill>
              </a:rPr>
              <a:pPr/>
              <a:t>24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3011" name="TextBox 5">
            <a:extLst>
              <a:ext uri="{FF2B5EF4-FFF2-40B4-BE49-F238E27FC236}">
                <a16:creationId xmlns:a16="http://schemas.microsoft.com/office/drawing/2014/main" id="{EC341B37-446D-8B62-C055-278D40AA8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71500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latin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altLang="en-US" sz="2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13EE6-0A2B-9A6D-4219-52B9F30AB5B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FEFF3C-063F-EE41-BF4F-41D931A1FFB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4FB7B-3B34-E44A-279E-7ECF9F1B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3">
            <a:extLst>
              <a:ext uri="{FF2B5EF4-FFF2-40B4-BE49-F238E27FC236}">
                <a16:creationId xmlns:a16="http://schemas.microsoft.com/office/drawing/2014/main" id="{7019B3EF-2439-038E-A472-C16A17EEC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828800"/>
            <a:ext cx="6858000" cy="23622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en-US" sz="3600" b="1"/>
              <a:t>Business Intelligence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sz="3600" b="1"/>
              <a:t>Overview &amp; introduction</a:t>
            </a:r>
            <a:endParaRPr lang="ro-RO" altLang="en-US" sz="3600" b="1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1D7F-0217-E9B1-0763-B359B73D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533400"/>
            <a:ext cx="6838950" cy="1325563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b="1" dirty="0">
                <a:latin typeface="+mn-lt"/>
              </a:rPr>
              <a:t>Business Analytics, BI, Big Data, Data Mining - What’s the difference?</a:t>
            </a:r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DDCC2021-7627-3756-7831-EFC3DAA6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86000"/>
            <a:ext cx="8458200" cy="36576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2300" b="1">
                <a:solidFill>
                  <a:srgbClr val="FF0000"/>
                </a:solidFill>
              </a:rPr>
              <a:t>Business Analytics – </a:t>
            </a:r>
            <a:r>
              <a:rPr lang="en-US" altLang="en-RW" sz="2300"/>
              <a:t>Tools to explore past data to gain insight into future business decisions.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2300" b="1">
                <a:solidFill>
                  <a:srgbClr val="FF0000"/>
                </a:solidFill>
              </a:rPr>
              <a:t>BI – </a:t>
            </a:r>
            <a:r>
              <a:rPr lang="en-US" altLang="en-RW" sz="2300"/>
              <a:t>Tools and techniques to turn data into meaningful information.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2300" b="1">
                <a:solidFill>
                  <a:srgbClr val="FF0000"/>
                </a:solidFill>
              </a:rPr>
              <a:t>Big Data –</a:t>
            </a:r>
            <a:r>
              <a:rPr lang="en-US" altLang="en-RW" sz="2300"/>
              <a:t>data sets that are so large or complex that traditional data processing applications are inadequate.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2300" b="1">
                <a:solidFill>
                  <a:srgbClr val="FF0000"/>
                </a:solidFill>
              </a:rPr>
              <a:t>Data Mining - </a:t>
            </a:r>
            <a:r>
              <a:rPr lang="en-US" altLang="en-RW" sz="2300"/>
              <a:t>Tools for discovering patterns in large data sets.</a:t>
            </a:r>
          </a:p>
          <a:p>
            <a:endParaRPr lang="en-US" alt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5E89F-01A4-5F1A-B20F-8374096FB3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A7ACEA3-1EF8-0C4B-8BA6-522E19FD1CD7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30B8B-DE8C-A488-AE7E-C3FF01BC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A41F576C-FD11-23BC-FEB3-FB02D36C2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E58F2C-1909-1145-8366-9ED84D960EAE}" type="slidenum">
              <a:rPr lang="en-US" altLang="en-US" smtClean="0">
                <a:solidFill>
                  <a:srgbClr val="898989"/>
                </a:solidFill>
              </a:rPr>
              <a:pPr/>
              <a:t>26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441D23AC-2FF3-3DCE-2F23-25020D496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90800"/>
            <a:ext cx="1219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eaLnBrk="1" hangingPunct="1"/>
            <a:r>
              <a:rPr lang="en-GB" altLang="en-US" sz="2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17A0B3A-6A56-2133-F3A1-39B92487C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590800"/>
            <a:ext cx="16002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3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eaLnBrk="1" hangingPunct="1"/>
            <a:r>
              <a:rPr lang="en-GB" altLang="en-US" sz="23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Warehouse</a:t>
            </a:r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E79A5234-093C-8D8A-5648-F5D7B1CD1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565400"/>
            <a:ext cx="13716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eaLnBrk="1" hangingPunct="1"/>
            <a:r>
              <a:rPr lang="en-GB" altLang="en-US" sz="2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 </a:t>
            </a:r>
          </a:p>
        </p:txBody>
      </p:sp>
      <p:sp>
        <p:nvSpPr>
          <p:cNvPr id="46084" name="Line 5">
            <a:extLst>
              <a:ext uri="{FF2B5EF4-FFF2-40B4-BE49-F238E27FC236}">
                <a16:creationId xmlns:a16="http://schemas.microsoft.com/office/drawing/2014/main" id="{E6AD639F-9534-D09F-59D1-944D52406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9718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85" name="Line 6">
            <a:extLst>
              <a:ext uri="{FF2B5EF4-FFF2-40B4-BE49-F238E27FC236}">
                <a16:creationId xmlns:a16="http://schemas.microsoft.com/office/drawing/2014/main" id="{E3165781-7F17-1326-7CF5-47623706D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2514600"/>
            <a:ext cx="3810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86" name="Line 7">
            <a:extLst>
              <a:ext uri="{FF2B5EF4-FFF2-40B4-BE49-F238E27FC236}">
                <a16:creationId xmlns:a16="http://schemas.microsoft.com/office/drawing/2014/main" id="{D7C91637-4FA7-8B3E-007C-9446935CB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1242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87" name="Line 8">
            <a:extLst>
              <a:ext uri="{FF2B5EF4-FFF2-40B4-BE49-F238E27FC236}">
                <a16:creationId xmlns:a16="http://schemas.microsoft.com/office/drawing/2014/main" id="{B49D4326-BDD8-3D1A-5AB7-2DFB75877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276600"/>
            <a:ext cx="6096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88" name="Line 9">
            <a:extLst>
              <a:ext uri="{FF2B5EF4-FFF2-40B4-BE49-F238E27FC236}">
                <a16:creationId xmlns:a16="http://schemas.microsoft.com/office/drawing/2014/main" id="{9E28D7D5-364D-0377-EA5B-D15C72FBC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057400"/>
            <a:ext cx="83820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89" name="Line 10">
            <a:extLst>
              <a:ext uri="{FF2B5EF4-FFF2-40B4-BE49-F238E27FC236}">
                <a16:creationId xmlns:a16="http://schemas.microsoft.com/office/drawing/2014/main" id="{BA7D5F56-9CD8-DA96-2FBE-D42232EE4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124200"/>
            <a:ext cx="80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90" name="Line 11">
            <a:extLst>
              <a:ext uri="{FF2B5EF4-FFF2-40B4-BE49-F238E27FC236}">
                <a16:creationId xmlns:a16="http://schemas.microsoft.com/office/drawing/2014/main" id="{33C33356-C025-443F-F37F-DB285AA010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200400"/>
            <a:ext cx="87630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91" name="Line 12">
            <a:extLst>
              <a:ext uri="{FF2B5EF4-FFF2-40B4-BE49-F238E27FC236}">
                <a16:creationId xmlns:a16="http://schemas.microsoft.com/office/drawing/2014/main" id="{78C1F5DB-31B3-B146-F2B1-712D66310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505200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92" name="Line 13">
            <a:extLst>
              <a:ext uri="{FF2B5EF4-FFF2-40B4-BE49-F238E27FC236}">
                <a16:creationId xmlns:a16="http://schemas.microsoft.com/office/drawing/2014/main" id="{190E0A8A-38F0-880B-45CA-0BAEC66ED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505200"/>
            <a:ext cx="0" cy="647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46093" name="Text Box 14">
            <a:extLst>
              <a:ext uri="{FF2B5EF4-FFF2-40B4-BE49-F238E27FC236}">
                <a16:creationId xmlns:a16="http://schemas.microsoft.com/office/drawing/2014/main" id="{D9C4290B-FFA9-8245-EDA7-4E65366B6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267200"/>
            <a:ext cx="1828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latin typeface="Calibri" panose="020F0502020204030204" pitchFamily="34" charset="0"/>
                <a:cs typeface="Calibri" panose="020F0502020204030204" pitchFamily="34" charset="0"/>
              </a:rPr>
              <a:t>Data visualisation</a:t>
            </a:r>
          </a:p>
        </p:txBody>
      </p:sp>
      <p:sp>
        <p:nvSpPr>
          <p:cNvPr id="46094" name="Text Box 16">
            <a:extLst>
              <a:ext uri="{FF2B5EF4-FFF2-40B4-BE49-F238E27FC236}">
                <a16:creationId xmlns:a16="http://schemas.microsoft.com/office/drawing/2014/main" id="{70983C24-DDA9-B287-2F88-F8DAD8C7D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484313"/>
            <a:ext cx="1524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latin typeface="Calibri" panose="020F0502020204030204" pitchFamily="34" charset="0"/>
                <a:cs typeface="Calibri" panose="020F0502020204030204" pitchFamily="34" charset="0"/>
              </a:rPr>
              <a:t>Analytical tools</a:t>
            </a:r>
          </a:p>
        </p:txBody>
      </p:sp>
      <p:sp>
        <p:nvSpPr>
          <p:cNvPr id="46095" name="Text Box 17">
            <a:extLst>
              <a:ext uri="{FF2B5EF4-FFF2-40B4-BE49-F238E27FC236}">
                <a16:creationId xmlns:a16="http://schemas.microsoft.com/office/drawing/2014/main" id="{E2CE2035-5A3B-9E43-5595-B2B85AD7E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latin typeface="Calibri" panose="020F0502020204030204" pitchFamily="34" charset="0"/>
                <a:cs typeface="Calibri" panose="020F0502020204030204" pitchFamily="34" charset="0"/>
              </a:rPr>
              <a:t>OLAP</a:t>
            </a:r>
          </a:p>
        </p:txBody>
      </p:sp>
      <p:sp>
        <p:nvSpPr>
          <p:cNvPr id="46096" name="Text Box 18">
            <a:extLst>
              <a:ext uri="{FF2B5EF4-FFF2-40B4-BE49-F238E27FC236}">
                <a16:creationId xmlns:a16="http://schemas.microsoft.com/office/drawing/2014/main" id="{10F5CD0E-6E31-B07C-0157-10AE234C3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933825"/>
            <a:ext cx="121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latin typeface="Calibri" panose="020F0502020204030204" pitchFamily="34" charset="0"/>
                <a:cs typeface="Calibri" panose="020F0502020204030204" pitchFamily="34" charset="0"/>
              </a:rPr>
              <a:t>Data Mining</a:t>
            </a:r>
          </a:p>
        </p:txBody>
      </p:sp>
      <p:sp>
        <p:nvSpPr>
          <p:cNvPr id="46097" name="Text Box 19">
            <a:extLst>
              <a:ext uri="{FF2B5EF4-FFF2-40B4-BE49-F238E27FC236}">
                <a16:creationId xmlns:a16="http://schemas.microsoft.com/office/drawing/2014/main" id="{0FBB7494-2D99-1712-B2F7-D7D3342D1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1549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3600" b="1">
                <a:latin typeface="Calibri" panose="020F0502020204030204" pitchFamily="34" charset="0"/>
                <a:cs typeface="Calibri" panose="020F0502020204030204" pitchFamily="34" charset="0"/>
              </a:rPr>
              <a:t>Overview of Business Intelligence</a:t>
            </a:r>
          </a:p>
        </p:txBody>
      </p:sp>
      <p:sp>
        <p:nvSpPr>
          <p:cNvPr id="46098" name="Text Box 14">
            <a:extLst>
              <a:ext uri="{FF2B5EF4-FFF2-40B4-BE49-F238E27FC236}">
                <a16:creationId xmlns:a16="http://schemas.microsoft.com/office/drawing/2014/main" id="{7C66B5FE-90D4-6FA8-FE78-B0BE0DE9B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4437063"/>
            <a:ext cx="1828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>
                <a:latin typeface="Calibri" panose="020F0502020204030204" pitchFamily="34" charset="0"/>
                <a:cs typeface="Calibri" panose="020F0502020204030204" pitchFamily="34" charset="0"/>
              </a:rPr>
              <a:t>Data visualisation</a:t>
            </a:r>
          </a:p>
        </p:txBody>
      </p:sp>
      <p:sp>
        <p:nvSpPr>
          <p:cNvPr id="46099" name="Rectangle 19">
            <a:extLst>
              <a:ext uri="{FF2B5EF4-FFF2-40B4-BE49-F238E27FC236}">
                <a16:creationId xmlns:a16="http://schemas.microsoft.com/office/drawing/2014/main" id="{4087E71D-3FA8-B469-F5E2-0260A41B7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5534025"/>
            <a:ext cx="1485900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400" b="1">
                <a:latin typeface="BookAntiqua"/>
              </a:rPr>
              <a:t>Fig.4:BI Overview</a:t>
            </a:r>
          </a:p>
        </p:txBody>
      </p:sp>
      <p:sp>
        <p:nvSpPr>
          <p:cNvPr id="46100" name="Slide Number Placeholder 2">
            <a:extLst>
              <a:ext uri="{FF2B5EF4-FFF2-40B4-BE49-F238E27FC236}">
                <a16:creationId xmlns:a16="http://schemas.microsoft.com/office/drawing/2014/main" id="{31CB44D7-D9AF-A700-54D7-2E77960E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D51878-679B-AE49-8196-48FF9902F4E8}" type="slidenum">
              <a:rPr lang="en-US" altLang="en-US" smtClean="0">
                <a:solidFill>
                  <a:srgbClr val="898989"/>
                </a:solidFill>
              </a:rPr>
              <a:pPr/>
              <a:t>27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ECD66-0195-B119-F7EB-0A26CF0E43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CF992E3-921C-8C4B-95F7-4C79473D8545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1E4F7-52EB-CC13-C658-B71C5161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>
            <a:extLst>
              <a:ext uri="{FF2B5EF4-FFF2-40B4-BE49-F238E27FC236}">
                <a16:creationId xmlns:a16="http://schemas.microsoft.com/office/drawing/2014/main" id="{E2F0062A-14E3-E013-7DF6-F01392134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1128713"/>
            <a:ext cx="7083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000000"/>
                </a:solidFill>
                <a:latin typeface="Univers LT 47 CondensedLt"/>
              </a:rPr>
              <a:t>What is Business Intelligence? </a:t>
            </a:r>
            <a:endParaRPr lang="en-US" altLang="en-US" sz="3600" b="1"/>
          </a:p>
        </p:txBody>
      </p:sp>
      <p:sp>
        <p:nvSpPr>
          <p:cNvPr id="47106" name="Rectangle 1">
            <a:extLst>
              <a:ext uri="{FF2B5EF4-FFF2-40B4-BE49-F238E27FC236}">
                <a16:creationId xmlns:a16="http://schemas.microsoft.com/office/drawing/2014/main" id="{97E1825D-3A37-6337-D14E-BCCFC44A0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2214563"/>
            <a:ext cx="8266112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 sz="23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There are many definitions of </a:t>
            </a:r>
            <a:r>
              <a:rPr lang="en-US" altLang="en-US" sz="23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Business Intelligence </a:t>
            </a:r>
            <a:r>
              <a:rPr lang="en-US" altLang="en-US" sz="23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 below, each definition raises a prominent characteristic of </a:t>
            </a:r>
            <a:r>
              <a:rPr lang="en-US" altLang="en-US" sz="23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BI </a:t>
            </a:r>
            <a:r>
              <a:rPr lang="en-US" altLang="en-US" sz="23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yet the general rules are all mentioned the </a:t>
            </a:r>
            <a:r>
              <a:rPr lang="en-US" altLang="en-US" sz="23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possibility of helping to make efficiency decision </a:t>
            </a:r>
            <a:r>
              <a:rPr lang="en-US" altLang="en-US" sz="23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of </a:t>
            </a:r>
            <a:r>
              <a:rPr lang="en-US" altLang="en-US" sz="23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Business Intelligence</a:t>
            </a:r>
            <a:r>
              <a:rPr lang="en-US" altLang="en-US" sz="23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23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107" name="Slide Number Placeholder 2">
            <a:extLst>
              <a:ext uri="{FF2B5EF4-FFF2-40B4-BE49-F238E27FC236}">
                <a16:creationId xmlns:a16="http://schemas.microsoft.com/office/drawing/2014/main" id="{7053F59B-917A-9A41-006D-132FA0A8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303C7E-83EE-CE43-9BF4-9AEAC344CB29}" type="slidenum">
              <a:rPr lang="en-US" altLang="en-US" smtClean="0">
                <a:solidFill>
                  <a:srgbClr val="898989"/>
                </a:solidFill>
              </a:rPr>
              <a:pPr/>
              <a:t>28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0FF21-E63B-D4A7-BB9F-A08DD7BFCF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392DD0-472B-A04B-8567-4F4AB4D4BA41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9B0B4-A380-F5FC-D3B7-9C428B9B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Content Placeholder 2">
            <a:extLst>
              <a:ext uri="{FF2B5EF4-FFF2-40B4-BE49-F238E27FC236}">
                <a16:creationId xmlns:a16="http://schemas.microsoft.com/office/drawing/2014/main" id="{2C2AE641-4341-0E72-E7DE-5373D656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0600"/>
            <a:ext cx="7905750" cy="4351338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en-RW" sz="2000" b="1">
                <a:latin typeface="Tahoma" panose="020B0604030504040204" pitchFamily="34" charset="0"/>
                <a:cs typeface="Tahoma" panose="020B0604030504040204" pitchFamily="34" charset="0"/>
              </a:rPr>
              <a:t>Collecting and refining information from many sources </a:t>
            </a:r>
            <a:r>
              <a:rPr lang="en-US" altLang="en-RW" sz="2000">
                <a:latin typeface="Tahoma" panose="020B0604030504040204" pitchFamily="34" charset="0"/>
                <a:cs typeface="Tahoma" panose="020B0604030504040204" pitchFamily="34" charset="0"/>
              </a:rPr>
              <a:t>(internal and external)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en-RW" sz="2000" b="1">
                <a:latin typeface="Tahoma" panose="020B0604030504040204" pitchFamily="34" charset="0"/>
                <a:cs typeface="Tahoma" panose="020B0604030504040204" pitchFamily="34" charset="0"/>
              </a:rPr>
              <a:t>Analyzing and presenting the information in useful ways </a:t>
            </a:r>
            <a:r>
              <a:rPr lang="en-US" altLang="en-RW" sz="2000">
                <a:latin typeface="Tahoma" panose="020B0604030504040204" pitchFamily="34" charset="0"/>
                <a:cs typeface="Tahoma" panose="020B0604030504040204" pitchFamily="34" charset="0"/>
              </a:rPr>
              <a:t>(dashboards, visualizations)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en-RW" sz="2000">
                <a:latin typeface="Tahoma" panose="020B0604030504040204" pitchFamily="34" charset="0"/>
                <a:cs typeface="Tahoma" panose="020B0604030504040204" pitchFamily="34" charset="0"/>
              </a:rPr>
              <a:t>So </a:t>
            </a:r>
            <a:r>
              <a:rPr lang="en-US" altLang="en-RW" sz="2000" b="1">
                <a:latin typeface="Tahoma" panose="020B0604030504040204" pitchFamily="34" charset="0"/>
                <a:cs typeface="Tahoma" panose="020B0604030504040204" pitchFamily="34" charset="0"/>
              </a:rPr>
              <a:t>that people can make better decisions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en-RW" sz="2000" b="1">
                <a:latin typeface="Tahoma" panose="020B0604030504040204" pitchFamily="34" charset="0"/>
                <a:cs typeface="Tahoma" panose="020B0604030504040204" pitchFamily="34" charset="0"/>
              </a:rPr>
              <a:t>That help build and retain competitive advantage.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55FA6-886D-C036-15AA-E9FC364533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3DBAF81-6494-C949-8C7F-F6FD22656AF7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A01D1-CB10-9295-FCF4-FDA8E3A4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5F2DC3AB-52A5-7A4C-4221-685D47547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DBB218-A89E-614B-91B1-5063DDFAC248}" type="slidenum">
              <a:rPr lang="en-US" altLang="en-US" smtClean="0">
                <a:solidFill>
                  <a:srgbClr val="898989"/>
                </a:solidFill>
              </a:rPr>
              <a:pPr/>
              <a:t>29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>
            <a:extLst>
              <a:ext uri="{FF2B5EF4-FFF2-40B4-BE49-F238E27FC236}">
                <a16:creationId xmlns:a16="http://schemas.microsoft.com/office/drawing/2014/main" id="{2945704C-2E23-D422-3329-EB561400A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"/>
            <a:ext cx="8458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Aft>
                <a:spcPts val="800"/>
              </a:spcAft>
              <a:buSzPts val="1000"/>
              <a:buFont typeface="Wingdings" pitchFamily="2" charset="2"/>
              <a:buChar char="§"/>
            </a:pP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Business Intelligence (BI)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 refers to skills, processes, technologies, applications and practices used to support decision making.</a:t>
            </a:r>
            <a:endParaRPr lang="en-US" altLang="en-US" sz="1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800"/>
              </a:spcAft>
              <a:buSzPts val="1000"/>
              <a:buFont typeface="Wingdings" pitchFamily="2" charset="2"/>
              <a:buChar char="§"/>
            </a:pP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Business intelligence</a:t>
            </a:r>
            <a:r>
              <a:rPr lang="en-US" altLang="en-US" sz="1900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 </a:t>
            </a: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- BI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 is the set of theories, methodologies, architectures and techniques and tools for the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transformation of raw data 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into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meaningful and useful information for business Analysis purposes.</a:t>
            </a:r>
            <a:endParaRPr lang="en-US" altLang="en-US" sz="19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Aft>
                <a:spcPts val="800"/>
              </a:spcAft>
              <a:buSzPts val="1000"/>
              <a:buFont typeface="Wingdings" pitchFamily="2" charset="2"/>
              <a:buChar char="§"/>
            </a:pP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BI</a:t>
            </a:r>
            <a:r>
              <a:rPr lang="en-US" altLang="en-US" sz="1900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 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is the applications and technologies transforming Business Data into Action.</a:t>
            </a:r>
          </a:p>
          <a:p>
            <a:pPr algn="just">
              <a:lnSpc>
                <a:spcPct val="200000"/>
              </a:lnSpc>
              <a:spcAft>
                <a:spcPts val="800"/>
              </a:spcAft>
              <a:buSzPts val="1000"/>
              <a:buFont typeface="Wingdings" pitchFamily="2" charset="2"/>
              <a:buChar char="§"/>
            </a:pPr>
            <a:r>
              <a:rPr lang="en-US" altLang="en-US" sz="1900" b="1">
                <a:solidFill>
                  <a:srgbClr val="FF0000"/>
                </a:solidFill>
              </a:rPr>
              <a:t>BI</a:t>
            </a:r>
            <a:r>
              <a:rPr lang="en-US" altLang="en-US" sz="1900">
                <a:solidFill>
                  <a:srgbClr val="FF0000"/>
                </a:solidFill>
              </a:rPr>
              <a:t> </a:t>
            </a:r>
            <a:r>
              <a:rPr lang="en-US" altLang="en-US" sz="1900"/>
              <a:t>is the </a:t>
            </a:r>
            <a:r>
              <a:rPr lang="en-US" altLang="en-US" sz="1900" b="1"/>
              <a:t>new technology for understanding the past &amp; predicting the future.</a:t>
            </a:r>
          </a:p>
        </p:txBody>
      </p:sp>
      <p:sp>
        <p:nvSpPr>
          <p:cNvPr id="49154" name="Slide Number Placeholder 2">
            <a:extLst>
              <a:ext uri="{FF2B5EF4-FFF2-40B4-BE49-F238E27FC236}">
                <a16:creationId xmlns:a16="http://schemas.microsoft.com/office/drawing/2014/main" id="{5E039F8F-3277-C7A7-08B3-C339021F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CB8C42-3EE6-0740-888E-26628572B6CC}" type="slidenum">
              <a:rPr lang="en-US" altLang="en-US" smtClean="0">
                <a:solidFill>
                  <a:srgbClr val="898989"/>
                </a:solidFill>
              </a:rPr>
              <a:pPr/>
              <a:t>30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C3A34-75AE-CE07-C14F-62C40850B7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39953EF-F3C8-6B48-A9FF-F99E7A91265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9AD78-5F28-EF21-903D-422274D7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1">
            <a:extLst>
              <a:ext uri="{FF2B5EF4-FFF2-40B4-BE49-F238E27FC236}">
                <a16:creationId xmlns:a16="http://schemas.microsoft.com/office/drawing/2014/main" id="{6E6E73BC-933F-2574-86C0-3E2BB4CBB7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D2385C-4CC9-E64C-A9D5-2BA0F3AE1219}" type="slidenum">
              <a:rPr lang="en-US" altLang="en-US" smtClean="0">
                <a:solidFill>
                  <a:srgbClr val="898989"/>
                </a:solidFill>
              </a:rPr>
              <a:pPr/>
              <a:t>31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0178" name="TextBox 5">
            <a:extLst>
              <a:ext uri="{FF2B5EF4-FFF2-40B4-BE49-F238E27FC236}">
                <a16:creationId xmlns:a16="http://schemas.microsoft.com/office/drawing/2014/main" id="{67526D84-0A45-6C2B-F6C5-26BF670F2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95400"/>
            <a:ext cx="79248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sz="2400" b="1">
                <a:latin typeface="CMSS10"/>
              </a:rPr>
              <a:t>BI </a:t>
            </a:r>
            <a:r>
              <a:rPr lang="en-US" altLang="en-US" sz="2400">
                <a:latin typeface="CMSS10"/>
              </a:rPr>
              <a:t>refers to computer-based techniques used in spotting, digging-out, and analyzing business data, such as sales revenue by products and/or departments or associated costs and incomes.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sz="2400" b="1">
                <a:latin typeface="CMSS10"/>
              </a:rPr>
              <a:t>BI technologies </a:t>
            </a:r>
            <a:r>
              <a:rPr lang="en-US" altLang="en-US" sz="2400">
                <a:latin typeface="CMSS10"/>
              </a:rPr>
              <a:t>provide historical, current, and predictive views of business operations.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sz="2400" b="1">
                <a:latin typeface="CMSS10"/>
              </a:rPr>
              <a:t>Business Intelligence </a:t>
            </a:r>
            <a:r>
              <a:rPr lang="en-US" altLang="en-US" sz="2400">
                <a:latin typeface="CMSS10"/>
              </a:rPr>
              <a:t>often aims to support better business decision-making.</a:t>
            </a:r>
            <a:endParaRPr lang="en-US" altLang="en-US" sz="2400"/>
          </a:p>
        </p:txBody>
      </p:sp>
      <p:sp>
        <p:nvSpPr>
          <p:cNvPr id="50179" name="TextBox 7">
            <a:extLst>
              <a:ext uri="{FF2B5EF4-FFF2-40B4-BE49-F238E27FC236}">
                <a16:creationId xmlns:a16="http://schemas.microsoft.com/office/drawing/2014/main" id="{4EAF876D-2D09-7017-CCD8-1B61FCF36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25450"/>
            <a:ext cx="45720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b="1">
                <a:latin typeface="CMSS10"/>
              </a:rPr>
              <a:t>Summary on BI definition: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BC932-5918-4D46-CAEF-CE54A1EFFC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54BDE4-E60A-B24D-BD34-B44BDD8B874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A26E4-7413-50CE-4CD2-1014E5B4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2">
            <a:extLst>
              <a:ext uri="{FF2B5EF4-FFF2-40B4-BE49-F238E27FC236}">
                <a16:creationId xmlns:a16="http://schemas.microsoft.com/office/drawing/2014/main" id="{240303FE-89A4-CA2F-947C-18CA26B66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8534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2" name="Rectangle 3">
            <a:extLst>
              <a:ext uri="{FF2B5EF4-FFF2-40B4-BE49-F238E27FC236}">
                <a16:creationId xmlns:a16="http://schemas.microsoft.com/office/drawing/2014/main" id="{54046F44-5FF6-C832-3B2A-207387FA2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791200"/>
            <a:ext cx="17145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400" b="1">
                <a:latin typeface="BookAntiqua"/>
              </a:rPr>
              <a:t>Fig.4:BI Definition</a:t>
            </a:r>
          </a:p>
        </p:txBody>
      </p:sp>
      <p:sp>
        <p:nvSpPr>
          <p:cNvPr id="51203" name="Slide Number Placeholder 2">
            <a:extLst>
              <a:ext uri="{FF2B5EF4-FFF2-40B4-BE49-F238E27FC236}">
                <a16:creationId xmlns:a16="http://schemas.microsoft.com/office/drawing/2014/main" id="{30B9841F-F6EA-F118-92A6-9367416C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3A0765-4745-FD40-B848-042A906D8AB5}" type="slidenum">
              <a:rPr lang="en-US" altLang="en-US" smtClean="0">
                <a:solidFill>
                  <a:srgbClr val="898989"/>
                </a:solidFill>
              </a:rPr>
              <a:pPr/>
              <a:t>32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0595F-604B-6BA7-09A5-F37202325E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D74E7D-E9D6-2846-9925-FA77D61C22B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ED6C5-5512-85F5-C297-A7C4A83F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DBD6BB3D-B2E2-C467-5E20-8A1E3BBA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AF572-FA3B-DF4E-BF8C-D99B83E9A652}" type="slidenum">
              <a:rPr lang="ro-RO" altLang="en-US" smtClean="0">
                <a:solidFill>
                  <a:srgbClr val="898989"/>
                </a:solidFill>
              </a:rPr>
              <a:pPr/>
              <a:t>33</a:t>
            </a:fld>
            <a:endParaRPr lang="ro-RO" altLang="en-US">
              <a:solidFill>
                <a:srgbClr val="898989"/>
              </a:solidFill>
            </a:endParaRPr>
          </a:p>
        </p:txBody>
      </p:sp>
      <p:pic>
        <p:nvPicPr>
          <p:cNvPr id="52226" name="Picture 4" descr="https://o7planning.org/en/10355/cache/images/i/492406.png">
            <a:extLst>
              <a:ext uri="{FF2B5EF4-FFF2-40B4-BE49-F238E27FC236}">
                <a16:creationId xmlns:a16="http://schemas.microsoft.com/office/drawing/2014/main" id="{817A47D1-DA10-EBB8-1811-35C7AD906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775"/>
            <a:ext cx="57912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Rectangle 1">
            <a:extLst>
              <a:ext uri="{FF2B5EF4-FFF2-40B4-BE49-F238E27FC236}">
                <a16:creationId xmlns:a16="http://schemas.microsoft.com/office/drawing/2014/main" id="{5592E303-3E20-D822-91BA-F32073AC0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1475"/>
            <a:ext cx="38862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BI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 is a process and technology that enterprises use to control the huge </a:t>
            </a:r>
            <a:r>
              <a:rPr lang="en-US" altLang="en-US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number of data</a:t>
            </a:r>
            <a:r>
              <a:rPr lang="en-US" altLang="en-US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, </a:t>
            </a:r>
            <a:r>
              <a:rPr lang="en-US" altLang="en-US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mining data to make the decision- making</a:t>
            </a:r>
            <a:r>
              <a:rPr lang="en-US" altLang="en-US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more efficient in </a:t>
            </a:r>
            <a:r>
              <a:rPr lang="en-US" altLang="en-US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their business activity.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52336798-3ABE-CF58-7BDF-2869CBD50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3886200"/>
            <a:ext cx="4800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BI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 technology provides an overview on activities of enterprises from the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past, present to future predictions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8BA5F396-57C6-D7CC-9747-964F5DB1B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738" y="3259138"/>
            <a:ext cx="3486150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The target of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BI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 is to help enterprises make better decision</a:t>
            </a:r>
            <a:endParaRPr lang="en-US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26CC7C43-3D56-300E-8DB3-D98833E3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4602163"/>
            <a:ext cx="3848100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Therefore,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BI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 system is also known as </a:t>
            </a:r>
            <a:r>
              <a:rPr lang="en-US" altLang="en-US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Decision Support System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(DSS).</a:t>
            </a:r>
            <a:endParaRPr lang="en-US" altLang="en-US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709618-11F4-FC07-EC89-DA7726CD83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4F7ED97-8AF2-5940-9BAF-A262BB31493B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10464-65CA-D771-A287-BF4DB573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3">
            <a:extLst>
              <a:ext uri="{FF2B5EF4-FFF2-40B4-BE49-F238E27FC236}">
                <a16:creationId xmlns:a16="http://schemas.microsoft.com/office/drawing/2014/main" id="{144F5892-ED19-16DD-8EAD-CE30DEAC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5D81C7-994B-EE46-B08A-E4FE5E7CBBA2}" type="slidenum">
              <a:rPr lang="en-US" altLang="en-US" smtClean="0">
                <a:solidFill>
                  <a:srgbClr val="898989"/>
                </a:solidFill>
              </a:rPr>
              <a:pPr/>
              <a:t>34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3250" name="Rectangle 4">
            <a:extLst>
              <a:ext uri="{FF2B5EF4-FFF2-40B4-BE49-F238E27FC236}">
                <a16:creationId xmlns:a16="http://schemas.microsoft.com/office/drawing/2014/main" id="{35ED960C-34E7-F568-7AAA-47437DF5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381000"/>
            <a:ext cx="83820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90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/>
              <a:t>Business Intelligence enables </a:t>
            </a:r>
            <a:r>
              <a:rPr lang="en-US" altLang="en-US" sz="2400" b="1"/>
              <a:t>the business to make intelligent, fact-based decisions</a:t>
            </a:r>
            <a:r>
              <a:rPr lang="en-US" altLang="en-US" sz="2400"/>
              <a:t>.</a:t>
            </a:r>
          </a:p>
        </p:txBody>
      </p:sp>
      <p:pic>
        <p:nvPicPr>
          <p:cNvPr id="53251" name="Picture 5">
            <a:extLst>
              <a:ext uri="{FF2B5EF4-FFF2-40B4-BE49-F238E27FC236}">
                <a16:creationId xmlns:a16="http://schemas.microsoft.com/office/drawing/2014/main" id="{B76E2329-B84F-7638-0158-920F1FD0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133600"/>
            <a:ext cx="805815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29E82-8E7A-6166-6E72-F3086C9657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7637E4-4759-D041-A86B-CBC746660CEB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9C165-8070-8C4D-282A-C903A59C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2">
            <a:extLst>
              <a:ext uri="{FF2B5EF4-FFF2-40B4-BE49-F238E27FC236}">
                <a16:creationId xmlns:a16="http://schemas.microsoft.com/office/drawing/2014/main" id="{2B0C187E-1097-3A88-4729-40E31B649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Rectangle 3">
            <a:extLst>
              <a:ext uri="{FF2B5EF4-FFF2-40B4-BE49-F238E27FC236}">
                <a16:creationId xmlns:a16="http://schemas.microsoft.com/office/drawing/2014/main" id="{85927DFA-EB8A-B981-2B0A-D7EF0EEA5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5499100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b="1">
                <a:latin typeface="BookAntiqua"/>
              </a:rPr>
              <a:t>Fig.6:BI Example</a:t>
            </a:r>
          </a:p>
        </p:txBody>
      </p:sp>
      <p:sp>
        <p:nvSpPr>
          <p:cNvPr id="54275" name="Slide Number Placeholder 2">
            <a:extLst>
              <a:ext uri="{FF2B5EF4-FFF2-40B4-BE49-F238E27FC236}">
                <a16:creationId xmlns:a16="http://schemas.microsoft.com/office/drawing/2014/main" id="{14602F75-6D34-D3CE-1DDA-D74F0428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0E89FD-8B59-5F44-8292-575C10A15527}" type="slidenum">
              <a:rPr lang="en-US" altLang="en-US" smtClean="0">
                <a:solidFill>
                  <a:srgbClr val="898989"/>
                </a:solidFill>
              </a:rPr>
              <a:pPr/>
              <a:t>35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E92E1-B3B8-0A47-06B5-245EFAF7C3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6851247-3C82-BE4C-84AC-5926B93E68B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EBA39-C861-6264-8266-A669E1948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Content Placeholder 2">
            <a:extLst>
              <a:ext uri="{FF2B5EF4-FFF2-40B4-BE49-F238E27FC236}">
                <a16:creationId xmlns:a16="http://schemas.microsoft.com/office/drawing/2014/main" id="{68C5AD3E-9F82-B8AA-3F52-82E0F77CFE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5172075"/>
            <a:ext cx="1674813" cy="841375"/>
          </a:xfrm>
        </p:spPr>
        <p:txBody>
          <a:bodyPr/>
          <a:lstStyle/>
          <a:p>
            <a:pPr marL="0" indent="0" defTabSz="457200" eaLnBrk="1" hangingPunct="1">
              <a:buFont typeface="Wingdings" pitchFamily="2" charset="2"/>
              <a:buNone/>
            </a:pPr>
            <a:r>
              <a:rPr lang="en-US" altLang="en-US" sz="1400" b="1"/>
              <a:t>Different systems</a:t>
            </a:r>
            <a:r>
              <a:rPr lang="en-US" altLang="en-US" sz="1700" b="1"/>
              <a:t> </a:t>
            </a:r>
          </a:p>
        </p:txBody>
      </p:sp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92EAA1ED-EB0B-3526-76EE-F3072C22EA52}"/>
              </a:ext>
            </a:extLst>
          </p:cNvPr>
          <p:cNvSpPr txBox="1">
            <a:spLocks noGrp="1"/>
          </p:cNvSpPr>
          <p:nvPr/>
        </p:nvSpPr>
        <p:spPr bwMode="auto">
          <a:xfrm>
            <a:off x="6623050" y="6210300"/>
            <a:ext cx="22209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6ECF409-DC54-9345-A201-11BE491E6EDB}" type="slidenum">
              <a:rPr lang="nl-NL" altLang="en-US" sz="1600" b="1">
                <a:solidFill>
                  <a:srgbClr val="3B812F"/>
                </a:solidFill>
              </a:rPr>
              <a:pPr algn="r" eaLnBrk="1" hangingPunct="1"/>
              <a:t>36</a:t>
            </a:fld>
            <a:endParaRPr lang="nl-NL" altLang="en-US" sz="1600" b="1">
              <a:solidFill>
                <a:srgbClr val="3B812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2E2CD-CB0B-BE48-09AA-472B7FD06532}"/>
              </a:ext>
            </a:extLst>
          </p:cNvPr>
          <p:cNvSpPr/>
          <p:nvPr/>
        </p:nvSpPr>
        <p:spPr>
          <a:xfrm>
            <a:off x="2009775" y="5235575"/>
            <a:ext cx="931863" cy="7143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5EC46D-F35A-C2FC-D046-5AE1B67D01B2}"/>
              </a:ext>
            </a:extLst>
          </p:cNvPr>
          <p:cNvSpPr/>
          <p:nvPr/>
        </p:nvSpPr>
        <p:spPr>
          <a:xfrm>
            <a:off x="3778250" y="5235575"/>
            <a:ext cx="1130300" cy="7143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999AF4-3BA2-43AC-5959-F7149606287E}"/>
              </a:ext>
            </a:extLst>
          </p:cNvPr>
          <p:cNvSpPr/>
          <p:nvPr/>
        </p:nvSpPr>
        <p:spPr>
          <a:xfrm>
            <a:off x="5803900" y="5235575"/>
            <a:ext cx="941388" cy="7143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D909D-B90D-4D29-AACA-6C1D5F4EDC4B}"/>
              </a:ext>
            </a:extLst>
          </p:cNvPr>
          <p:cNvSpPr/>
          <p:nvPr/>
        </p:nvSpPr>
        <p:spPr>
          <a:xfrm>
            <a:off x="7151688" y="5235575"/>
            <a:ext cx="977900" cy="7143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ADDD26E0-8A6D-90E5-AB4B-B78044898F11}"/>
              </a:ext>
            </a:extLst>
          </p:cNvPr>
          <p:cNvSpPr/>
          <p:nvPr/>
        </p:nvSpPr>
        <p:spPr>
          <a:xfrm>
            <a:off x="4441825" y="3409950"/>
            <a:ext cx="1700213" cy="156686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B3FF43-2B70-683C-A17F-FF8D78457E4D}"/>
              </a:ext>
            </a:extLst>
          </p:cNvPr>
          <p:cNvCxnSpPr/>
          <p:nvPr/>
        </p:nvCxnSpPr>
        <p:spPr>
          <a:xfrm flipH="1">
            <a:off x="4695825" y="3622675"/>
            <a:ext cx="1201738" cy="1108075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F7D68E-59C5-3060-035F-820193FDC170}"/>
              </a:ext>
            </a:extLst>
          </p:cNvPr>
          <p:cNvCxnSpPr>
            <a:endCxn id="12" idx="4"/>
          </p:cNvCxnSpPr>
          <p:nvPr/>
        </p:nvCxnSpPr>
        <p:spPr>
          <a:xfrm flipH="1">
            <a:off x="5292725" y="4176713"/>
            <a:ext cx="6350" cy="8001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BC4ED0-CF5A-EABE-01EB-9C2F97777B02}"/>
              </a:ext>
            </a:extLst>
          </p:cNvPr>
          <p:cNvCxnSpPr>
            <a:stCxn id="7" idx="0"/>
          </p:cNvCxnSpPr>
          <p:nvPr/>
        </p:nvCxnSpPr>
        <p:spPr>
          <a:xfrm flipV="1">
            <a:off x="2476500" y="4375150"/>
            <a:ext cx="2085975" cy="860425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007B43-62AF-E1C6-BB70-0EF638675EB1}"/>
              </a:ext>
            </a:extLst>
          </p:cNvPr>
          <p:cNvCxnSpPr>
            <a:stCxn id="8" idx="0"/>
          </p:cNvCxnSpPr>
          <p:nvPr/>
        </p:nvCxnSpPr>
        <p:spPr>
          <a:xfrm flipV="1">
            <a:off x="4343400" y="4713288"/>
            <a:ext cx="774700" cy="522287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45656E-1C03-88D9-571A-56677EFA16D9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5805488" y="4646613"/>
            <a:ext cx="469900" cy="588962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C2475C-0A75-2E72-B1E2-59DD87659C44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5522913" y="3714750"/>
            <a:ext cx="2117725" cy="1520825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7549DD5B-1A38-E78B-A8CE-162459B072A7}"/>
              </a:ext>
            </a:extLst>
          </p:cNvPr>
          <p:cNvCxnSpPr/>
          <p:nvPr/>
        </p:nvCxnSpPr>
        <p:spPr>
          <a:xfrm>
            <a:off x="5118100" y="3795713"/>
            <a:ext cx="587375" cy="579437"/>
          </a:xfrm>
          <a:prstGeom prst="curvedConnector3">
            <a:avLst>
              <a:gd name="adj1" fmla="val -76153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46C5AE3-AFDA-A62D-7386-DE8CE93BFE7B}"/>
              </a:ext>
            </a:extLst>
          </p:cNvPr>
          <p:cNvCxnSpPr>
            <a:endCxn id="12" idx="1"/>
          </p:cNvCxnSpPr>
          <p:nvPr/>
        </p:nvCxnSpPr>
        <p:spPr>
          <a:xfrm flipH="1" flipV="1">
            <a:off x="4691063" y="3640138"/>
            <a:ext cx="606425" cy="538162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Up Arrow 70">
            <a:extLst>
              <a:ext uri="{FF2B5EF4-FFF2-40B4-BE49-F238E27FC236}">
                <a16:creationId xmlns:a16="http://schemas.microsoft.com/office/drawing/2014/main" id="{2464088C-17DF-AC0B-74F9-F048E3619E79}"/>
              </a:ext>
            </a:extLst>
          </p:cNvPr>
          <p:cNvSpPr/>
          <p:nvPr/>
        </p:nvSpPr>
        <p:spPr>
          <a:xfrm>
            <a:off x="5089525" y="3028950"/>
            <a:ext cx="293688" cy="327025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C0D383-A326-7411-B121-8B5FCCBC7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958850"/>
            <a:ext cx="3078163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836EBA77-1389-F3E5-5568-8122BFF9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765175"/>
            <a:ext cx="4011613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44A9E-23D0-4F16-274F-355B569D8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1644650"/>
            <a:ext cx="2105025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F27BE5C8-BCD8-2FE3-9ACD-63E44C0176D7}"/>
              </a:ext>
            </a:extLst>
          </p:cNvPr>
          <p:cNvSpPr txBox="1">
            <a:spLocks/>
          </p:cNvSpPr>
          <p:nvPr/>
        </p:nvSpPr>
        <p:spPr bwMode="auto">
          <a:xfrm>
            <a:off x="293688" y="3814763"/>
            <a:ext cx="16748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>
                <a:solidFill>
                  <a:srgbClr val="000000"/>
                </a:solidFill>
                <a:latin typeface="Calibri" panose="020F0502020204030204" pitchFamily="34" charset="0"/>
              </a:rPr>
              <a:t>Data repository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86571D-867F-41ED-ACB9-C3EF8577A23A}"/>
              </a:ext>
            </a:extLst>
          </p:cNvPr>
          <p:cNvSpPr txBox="1">
            <a:spLocks/>
          </p:cNvSpPr>
          <p:nvPr/>
        </p:nvSpPr>
        <p:spPr bwMode="auto">
          <a:xfrm>
            <a:off x="293688" y="3038475"/>
            <a:ext cx="16748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>
                <a:solidFill>
                  <a:srgbClr val="000000"/>
                </a:solidFill>
                <a:latin typeface="Calibri" panose="020F0502020204030204" pitchFamily="34" charset="0"/>
              </a:rPr>
              <a:t>Reports</a:t>
            </a:r>
          </a:p>
        </p:txBody>
      </p:sp>
      <p:sp>
        <p:nvSpPr>
          <p:cNvPr id="55318" name="Rectangle 23">
            <a:extLst>
              <a:ext uri="{FF2B5EF4-FFF2-40B4-BE49-F238E27FC236}">
                <a16:creationId xmlns:a16="http://schemas.microsoft.com/office/drawing/2014/main" id="{990373AB-FDE0-CF62-E4DE-1E2AD3442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8" y="6121400"/>
            <a:ext cx="24209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1600" b="1">
                <a:latin typeface="BookAntiqua"/>
              </a:rPr>
              <a:t>Fig.6:BI Example Cont’</a:t>
            </a:r>
          </a:p>
        </p:txBody>
      </p:sp>
      <p:sp>
        <p:nvSpPr>
          <p:cNvPr id="55319" name="Slide Number Placeholder 2">
            <a:extLst>
              <a:ext uri="{FF2B5EF4-FFF2-40B4-BE49-F238E27FC236}">
                <a16:creationId xmlns:a16="http://schemas.microsoft.com/office/drawing/2014/main" id="{B07037E2-6C8C-F935-1D40-AEC10576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72468F-51D7-5E45-878C-4E5E109B0EE6}" type="slidenum">
              <a:rPr lang="en-US" altLang="en-US" smtClean="0">
                <a:solidFill>
                  <a:srgbClr val="898989"/>
                </a:solidFill>
              </a:rPr>
              <a:pPr/>
              <a:t>36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0D372-6DEA-096D-51C0-71DD683180B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59C681-D32A-0A4D-922C-F945DF484DD7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1384B-0AE9-5264-D074-362E2C51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1" grpId="0" animBg="1"/>
      <p:bldP spid="93" grpId="0" build="p"/>
      <p:bldP spid="9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1">
            <a:extLst>
              <a:ext uri="{FF2B5EF4-FFF2-40B4-BE49-F238E27FC236}">
                <a16:creationId xmlns:a16="http://schemas.microsoft.com/office/drawing/2014/main" id="{76888374-B6FE-481F-E4A6-58BBB5D5D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3DBBFF-6BFD-DA48-9A2D-4AB233BB04B6}" type="slidenum">
              <a:rPr lang="en-US" altLang="en-US" smtClean="0">
                <a:solidFill>
                  <a:srgbClr val="898989"/>
                </a:solidFill>
              </a:rPr>
              <a:pPr/>
              <a:t>37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6322" name="TextBox 3">
            <a:extLst>
              <a:ext uri="{FF2B5EF4-FFF2-40B4-BE49-F238E27FC236}">
                <a16:creationId xmlns:a16="http://schemas.microsoft.com/office/drawing/2014/main" id="{AF08DE8A-77F0-BF89-AB6C-FD882944A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9100"/>
            <a:ext cx="8077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 simple BI system can be viewed as a combination of three main components as follows:</a:t>
            </a:r>
            <a:endParaRPr lang="en-US" altLang="en-US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6323" name="Picture 4">
            <a:extLst>
              <a:ext uri="{FF2B5EF4-FFF2-40B4-BE49-F238E27FC236}">
                <a16:creationId xmlns:a16="http://schemas.microsoft.com/office/drawing/2014/main" id="{0D66919B-33BC-1D2A-2C29-28747985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1905000"/>
            <a:ext cx="4068762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Box 6">
            <a:extLst>
              <a:ext uri="{FF2B5EF4-FFF2-40B4-BE49-F238E27FC236}">
                <a16:creationId xmlns:a16="http://schemas.microsoft.com/office/drawing/2014/main" id="{6274FF37-0D9F-EBFC-CDED-17BAD2513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1371600"/>
            <a:ext cx="4672012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Data Warehouse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: contains comprehensive data of the firm</a:t>
            </a: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20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Data Mining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: includes techniques to exploit data and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discover information 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like 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Classification, Clustering, Association Rule, and Prediction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20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Business Analyst: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 Leaders of enterprises make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strategic decisions on activities of the firm.</a:t>
            </a:r>
            <a:endParaRPr lang="en-US" altLang="en-US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59B04-EE27-CAE1-E611-5B803A7C31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D351D1-6161-8849-84CC-A379A9C79164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4CBE8-F913-16E9-913B-2025C2C4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1860BF67-9C9E-646A-CC1E-2CA16A0A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1178AA-8694-4548-9F2C-E90AEF9E813D}" type="slidenum">
              <a:rPr lang="ro-RO" altLang="en-US" smtClean="0">
                <a:solidFill>
                  <a:srgbClr val="898989"/>
                </a:solidFill>
              </a:rPr>
              <a:pPr/>
              <a:t>38</a:t>
            </a:fld>
            <a:endParaRPr lang="ro-RO" altLang="en-US">
              <a:solidFill>
                <a:srgbClr val="898989"/>
              </a:solidFill>
            </a:endParaRPr>
          </a:p>
        </p:txBody>
      </p:sp>
      <p:sp>
        <p:nvSpPr>
          <p:cNvPr id="57346" name="WordArt 6">
            <a:extLst>
              <a:ext uri="{FF2B5EF4-FFF2-40B4-BE49-F238E27FC236}">
                <a16:creationId xmlns:a16="http://schemas.microsoft.com/office/drawing/2014/main" id="{04807404-6A34-8037-8E9C-6610506DC2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1188" y="476250"/>
            <a:ext cx="7561262" cy="56165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BI</a:t>
            </a:r>
            <a:endParaRPr lang="en-RW" sz="3600" kern="10" spc="72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79999"/>
                  </a:srgbClr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47DE8FD-2267-2722-6167-9A11FBBAE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628775"/>
            <a:ext cx="2016125" cy="6477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b="1"/>
              <a:t>reporting</a:t>
            </a:r>
            <a:endParaRPr lang="ro-RO" altLang="en-US" b="1"/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B6E9F498-EC10-E9AD-8A96-30C782FFE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076700"/>
            <a:ext cx="5327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000" b="1"/>
              <a:t>data discovery capabilities</a:t>
            </a:r>
            <a:endParaRPr lang="ro-RO" altLang="en-US" sz="3000" b="1"/>
          </a:p>
        </p:txBody>
      </p:sp>
      <p:sp>
        <p:nvSpPr>
          <p:cNvPr id="57349" name="Line 5">
            <a:extLst>
              <a:ext uri="{FF2B5EF4-FFF2-40B4-BE49-F238E27FC236}">
                <a16:creationId xmlns:a16="http://schemas.microsoft.com/office/drawing/2014/main" id="{E4A1D24A-6C49-1BC8-AD1A-16C5E83F8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2276475"/>
            <a:ext cx="3455987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W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0185C-99D9-4445-87BC-69A7D9C9A3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5EF7620-92FC-D142-B66B-F432790A8E1A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4ADB1-CFAF-A92B-7207-7D2EA422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5750E6DC-8B8C-04D2-7EFD-D9C4B9CA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F9A1BF-8D0D-2745-B13D-63C98A0604EB}" type="slidenum">
              <a:rPr lang="ro-RO" altLang="en-US" smtClean="0">
                <a:solidFill>
                  <a:srgbClr val="898989"/>
                </a:solidFill>
              </a:rPr>
              <a:pPr/>
              <a:t>39</a:t>
            </a:fld>
            <a:endParaRPr lang="ro-RO" altLang="en-US">
              <a:solidFill>
                <a:srgbClr val="898989"/>
              </a:solidFill>
            </a:endParaRPr>
          </a:p>
        </p:txBody>
      </p:sp>
      <p:sp>
        <p:nvSpPr>
          <p:cNvPr id="58370" name="Oval 4">
            <a:extLst>
              <a:ext uri="{FF2B5EF4-FFF2-40B4-BE49-F238E27FC236}">
                <a16:creationId xmlns:a16="http://schemas.microsoft.com/office/drawing/2014/main" id="{91BAC37A-B223-B547-742D-94E5BA02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4090988"/>
            <a:ext cx="5199063" cy="1930400"/>
          </a:xfrm>
          <a:prstGeom prst="ellipse">
            <a:avLst/>
          </a:prstGeom>
          <a:noFill/>
          <a:ln w="9525">
            <a:solidFill>
              <a:srgbClr val="66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1215387A-FE1F-E97A-BBE8-41E47A60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20713"/>
            <a:ext cx="2209800" cy="549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 u="sng">
                <a:solidFill>
                  <a:srgbClr val="003399"/>
                </a:solidFill>
              </a:rPr>
              <a:t>Information Delivery</a:t>
            </a:r>
          </a:p>
          <a:p>
            <a:endParaRPr lang="ro-RO" altLang="en-US" u="sng">
              <a:solidFill>
                <a:srgbClr val="003399"/>
              </a:solidFill>
            </a:endParaRPr>
          </a:p>
        </p:txBody>
      </p:sp>
      <p:sp>
        <p:nvSpPr>
          <p:cNvPr id="40968" name="Rectangle 8">
            <a:extLst>
              <a:ext uri="{FF2B5EF4-FFF2-40B4-BE49-F238E27FC236}">
                <a16:creationId xmlns:a16="http://schemas.microsoft.com/office/drawing/2014/main" id="{96C2F3F8-BA20-F8A1-E2EB-BA5D652A1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981075"/>
            <a:ext cx="11430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Reporting</a:t>
            </a:r>
            <a:r>
              <a:rPr lang="ro-RO" altLang="en-US"/>
              <a:t> </a:t>
            </a:r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5B35C395-DCB9-D1E8-5B2F-F2148F91E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13843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>
                <a:solidFill>
                  <a:srgbClr val="FF0000"/>
                </a:solidFill>
              </a:rPr>
              <a:t>Dashboards</a:t>
            </a:r>
            <a:r>
              <a:rPr lang="ro-RO" altLang="en-US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970" name="Rectangle 10">
            <a:extLst>
              <a:ext uri="{FF2B5EF4-FFF2-40B4-BE49-F238E27FC236}">
                <a16:creationId xmlns:a16="http://schemas.microsoft.com/office/drawing/2014/main" id="{33879F5E-1CB3-22F8-4650-96382321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989138"/>
            <a:ext cx="22479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>
                <a:solidFill>
                  <a:srgbClr val="FF0000"/>
                </a:solidFill>
              </a:rPr>
              <a:t>Ad hoc report/query</a:t>
            </a:r>
            <a:r>
              <a:rPr lang="ro-RO" altLang="en-US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205774F1-978C-0106-E128-898251FAD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57338"/>
            <a:ext cx="30480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Microsoft Office integration</a:t>
            </a:r>
            <a:r>
              <a:rPr lang="ro-RO" altLang="en-US"/>
              <a:t> 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349AE0C3-0703-93D7-209F-347665CAC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2420938"/>
            <a:ext cx="10795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Mobile BI</a:t>
            </a:r>
            <a:r>
              <a:rPr lang="ro-RO" altLang="en-US"/>
              <a:t> </a:t>
            </a:r>
          </a:p>
        </p:txBody>
      </p:sp>
      <p:sp>
        <p:nvSpPr>
          <p:cNvPr id="58377" name="Oval 13">
            <a:extLst>
              <a:ext uri="{FF2B5EF4-FFF2-40B4-BE49-F238E27FC236}">
                <a16:creationId xmlns:a16="http://schemas.microsoft.com/office/drawing/2014/main" id="{13CF41BC-D22B-04E4-0A05-D22326A1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167062" cy="2952750"/>
          </a:xfrm>
          <a:prstGeom prst="ellipse">
            <a:avLst/>
          </a:prstGeom>
          <a:noFill/>
          <a:ln w="9525">
            <a:solidFill>
              <a:srgbClr val="66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974" name="Rectangle 14">
            <a:extLst>
              <a:ext uri="{FF2B5EF4-FFF2-40B4-BE49-F238E27FC236}">
                <a16:creationId xmlns:a16="http://schemas.microsoft.com/office/drawing/2014/main" id="{5DC62549-D82A-6665-6F4E-BF51C7055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620713"/>
            <a:ext cx="939800" cy="549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 u="sng">
                <a:solidFill>
                  <a:srgbClr val="003399"/>
                </a:solidFill>
              </a:rPr>
              <a:t>Analysis</a:t>
            </a:r>
          </a:p>
          <a:p>
            <a:endParaRPr lang="ro-RO" altLang="en-US" u="sng"/>
          </a:p>
        </p:txBody>
      </p:sp>
      <p:sp>
        <p:nvSpPr>
          <p:cNvPr id="40975" name="Rectangle 15">
            <a:extLst>
              <a:ext uri="{FF2B5EF4-FFF2-40B4-BE49-F238E27FC236}">
                <a16:creationId xmlns:a16="http://schemas.microsoft.com/office/drawing/2014/main" id="{0596868B-1586-8CEC-65CF-6D689BE6B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981075"/>
            <a:ext cx="26416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Interactive visualization</a:t>
            </a:r>
            <a:r>
              <a:rPr lang="ro-RO" altLang="en-US"/>
              <a:t> </a:t>
            </a:r>
          </a:p>
        </p:txBody>
      </p:sp>
      <p:sp>
        <p:nvSpPr>
          <p:cNvPr id="40976" name="Rectangle 16">
            <a:extLst>
              <a:ext uri="{FF2B5EF4-FFF2-40B4-BE49-F238E27FC236}">
                <a16:creationId xmlns:a16="http://schemas.microsoft.com/office/drawing/2014/main" id="{3027B872-97F7-4BC0-6451-30FC91AFA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84313"/>
            <a:ext cx="32258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Search-based data discovery</a:t>
            </a:r>
            <a:r>
              <a:rPr lang="ro-RO" altLang="en-US"/>
              <a:t> </a:t>
            </a:r>
          </a:p>
        </p:txBody>
      </p:sp>
      <p:sp>
        <p:nvSpPr>
          <p:cNvPr id="40977" name="Rectangle 17">
            <a:extLst>
              <a:ext uri="{FF2B5EF4-FFF2-40B4-BE49-F238E27FC236}">
                <a16:creationId xmlns:a16="http://schemas.microsoft.com/office/drawing/2014/main" id="{B49D9FBE-3EBC-9527-C2BD-E8D08F500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989138"/>
            <a:ext cx="39624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Geospatial and location intelligence</a:t>
            </a:r>
            <a:r>
              <a:rPr lang="ro-RO" altLang="en-US"/>
              <a:t> </a:t>
            </a:r>
          </a:p>
        </p:txBody>
      </p:sp>
      <p:sp>
        <p:nvSpPr>
          <p:cNvPr id="40978" name="Rectangle 18">
            <a:extLst>
              <a:ext uri="{FF2B5EF4-FFF2-40B4-BE49-F238E27FC236}">
                <a16:creationId xmlns:a16="http://schemas.microsoft.com/office/drawing/2014/main" id="{E425EE59-A2C1-439A-7E99-30E2FF642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068638"/>
            <a:ext cx="33909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Embedded advanced analytics</a:t>
            </a:r>
            <a:r>
              <a:rPr lang="ro-RO" altLang="en-US"/>
              <a:t> 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75F005C7-0E7D-C2B1-3A19-BC20717EB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565400"/>
            <a:ext cx="4013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Online analytical processing (OLAP)</a:t>
            </a:r>
            <a:r>
              <a:rPr lang="ro-RO" altLang="en-US"/>
              <a:t> </a:t>
            </a:r>
          </a:p>
        </p:txBody>
      </p:sp>
      <p:sp>
        <p:nvSpPr>
          <p:cNvPr id="40980" name="Rectangle 20">
            <a:extLst>
              <a:ext uri="{FF2B5EF4-FFF2-40B4-BE49-F238E27FC236}">
                <a16:creationId xmlns:a16="http://schemas.microsoft.com/office/drawing/2014/main" id="{078543CA-E008-EC3B-C775-883B971E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076700"/>
            <a:ext cx="1181100" cy="549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 u="sng">
                <a:solidFill>
                  <a:srgbClr val="003399"/>
                </a:solidFill>
              </a:rPr>
              <a:t>Integration</a:t>
            </a:r>
          </a:p>
          <a:p>
            <a:endParaRPr lang="ro-RO" altLang="en-US" u="sng"/>
          </a:p>
        </p:txBody>
      </p:sp>
      <p:sp>
        <p:nvSpPr>
          <p:cNvPr id="40981" name="Rectangle 21">
            <a:extLst>
              <a:ext uri="{FF2B5EF4-FFF2-40B4-BE49-F238E27FC236}">
                <a16:creationId xmlns:a16="http://schemas.microsoft.com/office/drawing/2014/main" id="{6DF603F8-7751-3A3C-4745-95B3D318A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437063"/>
            <a:ext cx="39497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BI infrastructure and administration</a:t>
            </a:r>
            <a:r>
              <a:rPr lang="ro-RO" altLang="en-US"/>
              <a:t> </a:t>
            </a:r>
          </a:p>
        </p:txBody>
      </p:sp>
      <p:sp>
        <p:nvSpPr>
          <p:cNvPr id="40982" name="Rectangle 22">
            <a:extLst>
              <a:ext uri="{FF2B5EF4-FFF2-40B4-BE49-F238E27FC236}">
                <a16:creationId xmlns:a16="http://schemas.microsoft.com/office/drawing/2014/main" id="{174F4944-5B56-A929-B1F0-6672575E3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724400"/>
            <a:ext cx="25273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Metadata management</a:t>
            </a:r>
            <a:r>
              <a:rPr lang="ro-RO" altLang="en-US"/>
              <a:t> </a:t>
            </a:r>
          </a:p>
        </p:txBody>
      </p:sp>
      <p:sp>
        <p:nvSpPr>
          <p:cNvPr id="40983" name="Rectangle 23">
            <a:extLst>
              <a:ext uri="{FF2B5EF4-FFF2-40B4-BE49-F238E27FC236}">
                <a16:creationId xmlns:a16="http://schemas.microsoft.com/office/drawing/2014/main" id="{5B1675FE-C7B8-8C30-C2F6-1311BBC6A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013325"/>
            <a:ext cx="4648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Business user </a:t>
            </a:r>
            <a:r>
              <a:rPr lang="ro-RO" altLang="en-US" b="1">
                <a:solidFill>
                  <a:srgbClr val="FF0000"/>
                </a:solidFill>
              </a:rPr>
              <a:t>data mashup </a:t>
            </a:r>
            <a:r>
              <a:rPr lang="ro-RO" altLang="en-US" b="1"/>
              <a:t>and modeling</a:t>
            </a:r>
            <a:r>
              <a:rPr lang="ro-RO" altLang="en-US"/>
              <a:t> </a:t>
            </a:r>
          </a:p>
        </p:txBody>
      </p:sp>
      <p:sp>
        <p:nvSpPr>
          <p:cNvPr id="40984" name="Rectangle 24">
            <a:extLst>
              <a:ext uri="{FF2B5EF4-FFF2-40B4-BE49-F238E27FC236}">
                <a16:creationId xmlns:a16="http://schemas.microsoft.com/office/drawing/2014/main" id="{D1D4F093-812E-EB04-9F5B-5C15C2283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445125"/>
            <a:ext cx="21082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Development tools</a:t>
            </a:r>
            <a:r>
              <a:rPr lang="ro-RO" altLang="en-US"/>
              <a:t> </a:t>
            </a:r>
          </a:p>
        </p:txBody>
      </p:sp>
      <p:sp>
        <p:nvSpPr>
          <p:cNvPr id="40985" name="Rectangle 25">
            <a:extLst>
              <a:ext uri="{FF2B5EF4-FFF2-40B4-BE49-F238E27FC236}">
                <a16:creationId xmlns:a16="http://schemas.microsoft.com/office/drawing/2014/main" id="{FEDAA42C-C099-6B0D-522F-13E6F982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373688"/>
            <a:ext cx="2463800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Embeddable analytics</a:t>
            </a:r>
            <a:r>
              <a:rPr lang="ro-RO" altLang="en-US"/>
              <a:t> </a:t>
            </a:r>
          </a:p>
        </p:txBody>
      </p:sp>
      <p:sp>
        <p:nvSpPr>
          <p:cNvPr id="40986" name="Rectangle 26">
            <a:extLst>
              <a:ext uri="{FF2B5EF4-FFF2-40B4-BE49-F238E27FC236}">
                <a16:creationId xmlns:a16="http://schemas.microsoft.com/office/drawing/2014/main" id="{44A407D8-DEFF-C7D8-2409-872F3F4D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724400"/>
            <a:ext cx="15367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Collaboration</a:t>
            </a:r>
            <a:r>
              <a:rPr lang="ro-RO" altLang="en-US"/>
              <a:t> </a:t>
            </a:r>
          </a:p>
        </p:txBody>
      </p:sp>
      <p:sp>
        <p:nvSpPr>
          <p:cNvPr id="40987" name="Rectangle 27">
            <a:extLst>
              <a:ext uri="{FF2B5EF4-FFF2-40B4-BE49-F238E27FC236}">
                <a16:creationId xmlns:a16="http://schemas.microsoft.com/office/drawing/2014/main" id="{323BF7AB-BA76-F7E9-27B9-6164A885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734050"/>
            <a:ext cx="31877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 b="1"/>
              <a:t>Support for big data sources</a:t>
            </a:r>
            <a:r>
              <a:rPr lang="ro-RO" altLang="en-US"/>
              <a:t> </a:t>
            </a:r>
          </a:p>
        </p:txBody>
      </p:sp>
      <p:sp>
        <p:nvSpPr>
          <p:cNvPr id="58392" name="Oval 28">
            <a:extLst>
              <a:ext uri="{FF2B5EF4-FFF2-40B4-BE49-F238E27FC236}">
                <a16:creationId xmlns:a16="http://schemas.microsoft.com/office/drawing/2014/main" id="{29DF6C03-C009-98C1-F205-6AB61207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4813"/>
            <a:ext cx="4464050" cy="3529012"/>
          </a:xfrm>
          <a:prstGeom prst="ellipse">
            <a:avLst/>
          </a:prstGeom>
          <a:noFill/>
          <a:ln w="9525">
            <a:solidFill>
              <a:srgbClr val="66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8393" name="Rectangle 29">
            <a:extLst>
              <a:ext uri="{FF2B5EF4-FFF2-40B4-BE49-F238E27FC236}">
                <a16:creationId xmlns:a16="http://schemas.microsoft.com/office/drawing/2014/main" id="{E5FAB168-B14A-58B5-BE94-6384B4E18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-125413"/>
            <a:ext cx="1797050" cy="641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o-RO" altLang="en-US"/>
              <a:t>BI and analytics</a:t>
            </a:r>
            <a:endParaRPr lang="en-US" altLang="en-US"/>
          </a:p>
          <a:p>
            <a:r>
              <a:rPr lang="en-US" altLang="en-US"/>
              <a:t>(Gartner, 2014)</a:t>
            </a:r>
            <a:endParaRPr lang="ro-RO" altLang="en-US"/>
          </a:p>
        </p:txBody>
      </p:sp>
      <p:sp>
        <p:nvSpPr>
          <p:cNvPr id="58394" name="TextBox 27">
            <a:extLst>
              <a:ext uri="{FF2B5EF4-FFF2-40B4-BE49-F238E27FC236}">
                <a16:creationId xmlns:a16="http://schemas.microsoft.com/office/drawing/2014/main" id="{17A0AEF5-1F47-6D02-33C1-FF38C3F3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463" y="4149725"/>
            <a:ext cx="1979613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1100" b="1">
                <a:solidFill>
                  <a:srgbClr val="FF0000"/>
                </a:solidFill>
              </a:rPr>
              <a:t>Data mashup </a:t>
            </a:r>
            <a:r>
              <a:rPr lang="en-US" altLang="en-RW" sz="1100">
                <a:solidFill>
                  <a:srgbClr val="202124"/>
                </a:solidFill>
              </a:rPr>
              <a:t>is an integration of two or more </a:t>
            </a:r>
            <a:r>
              <a:rPr lang="en-US" altLang="en-RW" sz="1100" b="1">
                <a:solidFill>
                  <a:srgbClr val="202124"/>
                </a:solidFill>
              </a:rPr>
              <a:t>data</a:t>
            </a:r>
            <a:r>
              <a:rPr lang="en-US" altLang="en-RW" sz="1100">
                <a:solidFill>
                  <a:srgbClr val="202124"/>
                </a:solidFill>
              </a:rPr>
              <a:t> sets in a single graphical interface.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RW" sz="1100" b="1">
                <a:solidFill>
                  <a:srgbClr val="FF0000"/>
                </a:solidFill>
              </a:rPr>
              <a:t>Dashboard</a:t>
            </a:r>
            <a:r>
              <a:rPr lang="en-US" altLang="en-RW" sz="1100">
                <a:solidFill>
                  <a:srgbClr val="202124"/>
                </a:solidFill>
              </a:rPr>
              <a:t> is a prime example of a </a:t>
            </a:r>
            <a:r>
              <a:rPr lang="en-US" altLang="en-RW" sz="1100" b="1">
                <a:solidFill>
                  <a:srgbClr val="202124"/>
                </a:solidFill>
              </a:rPr>
              <a:t>data mashup</a:t>
            </a:r>
            <a:r>
              <a:rPr lang="en-US" altLang="en-RW" sz="1100">
                <a:solidFill>
                  <a:srgbClr val="202124"/>
                </a:solidFill>
              </a:rPr>
              <a:t> hard at work – most dashboards pull </a:t>
            </a:r>
            <a:r>
              <a:rPr lang="en-US" altLang="en-RW" sz="1100" b="1">
                <a:solidFill>
                  <a:srgbClr val="202124"/>
                </a:solidFill>
              </a:rPr>
              <a:t>data</a:t>
            </a:r>
            <a:r>
              <a:rPr lang="en-US" altLang="en-RW" sz="1100">
                <a:solidFill>
                  <a:srgbClr val="202124"/>
                </a:solidFill>
              </a:rPr>
              <a:t> from multiple, disparate sources</a:t>
            </a:r>
            <a:endParaRPr lang="en-RW" altLang="en-RW" sz="11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DF95F-7AFF-7089-733C-58C8C0BC7E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B5A0D04-2A82-A441-87BE-CFF45AF38A6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A0613-2492-E2A7-B212-7B53E6FB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nimBg="1"/>
      <p:bldP spid="40968" grpId="0" animBg="1"/>
      <p:bldP spid="40969" grpId="0" animBg="1"/>
      <p:bldP spid="40970" grpId="0" animBg="1"/>
      <p:bldP spid="40971" grpId="0" animBg="1"/>
      <p:bldP spid="40972" grpId="0" animBg="1"/>
      <p:bldP spid="40974" grpId="0" animBg="1"/>
      <p:bldP spid="40975" grpId="0" animBg="1"/>
      <p:bldP spid="40976" grpId="0" animBg="1"/>
      <p:bldP spid="40977" grpId="0" animBg="1"/>
      <p:bldP spid="40978" grpId="0" animBg="1"/>
      <p:bldP spid="40979" grpId="0" animBg="1"/>
      <p:bldP spid="40980" grpId="0" animBg="1"/>
      <p:bldP spid="40981" grpId="0" animBg="1"/>
      <p:bldP spid="40982" grpId="0" animBg="1"/>
      <p:bldP spid="40983" grpId="0" animBg="1"/>
      <p:bldP spid="40984" grpId="0" animBg="1"/>
      <p:bldP spid="40985" grpId="0" animBg="1"/>
      <p:bldP spid="40986" grpId="0" animBg="1"/>
      <p:bldP spid="4098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AFF-D9DC-D926-6611-F7F53BD4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atin typeface="+mn-lt"/>
              </a:rPr>
              <a:t>Evolution of BI</a:t>
            </a:r>
          </a:p>
        </p:txBody>
      </p:sp>
      <p:sp>
        <p:nvSpPr>
          <p:cNvPr id="59394" name="Content Placeholder 4">
            <a:extLst>
              <a:ext uri="{FF2B5EF4-FFF2-40B4-BE49-F238E27FC236}">
                <a16:creationId xmlns:a16="http://schemas.microsoft.com/office/drawing/2014/main" id="{C6E69980-8542-6179-F5CB-7D9BB069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W" altLang="en-RW"/>
          </a:p>
        </p:txBody>
      </p:sp>
      <p:pic>
        <p:nvPicPr>
          <p:cNvPr id="59395" name="Picture 2" descr="201401_PredictiveAnalytics_EvolutionBI">
            <a:extLst>
              <a:ext uri="{FF2B5EF4-FFF2-40B4-BE49-F238E27FC236}">
                <a16:creationId xmlns:a16="http://schemas.microsoft.com/office/drawing/2014/main" id="{62109F5A-1F18-F400-51E5-4879CDB2B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1681163"/>
            <a:ext cx="7886700" cy="456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30BCA-B11E-0402-DEC4-66022A9E3F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3FAC883-19EB-AD40-8A04-75B752169FB4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E7269-F325-60D5-74F1-379D2DB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59398" name="Slide Number Placeholder 4">
            <a:extLst>
              <a:ext uri="{FF2B5EF4-FFF2-40B4-BE49-F238E27FC236}">
                <a16:creationId xmlns:a16="http://schemas.microsoft.com/office/drawing/2014/main" id="{913F71BB-8387-76F6-C20B-8BA285775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E4DF71-AB47-EB47-82D2-F5E793DF8BA4}" type="slidenum">
              <a:rPr lang="en-US" altLang="en-US" smtClean="0">
                <a:solidFill>
                  <a:srgbClr val="898989"/>
                </a:solidFill>
              </a:rPr>
              <a:pPr/>
              <a:t>40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3">
            <a:extLst>
              <a:ext uri="{FF2B5EF4-FFF2-40B4-BE49-F238E27FC236}">
                <a16:creationId xmlns:a16="http://schemas.microsoft.com/office/drawing/2014/main" id="{C5B5005E-25D0-0020-49BD-B611A784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222A3D-07BD-C740-AD60-8B04E01A4651}" type="slidenum">
              <a:rPr lang="en-US" altLang="en-US" smtClean="0">
                <a:solidFill>
                  <a:srgbClr val="898989"/>
                </a:solidFill>
              </a:rPr>
              <a:pPr/>
              <a:t>41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0418" name="Rectangle 5">
            <a:extLst>
              <a:ext uri="{FF2B5EF4-FFF2-40B4-BE49-F238E27FC236}">
                <a16:creationId xmlns:a16="http://schemas.microsoft.com/office/drawing/2014/main" id="{CDF481A5-7B5E-206C-36A1-1E1257F34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7800"/>
            <a:ext cx="579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2800" b="1">
                <a:latin typeface="Arial Black" panose="020B0604020202020204" pitchFamily="34" charset="0"/>
              </a:rPr>
              <a:t>Why is BI So Important? </a:t>
            </a:r>
            <a:endParaRPr lang="en-US" altLang="en-US" sz="2800"/>
          </a:p>
        </p:txBody>
      </p:sp>
      <p:pic>
        <p:nvPicPr>
          <p:cNvPr id="60419" name="Picture 6">
            <a:extLst>
              <a:ext uri="{FF2B5EF4-FFF2-40B4-BE49-F238E27FC236}">
                <a16:creationId xmlns:a16="http://schemas.microsoft.com/office/drawing/2014/main" id="{BE7AF290-DAC3-8737-C0EF-AAC86846C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38225"/>
            <a:ext cx="786765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39B40-FA1D-3803-557F-CC4F9AD654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12021D-216B-4B4F-A7E3-8F6C9000E1EC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6292C-75CF-B79D-12E7-E7B4BBDC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3">
            <a:extLst>
              <a:ext uri="{FF2B5EF4-FFF2-40B4-BE49-F238E27FC236}">
                <a16:creationId xmlns:a16="http://schemas.microsoft.com/office/drawing/2014/main" id="{5630711A-5CEF-D2B3-2B71-FA4D971B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6F5738-D1D1-E54D-831B-6E15D8F6D0D5}" type="slidenum">
              <a:rPr lang="en-US" altLang="en-US" smtClean="0">
                <a:solidFill>
                  <a:srgbClr val="898989"/>
                </a:solidFill>
              </a:rPr>
              <a:pPr/>
              <a:t>42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1442" name="Picture 4">
            <a:extLst>
              <a:ext uri="{FF2B5EF4-FFF2-40B4-BE49-F238E27FC236}">
                <a16:creationId xmlns:a16="http://schemas.microsoft.com/office/drawing/2014/main" id="{B1386A10-7920-34EA-F273-33458BBE2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ctangle 5">
            <a:extLst>
              <a:ext uri="{FF2B5EF4-FFF2-40B4-BE49-F238E27FC236}">
                <a16:creationId xmlns:a16="http://schemas.microsoft.com/office/drawing/2014/main" id="{C1A98AE3-14EC-64F4-D4D7-A134BA952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614363"/>
            <a:ext cx="6553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2800" b="1">
                <a:latin typeface="Arial Black" panose="020B0604020202020204" pitchFamily="34" charset="0"/>
              </a:rPr>
              <a:t>Why is BI So Important (Cont’)? </a:t>
            </a:r>
            <a:endParaRPr lang="en-US" altLang="en-US" sz="2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7ECE9-8F1D-400F-E9E4-FFCEECF1C5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99661A-5CB3-6041-B995-E549125367B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4ACA4-BEC7-12C9-D976-B6B42A5D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3">
            <a:extLst>
              <a:ext uri="{FF2B5EF4-FFF2-40B4-BE49-F238E27FC236}">
                <a16:creationId xmlns:a16="http://schemas.microsoft.com/office/drawing/2014/main" id="{182A38A5-140B-2295-39A1-7B1A157F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19800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FDD7FA-6CC7-0B47-A5E6-79CC7371ADA1}" type="slidenum">
              <a:rPr lang="en-US" altLang="en-US" smtClean="0">
                <a:solidFill>
                  <a:srgbClr val="898989"/>
                </a:solidFill>
              </a:rPr>
              <a:pPr/>
              <a:t>43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2466" name="Rectangle 4">
            <a:extLst>
              <a:ext uri="{FF2B5EF4-FFF2-40B4-BE49-F238E27FC236}">
                <a16:creationId xmlns:a16="http://schemas.microsoft.com/office/drawing/2014/main" id="{F4F87884-4EFB-1A77-8F4D-E3C4E9CFD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22860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2800" b="1">
                <a:latin typeface="Arial Black" panose="020B0604020202020204" pitchFamily="34" charset="0"/>
              </a:rPr>
              <a:t>BI Business Areas </a:t>
            </a:r>
            <a:endParaRPr lang="en-US" altLang="en-US" sz="2800"/>
          </a:p>
        </p:txBody>
      </p:sp>
      <p:pic>
        <p:nvPicPr>
          <p:cNvPr id="62467" name="Picture 5">
            <a:extLst>
              <a:ext uri="{FF2B5EF4-FFF2-40B4-BE49-F238E27FC236}">
                <a16:creationId xmlns:a16="http://schemas.microsoft.com/office/drawing/2014/main" id="{101799C5-0902-B566-0A01-43B46F4E2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11250"/>
            <a:ext cx="8675688" cy="52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Rectangle 6">
            <a:extLst>
              <a:ext uri="{FF2B5EF4-FFF2-40B4-BE49-F238E27FC236}">
                <a16:creationId xmlns:a16="http://schemas.microsoft.com/office/drawing/2014/main" id="{0F975DEC-F121-0AB4-0A18-022936145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967413"/>
            <a:ext cx="4572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200">
              <a:solidFill>
                <a:srgbClr val="000000"/>
              </a:solidFill>
            </a:endParaRPr>
          </a:p>
          <a:p>
            <a:r>
              <a:rPr lang="en-US" altLang="en-US" b="1"/>
              <a:t>The Data Warehousing Institute (TDWI)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3B1BA-3A03-8E85-17F0-5F33E17A4F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A30E12-E993-9B41-9448-2DE24CC9568A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DEB65-DDD0-D880-67C8-C7F843E3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3">
            <a:extLst>
              <a:ext uri="{FF2B5EF4-FFF2-40B4-BE49-F238E27FC236}">
                <a16:creationId xmlns:a16="http://schemas.microsoft.com/office/drawing/2014/main" id="{1F662D75-99C0-2144-9256-60D1F755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9B565-5C15-414C-B717-A0AF80AC7286}" type="slidenum">
              <a:rPr lang="en-US" altLang="en-US" smtClean="0">
                <a:solidFill>
                  <a:srgbClr val="898989"/>
                </a:solidFill>
              </a:rPr>
              <a:pPr/>
              <a:t>44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3490" name="Rectangle 4">
            <a:extLst>
              <a:ext uri="{FF2B5EF4-FFF2-40B4-BE49-F238E27FC236}">
                <a16:creationId xmlns:a16="http://schemas.microsoft.com/office/drawing/2014/main" id="{A71D6CC6-7ACA-6AED-C7B6-BA960409E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1000"/>
            <a:ext cx="6172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2800" b="1">
                <a:latin typeface="Arial Black" panose="020B0604020202020204" pitchFamily="34" charset="0"/>
              </a:rPr>
              <a:t>BI Business Areas (examples) </a:t>
            </a:r>
            <a:endParaRPr lang="en-US" altLang="en-US" sz="2800"/>
          </a:p>
        </p:txBody>
      </p:sp>
      <p:pic>
        <p:nvPicPr>
          <p:cNvPr id="63491" name="Picture 5">
            <a:extLst>
              <a:ext uri="{FF2B5EF4-FFF2-40B4-BE49-F238E27FC236}">
                <a16:creationId xmlns:a16="http://schemas.microsoft.com/office/drawing/2014/main" id="{4E8651AC-9459-9D5C-41CC-966975AB3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2407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0D59C-8F09-30FC-5500-71A8B8334A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FD18BB-8126-E64F-8974-BEBAFEE58521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1EB6E-D15D-238A-EE82-34B83D0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>
            <a:extLst>
              <a:ext uri="{FF2B5EF4-FFF2-40B4-BE49-F238E27FC236}">
                <a16:creationId xmlns:a16="http://schemas.microsoft.com/office/drawing/2014/main" id="{D6AE8F69-B835-141E-CF1D-B22B94F01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8600"/>
            <a:ext cx="3944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Univers LT 47 CondensedLt"/>
              </a:rPr>
              <a:t>Business Intelligence Process </a:t>
            </a:r>
            <a:endParaRPr lang="en-US" altLang="en-US" sz="2000" b="1"/>
          </a:p>
        </p:txBody>
      </p:sp>
      <p:pic>
        <p:nvPicPr>
          <p:cNvPr id="64514" name="Picture 2" descr="https://o7planning.org/en/10355/cache/images/i/492164.png">
            <a:extLst>
              <a:ext uri="{FF2B5EF4-FFF2-40B4-BE49-F238E27FC236}">
                <a16:creationId xmlns:a16="http://schemas.microsoft.com/office/drawing/2014/main" id="{996409DD-DB2F-3095-8463-E05C0D72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43000"/>
            <a:ext cx="607853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Rectangle 3">
            <a:extLst>
              <a:ext uri="{FF2B5EF4-FFF2-40B4-BE49-F238E27FC236}">
                <a16:creationId xmlns:a16="http://schemas.microsoft.com/office/drawing/2014/main" id="{C7905AFB-5CF1-F5E0-28EC-87093BEFD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295400"/>
            <a:ext cx="3886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The key aspect of BI is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Warehouse 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and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Mining 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since data in BI is </a:t>
            </a:r>
            <a:r>
              <a:rPr lang="en-US" altLang="en-US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synthesized data</a:t>
            </a: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. </a:t>
            </a:r>
            <a:endParaRPr lang="en-US" alt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59C5444C-5559-2748-60A1-718413007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221038"/>
            <a:ext cx="3511550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Warehouse is characterized by various sources and formats, and it is </a:t>
            </a:r>
            <a:r>
              <a:rPr lang="en-US" altLang="en-US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clustering and historical. </a:t>
            </a:r>
            <a:endParaRPr lang="en-US" altLang="en-US" sz="1600" b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517" name="Slide Number Placeholder 2">
            <a:extLst>
              <a:ext uri="{FF2B5EF4-FFF2-40B4-BE49-F238E27FC236}">
                <a16:creationId xmlns:a16="http://schemas.microsoft.com/office/drawing/2014/main" id="{AF6FA714-8169-7CF6-CC8E-5E3173C6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BCDD49-B76B-6A42-B18C-C177E8B86683}" type="slidenum">
              <a:rPr lang="en-US" altLang="en-US" smtClean="0">
                <a:solidFill>
                  <a:srgbClr val="898989"/>
                </a:solidFill>
              </a:rPr>
              <a:pPr/>
              <a:t>45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24A66-47D6-F9E6-95BF-B985FF26A3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FAB9A9B-51DA-DD4D-9FDE-536BD0B6E9F1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588C3-690A-2C3E-1A9C-47BCF95D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pic>
        <p:nvPicPr>
          <p:cNvPr id="64520" name="Picture 2" descr="https://o7planning.org/en/10355/cache/images/i/492164.png">
            <a:extLst>
              <a:ext uri="{FF2B5EF4-FFF2-40B4-BE49-F238E27FC236}">
                <a16:creationId xmlns:a16="http://schemas.microsoft.com/office/drawing/2014/main" id="{66790F9E-8C7F-BCB2-AF07-3C7FD271F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1136650"/>
            <a:ext cx="607853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Picture 1">
            <a:extLst>
              <a:ext uri="{FF2B5EF4-FFF2-40B4-BE49-F238E27FC236}">
                <a16:creationId xmlns:a16="http://schemas.microsoft.com/office/drawing/2014/main" id="{FEFEE79F-62FF-04F2-2B0E-3D3A13E3F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5867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8" name="Rectangle 2">
            <a:extLst>
              <a:ext uri="{FF2B5EF4-FFF2-40B4-BE49-F238E27FC236}">
                <a16:creationId xmlns:a16="http://schemas.microsoft.com/office/drawing/2014/main" id="{7349FB39-6B2A-33B7-0E10-BCB190A56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343400"/>
            <a:ext cx="82296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Besides,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analyzing data in BI 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is not simple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(query, Filtering), 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but it uses </a:t>
            </a: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Mining technique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to do </a:t>
            </a: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classification, clustering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, or </a:t>
            </a:r>
            <a:r>
              <a:rPr lang="en-US" altLang="en-US" sz="1900" b="1">
                <a:solidFill>
                  <a:srgbClr val="FF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prediction.</a:t>
            </a:r>
          </a:p>
          <a:p>
            <a:pPr algn="just">
              <a:lnSpc>
                <a:spcPct val="15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</a:pP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Thus, BI has a very tight relationship with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Warehouse 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and </a:t>
            </a:r>
            <a:r>
              <a:rPr lang="en-US" altLang="en-US" sz="1900" b="1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Data mining</a:t>
            </a:r>
            <a:r>
              <a:rPr lang="en-US" altLang="en-US" sz="1900">
                <a:solidFill>
                  <a:srgbClr val="000000"/>
                </a:solidFill>
                <a:latin typeface="HelveticaNeueLight" panose="02000503000000020004" pitchFamily="2" charset="0"/>
                <a:cs typeface="Times New Roman" panose="02020603050405020304" pitchFamily="18" charset="0"/>
              </a:rPr>
              <a:t>.</a:t>
            </a:r>
            <a:endParaRPr lang="en-US" altLang="en-US" sz="19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539" name="Slide Number Placeholder 2">
            <a:extLst>
              <a:ext uri="{FF2B5EF4-FFF2-40B4-BE49-F238E27FC236}">
                <a16:creationId xmlns:a16="http://schemas.microsoft.com/office/drawing/2014/main" id="{5AF26B7D-91D6-334D-0351-43BC168B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42953D-CE49-314E-A5FC-92FC5A3FC596}" type="slidenum">
              <a:rPr lang="en-US" altLang="en-US" smtClean="0">
                <a:solidFill>
                  <a:srgbClr val="898989"/>
                </a:solidFill>
              </a:rPr>
              <a:pPr/>
              <a:t>46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C8539-0795-5A59-490F-B7A4CD304D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2C6E5A-9389-A641-9261-2B28430CEF6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4E4D7-4F2B-392C-AA63-AC09F1B0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1">
            <a:extLst>
              <a:ext uri="{FF2B5EF4-FFF2-40B4-BE49-F238E27FC236}">
                <a16:creationId xmlns:a16="http://schemas.microsoft.com/office/drawing/2014/main" id="{D16CE5BF-BC3B-2375-82D8-2B22F487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8A199C-C5AA-EB47-9EC0-346CF9D3071F}" type="slidenum">
              <a:rPr lang="en-US" altLang="en-US" smtClean="0">
                <a:solidFill>
                  <a:srgbClr val="898989"/>
                </a:solidFill>
              </a:rPr>
              <a:pPr/>
              <a:t>47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59C7B6CD-A56C-CD6D-9E0A-44C3E811B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860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latin typeface="Arial Black" panose="020B0604020202020204" pitchFamily="34" charset="0"/>
              </a:rPr>
              <a:t>BI Strategy </a:t>
            </a:r>
            <a:endParaRPr lang="en-US" altLang="en-US" sz="2800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39B9864-DDE8-F6B1-A6B7-8EEDE9A4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3429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000"/>
              <a:t>Improving organizations by providing business insights to </a:t>
            </a:r>
            <a:r>
              <a:rPr lang="en-US" altLang="en-US" sz="2000" b="1"/>
              <a:t>all </a:t>
            </a:r>
            <a:r>
              <a:rPr lang="en-US" altLang="en-US" sz="2000"/>
              <a:t>employees leading to better, faster, more relevant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AA110-04E5-1B87-F9B4-C4EEA4612FB7}"/>
              </a:ext>
            </a:extLst>
          </p:cNvPr>
          <p:cNvSpPr/>
          <p:nvPr/>
        </p:nvSpPr>
        <p:spPr>
          <a:xfrm>
            <a:off x="304800" y="3314700"/>
            <a:ext cx="4572000" cy="3201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endParaRPr lang="en-US" sz="110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11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Allow business users the ability to query and write </a:t>
            </a:r>
            <a:r>
              <a:rPr lang="en-US" sz="2000" b="1" dirty="0">
                <a:solidFill>
                  <a:srgbClr val="FF0000"/>
                </a:solidFill>
              </a:rPr>
              <a:t>reports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To simplify reporting across </a:t>
            </a:r>
            <a:r>
              <a:rPr lang="en-US" sz="2000" b="1" dirty="0">
                <a:solidFill>
                  <a:srgbClr val="FF0000"/>
                </a:solidFill>
              </a:rPr>
              <a:t>multiple</a:t>
            </a:r>
            <a:r>
              <a:rPr lang="en-US" sz="2000" dirty="0"/>
              <a:t> transaction systems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To store </a:t>
            </a:r>
            <a:r>
              <a:rPr lang="en-US" sz="2000" b="1" dirty="0"/>
              <a:t>historical data </a:t>
            </a:r>
            <a:r>
              <a:rPr lang="en-US" sz="2000" b="1" dirty="0">
                <a:solidFill>
                  <a:srgbClr val="FF0000"/>
                </a:solidFill>
              </a:rPr>
              <a:t>longer</a:t>
            </a:r>
            <a:r>
              <a:rPr lang="en-US" sz="2000" dirty="0"/>
              <a:t> than you can/would in transaction system </a:t>
            </a:r>
          </a:p>
        </p:txBody>
      </p:sp>
      <p:pic>
        <p:nvPicPr>
          <p:cNvPr id="66565" name="Picture 6">
            <a:extLst>
              <a:ext uri="{FF2B5EF4-FFF2-40B4-BE49-F238E27FC236}">
                <a16:creationId xmlns:a16="http://schemas.microsoft.com/office/drawing/2014/main" id="{DF728330-56C7-EFDB-A775-919700427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644525"/>
            <a:ext cx="40386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6D4FC7-8CEE-976B-44D2-00D47B3A9C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0A3BAE-3F65-954C-B1D1-9407DA86FA52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D754E-AD4F-668C-8FDF-C9D926AA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1">
            <a:extLst>
              <a:ext uri="{FF2B5EF4-FFF2-40B4-BE49-F238E27FC236}">
                <a16:creationId xmlns:a16="http://schemas.microsoft.com/office/drawing/2014/main" id="{EF7A30E7-3ED9-23A3-0712-27415CCC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732B38-9CE2-3142-B2A9-7A90AF68BBD9}" type="slidenum">
              <a:rPr lang="en-US" altLang="en-US" smtClean="0">
                <a:solidFill>
                  <a:srgbClr val="898989"/>
                </a:solidFill>
              </a:rPr>
              <a:pPr/>
              <a:t>48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D674B815-DD2E-F441-37E6-5F7AC4C4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050" y="381000"/>
            <a:ext cx="457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/>
              <a:t>Why do companies need BI?</a:t>
            </a:r>
          </a:p>
        </p:txBody>
      </p:sp>
      <p:pic>
        <p:nvPicPr>
          <p:cNvPr id="67587" name="Picture 4">
            <a:extLst>
              <a:ext uri="{FF2B5EF4-FFF2-40B4-BE49-F238E27FC236}">
                <a16:creationId xmlns:a16="http://schemas.microsoft.com/office/drawing/2014/main" id="{31B02E8A-FD0B-E7AE-5A87-CFBCDC35E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160463"/>
            <a:ext cx="782955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7">
            <a:extLst>
              <a:ext uri="{FF2B5EF4-FFF2-40B4-BE49-F238E27FC236}">
                <a16:creationId xmlns:a16="http://schemas.microsoft.com/office/drawing/2014/main" id="{30BEEF6C-BEAF-51B5-2594-F4835767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260725"/>
            <a:ext cx="45720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b="1"/>
              <a:t>Alerts </a:t>
            </a:r>
            <a:endParaRPr lang="en-US" altLang="en-US"/>
          </a:p>
        </p:txBody>
      </p:sp>
      <p:sp>
        <p:nvSpPr>
          <p:cNvPr id="67589" name="Rectangle 8">
            <a:extLst>
              <a:ext uri="{FF2B5EF4-FFF2-40B4-BE49-F238E27FC236}">
                <a16:creationId xmlns:a16="http://schemas.microsoft.com/office/drawing/2014/main" id="{01B1261C-EB8D-38F7-0BC0-33F4BB6F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759200"/>
            <a:ext cx="4572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b="1"/>
              <a:t>Query/drill down </a:t>
            </a:r>
            <a:endParaRPr lang="en-US" altLang="en-US"/>
          </a:p>
        </p:txBody>
      </p:sp>
      <p:sp>
        <p:nvSpPr>
          <p:cNvPr id="67590" name="Rectangle 9">
            <a:extLst>
              <a:ext uri="{FF2B5EF4-FFF2-40B4-BE49-F238E27FC236}">
                <a16:creationId xmlns:a16="http://schemas.microsoft.com/office/drawing/2014/main" id="{8164A529-8FF3-3FB3-71A0-DF36AE21A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91000"/>
            <a:ext cx="4572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b="1"/>
              <a:t>Ad hoc reports </a:t>
            </a:r>
            <a:endParaRPr lang="en-US" altLang="en-US"/>
          </a:p>
        </p:txBody>
      </p:sp>
      <p:sp>
        <p:nvSpPr>
          <p:cNvPr id="67591" name="Rectangle 10">
            <a:extLst>
              <a:ext uri="{FF2B5EF4-FFF2-40B4-BE49-F238E27FC236}">
                <a16:creationId xmlns:a16="http://schemas.microsoft.com/office/drawing/2014/main" id="{44465E16-3F6A-E026-CE08-11AFC33BE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673600"/>
            <a:ext cx="4572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b="1"/>
              <a:t>Standard reports </a:t>
            </a:r>
            <a:endParaRPr lang="en-US" altLang="en-US"/>
          </a:p>
        </p:txBody>
      </p:sp>
      <p:sp>
        <p:nvSpPr>
          <p:cNvPr id="67592" name="Rectangle 11">
            <a:extLst>
              <a:ext uri="{FF2B5EF4-FFF2-40B4-BE49-F238E27FC236}">
                <a16:creationId xmlns:a16="http://schemas.microsoft.com/office/drawing/2014/main" id="{F50416B6-0504-1DC6-C8D6-1376266EB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354388"/>
            <a:ext cx="3198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sz="1600" b="1" i="1"/>
              <a:t>What actions are needed? </a:t>
            </a:r>
            <a:endParaRPr lang="en-US" altLang="en-US" sz="1600" b="1"/>
          </a:p>
        </p:txBody>
      </p:sp>
      <p:sp>
        <p:nvSpPr>
          <p:cNvPr id="67593" name="Rectangle 12">
            <a:extLst>
              <a:ext uri="{FF2B5EF4-FFF2-40B4-BE49-F238E27FC236}">
                <a16:creationId xmlns:a16="http://schemas.microsoft.com/office/drawing/2014/main" id="{CFEA2979-3A51-C82C-87C2-56CED14A7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36988"/>
            <a:ext cx="3762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sz="1500" b="1" i="1"/>
              <a:t>Where exactly is the problem? </a:t>
            </a:r>
            <a:endParaRPr lang="en-US" altLang="en-US" sz="1500" b="1"/>
          </a:p>
        </p:txBody>
      </p:sp>
      <p:sp>
        <p:nvSpPr>
          <p:cNvPr id="67594" name="Rectangle 13">
            <a:extLst>
              <a:ext uri="{FF2B5EF4-FFF2-40B4-BE49-F238E27FC236}">
                <a16:creationId xmlns:a16="http://schemas.microsoft.com/office/drawing/2014/main" id="{E5346DC6-3D40-74CE-7F55-3D83DF311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3" y="4319588"/>
            <a:ext cx="3276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sz="1600" b="1" i="1"/>
              <a:t>How many, how often, where? </a:t>
            </a:r>
            <a:endParaRPr lang="en-US" altLang="en-US" sz="1600" b="1"/>
          </a:p>
        </p:txBody>
      </p:sp>
      <p:sp>
        <p:nvSpPr>
          <p:cNvPr id="67595" name="Rectangle 14">
            <a:extLst>
              <a:ext uri="{FF2B5EF4-FFF2-40B4-BE49-F238E27FC236}">
                <a16:creationId xmlns:a16="http://schemas.microsoft.com/office/drawing/2014/main" id="{6860E753-D6A9-4676-9CBA-20D56026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3" y="4725988"/>
            <a:ext cx="4572000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srgbClr val="000000"/>
              </a:solidFill>
            </a:endParaRPr>
          </a:p>
          <a:p>
            <a:r>
              <a:rPr lang="en-US" altLang="en-US" b="1" i="1"/>
              <a:t>What happened? </a:t>
            </a:r>
            <a:endParaRPr lang="en-US" altLang="en-US" b="1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4E658-C656-D1F6-5BC5-969B4E7843F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E8E84C-003E-6C40-8C23-1F472FE2FC37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30CF5-76F0-8974-91D5-F9B5E1BA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>
            <a:extLst>
              <a:ext uri="{FF2B5EF4-FFF2-40B4-BE49-F238E27FC236}">
                <a16:creationId xmlns:a16="http://schemas.microsoft.com/office/drawing/2014/main" id="{46690226-53E2-468C-1544-4E53185C9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6525"/>
            <a:ext cx="7981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000000"/>
                </a:solidFill>
                <a:latin typeface="Univers LT 47 CondensedLt"/>
              </a:rPr>
              <a:t>Business Intelligence Components </a:t>
            </a:r>
            <a:endParaRPr lang="en-US" altLang="en-US" sz="3600" b="1"/>
          </a:p>
        </p:txBody>
      </p:sp>
      <p:sp>
        <p:nvSpPr>
          <p:cNvPr id="68610" name="Slide Number Placeholder 2">
            <a:extLst>
              <a:ext uri="{FF2B5EF4-FFF2-40B4-BE49-F238E27FC236}">
                <a16:creationId xmlns:a16="http://schemas.microsoft.com/office/drawing/2014/main" id="{C6141AC4-C097-BC13-7500-BF890B87F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DEF5D6-DF46-084D-AC18-5F8E9DA81DF6}" type="slidenum">
              <a:rPr lang="en-US" altLang="en-US" smtClean="0">
                <a:solidFill>
                  <a:srgbClr val="898989"/>
                </a:solidFill>
              </a:rPr>
              <a:pPr/>
              <a:t>49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8611" name="Picture 4">
            <a:extLst>
              <a:ext uri="{FF2B5EF4-FFF2-40B4-BE49-F238E27FC236}">
                <a16:creationId xmlns:a16="http://schemas.microsoft.com/office/drawing/2014/main" id="{0592E59A-4D1D-5E15-4990-7557FB69A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311275"/>
            <a:ext cx="8305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405BB-4388-695F-7C12-ACB3A80A78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E0B66C7-5C7A-D548-9BCE-07399667A03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41364-D265-AB08-3EA5-FCB05309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E83C8440-3E8D-3AD0-2A06-381E552F9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5410200"/>
            <a:ext cx="83693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000" b="1"/>
              <a:t>A data warehouse </a:t>
            </a:r>
            <a:r>
              <a:rPr lang="en-US" altLang="en-US" sz="2000"/>
              <a:t>is a </a:t>
            </a:r>
            <a:r>
              <a:rPr lang="en-US" altLang="en-US" sz="2000" b="1">
                <a:solidFill>
                  <a:srgbClr val="FF0000"/>
                </a:solidFill>
              </a:rPr>
              <a:t>subject-oriented</a:t>
            </a:r>
            <a:r>
              <a:rPr lang="en-US" altLang="en-US" sz="2000"/>
              <a:t>, </a:t>
            </a:r>
            <a:r>
              <a:rPr lang="en-US" altLang="en-US" sz="2000" b="1">
                <a:solidFill>
                  <a:srgbClr val="FF0000"/>
                </a:solidFill>
              </a:rPr>
              <a:t>integrated</a:t>
            </a:r>
            <a:r>
              <a:rPr lang="en-US" altLang="en-US" sz="2000"/>
              <a:t>, </a:t>
            </a:r>
            <a:r>
              <a:rPr lang="en-US" altLang="en-US" sz="2000" b="1">
                <a:solidFill>
                  <a:srgbClr val="FF0000"/>
                </a:solidFill>
              </a:rPr>
              <a:t>time-variant</a:t>
            </a:r>
            <a:r>
              <a:rPr lang="en-US" altLang="en-US" sz="2000"/>
              <a:t> and </a:t>
            </a:r>
            <a:r>
              <a:rPr lang="en-US" altLang="en-US" sz="2000" b="1">
                <a:solidFill>
                  <a:srgbClr val="FF0000"/>
                </a:solidFill>
              </a:rPr>
              <a:t>non-volatile</a:t>
            </a:r>
            <a:r>
              <a:rPr lang="en-US" altLang="en-US" sz="2000"/>
              <a:t> collection of data in support of management decision making process.</a:t>
            </a:r>
          </a:p>
        </p:txBody>
      </p:sp>
      <p:pic>
        <p:nvPicPr>
          <p:cNvPr id="69634" name="Picture 3">
            <a:extLst>
              <a:ext uri="{FF2B5EF4-FFF2-40B4-BE49-F238E27FC236}">
                <a16:creationId xmlns:a16="http://schemas.microsoft.com/office/drawing/2014/main" id="{5974B8FB-6610-4243-76D5-057D50D09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534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Rectangle 4">
            <a:extLst>
              <a:ext uri="{FF2B5EF4-FFF2-40B4-BE49-F238E27FC236}">
                <a16:creationId xmlns:a16="http://schemas.microsoft.com/office/drawing/2014/main" id="{FA2D1142-48BF-45DF-2CDB-74D8BD5EE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800"/>
            <a:ext cx="2670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latin typeface="Univers LT 47 CondensedLt"/>
              </a:rPr>
              <a:t>Data Warehouse </a:t>
            </a:r>
            <a:endParaRPr lang="en-US" altLang="en-US" sz="2400" b="1"/>
          </a:p>
        </p:txBody>
      </p:sp>
      <p:sp>
        <p:nvSpPr>
          <p:cNvPr id="69636" name="Slide Number Placeholder 2">
            <a:extLst>
              <a:ext uri="{FF2B5EF4-FFF2-40B4-BE49-F238E27FC236}">
                <a16:creationId xmlns:a16="http://schemas.microsoft.com/office/drawing/2014/main" id="{447D4581-227A-9C2D-449B-8317FA37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3C5CD4-1A53-A247-825C-5FF69AF1CF95}" type="slidenum">
              <a:rPr lang="en-US" altLang="en-US" smtClean="0">
                <a:solidFill>
                  <a:srgbClr val="898989"/>
                </a:solidFill>
              </a:rPr>
              <a:pPr/>
              <a:t>50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9DD5E-35AF-593F-7477-A824A0EBBD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D6D77E7-DC6B-B941-8A10-D06422A4233E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8567E-6083-BEB3-4A07-800EEF68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>
            <a:extLst>
              <a:ext uri="{FF2B5EF4-FFF2-40B4-BE49-F238E27FC236}">
                <a16:creationId xmlns:a16="http://schemas.microsoft.com/office/drawing/2014/main" id="{23219F4C-ACCC-61CD-794B-B2046F40B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9600"/>
            <a:ext cx="64071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 b="1">
                <a:solidFill>
                  <a:srgbClr val="000000"/>
                </a:solidFill>
                <a:latin typeface="Univers LT 47 CondensedLt"/>
              </a:rPr>
              <a:t>OLTP – Online Transaction Processing </a:t>
            </a:r>
            <a:endParaRPr lang="en-US" altLang="en-US" sz="26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FE6CD-7A63-EF1A-E3C5-3340968909FB}"/>
              </a:ext>
            </a:extLst>
          </p:cNvPr>
          <p:cNvSpPr/>
          <p:nvPr/>
        </p:nvSpPr>
        <p:spPr>
          <a:xfrm>
            <a:off x="381000" y="1600200"/>
            <a:ext cx="8534400" cy="4060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sz="2200" b="1" dirty="0">
                <a:solidFill>
                  <a:srgbClr val="000000"/>
                </a:solidFill>
                <a:latin typeface="Univers LT 47 CondensedLt"/>
              </a:rPr>
              <a:t>Online transaction processing</a:t>
            </a:r>
            <a:r>
              <a:rPr lang="en-US" sz="2200" dirty="0">
                <a:solidFill>
                  <a:srgbClr val="000000"/>
                </a:solidFill>
                <a:latin typeface="Univers LT 47 CondensedLt"/>
              </a:rPr>
              <a:t>, or OLTP, is a class of information systems that facilitate and manage transaction-oriented applications, typically for </a:t>
            </a:r>
            <a:r>
              <a:rPr lang="en-US" sz="2200" b="1" dirty="0">
                <a:solidFill>
                  <a:srgbClr val="000000"/>
                </a:solidFill>
                <a:latin typeface="Univers LT 47 CondensedLt"/>
              </a:rPr>
              <a:t>data entry and retrieval transaction processing</a:t>
            </a:r>
            <a:r>
              <a:rPr lang="en-US" sz="2200" dirty="0">
                <a:solidFill>
                  <a:srgbClr val="000000"/>
                </a:solidFill>
                <a:latin typeface="Univers LT 47 CondensedLt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rgbClr val="000000"/>
                </a:solidFill>
                <a:latin typeface="Univers LT 47 CondensedLt"/>
              </a:rPr>
              <a:t>Online transaction processing increasingly requires support for transactions that span a network and may include more than one company. </a:t>
            </a:r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44210A45-9D54-6AD7-507D-09211C1F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8B8393-DCCA-934B-A593-392CB34657FD}" type="slidenum">
              <a:rPr lang="en-US" altLang="en-US" smtClean="0">
                <a:solidFill>
                  <a:srgbClr val="898989"/>
                </a:solidFill>
              </a:rPr>
              <a:pPr/>
              <a:t>51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86796-469A-BF87-EEC3-17D0C4551B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E07B8B-743F-BE45-BCA2-78F8627DB248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70EDE-AB70-F20D-91EE-CA02959D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1">
            <a:extLst>
              <a:ext uri="{FF2B5EF4-FFF2-40B4-BE49-F238E27FC236}">
                <a16:creationId xmlns:a16="http://schemas.microsoft.com/office/drawing/2014/main" id="{EBA43E43-997F-E860-7029-111117760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95600"/>
            <a:ext cx="739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6" name="Rectangle 2">
            <a:extLst>
              <a:ext uri="{FF2B5EF4-FFF2-40B4-BE49-F238E27FC236}">
                <a16:creationId xmlns:a16="http://schemas.microsoft.com/office/drawing/2014/main" id="{C36686AA-86BF-7612-50A3-8C9ED7C5F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81000"/>
            <a:ext cx="8134350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en-US" sz="2200">
                <a:solidFill>
                  <a:srgbClr val="000000"/>
                </a:solidFill>
                <a:latin typeface="Univers LT 47 CondensedLt"/>
              </a:rPr>
              <a:t>For this reason, new online transaction processing software </a:t>
            </a:r>
            <a:r>
              <a:rPr lang="en-US" altLang="en-US" sz="2200" b="1">
                <a:solidFill>
                  <a:srgbClr val="000000"/>
                </a:solidFill>
                <a:latin typeface="Univers LT 47 CondensedLt"/>
              </a:rPr>
              <a:t>uses client or server processing and brokering software </a:t>
            </a:r>
            <a:r>
              <a:rPr lang="en-US" altLang="en-US" sz="2200">
                <a:solidFill>
                  <a:srgbClr val="000000"/>
                </a:solidFill>
                <a:latin typeface="Univers LT 47 CondensedLt"/>
              </a:rPr>
              <a:t>that allows transactions to run on different computer platforms in a network. </a:t>
            </a:r>
            <a:endParaRPr lang="en-US" altLang="en-US" sz="2200">
              <a:solidFill>
                <a:srgbClr val="000000"/>
              </a:solidFill>
            </a:endParaRPr>
          </a:p>
        </p:txBody>
      </p:sp>
      <p:sp>
        <p:nvSpPr>
          <p:cNvPr id="72707" name="Slide Number Placeholder 2">
            <a:extLst>
              <a:ext uri="{FF2B5EF4-FFF2-40B4-BE49-F238E27FC236}">
                <a16:creationId xmlns:a16="http://schemas.microsoft.com/office/drawing/2014/main" id="{A5687579-94F5-E889-9C48-D04D3ABB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CCEEFB-245B-544B-B5A5-822662D80AD8}" type="slidenum">
              <a:rPr lang="en-US" altLang="en-US" smtClean="0">
                <a:solidFill>
                  <a:srgbClr val="898989"/>
                </a:solidFill>
              </a:rPr>
              <a:pPr/>
              <a:t>52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F74FB-A2E5-5A02-B736-562801A153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CF0F99-B9B2-6D49-9533-849788AFBA2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69FF7-92F8-3DD6-F972-197BA8E8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">
            <a:extLst>
              <a:ext uri="{FF2B5EF4-FFF2-40B4-BE49-F238E27FC236}">
                <a16:creationId xmlns:a16="http://schemas.microsoft.com/office/drawing/2014/main" id="{4F6498D7-F99E-FD5F-9019-D0FBB1825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3400"/>
            <a:ext cx="5686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000000"/>
                </a:solidFill>
                <a:latin typeface="Univers LT 47 CondensedLt"/>
              </a:rPr>
              <a:t>OLAP – Online Analytical Processing </a:t>
            </a:r>
            <a:endParaRPr lang="en-US" altLang="en-US" sz="2400" b="1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05E558B7-5917-EE50-EE8F-AFE60F91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686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en-US" sz="2000">
                <a:latin typeface="Univers LT 47 CondensedLt"/>
              </a:rPr>
              <a:t>Online analytical processing, or OLAP is an </a:t>
            </a:r>
            <a:r>
              <a:rPr lang="en-US" altLang="en-US" sz="2000" b="1">
                <a:latin typeface="Univers LT 47 CondensedLt"/>
              </a:rPr>
              <a:t>approach to answering multi-dimensional analytical (MDA) queries swiftly</a:t>
            </a:r>
            <a:r>
              <a:rPr lang="en-US" altLang="en-US" sz="2000">
                <a:latin typeface="Univers LT 47 CondensedLt"/>
              </a:rPr>
              <a:t>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en-US" sz="2000">
                <a:latin typeface="Univers LT 47 CondensedLt"/>
              </a:rPr>
              <a:t>OLAP tools enable users </a:t>
            </a:r>
            <a:r>
              <a:rPr lang="en-US" altLang="en-US" sz="2000" b="1">
                <a:latin typeface="Univers LT 47 CondensedLt"/>
              </a:rPr>
              <a:t>to analyze multidimensional data interactively from multiple perspectives. 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en-US" sz="2000">
                <a:latin typeface="Univers LT 47 CondensedLt"/>
              </a:rPr>
              <a:t>OLAP consists of three basic analytical operations: </a:t>
            </a:r>
            <a:r>
              <a:rPr lang="en-US" altLang="en-US" sz="2000" b="1">
                <a:latin typeface="Univers LT 47 CondensedLt"/>
              </a:rPr>
              <a:t>consolidation</a:t>
            </a:r>
            <a:r>
              <a:rPr lang="en-US" altLang="en-US" sz="2000">
                <a:latin typeface="Univers LT 47 CondensedLt"/>
              </a:rPr>
              <a:t> (roll-up), </a:t>
            </a:r>
            <a:r>
              <a:rPr lang="en-US" altLang="en-US" sz="2000" b="1">
                <a:latin typeface="Univers LT 47 CondensedLt"/>
              </a:rPr>
              <a:t>drill-down</a:t>
            </a:r>
            <a:r>
              <a:rPr lang="en-US" altLang="en-US" sz="2000">
                <a:latin typeface="Univers LT 47 CondensedLt"/>
              </a:rPr>
              <a:t>, and </a:t>
            </a:r>
            <a:r>
              <a:rPr lang="en-US" altLang="en-US" sz="2000" b="1">
                <a:latin typeface="Univers LT 47 CondensedLt"/>
              </a:rPr>
              <a:t>slicing and dicing</a:t>
            </a:r>
            <a:r>
              <a:rPr lang="en-US" altLang="en-US" sz="2000">
                <a:latin typeface="Univers LT 47 CondensedLt"/>
              </a:rPr>
              <a:t>.</a:t>
            </a:r>
          </a:p>
        </p:txBody>
      </p:sp>
      <p:sp>
        <p:nvSpPr>
          <p:cNvPr id="73731" name="Slide Number Placeholder 2">
            <a:extLst>
              <a:ext uri="{FF2B5EF4-FFF2-40B4-BE49-F238E27FC236}">
                <a16:creationId xmlns:a16="http://schemas.microsoft.com/office/drawing/2014/main" id="{BEA7056C-33FE-2296-8A19-86FA4DDD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874067-8FE2-D342-8197-5A85A01279DB}" type="slidenum">
              <a:rPr lang="en-US" altLang="en-US" smtClean="0">
                <a:solidFill>
                  <a:srgbClr val="898989"/>
                </a:solidFill>
              </a:rPr>
              <a:pPr/>
              <a:t>53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BB1F5-27CC-277B-7C21-F9D8515D40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A26520B-2E03-6447-8B71-25BAB5225AF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C3898-53D4-8446-3E95-76D6B4E6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Picture 1">
            <a:extLst>
              <a:ext uri="{FF2B5EF4-FFF2-40B4-BE49-F238E27FC236}">
                <a16:creationId xmlns:a16="http://schemas.microsoft.com/office/drawing/2014/main" id="{84048617-FE05-A16A-B21C-87599EA35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5344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Rectangle 2">
            <a:extLst>
              <a:ext uri="{FF2B5EF4-FFF2-40B4-BE49-F238E27FC236}">
                <a16:creationId xmlns:a16="http://schemas.microsoft.com/office/drawing/2014/main" id="{CE7FCC9B-97F0-1996-C8F5-8FFD7632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83439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en-US">
                <a:latin typeface="Univers LT 47 CondensedLt"/>
              </a:rPr>
              <a:t> </a:t>
            </a:r>
            <a:r>
              <a:rPr lang="en-US" altLang="en-US" b="1">
                <a:latin typeface="Univers LT 47 CondensedLt"/>
              </a:rPr>
              <a:t>Consolidation</a:t>
            </a:r>
            <a:r>
              <a:rPr lang="en-US" altLang="en-US">
                <a:latin typeface="Univers LT 47 CondensedLt"/>
              </a:rPr>
              <a:t> involves the </a:t>
            </a:r>
            <a:r>
              <a:rPr lang="en-US" altLang="en-US" b="1">
                <a:latin typeface="Univers LT 47 CondensedLt"/>
              </a:rPr>
              <a:t>aggregation of data that can be accumulated and computed in one or more dimensions. </a:t>
            </a:r>
            <a:endParaRPr lang="en-US" altLang="en-US" b="1"/>
          </a:p>
        </p:txBody>
      </p:sp>
      <p:sp>
        <p:nvSpPr>
          <p:cNvPr id="74755" name="Slide Number Placeholder 2">
            <a:extLst>
              <a:ext uri="{FF2B5EF4-FFF2-40B4-BE49-F238E27FC236}">
                <a16:creationId xmlns:a16="http://schemas.microsoft.com/office/drawing/2014/main" id="{DE5768EF-F0C9-A213-BC6B-B76473AE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17BA91-C1EC-B644-9826-8706ADDF71BC}" type="slidenum">
              <a:rPr lang="en-US" altLang="en-US" smtClean="0">
                <a:solidFill>
                  <a:srgbClr val="898989"/>
                </a:solidFill>
              </a:rPr>
              <a:pPr/>
              <a:t>54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A46FA-00B6-EECF-4B3E-2E5CDC98AE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7332C42-AF5A-F442-9883-2E9D7E9113D9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717BF-1B68-0FCD-D2ED-11D2DE43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">
            <a:extLst>
              <a:ext uri="{FF2B5EF4-FFF2-40B4-BE49-F238E27FC236}">
                <a16:creationId xmlns:a16="http://schemas.microsoft.com/office/drawing/2014/main" id="{48A8BD5F-5662-ECE3-F84C-25103E96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7200"/>
            <a:ext cx="2151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Univers LT 47 CondensedLt"/>
              </a:rPr>
              <a:t>OLAP Vs. OLTP </a:t>
            </a:r>
            <a:endParaRPr lang="en-US" altLang="en-US" sz="2000" b="1"/>
          </a:p>
        </p:txBody>
      </p:sp>
      <p:pic>
        <p:nvPicPr>
          <p:cNvPr id="75778" name="Picture 2">
            <a:extLst>
              <a:ext uri="{FF2B5EF4-FFF2-40B4-BE49-F238E27FC236}">
                <a16:creationId xmlns:a16="http://schemas.microsoft.com/office/drawing/2014/main" id="{D9CAFACF-AF1D-9B39-41A6-87F23DECB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Slide Number Placeholder 2">
            <a:extLst>
              <a:ext uri="{FF2B5EF4-FFF2-40B4-BE49-F238E27FC236}">
                <a16:creationId xmlns:a16="http://schemas.microsoft.com/office/drawing/2014/main" id="{38A00959-54A3-ECA3-19C1-DA5B2369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20D199-826C-BB4A-8CC4-75BF95694E02}" type="slidenum">
              <a:rPr lang="en-US" altLang="en-US" smtClean="0">
                <a:solidFill>
                  <a:srgbClr val="898989"/>
                </a:solidFill>
              </a:rPr>
              <a:pPr/>
              <a:t>55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5DF70-52AE-56D0-479C-55C671BB93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F5B48F-2C2F-7A4F-8B7D-924D59A51265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347F9-4F25-C03C-FDC4-45C42292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09D05C4F-4C25-2816-853C-348C8CD2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Univers LT 47 CondensedLt"/>
            </a:endParaRPr>
          </a:p>
          <a:p>
            <a:r>
              <a:rPr lang="en-US" altLang="en-US" sz="2000" b="1">
                <a:latin typeface="Univers LT 47 CondensedLt"/>
              </a:rPr>
              <a:t>Data Mining &amp; it’s Process </a:t>
            </a:r>
            <a:endParaRPr lang="en-US" altLang="en-US" sz="2000" b="1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EE865153-BF91-FA7A-5960-94DC261D4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90600"/>
            <a:ext cx="8763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000" b="1">
                <a:latin typeface="Univers LT 47 CondensedLt"/>
              </a:rPr>
              <a:t>Data Mining </a:t>
            </a:r>
            <a:r>
              <a:rPr lang="en-US" altLang="en-US" sz="2000">
                <a:latin typeface="Univers LT 47 CondensedLt"/>
              </a:rPr>
              <a:t>is the computational process of discovering </a:t>
            </a:r>
            <a:r>
              <a:rPr lang="en-US" altLang="en-US" sz="2000" b="1">
                <a:latin typeface="Univers LT 47 CondensedLt"/>
              </a:rPr>
              <a:t>patterns in large data sets</a:t>
            </a:r>
            <a:r>
              <a:rPr lang="en-US" altLang="en-US" sz="2000">
                <a:latin typeface="Univers LT 47 CondensedLt"/>
              </a:rPr>
              <a:t> involving </a:t>
            </a:r>
            <a:r>
              <a:rPr lang="en-US" altLang="en-US" sz="2000" b="1">
                <a:latin typeface="Univers LT 47 CondensedLt"/>
              </a:rPr>
              <a:t>methods at the intersection of artificial intelligence, machine learning, statistics, and database systems</a:t>
            </a:r>
            <a:r>
              <a:rPr lang="en-US" altLang="en-US" sz="2000">
                <a:latin typeface="Univers LT 47 CondensedLt"/>
              </a:rPr>
              <a:t>. </a:t>
            </a:r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36187742-AFAD-28EF-E4A5-F43AB3009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54288"/>
            <a:ext cx="8672513" cy="399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Slide Number Placeholder 2">
            <a:extLst>
              <a:ext uri="{FF2B5EF4-FFF2-40B4-BE49-F238E27FC236}">
                <a16:creationId xmlns:a16="http://schemas.microsoft.com/office/drawing/2014/main" id="{77096C90-164A-309D-FCF2-185D0FC9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25833E-2338-5546-8866-061DBF672109}" type="slidenum">
              <a:rPr lang="en-US" altLang="en-US" smtClean="0">
                <a:solidFill>
                  <a:srgbClr val="898989"/>
                </a:solidFill>
              </a:rPr>
              <a:pPr/>
              <a:t>56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55D7D-7C90-F2BF-E3CF-42EA7CD762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F7847D0-165E-1841-83FF-FD06044F763A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BE2D5-50E9-601C-6490-3EC5F011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>
            <a:extLst>
              <a:ext uri="{FF2B5EF4-FFF2-40B4-BE49-F238E27FC236}">
                <a16:creationId xmlns:a16="http://schemas.microsoft.com/office/drawing/2014/main" id="{567484BF-20ED-C723-182F-156A57C9B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04800"/>
            <a:ext cx="5572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b="1">
                <a:solidFill>
                  <a:srgbClr val="000000"/>
                </a:solidFill>
                <a:latin typeface="Univers LT 47 CondensedLt"/>
              </a:rPr>
              <a:t>Business Intelligence Layers </a:t>
            </a:r>
            <a:endParaRPr lang="en-US" altLang="en-US" sz="3600" b="1"/>
          </a:p>
        </p:txBody>
      </p:sp>
      <p:pic>
        <p:nvPicPr>
          <p:cNvPr id="77826" name="Picture 3">
            <a:extLst>
              <a:ext uri="{FF2B5EF4-FFF2-40B4-BE49-F238E27FC236}">
                <a16:creationId xmlns:a16="http://schemas.microsoft.com/office/drawing/2014/main" id="{250EB758-9181-2B3E-5EF5-5DB106FCD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839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Slide Number Placeholder 2">
            <a:extLst>
              <a:ext uri="{FF2B5EF4-FFF2-40B4-BE49-F238E27FC236}">
                <a16:creationId xmlns:a16="http://schemas.microsoft.com/office/drawing/2014/main" id="{0938E705-CB66-17CE-F4B6-B7A92E79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100A13-957B-5E42-8E91-756F3D3DE3D3}" type="slidenum">
              <a:rPr lang="en-US" altLang="en-US" smtClean="0">
                <a:solidFill>
                  <a:srgbClr val="898989"/>
                </a:solidFill>
              </a:rPr>
              <a:pPr/>
              <a:t>57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335AF-3140-1D4C-FC0C-50C51F2F25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383FBF3-E9D1-8446-BCF8-17CD4158BA91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1B3B-878A-9FC0-C1B2-A3134476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1">
            <a:extLst>
              <a:ext uri="{FF2B5EF4-FFF2-40B4-BE49-F238E27FC236}">
                <a16:creationId xmlns:a16="http://schemas.microsoft.com/office/drawing/2014/main" id="{28C8E463-4040-E24D-75C9-8DDCEA0D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E4B783-2043-9F47-B6B5-9D01EE917D40}" type="slidenum">
              <a:rPr lang="en-US" altLang="en-US" smtClean="0">
                <a:solidFill>
                  <a:srgbClr val="898989"/>
                </a:solidFill>
              </a:rPr>
              <a:pPr/>
              <a:t>58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4E9E721F-AC2B-97B2-A62E-15BD91116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609600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3200" b="1">
                <a:latin typeface="Arial Black" panose="020B0604020202020204" pitchFamily="34" charset="0"/>
              </a:rPr>
              <a:t>BI Types  </a:t>
            </a:r>
            <a:endParaRPr lang="en-US" altLang="en-US" sz="3200"/>
          </a:p>
        </p:txBody>
      </p:sp>
      <p:pic>
        <p:nvPicPr>
          <p:cNvPr id="78851" name="Picture 3">
            <a:extLst>
              <a:ext uri="{FF2B5EF4-FFF2-40B4-BE49-F238E27FC236}">
                <a16:creationId xmlns:a16="http://schemas.microsoft.com/office/drawing/2014/main" id="{3B8E07E2-8002-0C68-1087-6FD909876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93838"/>
            <a:ext cx="861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02837-24AC-A1FA-26C2-5984BFBBE4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F17089-E449-EE43-9F3B-CEE0DDC1F4AC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87144-07FB-B26E-5179-F463DCD0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1">
            <a:extLst>
              <a:ext uri="{FF2B5EF4-FFF2-40B4-BE49-F238E27FC236}">
                <a16:creationId xmlns:a16="http://schemas.microsoft.com/office/drawing/2014/main" id="{D3E1F4B6-D1BE-1D6C-00B9-C8D6D3BC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9316BE-CBA1-4F40-8DCD-4E4DE42343DF}" type="slidenum">
              <a:rPr lang="en-US" altLang="en-US" smtClean="0">
                <a:solidFill>
                  <a:srgbClr val="898989"/>
                </a:solidFill>
              </a:rPr>
              <a:pPr/>
              <a:t>59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B235D2EE-8F3F-A86E-8E24-B03361124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335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800">
              <a:solidFill>
                <a:srgbClr val="000000"/>
              </a:solidFill>
              <a:latin typeface="Arial Black" panose="020B0604020202020204" pitchFamily="34" charset="0"/>
            </a:endParaRPr>
          </a:p>
          <a:p>
            <a:r>
              <a:rPr lang="en-US" altLang="en-US" sz="2800" b="1">
                <a:latin typeface="Arial Black" panose="020B0604020202020204" pitchFamily="34" charset="0"/>
              </a:rPr>
              <a:t>BI Architecture </a:t>
            </a:r>
            <a:endParaRPr lang="en-US" altLang="en-US" sz="2800">
              <a:latin typeface="Arial Black" panose="020B0604020202020204" pitchFamily="34" charset="0"/>
            </a:endParaRPr>
          </a:p>
        </p:txBody>
      </p:sp>
      <p:pic>
        <p:nvPicPr>
          <p:cNvPr id="79875" name="Picture 3">
            <a:extLst>
              <a:ext uri="{FF2B5EF4-FFF2-40B4-BE49-F238E27FC236}">
                <a16:creationId xmlns:a16="http://schemas.microsoft.com/office/drawing/2014/main" id="{C3A94150-8476-8588-1B02-C7C6F337D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906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133AD-A996-6B3E-0B3B-0CC0592CD75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6973391-1C78-BF41-A436-0D7674972322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62832-036A-B50C-F344-F3F658D4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1">
            <a:extLst>
              <a:ext uri="{FF2B5EF4-FFF2-40B4-BE49-F238E27FC236}">
                <a16:creationId xmlns:a16="http://schemas.microsoft.com/office/drawing/2014/main" id="{84FADF7E-FCF7-687B-353D-5302EB9E05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8A5C95-6A57-A74D-A2AF-5E2EEEACF932}" type="slidenum">
              <a:rPr lang="en-US" altLang="en-US" smtClean="0">
                <a:solidFill>
                  <a:srgbClr val="898989"/>
                </a:solidFill>
              </a:rPr>
              <a:pPr/>
              <a:t>60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80898" name="Picture 3">
            <a:extLst>
              <a:ext uri="{FF2B5EF4-FFF2-40B4-BE49-F238E27FC236}">
                <a16:creationId xmlns:a16="http://schemas.microsoft.com/office/drawing/2014/main" id="{1E633687-87B5-0746-FDC5-0EE100BA6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83058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TextBox 5">
            <a:extLst>
              <a:ext uri="{FF2B5EF4-FFF2-40B4-BE49-F238E27FC236}">
                <a16:creationId xmlns:a16="http://schemas.microsoft.com/office/drawing/2014/main" id="{981BA38E-B682-48D1-F2BB-D0C6378E7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73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latin typeface="CMSS12"/>
              </a:rPr>
              <a:t>BI framework</a:t>
            </a:r>
          </a:p>
        </p:txBody>
      </p:sp>
      <p:sp>
        <p:nvSpPr>
          <p:cNvPr id="80900" name="TextBox 5">
            <a:extLst>
              <a:ext uri="{FF2B5EF4-FFF2-40B4-BE49-F238E27FC236}">
                <a16:creationId xmlns:a16="http://schemas.microsoft.com/office/drawing/2014/main" id="{67BF47E3-4E93-6665-EB6D-0E5BC66A4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10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  <a:latin typeface="Univers LT 47 CondensedLt"/>
              </a:rPr>
              <a:t>(ETL)</a:t>
            </a:r>
            <a:endParaRPr lang="en-US" altLang="en-RW">
              <a:solidFill>
                <a:srgbClr val="FF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2A99A-0B88-E128-3BBD-4EB852552CB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9EE9BF-73F1-0947-A170-D8FEE9DBD36F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D3EA-96FD-007A-8264-E67E9F0C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1B9AF496-3689-6036-0963-581F9A76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609600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A Framework for Business Intelligence (BI)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29E0FF9E-3E0D-2158-8250-54A3A011A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ja-JP" b="1"/>
              <a:t>Business intelligence (BI)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ja-JP"/>
              <a:t>A conceptual ( umbrella)  framework for decision support.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ja-JP"/>
              <a:t> It combines </a:t>
            </a:r>
            <a:r>
              <a:rPr lang="en-US" altLang="ja-JP" b="1"/>
              <a:t>architecture, databases (or data warehouse), analytical tools and applications </a:t>
            </a:r>
            <a:r>
              <a:rPr lang="en-US" altLang="ja-JP"/>
              <a:t>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ja-JP" b="1"/>
              <a:t>BI Objective</a:t>
            </a:r>
            <a:r>
              <a:rPr lang="en-US" altLang="ja-JP"/>
              <a:t>: enable interactive access to data to enable </a:t>
            </a:r>
            <a:r>
              <a:rPr lang="en-US" altLang="ja-JP">
                <a:solidFill>
                  <a:srgbClr val="FF0000"/>
                </a:solidFill>
              </a:rPr>
              <a:t>manipulation of data </a:t>
            </a:r>
            <a:r>
              <a:rPr lang="en-US" altLang="ja-JP"/>
              <a:t>and </a:t>
            </a:r>
            <a:r>
              <a:rPr lang="en-US" altLang="ja-JP">
                <a:solidFill>
                  <a:srgbClr val="FF0000"/>
                </a:solidFill>
              </a:rPr>
              <a:t>to give business managers to take a good decision.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D15B5-19E0-CBB2-FA6C-ED6B5480F9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1FB7BE-E281-0E4D-BD03-FBBA8AB2B49D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843AE-95BE-27D3-2E3E-265522F3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81925" name="Slide Number Placeholder 3">
            <a:extLst>
              <a:ext uri="{FF2B5EF4-FFF2-40B4-BE49-F238E27FC236}">
                <a16:creationId xmlns:a16="http://schemas.microsoft.com/office/drawing/2014/main" id="{3D684D3C-5B01-D3B7-1360-4A7BA5DB34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558CAC-0861-1D48-9199-3AC9E47B98E3}" type="slidenum">
              <a:rPr lang="en-US" altLang="en-US" smtClean="0">
                <a:solidFill>
                  <a:srgbClr val="898989"/>
                </a:solidFill>
              </a:rPr>
              <a:pPr/>
              <a:t>61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عنصر نائب للمحتوى 2">
            <a:extLst>
              <a:ext uri="{FF2B5EF4-FFF2-40B4-BE49-F238E27FC236}">
                <a16:creationId xmlns:a16="http://schemas.microsoft.com/office/drawing/2014/main" id="{0375E796-D48C-8302-D6F5-28DE82A51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" y="2667000"/>
            <a:ext cx="7983538" cy="10747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/>
              <a:t>The process of BI is based on the </a:t>
            </a:r>
            <a:r>
              <a:rPr lang="en-US" altLang="en-US" sz="2400" i="1" u="sng"/>
              <a:t>transformation</a:t>
            </a:r>
            <a:r>
              <a:rPr lang="en-US" altLang="en-US" sz="2400" i="1"/>
              <a:t> of </a:t>
            </a:r>
            <a:r>
              <a:rPr lang="en-US" altLang="en-US" sz="2400" i="1">
                <a:solidFill>
                  <a:srgbClr val="FF0000"/>
                </a:solidFill>
              </a:rPr>
              <a:t>data </a:t>
            </a:r>
            <a:r>
              <a:rPr lang="en-US" altLang="en-US" sz="2400" i="1"/>
              <a:t>to </a:t>
            </a:r>
            <a:r>
              <a:rPr lang="en-US" altLang="en-US" sz="2400" i="1">
                <a:solidFill>
                  <a:srgbClr val="FF0000"/>
                </a:solidFill>
              </a:rPr>
              <a:t>information</a:t>
            </a:r>
            <a:r>
              <a:rPr lang="en-US" altLang="en-US" sz="2400" i="1"/>
              <a:t>, then to </a:t>
            </a:r>
            <a:r>
              <a:rPr lang="en-US" altLang="en-US" sz="2400" i="1">
                <a:solidFill>
                  <a:srgbClr val="FF0000"/>
                </a:solidFill>
              </a:rPr>
              <a:t>decisions</a:t>
            </a:r>
            <a:r>
              <a:rPr lang="en-US" altLang="en-US" sz="2400" i="1"/>
              <a:t>, and finally </a:t>
            </a:r>
            <a:r>
              <a:rPr lang="en-US" altLang="en-US" sz="2400"/>
              <a:t>to </a:t>
            </a:r>
            <a:r>
              <a:rPr lang="en-US" altLang="en-US" sz="2400">
                <a:solidFill>
                  <a:srgbClr val="FF0000"/>
                </a:solidFill>
              </a:rPr>
              <a:t>actions</a:t>
            </a:r>
            <a:r>
              <a:rPr lang="en-US" altLang="en-US" sz="2400"/>
              <a:t>.</a:t>
            </a:r>
            <a:endParaRPr lang="ar-SA" altLang="en-US" sz="24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DA03FEB0-2C97-4A0E-6273-4311B2BD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38" y="762000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A Framework for Business Intelligence (BI) cont’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EF31B-B1EE-D200-C1EC-E10E6D1CEA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4E807A7-051E-2F4B-B7C0-C820D481848E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9128E-C72B-24CC-7954-7027C0D3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82949" name="Slide Number Placeholder 3">
            <a:extLst>
              <a:ext uri="{FF2B5EF4-FFF2-40B4-BE49-F238E27FC236}">
                <a16:creationId xmlns:a16="http://schemas.microsoft.com/office/drawing/2014/main" id="{8A2730CF-290D-9933-D4A2-63B32DC1C0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29B561-AAAE-8F4C-8E3A-4DA88ADFBA53}" type="slidenum">
              <a:rPr lang="en-US" altLang="en-US" smtClean="0">
                <a:solidFill>
                  <a:srgbClr val="898989"/>
                </a:solidFill>
              </a:rPr>
              <a:pPr/>
              <a:t>62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3">
            <a:extLst>
              <a:ext uri="{FF2B5EF4-FFF2-40B4-BE49-F238E27FC236}">
                <a16:creationId xmlns:a16="http://schemas.microsoft.com/office/drawing/2014/main" id="{B92A834A-4990-7652-AF41-986C6451EDF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2324100"/>
            <a:ext cx="3733800" cy="41687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Time savings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Single version of truth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Improved strategies and plans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Improved tactical decisions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More efficient processes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Cost savings</a:t>
            </a:r>
          </a:p>
        </p:txBody>
      </p:sp>
      <p:sp>
        <p:nvSpPr>
          <p:cNvPr id="83970" name="Rectangle 4">
            <a:extLst>
              <a:ext uri="{FF2B5EF4-FFF2-40B4-BE49-F238E27FC236}">
                <a16:creationId xmlns:a16="http://schemas.microsoft.com/office/drawing/2014/main" id="{E75266F5-7B71-C5F2-D48D-BAE401AE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92625" y="2667000"/>
            <a:ext cx="4022725" cy="28575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Faster, more accurate reporting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Improved decision making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Improved customer service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200"/>
              <a:t>Increased revenue</a:t>
            </a:r>
          </a:p>
          <a:p>
            <a:pPr eaLnBrk="1" hangingPunct="1"/>
            <a:endParaRPr lang="en-US" altLang="en-US"/>
          </a:p>
          <a:p>
            <a:pPr eaLnBrk="1" hangingPunct="1">
              <a:buFont typeface="Wingdings" pitchFamily="2" charset="2"/>
              <a:buNone/>
            </a:pPr>
            <a:r>
              <a:rPr lang="en-US" altLang="en-US" i="1"/>
              <a:t>Many benefits are intangible</a:t>
            </a:r>
          </a:p>
        </p:txBody>
      </p:sp>
      <p:sp>
        <p:nvSpPr>
          <p:cNvPr id="83971" name="Text Box 5">
            <a:extLst>
              <a:ext uri="{FF2B5EF4-FFF2-40B4-BE49-F238E27FC236}">
                <a16:creationId xmlns:a16="http://schemas.microsoft.com/office/drawing/2014/main" id="{F42790B2-7A5D-C216-2C02-7F3443BC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62113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</a:pPr>
            <a:r>
              <a:rPr lang="en-US" altLang="en-US" sz="2400" b="1">
                <a:solidFill>
                  <a:srgbClr val="CC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       Benefits of BI</a:t>
            </a:r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2D2F4373-4081-4893-7913-C500B57F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609600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A Framework for Business Intelligence (BI) cont’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648E6-E0F9-F0FC-8EBD-01C18CC184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96E5209-DADC-F14B-9C53-BD2DC62C5766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CCE45-1D8D-A200-F8C4-44C71047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83975" name="Slide Number Placeholder 3">
            <a:extLst>
              <a:ext uri="{FF2B5EF4-FFF2-40B4-BE49-F238E27FC236}">
                <a16:creationId xmlns:a16="http://schemas.microsoft.com/office/drawing/2014/main" id="{2ED1A08B-517F-DFC5-0ADE-FBBF373A4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293C6E-E5C9-C540-8B04-A75BB7E23C25}" type="slidenum">
              <a:rPr lang="en-US" altLang="en-US" smtClean="0">
                <a:solidFill>
                  <a:srgbClr val="898989"/>
                </a:solidFill>
              </a:rPr>
              <a:pPr/>
              <a:t>63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3">
            <a:extLst>
              <a:ext uri="{FF2B5EF4-FFF2-40B4-BE49-F238E27FC236}">
                <a16:creationId xmlns:a16="http://schemas.microsoft.com/office/drawing/2014/main" id="{10802418-142C-4AB6-E070-9A6ACB311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981950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 b="1"/>
              <a:t>The Business Value of BI</a:t>
            </a:r>
            <a:endParaRPr lang="en-US" altLang="en-US" sz="2400"/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sz="2400" b="1"/>
              <a:t>How BI Can Help</a:t>
            </a:r>
            <a:endParaRPr lang="en-US" altLang="en-US" sz="2400"/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Assess the readiness for meeting the challenges posed by these new business realities</a:t>
            </a:r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Take a holistic approach to BI functionality</a:t>
            </a:r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Leverage best practices and anticipate hidden costs</a:t>
            </a: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A33E2D48-73DB-D7EF-B5E3-A25C1819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609600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A Framework for Business Intelligence (BI) cont’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DEB5E-8330-0BD9-2427-A50ED7859C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657ED4F-AD62-D54F-AADE-059F755A25C0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2B8AC-2D9C-88B9-E506-D65BCC23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84997" name="Slide Number Placeholder 3">
            <a:extLst>
              <a:ext uri="{FF2B5EF4-FFF2-40B4-BE49-F238E27FC236}">
                <a16:creationId xmlns:a16="http://schemas.microsoft.com/office/drawing/2014/main" id="{23F24505-4D79-51BE-9A09-03F48C8032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ACE8A7-298F-704E-A0B1-AB70DB5196B0}" type="slidenum">
              <a:rPr lang="en-US" altLang="en-US" smtClean="0">
                <a:solidFill>
                  <a:srgbClr val="898989"/>
                </a:solidFill>
              </a:rPr>
              <a:pPr/>
              <a:t>64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3">
            <a:extLst>
              <a:ext uri="{FF2B5EF4-FFF2-40B4-BE49-F238E27FC236}">
                <a16:creationId xmlns:a16="http://schemas.microsoft.com/office/drawing/2014/main" id="{9FC16454-F54F-F7C9-EEAC-4E9787275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8134350" cy="43513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en-US" sz="2400" b="1"/>
              <a:t>The Business Value of BI</a:t>
            </a:r>
            <a:endParaRPr lang="en-US" altLang="en-US" sz="2400"/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sz="2400" b="1"/>
              <a:t>Key Issues and Framework for BI Analysis</a:t>
            </a:r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How can enterprises maximize their BI investments?</a:t>
            </a:r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What BI functionality do enterprises need, and what are they using today?</a:t>
            </a:r>
          </a:p>
          <a:p>
            <a:pPr lvl="2" algn="just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/>
              <a:t>What are some of the hidden costs associated with BI initiatives?</a:t>
            </a:r>
          </a:p>
          <a:p>
            <a:pPr lvl="2" eaLnBrk="1" hangingPunct="1">
              <a:buFont typeface="Courier New" panose="02070309020205020404" pitchFamily="49" charset="0"/>
              <a:buChar char="o"/>
            </a:pPr>
            <a:endParaRPr lang="en-US" altLang="en-US" b="1"/>
          </a:p>
          <a:p>
            <a:pPr lvl="1" eaLnBrk="1" hangingPunct="1"/>
            <a:endParaRPr lang="en-US" altLang="en-US" sz="1800" b="1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A0DCBF2-A133-3FE2-C028-BA744639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609600"/>
            <a:ext cx="7886700" cy="854075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400" b="1">
                <a:latin typeface="Tahoma" panose="020B0604030504040204" pitchFamily="34" charset="0"/>
                <a:cs typeface="Tahoma" panose="020B0604030504040204" pitchFamily="34" charset="0"/>
              </a:rPr>
              <a:t>A Framework for Business Intelligence (BI) cont’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08848-7FDC-6AE9-B4B6-56E0F93A5C9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ACE129-1896-D544-9271-DAB2116616FA}" type="datetime1">
              <a:rPr lang="en-US"/>
              <a:pPr>
                <a:defRPr/>
              </a:pPr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3423B-9E7D-07DB-6935-C1333147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James Rwigema</a:t>
            </a:r>
          </a:p>
        </p:txBody>
      </p:sp>
      <p:sp>
        <p:nvSpPr>
          <p:cNvPr id="86021" name="Slide Number Placeholder 3">
            <a:extLst>
              <a:ext uri="{FF2B5EF4-FFF2-40B4-BE49-F238E27FC236}">
                <a16:creationId xmlns:a16="http://schemas.microsoft.com/office/drawing/2014/main" id="{6CCEB5EE-4740-9D5B-3394-987B1D8D0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CDEA89-0EA2-5C45-B014-50E6C0B06CAC}" type="slidenum">
              <a:rPr lang="en-US" altLang="en-US" smtClean="0">
                <a:solidFill>
                  <a:srgbClr val="898989"/>
                </a:solidFill>
              </a:rPr>
              <a:pPr/>
              <a:t>65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4414</TotalTime>
  <Words>2603</Words>
  <Application>Microsoft Macintosh PowerPoint</Application>
  <PresentationFormat>On-screen Show (4:3)</PresentationFormat>
  <Paragraphs>473</Paragraphs>
  <Slides>65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8" baseType="lpstr">
      <vt:lpstr>Arial</vt:lpstr>
      <vt:lpstr>Calibri Light</vt:lpstr>
      <vt:lpstr>Calibri</vt:lpstr>
      <vt:lpstr>Times New Roman</vt:lpstr>
      <vt:lpstr>Arial Narrow</vt:lpstr>
      <vt:lpstr>Tahoma</vt:lpstr>
      <vt:lpstr>Cambria</vt:lpstr>
      <vt:lpstr>Trebuchet MS</vt:lpstr>
      <vt:lpstr>Wingdings</vt:lpstr>
      <vt:lpstr>SimSun</vt:lpstr>
      <vt:lpstr>PMingLiU</vt:lpstr>
      <vt:lpstr>Lucida Sans Unicode</vt:lpstr>
      <vt:lpstr>Wingdings 3</vt:lpstr>
      <vt:lpstr>Verdana</vt:lpstr>
      <vt:lpstr>BookAntiqua</vt:lpstr>
      <vt:lpstr>Univers LT 47 CondensedLt</vt:lpstr>
      <vt:lpstr>HelveticaNeueLight</vt:lpstr>
      <vt:lpstr>CMSS10</vt:lpstr>
      <vt:lpstr>Arial Black</vt:lpstr>
      <vt:lpstr>CMSS12</vt:lpstr>
      <vt:lpstr>MS PGothic</vt:lpstr>
      <vt:lpstr>Courier New</vt:lpstr>
      <vt:lpstr>Office Theme</vt:lpstr>
      <vt:lpstr>PowerPoint Presentation</vt:lpstr>
      <vt:lpstr>PowerPoint Presentation</vt:lpstr>
      <vt:lpstr>Equipping the Organization for Effective Decision Making and Decision-Making Process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Step1: Identifying The Problem </vt:lpstr>
      <vt:lpstr>Identifying The Problem</vt:lpstr>
      <vt:lpstr>Step2: Identifying Decision Criteria </vt:lpstr>
      <vt:lpstr>Step3: Allocating Weights to the Criteria</vt:lpstr>
      <vt:lpstr>Step4: developing Alternatives </vt:lpstr>
      <vt:lpstr>Step5: Analyzing Alternatives</vt:lpstr>
      <vt:lpstr>Step6: Selecting Alternatives  </vt:lpstr>
      <vt:lpstr>Step 7: Implementing the Decision</vt:lpstr>
      <vt:lpstr>Step8: Evaluating the Decision’s Effectiveness </vt:lpstr>
      <vt:lpstr>PowerPoint Presentation</vt:lpstr>
      <vt:lpstr>PowerPoint Presentation</vt:lpstr>
      <vt:lpstr>PowerPoint Presentation</vt:lpstr>
      <vt:lpstr>PowerPoint Presentation</vt:lpstr>
      <vt:lpstr>Characteristics of Data for Good Decision Making</vt:lpstr>
      <vt:lpstr>PowerPoint Presentation</vt:lpstr>
      <vt:lpstr>PowerPoint Presentation</vt:lpstr>
      <vt:lpstr>Business Analytics, BI, Big Data, Data Mining - What’s the difference?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Evolution of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 Framework for Business Intelligence (BI)</vt:lpstr>
      <vt:lpstr> A Framework for Business Intelligence (BI) cont’</vt:lpstr>
      <vt:lpstr> A Framework for Business Intelligence (BI) cont’</vt:lpstr>
      <vt:lpstr> A Framework for Business Intelligence (BI) cont’</vt:lpstr>
      <vt:lpstr> A Framework for Business Intelligence (BI) cont’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Judy</dc:creator>
  <cp:lastModifiedBy>Rwigema James</cp:lastModifiedBy>
  <cp:revision>250</cp:revision>
  <dcterms:created xsi:type="dcterms:W3CDTF">2007-04-17T14:35:53Z</dcterms:created>
  <dcterms:modified xsi:type="dcterms:W3CDTF">2026-10-10T12:28:15Z</dcterms:modified>
</cp:coreProperties>
</file>