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p:sldMasterIdLst>
    <p:sldMasterId id="2147483648" r:id="rId1"/>
  </p:sldMasterIdLst>
  <p:notesMasterIdLst>
    <p:notesMasterId r:id="rId78"/>
  </p:notesMasterIdLst>
  <p:handoutMasterIdLst>
    <p:handoutMasterId r:id="rId79"/>
  </p:handoutMasterIdLst>
  <p:sldIdLst>
    <p:sldId id="828" r:id="rId2"/>
    <p:sldId id="311" r:id="rId3"/>
    <p:sldId id="264" r:id="rId4"/>
    <p:sldId id="265" r:id="rId5"/>
    <p:sldId id="796" r:id="rId6"/>
    <p:sldId id="798" r:id="rId7"/>
    <p:sldId id="800" r:id="rId8"/>
    <p:sldId id="799" r:id="rId9"/>
    <p:sldId id="801" r:id="rId10"/>
    <p:sldId id="802" r:id="rId11"/>
    <p:sldId id="803" r:id="rId12"/>
    <p:sldId id="804" r:id="rId13"/>
    <p:sldId id="805" r:id="rId14"/>
    <p:sldId id="807" r:id="rId15"/>
    <p:sldId id="809" r:id="rId16"/>
    <p:sldId id="812" r:id="rId17"/>
    <p:sldId id="820" r:id="rId18"/>
    <p:sldId id="823" r:id="rId19"/>
    <p:sldId id="293" r:id="rId20"/>
    <p:sldId id="296" r:id="rId21"/>
    <p:sldId id="323" r:id="rId22"/>
    <p:sldId id="843" r:id="rId23"/>
    <p:sldId id="363" r:id="rId24"/>
    <p:sldId id="829" r:id="rId25"/>
    <p:sldId id="833" r:id="rId26"/>
    <p:sldId id="830" r:id="rId27"/>
    <p:sldId id="831" r:id="rId28"/>
    <p:sldId id="853" r:id="rId29"/>
    <p:sldId id="854" r:id="rId30"/>
    <p:sldId id="855" r:id="rId31"/>
    <p:sldId id="856" r:id="rId32"/>
    <p:sldId id="857" r:id="rId33"/>
    <p:sldId id="832" r:id="rId34"/>
    <p:sldId id="834" r:id="rId35"/>
    <p:sldId id="836" r:id="rId36"/>
    <p:sldId id="359" r:id="rId37"/>
    <p:sldId id="837" r:id="rId38"/>
    <p:sldId id="360" r:id="rId39"/>
    <p:sldId id="841" r:id="rId40"/>
    <p:sldId id="842" r:id="rId41"/>
    <p:sldId id="362" r:id="rId42"/>
    <p:sldId id="839" r:id="rId43"/>
    <p:sldId id="361" r:id="rId44"/>
    <p:sldId id="840" r:id="rId45"/>
    <p:sldId id="826" r:id="rId46"/>
    <p:sldId id="844" r:id="rId47"/>
    <p:sldId id="846" r:id="rId48"/>
    <p:sldId id="847" r:id="rId49"/>
    <p:sldId id="858" r:id="rId50"/>
    <p:sldId id="849" r:id="rId51"/>
    <p:sldId id="850" r:id="rId52"/>
    <p:sldId id="851" r:id="rId53"/>
    <p:sldId id="852" r:id="rId54"/>
    <p:sldId id="766" r:id="rId55"/>
    <p:sldId id="767" r:id="rId56"/>
    <p:sldId id="768" r:id="rId57"/>
    <p:sldId id="769" r:id="rId58"/>
    <p:sldId id="770" r:id="rId59"/>
    <p:sldId id="771" r:id="rId60"/>
    <p:sldId id="772" r:id="rId61"/>
    <p:sldId id="325" r:id="rId62"/>
    <p:sldId id="324" r:id="rId63"/>
    <p:sldId id="736" r:id="rId64"/>
    <p:sldId id="327" r:id="rId65"/>
    <p:sldId id="328" r:id="rId66"/>
    <p:sldId id="715" r:id="rId67"/>
    <p:sldId id="716" r:id="rId68"/>
    <p:sldId id="717" r:id="rId69"/>
    <p:sldId id="737" r:id="rId70"/>
    <p:sldId id="738" r:id="rId71"/>
    <p:sldId id="458" r:id="rId72"/>
    <p:sldId id="457" r:id="rId73"/>
    <p:sldId id="456" r:id="rId74"/>
    <p:sldId id="455" r:id="rId75"/>
    <p:sldId id="454" r:id="rId76"/>
    <p:sldId id="453" r:id="rId77"/>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p15:clr>
            <a:srgbClr val="A4A3A4"/>
          </p15:clr>
        </p15:guide>
        <p15:guide id="2" pos="2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95AB7"/>
    <a:srgbClr val="DDDDDD"/>
    <a:srgbClr val="FFFF00"/>
    <a:srgbClr val="FF99FF"/>
    <a:srgbClr val="500093"/>
    <a:srgbClr val="316501"/>
    <a:srgbClr val="7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31" autoAdjust="0"/>
    <p:restoredTop sz="94760"/>
  </p:normalViewPr>
  <p:slideViewPr>
    <p:cSldViewPr>
      <p:cViewPr varScale="1">
        <p:scale>
          <a:sx n="109" d="100"/>
          <a:sy n="109" d="100"/>
        </p:scale>
        <p:origin x="1736" y="192"/>
      </p:cViewPr>
      <p:guideLst>
        <p:guide orient="horz" pos="2162"/>
        <p:guide pos="2856"/>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400800" y="8750300"/>
            <a:ext cx="387350"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spAutoFit/>
          </a:bodyPr>
          <a:lstStyle/>
          <a:p>
            <a:pPr algn="r"/>
            <a:fld id="{C4AB8B7E-B085-41A0-850C-C25EF300B77A}" type="slidenum">
              <a:rPr lang="en-US" altLang="en-US" sz="1400">
                <a:solidFill>
                  <a:schemeClr val="tx1"/>
                </a:solidFill>
              </a:rPr>
              <a:t>‹#›</a:t>
            </a:fld>
            <a:endParaRPr lang="en-US" altLang="en-US" sz="1400">
              <a:solidFill>
                <a:schemeClr val="tx1"/>
              </a:solidFill>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87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200">
                <a:solidFill>
                  <a:schemeClr val="tx1"/>
                </a:solidFill>
              </a:defRPr>
            </a:lvl1pPr>
          </a:lstStyle>
          <a:p>
            <a:endParaRPr lang="en-US" altLang="en-US"/>
          </a:p>
        </p:txBody>
      </p:sp>
      <p:sp>
        <p:nvSpPr>
          <p:cNvPr id="28877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solidFill>
                  <a:schemeClr val="tx1"/>
                </a:solidFill>
              </a:defRPr>
            </a:lvl1pPr>
          </a:lstStyle>
          <a:p>
            <a:endParaRPr lang="en-US" altLang="en-US"/>
          </a:p>
        </p:txBody>
      </p:sp>
      <p:sp>
        <p:nvSpPr>
          <p:cNvPr id="2887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877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8877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sz="1200">
                <a:solidFill>
                  <a:schemeClr val="tx1"/>
                </a:solidFill>
              </a:defRPr>
            </a:lvl1pPr>
          </a:lstStyle>
          <a:p>
            <a:endParaRPr lang="en-US" altLang="en-US"/>
          </a:p>
        </p:txBody>
      </p:sp>
      <p:sp>
        <p:nvSpPr>
          <p:cNvPr id="28877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solidFill>
                  <a:schemeClr val="tx1"/>
                </a:solidFill>
              </a:defRPr>
            </a:lvl1pPr>
          </a:lstStyle>
          <a:p>
            <a:fld id="{60685B11-4F56-4E2F-80E6-3BBFDE4BAA95}"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r>
              <a:rPr lang="en-US" altLang="en-US"/>
              <a:t>CSI'99</a:t>
            </a:r>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E8582862-4265-4191-BD6E-2D887B3A0F18}" type="slidenum">
              <a:rPr lang="en-US" altLang="en-US" smtClean="0"/>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E15C5B-5A06-46A4-ADC3-B1B0493D2896}" type="datetimeFigureOut">
              <a:rPr lang="en-US" smtClean="0"/>
              <a:t>10/21/25</a:t>
            </a:fld>
            <a:endParaRPr 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CF35A7C8-22FE-475B-982D-092C8637B139}" type="slidenum">
              <a:rPr lang="en-US" altLang="en-US" smtClean="0"/>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E15C5B-5A06-46A4-ADC3-B1B0493D2896}" type="datetimeFigureOut">
              <a:rPr lang="en-US" smtClean="0"/>
              <a:t>10/21/25</a:t>
            </a:fld>
            <a:endParaRPr 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980C1617-386B-4D60-9A9C-C540B77712ED}" type="slidenum">
              <a:rPr lang="en-US" altLang="en-US" smtClean="0"/>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DE15C5B-5A06-46A4-ADC3-B1B0493D2896}" type="datetimeFigureOut">
              <a:rPr lang="en-US" smtClean="0"/>
              <a:t>10/21/25</a:t>
            </a:fld>
            <a:endParaRPr 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8E22C4C9-4933-45DC-93D1-285C9953FE79}" type="slidenum">
              <a:rPr lang="en-US" altLang="en-US" smtClean="0"/>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DE15C5B-5A06-46A4-ADC3-B1B0493D2896}" type="datetimeFigureOut">
              <a:rPr lang="en-US" smtClean="0"/>
              <a:t>10/21/25</a:t>
            </a:fld>
            <a:endParaRPr lang="en-US"/>
          </a:p>
        </p:txBody>
      </p:sp>
      <p:sp>
        <p:nvSpPr>
          <p:cNvPr id="8" name="Footer Placeholder 7"/>
          <p:cNvSpPr>
            <a:spLocks noGrp="1"/>
          </p:cNvSpPr>
          <p:nvPr>
            <p:ph type="ftr" sz="quarter" idx="11"/>
          </p:nvPr>
        </p:nvSpPr>
        <p:spPr/>
        <p:txBody>
          <a:bodyPr/>
          <a:lstStyle/>
          <a:p>
            <a:endParaRPr lang="en-US" altLang="en-US"/>
          </a:p>
        </p:txBody>
      </p:sp>
      <p:sp>
        <p:nvSpPr>
          <p:cNvPr id="9" name="Slide Number Placeholder 8"/>
          <p:cNvSpPr>
            <a:spLocks noGrp="1"/>
          </p:cNvSpPr>
          <p:nvPr>
            <p:ph type="sldNum" sz="quarter" idx="12"/>
          </p:nvPr>
        </p:nvSpPr>
        <p:spPr/>
        <p:txBody>
          <a:bodyPr/>
          <a:lstStyle/>
          <a:p>
            <a:fld id="{0EBA32A5-5AAF-4C82-B96E-41E9CD626408}" type="slidenum">
              <a:rPr lang="en-US" altLang="en-US" smtClean="0"/>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DE15C5B-5A06-46A4-ADC3-B1B0493D2896}" type="datetimeFigureOut">
              <a:rPr lang="en-US" smtClean="0"/>
              <a:t>10/21/25</a:t>
            </a:fld>
            <a:endParaRPr 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fld id="{67ABDCB5-86CC-4975-903A-868BFAB62626}" type="slidenum">
              <a:rPr lang="en-US" altLang="en-US" smtClean="0"/>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E15C5B-5A06-46A4-ADC3-B1B0493D2896}" type="datetimeFigureOut">
              <a:rPr lang="en-US" smtClean="0"/>
              <a:t>10/21/25</a:t>
            </a:fld>
            <a:endParaRPr 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62BE4758-BB84-4083-99BB-4E2B11E348E5}" type="slidenum">
              <a:rPr lang="en-US" altLang="en-US" smtClean="0"/>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DE15C5B-5A06-46A4-ADC3-B1B0493D2896}" type="datetimeFigureOut">
              <a:rPr lang="en-US" smtClean="0"/>
              <a:t>10/21/25</a:t>
            </a:fld>
            <a:endParaRPr 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E26C4C43-E171-4584-AF2A-57BFE046F08F}" type="slidenum">
              <a:rPr lang="en-US" altLang="en-US" smtClean="0"/>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DE15C5B-5A06-46A4-ADC3-B1B0493D2896}" type="datetimeFigureOut">
              <a:rPr lang="en-US" smtClean="0"/>
              <a:t>10/21/25</a:t>
            </a:fld>
            <a:endParaRPr 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88EB1BE7-32C8-43C9-8A03-A978DE7C4B2B}" type="slidenum">
              <a:rPr lang="en-US" altLang="en-US" smtClean="0"/>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E15C5B-5A06-46A4-ADC3-B1B0493D2896}" type="datetimeFigureOut">
              <a:rPr lang="en-US" smtClean="0"/>
              <a:t>10/21/25</a:t>
            </a:fld>
            <a:endParaRPr 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2CE740AC-73D0-4C3C-9CCB-CAAE3AFCC627}" type="slidenum">
              <a:rPr lang="en-US" altLang="en-US" smtClean="0"/>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E15C5B-5A06-46A4-ADC3-B1B0493D2896}" type="datetimeFigureOut">
              <a:rPr lang="en-US" smtClean="0"/>
              <a:t>10/21/25</a:t>
            </a:fld>
            <a:endParaRPr 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3CD19D8E-DCD5-4126-B13B-19FD46E2E9A1}" type="slidenum">
              <a:rPr lang="en-US" altLang="en-US" smtClean="0"/>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06400" y="228600"/>
            <a:ext cx="7772400" cy="1066800"/>
          </a:xfrm>
        </p:spPr>
        <p:txBody>
          <a:bodyPr/>
          <a:lstStyle/>
          <a:p>
            <a:r>
              <a:rPr lang="en-US"/>
              <a:t>Click to edit Master title style</a:t>
            </a:r>
          </a:p>
        </p:txBody>
      </p:sp>
      <p:sp>
        <p:nvSpPr>
          <p:cNvPr id="3" name="Online Image Placeholder 2"/>
          <p:cNvSpPr>
            <a:spLocks noGrp="1"/>
          </p:cNvSpPr>
          <p:nvPr>
            <p:ph type="clipArt" sz="half" idx="1"/>
          </p:nvPr>
        </p:nvSpPr>
        <p:spPr>
          <a:xfrm>
            <a:off x="457200" y="1676400"/>
            <a:ext cx="4013200" cy="4419600"/>
          </a:xfrm>
        </p:spPr>
        <p:txBody>
          <a:bodyPr/>
          <a:lstStyle/>
          <a:p>
            <a:endParaRPr lang="en-US"/>
          </a:p>
        </p:txBody>
      </p:sp>
      <p:sp>
        <p:nvSpPr>
          <p:cNvPr id="4" name="Text Placeholder 3"/>
          <p:cNvSpPr>
            <a:spLocks noGrp="1"/>
          </p:cNvSpPr>
          <p:nvPr>
            <p:ph type="body" sz="half" idx="2"/>
          </p:nvPr>
        </p:nvSpPr>
        <p:spPr>
          <a:xfrm>
            <a:off x="4622800" y="1676400"/>
            <a:ext cx="4013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3124200" y="6229350"/>
            <a:ext cx="2895600" cy="457200"/>
          </a:xfrm>
        </p:spPr>
        <p:txBody>
          <a:bodyPr/>
          <a:lstStyle>
            <a:lvl1pPr>
              <a:defRPr/>
            </a:lvl1pPr>
          </a:lstStyle>
          <a:p>
            <a:endParaRPr lang="en-US" altLang="en-US"/>
          </a:p>
        </p:txBody>
      </p:sp>
      <p:sp>
        <p:nvSpPr>
          <p:cNvPr id="6" name="Slide Number Placeholder 5"/>
          <p:cNvSpPr>
            <a:spLocks noGrp="1"/>
          </p:cNvSpPr>
          <p:nvPr>
            <p:ph type="sldNum" sz="quarter" idx="11"/>
          </p:nvPr>
        </p:nvSpPr>
        <p:spPr>
          <a:xfrm>
            <a:off x="6731000" y="6229350"/>
            <a:ext cx="1905000" cy="457200"/>
          </a:xfrm>
        </p:spPr>
        <p:txBody>
          <a:bodyPr/>
          <a:lstStyle>
            <a:lvl1pPr>
              <a:defRPr/>
            </a:lvl1pPr>
          </a:lstStyle>
          <a:p>
            <a:fld id="{ED4A3788-3213-41D3-8037-E7F39958D130}" type="slidenum">
              <a:rPr lang="en-US" altLang="en-US"/>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06400" y="228600"/>
            <a:ext cx="7772400" cy="1066800"/>
          </a:xfrm>
        </p:spPr>
        <p:txBody>
          <a:bodyPr/>
          <a:lstStyle/>
          <a:p>
            <a:r>
              <a:rPr lang="en-US"/>
              <a:t>Click to edit Master title style</a:t>
            </a:r>
          </a:p>
        </p:txBody>
      </p:sp>
      <p:sp>
        <p:nvSpPr>
          <p:cNvPr id="3" name="Content Placeholder 2"/>
          <p:cNvSpPr>
            <a:spLocks noGrp="1"/>
          </p:cNvSpPr>
          <p:nvPr>
            <p:ph sz="half" idx="1"/>
          </p:nvPr>
        </p:nvSpPr>
        <p:spPr>
          <a:xfrm>
            <a:off x="457200" y="1676400"/>
            <a:ext cx="4013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22800" y="1676400"/>
            <a:ext cx="4013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3124200" y="6229350"/>
            <a:ext cx="2895600" cy="457200"/>
          </a:xfrm>
        </p:spPr>
        <p:txBody>
          <a:bodyPr/>
          <a:lstStyle>
            <a:lvl1pPr>
              <a:defRPr/>
            </a:lvl1pPr>
          </a:lstStyle>
          <a:p>
            <a:endParaRPr lang="en-US" altLang="en-US"/>
          </a:p>
        </p:txBody>
      </p:sp>
      <p:sp>
        <p:nvSpPr>
          <p:cNvPr id="6" name="Slide Number Placeholder 5"/>
          <p:cNvSpPr>
            <a:spLocks noGrp="1"/>
          </p:cNvSpPr>
          <p:nvPr>
            <p:ph type="sldNum" sz="quarter" idx="11"/>
          </p:nvPr>
        </p:nvSpPr>
        <p:spPr>
          <a:xfrm>
            <a:off x="6731000" y="6229350"/>
            <a:ext cx="1905000" cy="457200"/>
          </a:xfrm>
        </p:spPr>
        <p:txBody>
          <a:bodyPr/>
          <a:lstStyle>
            <a:lvl1pPr>
              <a:defRPr/>
            </a:lvl1pPr>
          </a:lstStyle>
          <a:p>
            <a:fld id="{BDEE0FF9-0D09-419D-8D51-943AE962A4CA}"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DE15C5B-5A06-46A4-ADC3-B1B0493D2896}" type="datetimeFigureOut">
              <a:rPr lang="en-US" smtClean="0"/>
              <a:t>10/21/25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47EF895-F05B-44F9-AC78-93BFCBF809FB}" type="slidenum">
              <a:rPr lang="en-US" altLang="en-US" smtClean="0"/>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1.wmf"/><Relationship Id="rId7"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2.wmf"/><Relationship Id="rId4" Type="http://schemas.openxmlformats.org/officeDocument/2006/relationships/oleObject" Target="../embeddings/oleObject2.bin"/><Relationship Id="rId9" Type="http://schemas.openxmlformats.org/officeDocument/2006/relationships/image" Target="../media/image4.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http://www.dw-institute.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7ABDCB5-86CC-4975-903A-868BFAB62626}" type="slidenum">
              <a:rPr lang="en-US" altLang="en-US" smtClean="0"/>
              <a:t>1</a:t>
            </a:fld>
            <a:endParaRPr lang="en-US" altLang="en-US"/>
          </a:p>
        </p:txBody>
      </p:sp>
      <p:sp>
        <p:nvSpPr>
          <p:cNvPr id="5" name="TextBox 4"/>
          <p:cNvSpPr txBox="1"/>
          <p:nvPr/>
        </p:nvSpPr>
        <p:spPr>
          <a:xfrm>
            <a:off x="611086" y="2812296"/>
            <a:ext cx="7848872" cy="646331"/>
          </a:xfrm>
          <a:prstGeom prst="rect">
            <a:avLst/>
          </a:prstGeom>
          <a:noFill/>
        </p:spPr>
        <p:txBody>
          <a:bodyPr wrap="square">
            <a:spAutoFit/>
          </a:bodyPr>
          <a:lstStyle/>
          <a:p>
            <a:r>
              <a:rPr lang="en-US" altLang="en-GB" sz="3600" b="1" dirty="0">
                <a:latin typeface="Tahoma" panose="020B0604030504040204" pitchFamily="34" charset="0"/>
                <a:ea typeface="Tahoma" panose="020B0604030504040204" pitchFamily="34" charset="0"/>
                <a:cs typeface="Tahoma" panose="020B0604030504040204" pitchFamily="34" charset="0"/>
              </a:rPr>
              <a:t>Generic Warehouse Architecture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4"/>
          <p:cNvSpPr>
            <a:spLocks noGrp="1"/>
          </p:cNvSpPr>
          <p:nvPr>
            <p:ph type="sldNum" sz="quarter" idx="12"/>
          </p:nvPr>
        </p:nvSpPr>
        <p:spPr/>
        <p:txBody>
          <a:bodyPr/>
          <a:lstStyle/>
          <a:p>
            <a:fld id="{5AB162A6-9BAB-4E46-8C05-3C3A485666B1}" type="slidenum">
              <a:rPr lang="en-US" altLang="en-GB"/>
              <a:t>2</a:t>
            </a:fld>
            <a:endParaRPr lang="en-US" altLang="en-GB"/>
          </a:p>
        </p:txBody>
      </p:sp>
      <p:sp>
        <p:nvSpPr>
          <p:cNvPr id="63491" name="AutoShape 3"/>
          <p:cNvSpPr>
            <a:spLocks noChangeArrowheads="1"/>
          </p:cNvSpPr>
          <p:nvPr/>
        </p:nvSpPr>
        <p:spPr bwMode="auto">
          <a:xfrm>
            <a:off x="1219200" y="5410200"/>
            <a:ext cx="914400" cy="838200"/>
          </a:xfrm>
          <a:prstGeom prst="can">
            <a:avLst>
              <a:gd name="adj" fmla="val 25000"/>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2" name="AutoShape 4"/>
          <p:cNvSpPr>
            <a:spLocks noChangeArrowheads="1"/>
          </p:cNvSpPr>
          <p:nvPr/>
        </p:nvSpPr>
        <p:spPr bwMode="auto">
          <a:xfrm>
            <a:off x="2971800" y="5410200"/>
            <a:ext cx="914400" cy="838200"/>
          </a:xfrm>
          <a:prstGeom prst="can">
            <a:avLst>
              <a:gd name="adj" fmla="val 25000"/>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3" name="AutoShape 5"/>
          <p:cNvSpPr>
            <a:spLocks noChangeArrowheads="1"/>
          </p:cNvSpPr>
          <p:nvPr/>
        </p:nvSpPr>
        <p:spPr bwMode="auto">
          <a:xfrm>
            <a:off x="6553200" y="5334000"/>
            <a:ext cx="914400" cy="838200"/>
          </a:xfrm>
          <a:prstGeom prst="can">
            <a:avLst>
              <a:gd name="adj" fmla="val 25000"/>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4" name="Rectangle 6"/>
          <p:cNvSpPr>
            <a:spLocks noChangeArrowheads="1"/>
          </p:cNvSpPr>
          <p:nvPr/>
        </p:nvSpPr>
        <p:spPr bwMode="auto">
          <a:xfrm>
            <a:off x="990600" y="4419600"/>
            <a:ext cx="1219200" cy="6858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GB" sz="2000" b="1" dirty="0">
                <a:latin typeface="Arial" panose="020B0604020202020204" pitchFamily="34" charset="0"/>
              </a:rPr>
              <a:t>Extractor/</a:t>
            </a:r>
          </a:p>
          <a:p>
            <a:pPr algn="ctr"/>
            <a:r>
              <a:rPr lang="en-US" altLang="en-GB" sz="2000" b="1" dirty="0">
                <a:latin typeface="Arial" panose="020B0604020202020204" pitchFamily="34" charset="0"/>
              </a:rPr>
              <a:t>Monitor</a:t>
            </a:r>
            <a:endParaRPr lang="en-US" altLang="en-GB" b="1" dirty="0"/>
          </a:p>
        </p:txBody>
      </p:sp>
      <p:sp>
        <p:nvSpPr>
          <p:cNvPr id="63495" name="Rectangle 7"/>
          <p:cNvSpPr>
            <a:spLocks noChangeArrowheads="1"/>
          </p:cNvSpPr>
          <p:nvPr/>
        </p:nvSpPr>
        <p:spPr bwMode="auto">
          <a:xfrm>
            <a:off x="2743200" y="4419600"/>
            <a:ext cx="1219200" cy="6858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GB" sz="2000" b="1" dirty="0">
                <a:latin typeface="Arial" panose="020B0604020202020204" pitchFamily="34" charset="0"/>
              </a:rPr>
              <a:t>Extractor/</a:t>
            </a:r>
          </a:p>
          <a:p>
            <a:pPr algn="ctr"/>
            <a:r>
              <a:rPr lang="en-US" altLang="en-GB" sz="2000" b="1" dirty="0">
                <a:latin typeface="Arial" panose="020B0604020202020204" pitchFamily="34" charset="0"/>
              </a:rPr>
              <a:t>Monitor</a:t>
            </a:r>
            <a:endParaRPr lang="en-US" altLang="en-GB" b="1" dirty="0"/>
          </a:p>
        </p:txBody>
      </p:sp>
      <p:sp>
        <p:nvSpPr>
          <p:cNvPr id="63496" name="Rectangle 8"/>
          <p:cNvSpPr>
            <a:spLocks noChangeArrowheads="1"/>
          </p:cNvSpPr>
          <p:nvPr/>
        </p:nvSpPr>
        <p:spPr bwMode="auto">
          <a:xfrm>
            <a:off x="6400800" y="4419600"/>
            <a:ext cx="1219200" cy="6858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GB" sz="2000" b="1" dirty="0">
                <a:latin typeface="Arial" panose="020B0604020202020204" pitchFamily="34" charset="0"/>
              </a:rPr>
              <a:t>Extractor/</a:t>
            </a:r>
          </a:p>
          <a:p>
            <a:pPr algn="ctr"/>
            <a:r>
              <a:rPr lang="en-US" altLang="en-GB" sz="2000" b="1" dirty="0">
                <a:latin typeface="Arial" panose="020B0604020202020204" pitchFamily="34" charset="0"/>
              </a:rPr>
              <a:t>Monitor</a:t>
            </a:r>
            <a:endParaRPr lang="en-US" altLang="en-GB" b="1" dirty="0"/>
          </a:p>
        </p:txBody>
      </p:sp>
      <p:sp>
        <p:nvSpPr>
          <p:cNvPr id="63497" name="Rectangle 9"/>
          <p:cNvSpPr>
            <a:spLocks noChangeArrowheads="1"/>
          </p:cNvSpPr>
          <p:nvPr/>
        </p:nvSpPr>
        <p:spPr bwMode="auto">
          <a:xfrm>
            <a:off x="3810000" y="3352800"/>
            <a:ext cx="1676400" cy="4572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GB" sz="2000" b="1" dirty="0">
                <a:latin typeface="Arial" panose="020B0604020202020204" pitchFamily="34" charset="0"/>
              </a:rPr>
              <a:t>Integrator</a:t>
            </a:r>
            <a:endParaRPr lang="en-US" altLang="en-GB" b="1" dirty="0"/>
          </a:p>
        </p:txBody>
      </p:sp>
      <p:sp>
        <p:nvSpPr>
          <p:cNvPr id="63498" name="AutoShape 10"/>
          <p:cNvSpPr>
            <a:spLocks noChangeArrowheads="1"/>
          </p:cNvSpPr>
          <p:nvPr/>
        </p:nvSpPr>
        <p:spPr bwMode="auto">
          <a:xfrm>
            <a:off x="3581400" y="2057400"/>
            <a:ext cx="2133600" cy="990600"/>
          </a:xfrm>
          <a:prstGeom prst="can">
            <a:avLst>
              <a:gd name="adj" fmla="val 25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GB" b="1" dirty="0">
                <a:latin typeface="Arial" panose="020B0604020202020204" pitchFamily="34" charset="0"/>
              </a:rPr>
              <a:t>Warehouse</a:t>
            </a:r>
          </a:p>
        </p:txBody>
      </p:sp>
      <p:sp>
        <p:nvSpPr>
          <p:cNvPr id="63499" name="Line 11"/>
          <p:cNvSpPr>
            <a:spLocks noChangeShapeType="1"/>
          </p:cNvSpPr>
          <p:nvPr/>
        </p:nvSpPr>
        <p:spPr bwMode="auto">
          <a:xfrm flipV="1">
            <a:off x="1676400" y="5105400"/>
            <a:ext cx="0" cy="3810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0" name="Line 12"/>
          <p:cNvSpPr>
            <a:spLocks noChangeShapeType="1"/>
          </p:cNvSpPr>
          <p:nvPr/>
        </p:nvSpPr>
        <p:spPr bwMode="auto">
          <a:xfrm flipV="1">
            <a:off x="3429000" y="5105400"/>
            <a:ext cx="0" cy="3810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1" name="Line 13"/>
          <p:cNvSpPr>
            <a:spLocks noChangeShapeType="1"/>
          </p:cNvSpPr>
          <p:nvPr/>
        </p:nvSpPr>
        <p:spPr bwMode="auto">
          <a:xfrm flipV="1">
            <a:off x="7010400" y="5105400"/>
            <a:ext cx="0" cy="3810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2" name="Line 14"/>
          <p:cNvSpPr>
            <a:spLocks noChangeShapeType="1"/>
          </p:cNvSpPr>
          <p:nvPr/>
        </p:nvSpPr>
        <p:spPr bwMode="auto">
          <a:xfrm flipV="1">
            <a:off x="1600200" y="3810000"/>
            <a:ext cx="2438400" cy="6096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3" name="Line 15"/>
          <p:cNvSpPr>
            <a:spLocks noChangeShapeType="1"/>
          </p:cNvSpPr>
          <p:nvPr/>
        </p:nvSpPr>
        <p:spPr bwMode="auto">
          <a:xfrm flipV="1">
            <a:off x="3276600" y="3810000"/>
            <a:ext cx="1219200" cy="6096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4" name="Line 16"/>
          <p:cNvSpPr>
            <a:spLocks noChangeShapeType="1"/>
          </p:cNvSpPr>
          <p:nvPr/>
        </p:nvSpPr>
        <p:spPr bwMode="auto">
          <a:xfrm flipH="1" flipV="1">
            <a:off x="5181600" y="3810000"/>
            <a:ext cx="1828800" cy="6096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5" name="Line 17"/>
          <p:cNvSpPr>
            <a:spLocks noChangeShapeType="1"/>
          </p:cNvSpPr>
          <p:nvPr/>
        </p:nvSpPr>
        <p:spPr bwMode="auto">
          <a:xfrm flipV="1">
            <a:off x="4648200" y="3048000"/>
            <a:ext cx="0" cy="3048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6" name="Line 18"/>
          <p:cNvSpPr>
            <a:spLocks noChangeShapeType="1"/>
          </p:cNvSpPr>
          <p:nvPr/>
        </p:nvSpPr>
        <p:spPr bwMode="auto">
          <a:xfrm flipV="1">
            <a:off x="4648200" y="1752600"/>
            <a:ext cx="0" cy="3810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7" name="Text Box 19"/>
          <p:cNvSpPr txBox="1">
            <a:spLocks noChangeArrowheads="1"/>
          </p:cNvSpPr>
          <p:nvPr/>
        </p:nvSpPr>
        <p:spPr bwMode="auto">
          <a:xfrm>
            <a:off x="1295400" y="1066800"/>
            <a:ext cx="8258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GB" b="1" dirty="0">
                <a:latin typeface="Arial" panose="020B0604020202020204" pitchFamily="34" charset="0"/>
              </a:rPr>
              <a:t>Client</a:t>
            </a:r>
          </a:p>
        </p:txBody>
      </p:sp>
      <p:sp>
        <p:nvSpPr>
          <p:cNvPr id="63508" name="Line 20"/>
          <p:cNvSpPr>
            <a:spLocks noChangeShapeType="1"/>
          </p:cNvSpPr>
          <p:nvPr/>
        </p:nvSpPr>
        <p:spPr bwMode="auto">
          <a:xfrm>
            <a:off x="2362200" y="1371600"/>
            <a:ext cx="1219200" cy="152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9" name="Text Box 21"/>
          <p:cNvSpPr txBox="1">
            <a:spLocks noChangeArrowheads="1"/>
          </p:cNvSpPr>
          <p:nvPr/>
        </p:nvSpPr>
        <p:spPr bwMode="auto">
          <a:xfrm>
            <a:off x="7315200" y="990600"/>
            <a:ext cx="8258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GB" b="1" dirty="0">
                <a:latin typeface="Arial" panose="020B0604020202020204" pitchFamily="34" charset="0"/>
              </a:rPr>
              <a:t>Client</a:t>
            </a:r>
          </a:p>
        </p:txBody>
      </p:sp>
      <p:sp>
        <p:nvSpPr>
          <p:cNvPr id="63510" name="Text Box 22"/>
          <p:cNvSpPr txBox="1">
            <a:spLocks noChangeArrowheads="1"/>
          </p:cNvSpPr>
          <p:nvPr/>
        </p:nvSpPr>
        <p:spPr bwMode="auto">
          <a:xfrm>
            <a:off x="609600" y="1752600"/>
            <a:ext cx="1446230" cy="369332"/>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GB" b="1" dirty="0"/>
              <a:t>Design Phase</a:t>
            </a:r>
          </a:p>
        </p:txBody>
      </p:sp>
      <p:sp>
        <p:nvSpPr>
          <p:cNvPr id="63511" name="Text Box 23"/>
          <p:cNvSpPr txBox="1">
            <a:spLocks noChangeArrowheads="1"/>
          </p:cNvSpPr>
          <p:nvPr/>
        </p:nvSpPr>
        <p:spPr bwMode="auto">
          <a:xfrm>
            <a:off x="1524000" y="2819400"/>
            <a:ext cx="1442896" cy="369332"/>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GB" b="1" dirty="0"/>
              <a:t>Maintenance</a:t>
            </a:r>
          </a:p>
        </p:txBody>
      </p:sp>
      <p:sp>
        <p:nvSpPr>
          <p:cNvPr id="63512" name="Text Box 24"/>
          <p:cNvSpPr txBox="1">
            <a:spLocks noChangeArrowheads="1"/>
          </p:cNvSpPr>
          <p:nvPr/>
        </p:nvSpPr>
        <p:spPr bwMode="auto">
          <a:xfrm>
            <a:off x="7458074" y="1676400"/>
            <a:ext cx="931665" cy="369332"/>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GB" b="1" dirty="0"/>
              <a:t>Loading</a:t>
            </a:r>
          </a:p>
        </p:txBody>
      </p:sp>
      <p:sp>
        <p:nvSpPr>
          <p:cNvPr id="63513" name="Text Box 25"/>
          <p:cNvSpPr txBox="1">
            <a:spLocks noChangeArrowheads="1"/>
          </p:cNvSpPr>
          <p:nvPr/>
        </p:nvSpPr>
        <p:spPr bwMode="auto">
          <a:xfrm>
            <a:off x="4953000" y="5562600"/>
            <a:ext cx="488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GB" sz="3200" b="1"/>
              <a:t>...</a:t>
            </a:r>
          </a:p>
        </p:txBody>
      </p:sp>
      <p:sp>
        <p:nvSpPr>
          <p:cNvPr id="63514" name="AutoShape 26"/>
          <p:cNvSpPr>
            <a:spLocks noChangeArrowheads="1"/>
          </p:cNvSpPr>
          <p:nvPr/>
        </p:nvSpPr>
        <p:spPr bwMode="auto">
          <a:xfrm>
            <a:off x="6477000" y="2438400"/>
            <a:ext cx="457200" cy="533400"/>
          </a:xfrm>
          <a:prstGeom prst="can">
            <a:avLst>
              <a:gd name="adj" fmla="val 29167"/>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15" name="Line 27"/>
          <p:cNvSpPr>
            <a:spLocks noChangeShapeType="1"/>
          </p:cNvSpPr>
          <p:nvPr/>
        </p:nvSpPr>
        <p:spPr bwMode="auto">
          <a:xfrm>
            <a:off x="5715000" y="2667000"/>
            <a:ext cx="762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16" name="Text Box 28"/>
          <p:cNvSpPr txBox="1">
            <a:spLocks noChangeArrowheads="1"/>
          </p:cNvSpPr>
          <p:nvPr/>
        </p:nvSpPr>
        <p:spPr bwMode="auto">
          <a:xfrm>
            <a:off x="6994525" y="2525713"/>
            <a:ext cx="12955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GB" sz="2000" b="1" dirty="0">
                <a:latin typeface="Arial" panose="020B0604020202020204" pitchFamily="34" charset="0"/>
              </a:rPr>
              <a:t>Metadata</a:t>
            </a:r>
            <a:endParaRPr lang="en-US" altLang="en-GB" b="1" dirty="0"/>
          </a:p>
        </p:txBody>
      </p:sp>
      <p:sp>
        <p:nvSpPr>
          <p:cNvPr id="63517" name="Text Box 29"/>
          <p:cNvSpPr txBox="1">
            <a:spLocks noChangeArrowheads="1"/>
          </p:cNvSpPr>
          <p:nvPr/>
        </p:nvSpPr>
        <p:spPr bwMode="auto">
          <a:xfrm>
            <a:off x="7162800" y="3276600"/>
            <a:ext cx="1425840" cy="369332"/>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GB" b="1" dirty="0"/>
              <a:t>Optimization</a:t>
            </a:r>
          </a:p>
        </p:txBody>
      </p:sp>
      <p:sp>
        <p:nvSpPr>
          <p:cNvPr id="63518" name="Rectangle 30"/>
          <p:cNvSpPr>
            <a:spLocks noChangeArrowheads="1"/>
          </p:cNvSpPr>
          <p:nvPr/>
        </p:nvSpPr>
        <p:spPr bwMode="auto">
          <a:xfrm>
            <a:off x="3581400" y="1219200"/>
            <a:ext cx="2133600" cy="533400"/>
          </a:xfrm>
          <a:prstGeom prst="rect">
            <a:avLst/>
          </a:prstGeom>
          <a:solidFill>
            <a:srgbClr val="FFFF00"/>
          </a:solidFill>
          <a:ln w="9525">
            <a:solidFill>
              <a:schemeClr val="tx1"/>
            </a:solidFill>
            <a:miter lim="800000"/>
          </a:ln>
          <a:effectLst>
            <a:outerShdw dist="107763" dir="18900000" algn="ctr" rotWithShape="0">
              <a:schemeClr val="bg2"/>
            </a:outerShdw>
          </a:effectLst>
        </p:spPr>
        <p:txBody>
          <a:bodyPr wrap="none" anchor="ctr"/>
          <a:lstStyle/>
          <a:p>
            <a:pPr algn="ctr"/>
            <a:r>
              <a:rPr lang="en-US" altLang="en-GB" sz="2000" b="1" dirty="0">
                <a:latin typeface="Arial" panose="020B0604020202020204" pitchFamily="34" charset="0"/>
              </a:rPr>
              <a:t>Query &amp; Analysis</a:t>
            </a:r>
          </a:p>
        </p:txBody>
      </p:sp>
      <p:sp>
        <p:nvSpPr>
          <p:cNvPr id="63519" name="Line 31"/>
          <p:cNvSpPr>
            <a:spLocks noChangeShapeType="1"/>
          </p:cNvSpPr>
          <p:nvPr/>
        </p:nvSpPr>
        <p:spPr bwMode="auto">
          <a:xfrm flipH="1">
            <a:off x="5715000" y="1219200"/>
            <a:ext cx="144780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ooter Placeholder 4"/>
          <p:cNvSpPr>
            <a:spLocks noGrp="1"/>
          </p:cNvSpPr>
          <p:nvPr>
            <p:ph type="ftr" sz="quarter" idx="11"/>
          </p:nvPr>
        </p:nvSpPr>
        <p:spPr/>
        <p:txBody>
          <a:bodyPr/>
          <a:lstStyle/>
          <a:p>
            <a:r>
              <a:rPr lang="en-US" altLang="en-GB"/>
              <a:t>CS 336</a:t>
            </a:r>
          </a:p>
        </p:txBody>
      </p:sp>
      <p:sp>
        <p:nvSpPr>
          <p:cNvPr id="22" name="Slide Number Placeholder 5"/>
          <p:cNvSpPr>
            <a:spLocks noGrp="1"/>
          </p:cNvSpPr>
          <p:nvPr>
            <p:ph type="sldNum" sz="quarter" idx="12"/>
          </p:nvPr>
        </p:nvSpPr>
        <p:spPr/>
        <p:txBody>
          <a:bodyPr/>
          <a:lstStyle/>
          <a:p>
            <a:fld id="{885D3EEF-ECA9-4097-84DE-7F1C4B66D996}" type="slidenum">
              <a:rPr lang="en-US" altLang="en-GB"/>
              <a:t>3</a:t>
            </a:fld>
            <a:endParaRPr lang="en-US" altLang="en-GB"/>
          </a:p>
        </p:txBody>
      </p:sp>
      <p:sp>
        <p:nvSpPr>
          <p:cNvPr id="11266" name="Rectangle 2"/>
          <p:cNvSpPr>
            <a:spLocks noGrp="1" noChangeArrowheads="1"/>
          </p:cNvSpPr>
          <p:nvPr>
            <p:ph type="title"/>
          </p:nvPr>
        </p:nvSpPr>
        <p:spPr>
          <a:xfrm>
            <a:off x="685800" y="136524"/>
            <a:ext cx="8278688" cy="1158876"/>
          </a:xfrm>
        </p:spPr>
        <p:txBody>
          <a:bodyPr>
            <a:normAutofit/>
          </a:bodyPr>
          <a:lstStyle/>
          <a:p>
            <a:r>
              <a:rPr lang="en-US" altLang="en-GB" sz="2400" b="1" dirty="0">
                <a:latin typeface="Tahoma" panose="020B0604030504040204" pitchFamily="34" charset="0"/>
                <a:ea typeface="Tahoma" panose="020B0604030504040204" pitchFamily="34" charset="0"/>
                <a:cs typeface="Tahoma" panose="020B0604030504040204" pitchFamily="34" charset="0"/>
              </a:rPr>
              <a:t>Data Warehouse Architectures: Conceptual View</a:t>
            </a:r>
          </a:p>
        </p:txBody>
      </p:sp>
      <p:sp>
        <p:nvSpPr>
          <p:cNvPr id="11267" name="Rectangle 3"/>
          <p:cNvSpPr>
            <a:spLocks noGrp="1" noChangeArrowheads="1"/>
          </p:cNvSpPr>
          <p:nvPr>
            <p:ph type="body" idx="1"/>
          </p:nvPr>
        </p:nvSpPr>
        <p:spPr>
          <a:xfrm>
            <a:off x="462757" y="1504120"/>
            <a:ext cx="5718968" cy="4495800"/>
          </a:xfrm>
        </p:spPr>
        <p:txBody>
          <a:bodyPr>
            <a:normAutofit lnSpcReduction="10000"/>
          </a:bodyPr>
          <a:lstStyle/>
          <a:p>
            <a:pPr algn="just">
              <a:lnSpc>
                <a:spcPct val="150000"/>
              </a:lnSpc>
            </a:pPr>
            <a:r>
              <a:rPr lang="en-US" altLang="en-GB" sz="2200" b="1" dirty="0">
                <a:solidFill>
                  <a:srgbClr val="FF0000"/>
                </a:solidFill>
              </a:rPr>
              <a:t>Single-layer</a:t>
            </a:r>
          </a:p>
          <a:p>
            <a:pPr lvl="1" algn="just">
              <a:lnSpc>
                <a:spcPct val="160000"/>
              </a:lnSpc>
              <a:buFont typeface="Wingdings" panose="05000000000000000000" pitchFamily="2" charset="2"/>
              <a:buChar char="Ø"/>
            </a:pPr>
            <a:r>
              <a:rPr lang="en-US" altLang="en-GB" sz="2200" dirty="0"/>
              <a:t>Every data element is stored once only</a:t>
            </a:r>
          </a:p>
          <a:p>
            <a:pPr lvl="1" algn="just">
              <a:lnSpc>
                <a:spcPct val="160000"/>
              </a:lnSpc>
              <a:buFont typeface="Wingdings" panose="05000000000000000000" pitchFamily="2" charset="2"/>
              <a:buChar char="Ø"/>
            </a:pPr>
            <a:r>
              <a:rPr lang="en-US" altLang="en-GB" sz="2200" b="1" dirty="0"/>
              <a:t>Virtual warehouse</a:t>
            </a:r>
          </a:p>
          <a:p>
            <a:pPr lvl="1" algn="just">
              <a:lnSpc>
                <a:spcPct val="150000"/>
              </a:lnSpc>
              <a:buFont typeface="Wingdings" panose="05000000000000000000" pitchFamily="2" charset="2"/>
              <a:buChar char="Ø"/>
            </a:pPr>
            <a:endParaRPr lang="en-US" altLang="en-GB" sz="2200" dirty="0"/>
          </a:p>
          <a:p>
            <a:pPr algn="just">
              <a:lnSpc>
                <a:spcPct val="150000"/>
              </a:lnSpc>
            </a:pPr>
            <a:r>
              <a:rPr lang="en-US" altLang="en-GB" sz="2200" b="1" dirty="0">
                <a:solidFill>
                  <a:srgbClr val="FF0000"/>
                </a:solidFill>
              </a:rPr>
              <a:t>Two-layer</a:t>
            </a:r>
          </a:p>
          <a:p>
            <a:pPr lvl="1" algn="just">
              <a:lnSpc>
                <a:spcPct val="160000"/>
              </a:lnSpc>
              <a:buFont typeface="Wingdings" panose="05000000000000000000" pitchFamily="2" charset="2"/>
              <a:buChar char="Ø"/>
            </a:pPr>
            <a:r>
              <a:rPr lang="en-US" altLang="en-GB" sz="2200" b="1" dirty="0"/>
              <a:t>Real-time + derived data</a:t>
            </a:r>
          </a:p>
          <a:p>
            <a:pPr lvl="1" algn="just">
              <a:lnSpc>
                <a:spcPct val="160000"/>
              </a:lnSpc>
              <a:buFont typeface="Wingdings" panose="05000000000000000000" pitchFamily="2" charset="2"/>
              <a:buChar char="Ø"/>
            </a:pPr>
            <a:r>
              <a:rPr lang="en-US" altLang="en-GB" sz="2200" b="1" dirty="0"/>
              <a:t>Most commonly used approach in industry today</a:t>
            </a:r>
          </a:p>
          <a:p>
            <a:pPr lvl="1">
              <a:buFont typeface="Symbol" panose="05050102010706020507" pitchFamily="18" charset="2"/>
              <a:buNone/>
            </a:pPr>
            <a:endParaRPr lang="en-US" altLang="en-GB" dirty="0"/>
          </a:p>
        </p:txBody>
      </p:sp>
      <p:grpSp>
        <p:nvGrpSpPr>
          <p:cNvPr id="11268" name="Group 4"/>
          <p:cNvGrpSpPr/>
          <p:nvPr/>
        </p:nvGrpSpPr>
        <p:grpSpPr bwMode="auto">
          <a:xfrm>
            <a:off x="6781800" y="1371600"/>
            <a:ext cx="1939925" cy="1524000"/>
            <a:chOff x="4128" y="816"/>
            <a:chExt cx="1222" cy="960"/>
          </a:xfrm>
        </p:grpSpPr>
        <p:sp>
          <p:nvSpPr>
            <p:cNvPr id="11269" name="Rectangle 5"/>
            <p:cNvSpPr>
              <a:spLocks noChangeArrowheads="1"/>
            </p:cNvSpPr>
            <p:nvPr/>
          </p:nvSpPr>
          <p:spPr bwMode="auto">
            <a:xfrm>
              <a:off x="4320" y="1344"/>
              <a:ext cx="768" cy="432"/>
            </a:xfrm>
            <a:prstGeom prst="rect">
              <a:avLst/>
            </a:prstGeom>
            <a:solidFill>
              <a:schemeClr val="bg1"/>
            </a:solidFill>
            <a:ln w="9525">
              <a:miter lim="800000"/>
            </a:ln>
            <a:effectLst/>
            <a:scene3d>
              <a:camera prst="legacyPerspectiveTop"/>
              <a:lightRig rig="legacyFlat3" dir="b"/>
            </a:scene3d>
            <a:sp3d extrusionH="8874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r>
                <a:rPr lang="en-US" altLang="en-GB" sz="1400"/>
                <a:t>“Real-time data”</a:t>
              </a:r>
              <a:endParaRPr lang="en-US" altLang="en-GB"/>
            </a:p>
          </p:txBody>
        </p:sp>
        <p:sp>
          <p:nvSpPr>
            <p:cNvPr id="11270" name="Text Box 6"/>
            <p:cNvSpPr txBox="1">
              <a:spLocks noChangeArrowheads="1"/>
            </p:cNvSpPr>
            <p:nvPr/>
          </p:nvSpPr>
          <p:spPr bwMode="auto">
            <a:xfrm>
              <a:off x="4128" y="816"/>
              <a:ext cx="5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GB" sz="1200"/>
                <a:t>Operational</a:t>
              </a:r>
            </a:p>
            <a:p>
              <a:pPr algn="ctr"/>
              <a:r>
                <a:rPr lang="en-US" altLang="en-GB" sz="1200"/>
                <a:t>systems</a:t>
              </a:r>
              <a:endParaRPr lang="en-US" altLang="en-GB"/>
            </a:p>
          </p:txBody>
        </p:sp>
        <p:sp>
          <p:nvSpPr>
            <p:cNvPr id="11271" name="Text Box 7"/>
            <p:cNvSpPr txBox="1">
              <a:spLocks noChangeArrowheads="1"/>
            </p:cNvSpPr>
            <p:nvPr/>
          </p:nvSpPr>
          <p:spPr bwMode="auto">
            <a:xfrm>
              <a:off x="4704" y="816"/>
              <a:ext cx="6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GB" sz="1200"/>
                <a:t>Informational</a:t>
              </a:r>
            </a:p>
            <a:p>
              <a:pPr algn="ctr"/>
              <a:r>
                <a:rPr lang="en-US" altLang="en-GB" sz="1200"/>
                <a:t>systems</a:t>
              </a:r>
              <a:endParaRPr lang="en-US" altLang="en-GB"/>
            </a:p>
          </p:txBody>
        </p:sp>
        <p:sp>
          <p:nvSpPr>
            <p:cNvPr id="11272" name="Line 8"/>
            <p:cNvSpPr>
              <a:spLocks noChangeShapeType="1"/>
            </p:cNvSpPr>
            <p:nvPr/>
          </p:nvSpPr>
          <p:spPr bwMode="auto">
            <a:xfrm>
              <a:off x="4464" y="1104"/>
              <a:ext cx="0" cy="192"/>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3" name="Line 9"/>
            <p:cNvSpPr>
              <a:spLocks noChangeShapeType="1"/>
            </p:cNvSpPr>
            <p:nvPr/>
          </p:nvSpPr>
          <p:spPr bwMode="auto">
            <a:xfrm>
              <a:off x="4896" y="1104"/>
              <a:ext cx="0" cy="192"/>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1274" name="Group 10"/>
          <p:cNvGrpSpPr/>
          <p:nvPr/>
        </p:nvGrpSpPr>
        <p:grpSpPr bwMode="auto">
          <a:xfrm>
            <a:off x="6324600" y="4038600"/>
            <a:ext cx="2209800" cy="2362200"/>
            <a:chOff x="3600" y="2688"/>
            <a:chExt cx="1392" cy="1488"/>
          </a:xfrm>
        </p:grpSpPr>
        <p:sp>
          <p:nvSpPr>
            <p:cNvPr id="11275" name="Rectangle 11"/>
            <p:cNvSpPr>
              <a:spLocks noChangeArrowheads="1"/>
            </p:cNvSpPr>
            <p:nvPr/>
          </p:nvSpPr>
          <p:spPr bwMode="auto">
            <a:xfrm>
              <a:off x="3648" y="3216"/>
              <a:ext cx="1344" cy="960"/>
            </a:xfrm>
            <a:prstGeom prst="rect">
              <a:avLst/>
            </a:prstGeom>
            <a:solidFill>
              <a:schemeClr val="bg1"/>
            </a:solidFill>
            <a:ln w="9525">
              <a:miter lim="800000"/>
            </a:ln>
            <a:effectLst/>
            <a:scene3d>
              <a:camera prst="legacyPerspectiveTop"/>
              <a:lightRig rig="legacyFlat3" dir="b"/>
            </a:scene3d>
            <a:sp3d extrusionH="8874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11276" name="Rectangle 12"/>
            <p:cNvSpPr>
              <a:spLocks noChangeArrowheads="1"/>
            </p:cNvSpPr>
            <p:nvPr/>
          </p:nvSpPr>
          <p:spPr bwMode="auto">
            <a:xfrm>
              <a:off x="3696" y="3312"/>
              <a:ext cx="1248"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GB" sz="1600" b="1" dirty="0"/>
                <a:t>Derived Data</a:t>
              </a:r>
              <a:endParaRPr lang="en-US" altLang="en-GB" b="1" dirty="0"/>
            </a:p>
          </p:txBody>
        </p:sp>
        <p:sp>
          <p:nvSpPr>
            <p:cNvPr id="11277" name="Rectangle 13"/>
            <p:cNvSpPr>
              <a:spLocks noChangeArrowheads="1"/>
            </p:cNvSpPr>
            <p:nvPr/>
          </p:nvSpPr>
          <p:spPr bwMode="auto">
            <a:xfrm>
              <a:off x="3696" y="3840"/>
              <a:ext cx="1248" cy="28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GB" sz="1600" b="1" dirty="0"/>
                <a:t>Real-time data</a:t>
              </a:r>
              <a:endParaRPr lang="en-US" altLang="en-GB" b="1" dirty="0"/>
            </a:p>
          </p:txBody>
        </p:sp>
        <p:sp>
          <p:nvSpPr>
            <p:cNvPr id="11278" name="Text Box 14"/>
            <p:cNvSpPr txBox="1">
              <a:spLocks noChangeArrowheads="1"/>
            </p:cNvSpPr>
            <p:nvPr/>
          </p:nvSpPr>
          <p:spPr bwMode="auto">
            <a:xfrm>
              <a:off x="3744" y="2688"/>
              <a:ext cx="5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GB" sz="1200"/>
                <a:t>Operational</a:t>
              </a:r>
            </a:p>
            <a:p>
              <a:pPr algn="ctr"/>
              <a:r>
                <a:rPr lang="en-US" altLang="en-GB" sz="1200"/>
                <a:t>systems</a:t>
              </a:r>
              <a:endParaRPr lang="en-US" altLang="en-GB"/>
            </a:p>
          </p:txBody>
        </p:sp>
        <p:sp>
          <p:nvSpPr>
            <p:cNvPr id="11279" name="Text Box 15"/>
            <p:cNvSpPr txBox="1">
              <a:spLocks noChangeArrowheads="1"/>
            </p:cNvSpPr>
            <p:nvPr/>
          </p:nvSpPr>
          <p:spPr bwMode="auto">
            <a:xfrm>
              <a:off x="4320" y="2688"/>
              <a:ext cx="6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GB" sz="1200"/>
                <a:t>Informational</a:t>
              </a:r>
            </a:p>
            <a:p>
              <a:pPr algn="ctr"/>
              <a:r>
                <a:rPr lang="en-US" altLang="en-GB" sz="1200"/>
                <a:t>systems</a:t>
              </a:r>
              <a:endParaRPr lang="en-US" altLang="en-GB"/>
            </a:p>
          </p:txBody>
        </p:sp>
        <p:sp>
          <p:nvSpPr>
            <p:cNvPr id="11280" name="Line 16"/>
            <p:cNvSpPr>
              <a:spLocks noChangeShapeType="1"/>
            </p:cNvSpPr>
            <p:nvPr/>
          </p:nvSpPr>
          <p:spPr bwMode="auto">
            <a:xfrm flipH="1">
              <a:off x="3600" y="2832"/>
              <a:ext cx="144" cy="144"/>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1" name="Line 17"/>
            <p:cNvSpPr>
              <a:spLocks noChangeShapeType="1"/>
            </p:cNvSpPr>
            <p:nvPr/>
          </p:nvSpPr>
          <p:spPr bwMode="auto">
            <a:xfrm>
              <a:off x="4512" y="2976"/>
              <a:ext cx="0" cy="192"/>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2" name="AutoShape 18"/>
            <p:cNvSpPr>
              <a:spLocks noChangeArrowheads="1"/>
            </p:cNvSpPr>
            <p:nvPr/>
          </p:nvSpPr>
          <p:spPr bwMode="auto">
            <a:xfrm>
              <a:off x="4176" y="3600"/>
              <a:ext cx="288" cy="240"/>
            </a:xfrm>
            <a:prstGeom prst="upArrow">
              <a:avLst>
                <a:gd name="adj1" fmla="val 54167"/>
                <a:gd name="adj2" fmla="val 47083"/>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3" name="Line 19"/>
            <p:cNvSpPr>
              <a:spLocks noChangeShapeType="1"/>
            </p:cNvSpPr>
            <p:nvPr/>
          </p:nvSpPr>
          <p:spPr bwMode="auto">
            <a:xfrm>
              <a:off x="3600" y="2976"/>
              <a:ext cx="0" cy="100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4" name="Line 20"/>
            <p:cNvSpPr>
              <a:spLocks noChangeShapeType="1"/>
            </p:cNvSpPr>
            <p:nvPr/>
          </p:nvSpPr>
          <p:spPr bwMode="auto">
            <a:xfrm>
              <a:off x="3600" y="3984"/>
              <a:ext cx="96"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4"/>
          <p:cNvSpPr>
            <a:spLocks noGrp="1"/>
          </p:cNvSpPr>
          <p:nvPr>
            <p:ph type="ftr" sz="quarter" idx="11"/>
          </p:nvPr>
        </p:nvSpPr>
        <p:spPr/>
        <p:txBody>
          <a:bodyPr/>
          <a:lstStyle/>
          <a:p>
            <a:r>
              <a:rPr lang="en-US" altLang="en-GB"/>
              <a:t>CS 336</a:t>
            </a:r>
          </a:p>
        </p:txBody>
      </p:sp>
      <p:sp>
        <p:nvSpPr>
          <p:cNvPr id="19" name="Slide Number Placeholder 5"/>
          <p:cNvSpPr>
            <a:spLocks noGrp="1"/>
          </p:cNvSpPr>
          <p:nvPr>
            <p:ph type="sldNum" sz="quarter" idx="12"/>
          </p:nvPr>
        </p:nvSpPr>
        <p:spPr/>
        <p:txBody>
          <a:bodyPr/>
          <a:lstStyle/>
          <a:p>
            <a:fld id="{A5AD7561-EB33-46CD-918F-0156AE29A0D4}" type="slidenum">
              <a:rPr lang="en-US" altLang="en-GB"/>
              <a:t>4</a:t>
            </a:fld>
            <a:endParaRPr lang="en-US" altLang="en-GB"/>
          </a:p>
        </p:txBody>
      </p:sp>
      <p:sp>
        <p:nvSpPr>
          <p:cNvPr id="12290" name="Rectangle 2"/>
          <p:cNvSpPr>
            <a:spLocks noGrp="1" noChangeArrowheads="1"/>
          </p:cNvSpPr>
          <p:nvPr>
            <p:ph type="title"/>
          </p:nvPr>
        </p:nvSpPr>
        <p:spPr>
          <a:xfrm>
            <a:off x="628650" y="365126"/>
            <a:ext cx="7886700" cy="930275"/>
          </a:xfrm>
        </p:spPr>
        <p:txBody>
          <a:bodyPr>
            <a:normAutofit/>
          </a:bodyPr>
          <a:lstStyle/>
          <a:p>
            <a:r>
              <a:rPr lang="en-US" altLang="en-GB" sz="2400" b="1" dirty="0">
                <a:latin typeface="Tahoma" panose="020B0604030504040204" pitchFamily="34" charset="0"/>
                <a:ea typeface="Tahoma" panose="020B0604030504040204" pitchFamily="34" charset="0"/>
                <a:cs typeface="Tahoma" panose="020B0604030504040204" pitchFamily="34" charset="0"/>
              </a:rPr>
              <a:t>Three-layer Architecture: Conceptual View</a:t>
            </a:r>
          </a:p>
        </p:txBody>
      </p:sp>
      <p:sp>
        <p:nvSpPr>
          <p:cNvPr id="12291" name="Rectangle 3"/>
          <p:cNvSpPr>
            <a:spLocks noGrp="1" noChangeArrowheads="1"/>
          </p:cNvSpPr>
          <p:nvPr>
            <p:ph type="body" idx="1"/>
          </p:nvPr>
        </p:nvSpPr>
        <p:spPr>
          <a:xfrm>
            <a:off x="660302" y="1286023"/>
            <a:ext cx="7772400" cy="1233488"/>
          </a:xfrm>
        </p:spPr>
        <p:txBody>
          <a:bodyPr>
            <a:normAutofit/>
          </a:bodyPr>
          <a:lstStyle/>
          <a:p>
            <a:pPr algn="just">
              <a:lnSpc>
                <a:spcPct val="150000"/>
              </a:lnSpc>
            </a:pPr>
            <a:r>
              <a:rPr lang="en-US" altLang="en-GB" sz="2400" b="1" dirty="0"/>
              <a:t>Transformation of real-time data to derived data </a:t>
            </a:r>
            <a:r>
              <a:rPr lang="en-US" altLang="en-GB" sz="2400" dirty="0"/>
              <a:t>really requires </a:t>
            </a:r>
            <a:r>
              <a:rPr lang="en-US" altLang="en-GB" sz="2400" b="1" dirty="0">
                <a:solidFill>
                  <a:srgbClr val="FF0000"/>
                </a:solidFill>
              </a:rPr>
              <a:t>two steps:</a:t>
            </a:r>
          </a:p>
        </p:txBody>
      </p:sp>
      <p:sp>
        <p:nvSpPr>
          <p:cNvPr id="12292" name="Rectangle 4"/>
          <p:cNvSpPr>
            <a:spLocks noChangeArrowheads="1"/>
          </p:cNvSpPr>
          <p:nvPr/>
        </p:nvSpPr>
        <p:spPr bwMode="auto">
          <a:xfrm>
            <a:off x="3352800" y="3733800"/>
            <a:ext cx="2895600" cy="2286000"/>
          </a:xfrm>
          <a:prstGeom prst="rect">
            <a:avLst/>
          </a:prstGeom>
          <a:solidFill>
            <a:schemeClr val="bg1"/>
          </a:solidFill>
          <a:ln w="9525">
            <a:miter lim="800000"/>
          </a:ln>
          <a:effectLst/>
          <a:scene3d>
            <a:camera prst="legacyPerspectiveTop"/>
            <a:lightRig rig="legacyFlat3" dir="b"/>
          </a:scene3d>
          <a:sp3d extrusionH="887400" prstMaterial="legacyMatte">
            <a:bevelT w="13500" h="13500" prst="angle"/>
            <a:bevelB w="13500" h="13500" prst="angle"/>
            <a:extrusionClr>
              <a:schemeClr val="bg1"/>
            </a:extrusionClr>
            <a:contourClr>
              <a:schemeClr val="bg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12293" name="Rectangle 5"/>
          <p:cNvSpPr>
            <a:spLocks noChangeArrowheads="1"/>
          </p:cNvSpPr>
          <p:nvPr/>
        </p:nvSpPr>
        <p:spPr bwMode="auto">
          <a:xfrm>
            <a:off x="3543300" y="3810000"/>
            <a:ext cx="2514600" cy="4572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GB" sz="1600" b="1" dirty="0"/>
              <a:t>Derived Data</a:t>
            </a:r>
            <a:endParaRPr lang="en-US" altLang="en-GB" b="1" dirty="0"/>
          </a:p>
        </p:txBody>
      </p:sp>
      <p:sp>
        <p:nvSpPr>
          <p:cNvPr id="12294" name="Rectangle 6"/>
          <p:cNvSpPr>
            <a:spLocks noChangeArrowheads="1"/>
          </p:cNvSpPr>
          <p:nvPr/>
        </p:nvSpPr>
        <p:spPr bwMode="auto">
          <a:xfrm>
            <a:off x="3581400" y="5486400"/>
            <a:ext cx="2438400" cy="4572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GB" sz="1600" b="1" dirty="0"/>
              <a:t>Real-time data</a:t>
            </a:r>
            <a:endParaRPr lang="en-US" altLang="en-GB" b="1" dirty="0"/>
          </a:p>
        </p:txBody>
      </p:sp>
      <p:sp>
        <p:nvSpPr>
          <p:cNvPr id="12295" name="Text Box 7"/>
          <p:cNvSpPr txBox="1">
            <a:spLocks noChangeArrowheads="1"/>
          </p:cNvSpPr>
          <p:nvPr/>
        </p:nvSpPr>
        <p:spPr bwMode="auto">
          <a:xfrm>
            <a:off x="3505200" y="2895600"/>
            <a:ext cx="102393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GB" sz="1400"/>
              <a:t>Operational</a:t>
            </a:r>
          </a:p>
          <a:p>
            <a:pPr algn="ctr"/>
            <a:r>
              <a:rPr lang="en-US" altLang="en-GB" sz="1400"/>
              <a:t>systems</a:t>
            </a:r>
            <a:endParaRPr lang="en-US" altLang="en-GB"/>
          </a:p>
        </p:txBody>
      </p:sp>
      <p:sp>
        <p:nvSpPr>
          <p:cNvPr id="12296" name="Text Box 8"/>
          <p:cNvSpPr txBox="1">
            <a:spLocks noChangeArrowheads="1"/>
          </p:cNvSpPr>
          <p:nvPr/>
        </p:nvSpPr>
        <p:spPr bwMode="auto">
          <a:xfrm>
            <a:off x="5029200" y="2895600"/>
            <a:ext cx="1160463"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GB" sz="1400"/>
              <a:t>Informational</a:t>
            </a:r>
          </a:p>
          <a:p>
            <a:pPr algn="ctr"/>
            <a:r>
              <a:rPr lang="en-US" altLang="en-GB" sz="1400"/>
              <a:t>systems</a:t>
            </a:r>
            <a:endParaRPr lang="en-US" altLang="en-GB"/>
          </a:p>
        </p:txBody>
      </p:sp>
      <p:sp>
        <p:nvSpPr>
          <p:cNvPr id="12297" name="Line 9"/>
          <p:cNvSpPr>
            <a:spLocks noChangeShapeType="1"/>
          </p:cNvSpPr>
          <p:nvPr/>
        </p:nvSpPr>
        <p:spPr bwMode="auto">
          <a:xfrm>
            <a:off x="5562600" y="3505200"/>
            <a:ext cx="0" cy="304800"/>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8" name="AutoShape 10"/>
          <p:cNvSpPr>
            <a:spLocks noChangeArrowheads="1"/>
          </p:cNvSpPr>
          <p:nvPr/>
        </p:nvSpPr>
        <p:spPr bwMode="auto">
          <a:xfrm>
            <a:off x="4572000" y="5105400"/>
            <a:ext cx="457200" cy="381000"/>
          </a:xfrm>
          <a:prstGeom prst="upArrow">
            <a:avLst>
              <a:gd name="adj1" fmla="val 54167"/>
              <a:gd name="adj2" fmla="val 47083"/>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9" name="Line 11"/>
          <p:cNvSpPr>
            <a:spLocks noChangeShapeType="1"/>
          </p:cNvSpPr>
          <p:nvPr/>
        </p:nvSpPr>
        <p:spPr bwMode="auto">
          <a:xfrm flipH="1">
            <a:off x="3276600" y="3200400"/>
            <a:ext cx="304800" cy="247650"/>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00" name="Line 12"/>
          <p:cNvSpPr>
            <a:spLocks noChangeShapeType="1"/>
          </p:cNvSpPr>
          <p:nvPr/>
        </p:nvSpPr>
        <p:spPr bwMode="auto">
          <a:xfrm>
            <a:off x="3276600" y="3448050"/>
            <a:ext cx="0" cy="22669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01" name="Line 13"/>
          <p:cNvSpPr>
            <a:spLocks noChangeShapeType="1"/>
          </p:cNvSpPr>
          <p:nvPr/>
        </p:nvSpPr>
        <p:spPr bwMode="auto">
          <a:xfrm>
            <a:off x="3276600" y="5715000"/>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02" name="Rectangle 14"/>
          <p:cNvSpPr>
            <a:spLocks noChangeArrowheads="1"/>
          </p:cNvSpPr>
          <p:nvPr/>
        </p:nvSpPr>
        <p:spPr bwMode="auto">
          <a:xfrm>
            <a:off x="3543300" y="4648200"/>
            <a:ext cx="2514600" cy="4572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GB" sz="1600" b="1" dirty="0"/>
              <a:t>Reconciled Data</a:t>
            </a:r>
            <a:endParaRPr lang="en-US" altLang="en-GB" b="1" dirty="0"/>
          </a:p>
        </p:txBody>
      </p:sp>
      <p:sp>
        <p:nvSpPr>
          <p:cNvPr id="12303" name="AutoShape 15"/>
          <p:cNvSpPr>
            <a:spLocks noChangeArrowheads="1"/>
          </p:cNvSpPr>
          <p:nvPr/>
        </p:nvSpPr>
        <p:spPr bwMode="auto">
          <a:xfrm>
            <a:off x="4572000" y="4267200"/>
            <a:ext cx="457200" cy="381000"/>
          </a:xfrm>
          <a:prstGeom prst="upArrow">
            <a:avLst>
              <a:gd name="adj1" fmla="val 54167"/>
              <a:gd name="adj2" fmla="val 47083"/>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04" name="Text Box 16"/>
          <p:cNvSpPr txBox="1">
            <a:spLocks noChangeArrowheads="1"/>
          </p:cNvSpPr>
          <p:nvPr/>
        </p:nvSpPr>
        <p:spPr bwMode="auto">
          <a:xfrm>
            <a:off x="6400800" y="4572000"/>
            <a:ext cx="2463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GB" sz="1800" dirty="0"/>
              <a:t>Physical Implementation</a:t>
            </a:r>
          </a:p>
          <a:p>
            <a:pPr algn="ctr"/>
            <a:r>
              <a:rPr lang="en-US" altLang="en-GB" sz="1800" dirty="0"/>
              <a:t>of the Data Warehouse</a:t>
            </a:r>
            <a:endParaRPr lang="en-US" altLang="en-GB" dirty="0"/>
          </a:p>
        </p:txBody>
      </p:sp>
      <p:sp>
        <p:nvSpPr>
          <p:cNvPr id="12305" name="Text Box 17"/>
          <p:cNvSpPr txBox="1">
            <a:spLocks noChangeArrowheads="1"/>
          </p:cNvSpPr>
          <p:nvPr/>
        </p:nvSpPr>
        <p:spPr bwMode="auto">
          <a:xfrm>
            <a:off x="6416675" y="3429000"/>
            <a:ext cx="25336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GB" sz="1800" b="1" dirty="0"/>
              <a:t>View level</a:t>
            </a:r>
          </a:p>
          <a:p>
            <a:pPr algn="ctr"/>
            <a:r>
              <a:rPr lang="en-US" altLang="en-GB" sz="1800" dirty="0"/>
              <a:t>“Particular informational </a:t>
            </a:r>
          </a:p>
          <a:p>
            <a:pPr algn="ctr"/>
            <a:r>
              <a:rPr lang="en-US" altLang="en-GB" sz="1800" dirty="0"/>
              <a:t>needs”</a:t>
            </a:r>
            <a:endParaRPr lang="en-US" altLang="en-GB" dirty="0"/>
          </a:p>
        </p:txBody>
      </p:sp>
      <p:sp>
        <p:nvSpPr>
          <p:cNvPr id="21" name="TextBox 20"/>
          <p:cNvSpPr txBox="1"/>
          <p:nvPr/>
        </p:nvSpPr>
        <p:spPr>
          <a:xfrm>
            <a:off x="279400" y="3329573"/>
            <a:ext cx="2776346" cy="2644250"/>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sz="1400" b="1" i="0" dirty="0">
                <a:solidFill>
                  <a:srgbClr val="FF0000"/>
                </a:solidFill>
                <a:effectLst/>
              </a:rPr>
              <a:t>Data reconciliation</a:t>
            </a:r>
            <a:r>
              <a:rPr lang="en-US" sz="1400" dirty="0">
                <a:solidFill>
                  <a:srgbClr val="FF0000"/>
                </a:solidFill>
              </a:rPr>
              <a:t>: </a:t>
            </a:r>
            <a:r>
              <a:rPr lang="en-US" sz="1400" dirty="0">
                <a:solidFill>
                  <a:srgbClr val="202124"/>
                </a:solidFill>
              </a:rPr>
              <a:t>u</a:t>
            </a:r>
            <a:r>
              <a:rPr lang="en-US" sz="1400" b="0" i="0" dirty="0">
                <a:solidFill>
                  <a:srgbClr val="202124"/>
                </a:solidFill>
                <a:effectLst/>
              </a:rPr>
              <a:t>sed to </a:t>
            </a:r>
            <a:r>
              <a:rPr lang="en-US" sz="1400" b="1" i="0" dirty="0">
                <a:solidFill>
                  <a:srgbClr val="202124"/>
                </a:solidFill>
                <a:effectLst/>
              </a:rPr>
              <a:t>describe a verification </a:t>
            </a:r>
            <a:r>
              <a:rPr lang="en-US" sz="1400" b="0" i="0" dirty="0">
                <a:solidFill>
                  <a:srgbClr val="202124"/>
                </a:solidFill>
                <a:effectLst/>
              </a:rPr>
              <a:t>phase during a </a:t>
            </a:r>
            <a:r>
              <a:rPr lang="en-US" sz="1400" b="1" i="0" dirty="0">
                <a:solidFill>
                  <a:srgbClr val="202124"/>
                </a:solidFill>
                <a:effectLst/>
              </a:rPr>
              <a:t>data</a:t>
            </a:r>
            <a:r>
              <a:rPr lang="en-US" sz="1400" b="0" i="0" dirty="0">
                <a:solidFill>
                  <a:srgbClr val="202124"/>
                </a:solidFill>
                <a:effectLst/>
              </a:rPr>
              <a:t> migration where the target </a:t>
            </a:r>
            <a:r>
              <a:rPr lang="en-US" sz="1400" b="1" i="0" dirty="0">
                <a:solidFill>
                  <a:srgbClr val="202124"/>
                </a:solidFill>
                <a:effectLst/>
              </a:rPr>
              <a:t>data</a:t>
            </a:r>
            <a:r>
              <a:rPr lang="en-US" sz="1400" b="0" i="0" dirty="0">
                <a:solidFill>
                  <a:srgbClr val="202124"/>
                </a:solidFill>
                <a:effectLst/>
              </a:rPr>
              <a:t> is compared against original source </a:t>
            </a:r>
            <a:r>
              <a:rPr lang="en-US" sz="1400" b="1" i="0" dirty="0">
                <a:solidFill>
                  <a:srgbClr val="202124"/>
                </a:solidFill>
                <a:effectLst/>
              </a:rPr>
              <a:t>data</a:t>
            </a:r>
            <a:r>
              <a:rPr lang="en-US" sz="1400" b="0" i="0" dirty="0">
                <a:solidFill>
                  <a:srgbClr val="202124"/>
                </a:solidFill>
                <a:effectLst/>
              </a:rPr>
              <a:t> to ensure that the migration architecture has transferred the </a:t>
            </a:r>
            <a:r>
              <a:rPr lang="en-US" sz="1400" b="1" i="0" dirty="0">
                <a:solidFill>
                  <a:srgbClr val="202124"/>
                </a:solidFill>
                <a:effectLst/>
              </a:rPr>
              <a:t>data</a:t>
            </a:r>
            <a:r>
              <a:rPr lang="en-US" sz="1400" b="0" i="0" dirty="0">
                <a:solidFill>
                  <a:srgbClr val="202124"/>
                </a:solidFill>
                <a:effectLst/>
              </a:rPr>
              <a:t> correctly.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40" name="Rectangle 1028"/>
          <p:cNvSpPr>
            <a:spLocks noGrp="1" noChangeArrowheads="1"/>
          </p:cNvSpPr>
          <p:nvPr>
            <p:ph type="title"/>
          </p:nvPr>
        </p:nvSpPr>
        <p:spPr>
          <a:xfrm>
            <a:off x="1311052" y="404664"/>
            <a:ext cx="6175598" cy="1325563"/>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p>
            <a:r>
              <a:rPr lang="en-US" altLang="en-US" b="1" dirty="0">
                <a:latin typeface="Tahoma" panose="020B0604030504040204" pitchFamily="34" charset="0"/>
                <a:ea typeface="Tahoma" panose="020B0604030504040204" pitchFamily="34" charset="0"/>
                <a:cs typeface="Tahoma" panose="020B0604030504040204" pitchFamily="34" charset="0"/>
              </a:rPr>
              <a:t>Data Quality - The Reality</a:t>
            </a:r>
          </a:p>
        </p:txBody>
      </p:sp>
      <p:sp>
        <p:nvSpPr>
          <p:cNvPr id="1038341" name="Rectangle 1029"/>
          <p:cNvSpPr>
            <a:spLocks noGrp="1" noChangeArrowheads="1"/>
          </p:cNvSpPr>
          <p:nvPr>
            <p:ph idx="1"/>
          </p:nvPr>
        </p:nvSpPr>
        <p:spPr>
          <a:xfrm>
            <a:off x="533400" y="2204864"/>
            <a:ext cx="8077200" cy="3188568"/>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a:bodyPr>
          <a:lstStyle/>
          <a:p>
            <a:pPr algn="just">
              <a:lnSpc>
                <a:spcPct val="150000"/>
              </a:lnSpc>
            </a:pPr>
            <a:r>
              <a:rPr lang="en-US" altLang="en-US" sz="2200" dirty="0">
                <a:latin typeface="Tahoma" panose="020B0604030504040204" pitchFamily="34" charset="0"/>
                <a:ea typeface="Tahoma" panose="020B0604030504040204" pitchFamily="34" charset="0"/>
                <a:cs typeface="Tahoma" panose="020B0604030504040204" pitchFamily="34" charset="0"/>
              </a:rPr>
              <a:t>Tempting to think creating a </a:t>
            </a:r>
            <a:r>
              <a:rPr lang="en-US" altLang="en-US" sz="2200" b="1" dirty="0">
                <a:latin typeface="Tahoma" panose="020B0604030504040204" pitchFamily="34" charset="0"/>
                <a:ea typeface="Tahoma" panose="020B0604030504040204" pitchFamily="34" charset="0"/>
                <a:cs typeface="Tahoma" panose="020B0604030504040204" pitchFamily="34" charset="0"/>
              </a:rPr>
              <a:t>data warehouse is simply extracting operational data and entering into </a:t>
            </a:r>
            <a:r>
              <a:rPr lang="en-US" altLang="en-US" sz="2200" dirty="0">
                <a:latin typeface="Tahoma" panose="020B0604030504040204" pitchFamily="34" charset="0"/>
                <a:ea typeface="Tahoma" panose="020B0604030504040204" pitchFamily="34" charset="0"/>
                <a:cs typeface="Tahoma" panose="020B0604030504040204" pitchFamily="34" charset="0"/>
              </a:rPr>
              <a:t>a data warehouse</a:t>
            </a:r>
          </a:p>
          <a:p>
            <a:pPr algn="just">
              <a:lnSpc>
                <a:spcPct val="150000"/>
              </a:lnSpc>
            </a:pPr>
            <a:r>
              <a:rPr lang="en-US" altLang="en-US" sz="2200" b="1" dirty="0">
                <a:latin typeface="Tahoma" panose="020B0604030504040204" pitchFamily="34" charset="0"/>
                <a:ea typeface="Tahoma" panose="020B0604030504040204" pitchFamily="34" charset="0"/>
                <a:cs typeface="Tahoma" panose="020B0604030504040204" pitchFamily="34" charset="0"/>
              </a:rPr>
              <a:t>Nothing could be farther from the truth</a:t>
            </a:r>
          </a:p>
          <a:p>
            <a:pPr algn="just">
              <a:lnSpc>
                <a:spcPct val="150000"/>
              </a:lnSpc>
            </a:pPr>
            <a:r>
              <a:rPr lang="en-US" altLang="en-US" sz="2200" dirty="0">
                <a:latin typeface="Tahoma" panose="020B0604030504040204" pitchFamily="34" charset="0"/>
                <a:ea typeface="Tahoma" panose="020B0604030504040204" pitchFamily="34" charset="0"/>
                <a:cs typeface="Tahoma" panose="020B0604030504040204" pitchFamily="34" charset="0"/>
              </a:rPr>
              <a:t>Warehouse data comes from disparate  questionable sources</a:t>
            </a:r>
          </a:p>
        </p:txBody>
      </p:sp>
      <p:sp>
        <p:nvSpPr>
          <p:cNvPr id="6" name="Slide Number Placeholder 4"/>
          <p:cNvSpPr>
            <a:spLocks noGrp="1"/>
          </p:cNvSpPr>
          <p:nvPr>
            <p:ph type="sldNum" sz="quarter" idx="12"/>
          </p:nvPr>
        </p:nvSpPr>
        <p:spPr/>
        <p:txBody>
          <a:bodyPr/>
          <a:lstStyle/>
          <a:p>
            <a:fld id="{37672AEB-674B-4469-AB00-FAD508076734}" type="slidenum">
              <a:rPr lang="en-US" altLang="en-US"/>
              <a:t>5</a:t>
            </a:fld>
            <a:endParaRPr lang="en-US" altLang="en-US"/>
          </a:p>
        </p:txBody>
      </p:sp>
      <p:sp>
        <p:nvSpPr>
          <p:cNvPr id="1038338" name="Rectangle 1026"/>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339" name="Rectangle 1027"/>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88" name="Rectangle 1028"/>
          <p:cNvSpPr>
            <a:spLocks noGrp="1" noChangeArrowheads="1"/>
          </p:cNvSpPr>
          <p:nvPr>
            <p:ph type="title"/>
          </p:nvPr>
        </p:nvSpPr>
        <p:spPr>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p>
            <a:r>
              <a:rPr lang="en-US" altLang="en-US" b="1" dirty="0">
                <a:latin typeface="Tahoma" panose="020B0604030504040204" pitchFamily="34" charset="0"/>
                <a:ea typeface="Tahoma" panose="020B0604030504040204" pitchFamily="34" charset="0"/>
                <a:cs typeface="Tahoma" panose="020B0604030504040204" pitchFamily="34" charset="0"/>
              </a:rPr>
              <a:t>Data Integration Across Sources</a:t>
            </a:r>
          </a:p>
        </p:txBody>
      </p:sp>
      <p:sp>
        <p:nvSpPr>
          <p:cNvPr id="29" name="Slide Number Placeholder 4"/>
          <p:cNvSpPr>
            <a:spLocks noGrp="1"/>
          </p:cNvSpPr>
          <p:nvPr>
            <p:ph type="sldNum" sz="quarter" idx="12"/>
          </p:nvPr>
        </p:nvSpPr>
        <p:spPr/>
        <p:txBody>
          <a:bodyPr/>
          <a:lstStyle/>
          <a:p>
            <a:fld id="{B3F9D179-FBEA-463F-838E-B9F97317A44E}" type="slidenum">
              <a:rPr lang="en-US" altLang="en-US"/>
              <a:t>6</a:t>
            </a:fld>
            <a:endParaRPr lang="en-US" altLang="en-US"/>
          </a:p>
        </p:txBody>
      </p:sp>
      <p:sp>
        <p:nvSpPr>
          <p:cNvPr id="1040386" name="Rectangle 1026"/>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387" name="Rectangle 1027"/>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389" name="Rectangle 1029"/>
          <p:cNvSpPr>
            <a:spLocks noChangeArrowheads="1"/>
          </p:cNvSpPr>
          <p:nvPr/>
        </p:nvSpPr>
        <p:spPr bwMode="auto">
          <a:xfrm>
            <a:off x="5395913" y="1662113"/>
            <a:ext cx="8763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a:solidFill>
                  <a:schemeClr val="tx1"/>
                </a:solidFill>
                <a:latin typeface="Tahoma" panose="020B0604030504040204" pitchFamily="34" charset="0"/>
              </a:rPr>
              <a:t>Trust</a:t>
            </a:r>
          </a:p>
        </p:txBody>
      </p:sp>
      <p:sp>
        <p:nvSpPr>
          <p:cNvPr id="1040390" name="Rectangle 1030"/>
          <p:cNvSpPr>
            <a:spLocks noChangeArrowheads="1"/>
          </p:cNvSpPr>
          <p:nvPr/>
        </p:nvSpPr>
        <p:spPr bwMode="auto">
          <a:xfrm>
            <a:off x="7224713" y="1738313"/>
            <a:ext cx="164782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a:solidFill>
                  <a:schemeClr val="tx1"/>
                </a:solidFill>
                <a:latin typeface="Tahoma" panose="020B0604030504040204" pitchFamily="34" charset="0"/>
              </a:rPr>
              <a:t>Credit card</a:t>
            </a:r>
          </a:p>
        </p:txBody>
      </p:sp>
      <p:graphicFrame>
        <p:nvGraphicFramePr>
          <p:cNvPr id="1040391" name="Object 1031">
            <a:hlinkClick r:id="" action="ppaction://ole?verb=0"/>
          </p:cNvPr>
          <p:cNvGraphicFramePr/>
          <p:nvPr/>
        </p:nvGraphicFramePr>
        <p:xfrm>
          <a:off x="555625" y="2300288"/>
          <a:ext cx="1343025" cy="1244600"/>
        </p:xfrm>
        <a:graphic>
          <a:graphicData uri="http://schemas.openxmlformats.org/presentationml/2006/ole">
            <mc:AlternateContent xmlns:mc="http://schemas.openxmlformats.org/markup-compatibility/2006">
              <mc:Choice xmlns:v="urn:schemas-microsoft-com:vml" Requires="v">
                <p:oleObj name="Clip" r:id="rId2" imgW="1340485" imgH="1242695" progId="MS_ClipArt_Gallery.2">
                  <p:embed/>
                </p:oleObj>
              </mc:Choice>
              <mc:Fallback>
                <p:oleObj name="Clip" r:id="rId2" imgW="1340485" imgH="1242695" progId="MS_ClipArt_Gallery.2">
                  <p:embed/>
                  <p:pic>
                    <p:nvPicPr>
                      <p:cNvPr id="0" name="Object 1031">
                        <a:hlinkClick r:id="" action="ppaction://ole?verb=0"/>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25" y="2300288"/>
                        <a:ext cx="1343025" cy="124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40392" name="Object 1032">
            <a:hlinkClick r:id="" action="ppaction://ole?verb=0"/>
          </p:cNvPr>
          <p:cNvGraphicFramePr/>
          <p:nvPr/>
        </p:nvGraphicFramePr>
        <p:xfrm>
          <a:off x="2400300" y="2170113"/>
          <a:ext cx="2130425" cy="1562100"/>
        </p:xfrm>
        <a:graphic>
          <a:graphicData uri="http://schemas.openxmlformats.org/presentationml/2006/ole">
            <mc:AlternateContent xmlns:mc="http://schemas.openxmlformats.org/markup-compatibility/2006">
              <mc:Choice xmlns:v="urn:schemas-microsoft-com:vml" Requires="v">
                <p:oleObj name="Clip" r:id="rId4" imgW="2126615" imgH="1559560" progId="MS_ClipArt_Gallery.2">
                  <p:embed/>
                </p:oleObj>
              </mc:Choice>
              <mc:Fallback>
                <p:oleObj name="Clip" r:id="rId4" imgW="2126615" imgH="1559560" progId="MS_ClipArt_Gallery.2">
                  <p:embed/>
                  <p:pic>
                    <p:nvPicPr>
                      <p:cNvPr id="0" name="Object 1032">
                        <a:hlinkClick r:id="" action="ppaction://ole?verb=0"/>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0300" y="2170113"/>
                        <a:ext cx="2130425"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40393" name="Object 1033">
            <a:hlinkClick r:id="" action="ppaction://ole?verb=0"/>
          </p:cNvPr>
          <p:cNvGraphicFramePr/>
          <p:nvPr/>
        </p:nvGraphicFramePr>
        <p:xfrm>
          <a:off x="5154613" y="2147888"/>
          <a:ext cx="1357312" cy="1522412"/>
        </p:xfrm>
        <a:graphic>
          <a:graphicData uri="http://schemas.openxmlformats.org/presentationml/2006/ole">
            <mc:AlternateContent xmlns:mc="http://schemas.openxmlformats.org/markup-compatibility/2006">
              <mc:Choice xmlns:v="urn:schemas-microsoft-com:vml" Requires="v">
                <p:oleObj name="Clip" r:id="rId6" imgW="1355090" imgH="1519555" progId="MS_ClipArt_Gallery.2">
                  <p:embed/>
                </p:oleObj>
              </mc:Choice>
              <mc:Fallback>
                <p:oleObj name="Clip" r:id="rId6" imgW="1355090" imgH="1519555" progId="MS_ClipArt_Gallery.2">
                  <p:embed/>
                  <p:pic>
                    <p:nvPicPr>
                      <p:cNvPr id="0" name="Object 1033">
                        <a:hlinkClick r:id="" action="ppaction://ole?verb=0"/>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4613" y="2147888"/>
                        <a:ext cx="1357312" cy="152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40394" name="Object 1034">
            <a:hlinkClick r:id="" action="ppaction://ole?verb=0"/>
          </p:cNvPr>
          <p:cNvGraphicFramePr/>
          <p:nvPr/>
        </p:nvGraphicFramePr>
        <p:xfrm>
          <a:off x="6884988" y="2325688"/>
          <a:ext cx="1912937" cy="1128712"/>
        </p:xfrm>
        <a:graphic>
          <a:graphicData uri="http://schemas.openxmlformats.org/presentationml/2006/ole">
            <mc:AlternateContent xmlns:mc="http://schemas.openxmlformats.org/markup-compatibility/2006">
              <mc:Choice xmlns:v="urn:schemas-microsoft-com:vml" Requires="v">
                <p:oleObj name="Clip" r:id="rId8" imgW="1909445" imgH="1126490" progId="MS_ClipArt_Gallery.2">
                  <p:embed/>
                </p:oleObj>
              </mc:Choice>
              <mc:Fallback>
                <p:oleObj name="Clip" r:id="rId8" imgW="1909445" imgH="1126490" progId="MS_ClipArt_Gallery.2">
                  <p:embed/>
                  <p:pic>
                    <p:nvPicPr>
                      <p:cNvPr id="0" name="Object 1034">
                        <a:hlinkClick r:id="" action="ppaction://ole?verb=0"/>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84988" y="2325688"/>
                        <a:ext cx="1912937" cy="112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0395" name="Rectangle 1035"/>
          <p:cNvSpPr>
            <a:spLocks noChangeArrowheads="1"/>
          </p:cNvSpPr>
          <p:nvPr/>
        </p:nvSpPr>
        <p:spPr bwMode="auto">
          <a:xfrm>
            <a:off x="541338" y="1752600"/>
            <a:ext cx="120808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a:solidFill>
                  <a:schemeClr val="tx1"/>
                </a:solidFill>
                <a:latin typeface="Tahoma" panose="020B0604030504040204" pitchFamily="34" charset="0"/>
              </a:rPr>
              <a:t>Savings</a:t>
            </a:r>
          </a:p>
        </p:txBody>
      </p:sp>
      <p:sp>
        <p:nvSpPr>
          <p:cNvPr id="1040396" name="Rectangle 1036"/>
          <p:cNvSpPr>
            <a:spLocks noChangeArrowheads="1"/>
          </p:cNvSpPr>
          <p:nvPr/>
        </p:nvSpPr>
        <p:spPr bwMode="auto">
          <a:xfrm>
            <a:off x="3055938" y="1752600"/>
            <a:ext cx="96520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a:solidFill>
                  <a:schemeClr val="tx1"/>
                </a:solidFill>
                <a:latin typeface="Tahoma" panose="020B0604030504040204" pitchFamily="34" charset="0"/>
              </a:rPr>
              <a:t>Loans</a:t>
            </a:r>
          </a:p>
        </p:txBody>
      </p:sp>
      <p:sp>
        <p:nvSpPr>
          <p:cNvPr id="1040397" name="Line 1037"/>
          <p:cNvSpPr>
            <a:spLocks noChangeShapeType="1"/>
          </p:cNvSpPr>
          <p:nvPr/>
        </p:nvSpPr>
        <p:spPr bwMode="auto">
          <a:xfrm>
            <a:off x="1241425" y="3152775"/>
            <a:ext cx="0" cy="14208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398" name="Line 1038"/>
          <p:cNvSpPr>
            <a:spLocks noChangeShapeType="1"/>
          </p:cNvSpPr>
          <p:nvPr/>
        </p:nvSpPr>
        <p:spPr bwMode="auto">
          <a:xfrm flipH="1">
            <a:off x="1230313" y="3000375"/>
            <a:ext cx="2005012" cy="1573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399" name="Line 1039"/>
          <p:cNvSpPr>
            <a:spLocks noChangeShapeType="1"/>
          </p:cNvSpPr>
          <p:nvPr/>
        </p:nvSpPr>
        <p:spPr bwMode="auto">
          <a:xfrm flipH="1">
            <a:off x="1230313" y="3076575"/>
            <a:ext cx="6424612" cy="1497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00" name="Rectangle 1040"/>
          <p:cNvSpPr>
            <a:spLocks noChangeArrowheads="1"/>
          </p:cNvSpPr>
          <p:nvPr/>
        </p:nvSpPr>
        <p:spPr bwMode="auto">
          <a:xfrm>
            <a:off x="160338" y="5105400"/>
            <a:ext cx="1827212" cy="698500"/>
          </a:xfrm>
          <a:prstGeom prst="rect">
            <a:avLst/>
          </a:prstGeom>
        </p:spPr>
        <p:style>
          <a:lnRef idx="1">
            <a:schemeClr val="accent5"/>
          </a:lnRef>
          <a:fillRef idx="2">
            <a:schemeClr val="accent5"/>
          </a:fillRef>
          <a:effectRef idx="1">
            <a:schemeClr val="accent5"/>
          </a:effectRef>
          <a:fontRef idx="minor">
            <a:schemeClr val="dk1"/>
          </a:fontRef>
        </p:style>
        <p:txBody>
          <a:bodyPr wrap="none" lIns="90488" tIns="44450" rIns="90488" bIns="44450">
            <a:spAutoFit/>
          </a:bodyPr>
          <a:lstStyle/>
          <a:p>
            <a:pPr algn="l"/>
            <a:r>
              <a:rPr lang="en-US" altLang="en-US" sz="2000" b="1" dirty="0">
                <a:solidFill>
                  <a:srgbClr val="FF0000"/>
                </a:solidFill>
                <a:latin typeface="Tahoma" panose="020B0604030504040204" pitchFamily="34" charset="0"/>
              </a:rPr>
              <a:t>Same data </a:t>
            </a:r>
          </a:p>
          <a:p>
            <a:pPr algn="l"/>
            <a:r>
              <a:rPr lang="en-US" altLang="en-US" sz="2000" dirty="0">
                <a:solidFill>
                  <a:schemeClr val="tx1"/>
                </a:solidFill>
                <a:latin typeface="Tahoma" panose="020B0604030504040204" pitchFamily="34" charset="0"/>
              </a:rPr>
              <a:t>different name</a:t>
            </a:r>
            <a:endParaRPr lang="en-US" altLang="en-US" dirty="0">
              <a:solidFill>
                <a:schemeClr val="tx1"/>
              </a:solidFill>
              <a:latin typeface="Tahoma" panose="020B0604030504040204" pitchFamily="34" charset="0"/>
            </a:endParaRPr>
          </a:p>
        </p:txBody>
      </p:sp>
      <p:sp>
        <p:nvSpPr>
          <p:cNvPr id="1040401" name="Line 1041"/>
          <p:cNvSpPr>
            <a:spLocks noChangeShapeType="1"/>
          </p:cNvSpPr>
          <p:nvPr/>
        </p:nvSpPr>
        <p:spPr bwMode="auto">
          <a:xfrm>
            <a:off x="1331913" y="2847975"/>
            <a:ext cx="2411412" cy="18018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02" name="Line 1042"/>
          <p:cNvSpPr>
            <a:spLocks noChangeShapeType="1"/>
          </p:cNvSpPr>
          <p:nvPr/>
        </p:nvSpPr>
        <p:spPr bwMode="auto">
          <a:xfrm>
            <a:off x="3617913" y="2771775"/>
            <a:ext cx="125412" cy="18780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03" name="Line 1043"/>
          <p:cNvSpPr>
            <a:spLocks noChangeShapeType="1"/>
          </p:cNvSpPr>
          <p:nvPr/>
        </p:nvSpPr>
        <p:spPr bwMode="auto">
          <a:xfrm flipH="1">
            <a:off x="3744913" y="2924175"/>
            <a:ext cx="2233612" cy="1725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04" name="Rectangle 1044"/>
          <p:cNvSpPr>
            <a:spLocks noChangeArrowheads="1"/>
          </p:cNvSpPr>
          <p:nvPr/>
        </p:nvSpPr>
        <p:spPr bwMode="auto">
          <a:xfrm>
            <a:off x="2177878" y="5090877"/>
            <a:ext cx="2059860" cy="705321"/>
          </a:xfrm>
          <a:prstGeom prst="rect">
            <a:avLst/>
          </a:prstGeom>
        </p:spPr>
        <p:style>
          <a:lnRef idx="1">
            <a:schemeClr val="accent5"/>
          </a:lnRef>
          <a:fillRef idx="2">
            <a:schemeClr val="accent5"/>
          </a:fillRef>
          <a:effectRef idx="1">
            <a:schemeClr val="accent5"/>
          </a:effectRef>
          <a:fontRef idx="minor">
            <a:schemeClr val="dk1"/>
          </a:fontRef>
        </p:style>
        <p:txBody>
          <a:bodyPr wrap="none" lIns="90488" tIns="44450" rIns="90488" bIns="44450">
            <a:spAutoFit/>
          </a:bodyPr>
          <a:lstStyle/>
          <a:p>
            <a:pPr algn="l"/>
            <a:r>
              <a:rPr lang="en-US" altLang="en-US" sz="2000" b="1" dirty="0">
                <a:solidFill>
                  <a:srgbClr val="FF0000"/>
                </a:solidFill>
                <a:latin typeface="Tahoma" panose="020B0604030504040204" pitchFamily="34" charset="0"/>
              </a:rPr>
              <a:t>Different data </a:t>
            </a:r>
          </a:p>
          <a:p>
            <a:pPr algn="l"/>
            <a:r>
              <a:rPr lang="en-US" altLang="en-US" sz="2000" dirty="0">
                <a:solidFill>
                  <a:schemeClr val="tx1"/>
                </a:solidFill>
                <a:latin typeface="Tahoma" panose="020B0604030504040204" pitchFamily="34" charset="0"/>
              </a:rPr>
              <a:t>Same name</a:t>
            </a:r>
            <a:endParaRPr lang="en-US" altLang="en-US" dirty="0">
              <a:solidFill>
                <a:schemeClr val="tx1"/>
              </a:solidFill>
              <a:latin typeface="Tahoma" panose="020B0604030504040204" pitchFamily="34" charset="0"/>
            </a:endParaRPr>
          </a:p>
        </p:txBody>
      </p:sp>
      <p:sp>
        <p:nvSpPr>
          <p:cNvPr id="1040405" name="Line 1045"/>
          <p:cNvSpPr>
            <a:spLocks noChangeShapeType="1"/>
          </p:cNvSpPr>
          <p:nvPr/>
        </p:nvSpPr>
        <p:spPr bwMode="auto">
          <a:xfrm>
            <a:off x="3541713" y="3152775"/>
            <a:ext cx="2716212" cy="1573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06" name="Line 1046"/>
          <p:cNvSpPr>
            <a:spLocks noChangeShapeType="1"/>
          </p:cNvSpPr>
          <p:nvPr/>
        </p:nvSpPr>
        <p:spPr bwMode="auto">
          <a:xfrm>
            <a:off x="6056313" y="2543175"/>
            <a:ext cx="201612" cy="21828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07" name="Line 1047"/>
          <p:cNvSpPr>
            <a:spLocks noChangeShapeType="1"/>
          </p:cNvSpPr>
          <p:nvPr/>
        </p:nvSpPr>
        <p:spPr bwMode="auto">
          <a:xfrm flipH="1">
            <a:off x="6259513" y="3000375"/>
            <a:ext cx="1852612" cy="1725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08" name="Rectangle 1048"/>
          <p:cNvSpPr>
            <a:spLocks noChangeArrowheads="1"/>
          </p:cNvSpPr>
          <p:nvPr/>
        </p:nvSpPr>
        <p:spPr bwMode="auto">
          <a:xfrm>
            <a:off x="4355976" y="5096953"/>
            <a:ext cx="2340385" cy="705321"/>
          </a:xfrm>
          <a:prstGeom prst="rect">
            <a:avLst/>
          </a:prstGeom>
        </p:spPr>
        <p:style>
          <a:lnRef idx="1">
            <a:schemeClr val="accent5"/>
          </a:lnRef>
          <a:fillRef idx="2">
            <a:schemeClr val="accent5"/>
          </a:fillRef>
          <a:effectRef idx="1">
            <a:schemeClr val="accent5"/>
          </a:effectRef>
          <a:fontRef idx="minor">
            <a:schemeClr val="dk1"/>
          </a:fontRef>
        </p:style>
        <p:txBody>
          <a:bodyPr wrap="none" lIns="90488" tIns="44450" rIns="90488" bIns="44450">
            <a:spAutoFit/>
          </a:bodyPr>
          <a:lstStyle/>
          <a:p>
            <a:pPr algn="l"/>
            <a:r>
              <a:rPr lang="en-US" altLang="en-US" sz="2000" b="1" dirty="0">
                <a:solidFill>
                  <a:srgbClr val="FF0000"/>
                </a:solidFill>
                <a:latin typeface="Tahoma" panose="020B0604030504040204" pitchFamily="34" charset="0"/>
              </a:rPr>
              <a:t>Data found here </a:t>
            </a:r>
          </a:p>
          <a:p>
            <a:pPr algn="l"/>
            <a:r>
              <a:rPr lang="en-US" altLang="en-US" sz="2000" dirty="0">
                <a:solidFill>
                  <a:schemeClr val="tx1"/>
                </a:solidFill>
                <a:latin typeface="Tahoma" panose="020B0604030504040204" pitchFamily="34" charset="0"/>
              </a:rPr>
              <a:t> nowhere else</a:t>
            </a:r>
            <a:endParaRPr lang="en-US" altLang="en-US" dirty="0">
              <a:solidFill>
                <a:schemeClr val="tx1"/>
              </a:solidFill>
              <a:latin typeface="Tahoma" panose="020B0604030504040204" pitchFamily="34" charset="0"/>
            </a:endParaRPr>
          </a:p>
        </p:txBody>
      </p:sp>
      <p:sp>
        <p:nvSpPr>
          <p:cNvPr id="1040409" name="Line 1049"/>
          <p:cNvSpPr>
            <a:spLocks noChangeShapeType="1"/>
          </p:cNvSpPr>
          <p:nvPr/>
        </p:nvSpPr>
        <p:spPr bwMode="auto">
          <a:xfrm>
            <a:off x="1179513" y="3000375"/>
            <a:ext cx="6907212" cy="17256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10" name="Line 1050"/>
          <p:cNvSpPr>
            <a:spLocks noChangeShapeType="1"/>
          </p:cNvSpPr>
          <p:nvPr/>
        </p:nvSpPr>
        <p:spPr bwMode="auto">
          <a:xfrm>
            <a:off x="5599113" y="2695575"/>
            <a:ext cx="2487612" cy="20304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11" name="Line 1051"/>
          <p:cNvSpPr>
            <a:spLocks noChangeShapeType="1"/>
          </p:cNvSpPr>
          <p:nvPr/>
        </p:nvSpPr>
        <p:spPr bwMode="auto">
          <a:xfrm flipH="1">
            <a:off x="8088313" y="2771775"/>
            <a:ext cx="328612" cy="1954213"/>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412" name="Rectangle 1052"/>
          <p:cNvSpPr>
            <a:spLocks noChangeArrowheads="1"/>
          </p:cNvSpPr>
          <p:nvPr/>
        </p:nvSpPr>
        <p:spPr bwMode="auto">
          <a:xfrm>
            <a:off x="6847781" y="5105400"/>
            <a:ext cx="1994137" cy="705321"/>
          </a:xfrm>
          <a:prstGeom prst="rect">
            <a:avLst/>
          </a:prstGeom>
        </p:spPr>
        <p:style>
          <a:lnRef idx="1">
            <a:schemeClr val="accent5"/>
          </a:lnRef>
          <a:fillRef idx="2">
            <a:schemeClr val="accent5"/>
          </a:fillRef>
          <a:effectRef idx="1">
            <a:schemeClr val="accent5"/>
          </a:effectRef>
          <a:fontRef idx="minor">
            <a:schemeClr val="dk1"/>
          </a:fontRef>
        </p:style>
        <p:txBody>
          <a:bodyPr wrap="none" lIns="90488" tIns="44450" rIns="90488" bIns="44450">
            <a:spAutoFit/>
          </a:bodyPr>
          <a:lstStyle/>
          <a:p>
            <a:pPr algn="l"/>
            <a:r>
              <a:rPr lang="en-US" altLang="en-US" sz="2000" b="1" dirty="0">
                <a:solidFill>
                  <a:srgbClr val="FF0000"/>
                </a:solidFill>
                <a:latin typeface="Tahoma" panose="020B0604030504040204" pitchFamily="34" charset="0"/>
              </a:rPr>
              <a:t>Different keys</a:t>
            </a:r>
          </a:p>
          <a:p>
            <a:pPr algn="l"/>
            <a:r>
              <a:rPr lang="en-US" altLang="en-US" sz="2000" dirty="0">
                <a:solidFill>
                  <a:schemeClr val="tx1"/>
                </a:solidFill>
                <a:latin typeface="Tahoma" panose="020B0604030504040204" pitchFamily="34" charset="0"/>
              </a:rPr>
              <a:t>same data</a:t>
            </a:r>
            <a:endParaRPr lang="en-US" altLang="en-US" dirty="0">
              <a:solidFill>
                <a:schemeClr val="tx1"/>
              </a:solidFill>
              <a:latin typeface="Tahoma" panose="020B0604030504040204" pitchFamily="3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436" name="Rectangle 4"/>
          <p:cNvSpPr>
            <a:spLocks noGrp="1" noChangeArrowheads="1"/>
          </p:cNvSpPr>
          <p:nvPr>
            <p:ph type="title"/>
          </p:nvPr>
        </p:nvSpPr>
        <p:spPr>
          <a:xfrm>
            <a:off x="1115616" y="171450"/>
            <a:ext cx="4680520" cy="687610"/>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normAutofit/>
          </a:bodyPr>
          <a:lstStyle/>
          <a:p>
            <a:r>
              <a:rPr lang="en-US" altLang="en-US" sz="2400" b="1" dirty="0">
                <a:solidFill>
                  <a:srgbClr val="FF0000"/>
                </a:solidFill>
                <a:latin typeface="Tahoma" panose="020B0604030504040204" pitchFamily="34" charset="0"/>
                <a:ea typeface="Tahoma" panose="020B0604030504040204" pitchFamily="34" charset="0"/>
                <a:cs typeface="Tahoma" panose="020B0604030504040204" pitchFamily="34" charset="0"/>
              </a:rPr>
              <a:t>Data Integrity Problems</a:t>
            </a:r>
          </a:p>
        </p:txBody>
      </p:sp>
      <p:sp>
        <p:nvSpPr>
          <p:cNvPr id="1042437" name="Rectangle 5"/>
          <p:cNvSpPr>
            <a:spLocks noGrp="1" noChangeArrowheads="1"/>
          </p:cNvSpPr>
          <p:nvPr>
            <p:ph idx="1"/>
          </p:nvPr>
        </p:nvSpPr>
        <p:spPr>
          <a:xfrm>
            <a:off x="501723" y="876128"/>
            <a:ext cx="8609112" cy="5878649"/>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Autofit/>
          </a:bodyPr>
          <a:lstStyle/>
          <a:p>
            <a:pPr algn="just">
              <a:lnSpc>
                <a:spcPct val="150000"/>
              </a:lnSpc>
              <a:buFont typeface="Wingdings" panose="05000000000000000000" pitchFamily="2" charset="2"/>
              <a:buChar char="Ø"/>
            </a:pPr>
            <a:r>
              <a:rPr lang="en-US" altLang="en-US" sz="1800" b="1" dirty="0">
                <a:latin typeface="Tahoma" panose="020B0604030504040204" pitchFamily="34" charset="0"/>
                <a:ea typeface="Tahoma" panose="020B0604030504040204" pitchFamily="34" charset="0"/>
                <a:cs typeface="Tahoma" panose="020B0604030504040204" pitchFamily="34" charset="0"/>
              </a:rPr>
              <a:t>Same person, different spellings</a:t>
            </a:r>
          </a:p>
          <a:p>
            <a:pPr lvl="1" algn="just">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Agarwal, Agrawal, Aggarwal etc...</a:t>
            </a:r>
          </a:p>
          <a:p>
            <a:pPr algn="just">
              <a:lnSpc>
                <a:spcPct val="150000"/>
              </a:lnSpc>
              <a:buFont typeface="Wingdings" panose="05000000000000000000" pitchFamily="2" charset="2"/>
              <a:buChar char="Ø"/>
            </a:pPr>
            <a:r>
              <a:rPr lang="en-US" altLang="en-US" sz="1800" b="1" dirty="0">
                <a:latin typeface="Tahoma" panose="020B0604030504040204" pitchFamily="34" charset="0"/>
                <a:ea typeface="Tahoma" panose="020B0604030504040204" pitchFamily="34" charset="0"/>
                <a:cs typeface="Tahoma" panose="020B0604030504040204" pitchFamily="34" charset="0"/>
              </a:rPr>
              <a:t>Multiple ways to denote company name</a:t>
            </a:r>
          </a:p>
          <a:p>
            <a:pPr lvl="1" algn="just">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Persistent Systems, PSPL, Persistent Pvt. LTD.</a:t>
            </a:r>
          </a:p>
          <a:p>
            <a:pPr algn="just">
              <a:lnSpc>
                <a:spcPct val="150000"/>
              </a:lnSpc>
              <a:buFont typeface="Wingdings" panose="05000000000000000000" pitchFamily="2" charset="2"/>
              <a:buChar char="Ø"/>
            </a:pPr>
            <a:r>
              <a:rPr lang="en-US" altLang="en-US" sz="1800" b="1" dirty="0">
                <a:latin typeface="Tahoma" panose="020B0604030504040204" pitchFamily="34" charset="0"/>
                <a:ea typeface="Tahoma" panose="020B0604030504040204" pitchFamily="34" charset="0"/>
                <a:cs typeface="Tahoma" panose="020B0604030504040204" pitchFamily="34" charset="0"/>
              </a:rPr>
              <a:t>Use of different names</a:t>
            </a:r>
          </a:p>
          <a:p>
            <a:pPr lvl="1" algn="just">
              <a:lnSpc>
                <a:spcPct val="150000"/>
              </a:lnSpc>
            </a:pPr>
            <a:r>
              <a:rPr lang="en-US" altLang="en-US" dirty="0" err="1">
                <a:latin typeface="Tahoma" panose="020B0604030504040204" pitchFamily="34" charset="0"/>
                <a:ea typeface="Tahoma" panose="020B0604030504040204" pitchFamily="34" charset="0"/>
                <a:cs typeface="Tahoma" panose="020B0604030504040204" pitchFamily="34" charset="0"/>
              </a:rPr>
              <a:t>mumbai</a:t>
            </a:r>
            <a:r>
              <a:rPr lang="en-US" altLang="en-US" dirty="0">
                <a:latin typeface="Tahoma" panose="020B0604030504040204" pitchFamily="34" charset="0"/>
                <a:ea typeface="Tahoma" panose="020B0604030504040204" pitchFamily="34" charset="0"/>
                <a:cs typeface="Tahoma" panose="020B0604030504040204" pitchFamily="34" charset="0"/>
              </a:rPr>
              <a:t>, </a:t>
            </a:r>
            <a:r>
              <a:rPr lang="en-US" altLang="en-US" dirty="0" err="1">
                <a:latin typeface="Tahoma" panose="020B0604030504040204" pitchFamily="34" charset="0"/>
                <a:ea typeface="Tahoma" panose="020B0604030504040204" pitchFamily="34" charset="0"/>
                <a:cs typeface="Tahoma" panose="020B0604030504040204" pitchFamily="34" charset="0"/>
              </a:rPr>
              <a:t>bombay</a:t>
            </a:r>
            <a:endParaRPr lang="en-US" altLang="en-US"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buFont typeface="Wingdings" panose="05000000000000000000" pitchFamily="2" charset="2"/>
              <a:buChar char="Ø"/>
            </a:pPr>
            <a:r>
              <a:rPr lang="en-US" altLang="en-US" sz="1800" b="1" dirty="0">
                <a:latin typeface="Tahoma" panose="020B0604030504040204" pitchFamily="34" charset="0"/>
                <a:ea typeface="Tahoma" panose="020B0604030504040204" pitchFamily="34" charset="0"/>
                <a:cs typeface="Tahoma" panose="020B0604030504040204" pitchFamily="34" charset="0"/>
              </a:rPr>
              <a:t>Different account numbers generated by different applications for the same customer</a:t>
            </a:r>
          </a:p>
          <a:p>
            <a:pPr algn="just">
              <a:lnSpc>
                <a:spcPct val="150000"/>
              </a:lnSpc>
              <a:buFont typeface="Wingdings" panose="05000000000000000000" pitchFamily="2" charset="2"/>
              <a:buChar char="Ø"/>
            </a:pPr>
            <a:r>
              <a:rPr lang="en-US" altLang="en-US" sz="1800" b="1" dirty="0">
                <a:latin typeface="Tahoma" panose="020B0604030504040204" pitchFamily="34" charset="0"/>
                <a:ea typeface="Tahoma" panose="020B0604030504040204" pitchFamily="34" charset="0"/>
                <a:cs typeface="Tahoma" panose="020B0604030504040204" pitchFamily="34" charset="0"/>
              </a:rPr>
              <a:t>Required fields left blank</a:t>
            </a:r>
          </a:p>
          <a:p>
            <a:pPr algn="just">
              <a:lnSpc>
                <a:spcPct val="150000"/>
              </a:lnSpc>
              <a:buFont typeface="Wingdings" panose="05000000000000000000" pitchFamily="2" charset="2"/>
              <a:buChar char="Ø"/>
            </a:pPr>
            <a:r>
              <a:rPr lang="en-US" altLang="en-US" sz="1800" b="1" dirty="0">
                <a:latin typeface="Tahoma" panose="020B0604030504040204" pitchFamily="34" charset="0"/>
                <a:ea typeface="Tahoma" panose="020B0604030504040204" pitchFamily="34" charset="0"/>
                <a:cs typeface="Tahoma" panose="020B0604030504040204" pitchFamily="34" charset="0"/>
              </a:rPr>
              <a:t>Invalid product codes collected at point of sale</a:t>
            </a:r>
          </a:p>
          <a:p>
            <a:pPr lvl="1" algn="just">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manual entry leads to mistakes</a:t>
            </a:r>
          </a:p>
          <a:p>
            <a:pPr lvl="1" algn="just">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“in case of a problem use 9999999”</a:t>
            </a:r>
          </a:p>
        </p:txBody>
      </p:sp>
      <p:sp>
        <p:nvSpPr>
          <p:cNvPr id="6" name="Slide Number Placeholder 4"/>
          <p:cNvSpPr>
            <a:spLocks noGrp="1"/>
          </p:cNvSpPr>
          <p:nvPr>
            <p:ph type="sldNum" sz="quarter" idx="12"/>
          </p:nvPr>
        </p:nvSpPr>
        <p:spPr/>
        <p:txBody>
          <a:bodyPr/>
          <a:lstStyle/>
          <a:p>
            <a:fld id="{886BA1EE-B885-492D-BFD7-5F285E253BCE}" type="slidenum">
              <a:rPr lang="en-US" altLang="en-US"/>
              <a:t>7</a:t>
            </a:fld>
            <a:endParaRPr lang="en-US" altLang="en-US"/>
          </a:p>
        </p:txBody>
      </p:sp>
      <p:sp>
        <p:nvSpPr>
          <p:cNvPr id="1042434"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2435"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412" name="Rectangle 1028"/>
          <p:cNvSpPr>
            <a:spLocks noGrp="1" noChangeArrowheads="1"/>
          </p:cNvSpPr>
          <p:nvPr>
            <p:ph type="title"/>
          </p:nvPr>
        </p:nvSpPr>
        <p:spPr>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p>
            <a:r>
              <a:rPr lang="en-US" altLang="en-US" b="1" dirty="0">
                <a:latin typeface="Tahoma" panose="020B0604030504040204" pitchFamily="34" charset="0"/>
                <a:ea typeface="Tahoma" panose="020B0604030504040204" pitchFamily="34" charset="0"/>
                <a:cs typeface="Tahoma" panose="020B0604030504040204" pitchFamily="34" charset="0"/>
              </a:rPr>
              <a:t>Data Transformation Example</a:t>
            </a:r>
          </a:p>
        </p:txBody>
      </p:sp>
      <p:sp>
        <p:nvSpPr>
          <p:cNvPr id="39" name="Slide Number Placeholder 4"/>
          <p:cNvSpPr>
            <a:spLocks noGrp="1"/>
          </p:cNvSpPr>
          <p:nvPr>
            <p:ph type="sldNum" sz="quarter" idx="12"/>
          </p:nvPr>
        </p:nvSpPr>
        <p:spPr/>
        <p:txBody>
          <a:bodyPr/>
          <a:lstStyle/>
          <a:p>
            <a:fld id="{BEF39E4A-532B-4189-8E7A-13F2F2E8919B}" type="slidenum">
              <a:rPr lang="en-US" altLang="en-US"/>
              <a:t>8</a:t>
            </a:fld>
            <a:endParaRPr lang="en-US" altLang="en-US"/>
          </a:p>
        </p:txBody>
      </p:sp>
      <p:sp>
        <p:nvSpPr>
          <p:cNvPr id="1041410" name="Rectangle 1026"/>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11" name="Rectangle 1027"/>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1041414" name="Rectangle 1030"/>
          <p:cNvSpPr>
            <a:spLocks noChangeArrowheads="1"/>
          </p:cNvSpPr>
          <p:nvPr/>
        </p:nvSpPr>
        <p:spPr bwMode="auto">
          <a:xfrm>
            <a:off x="914400" y="2362200"/>
            <a:ext cx="3568700" cy="1206500"/>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1041415" name="Rectangle 1031"/>
          <p:cNvSpPr>
            <a:spLocks noChangeArrowheads="1"/>
          </p:cNvSpPr>
          <p:nvPr/>
        </p:nvSpPr>
        <p:spPr bwMode="auto">
          <a:xfrm>
            <a:off x="920750" y="3740150"/>
            <a:ext cx="3568700" cy="1206500"/>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1041416" name="Rectangle 1032"/>
          <p:cNvSpPr>
            <a:spLocks noChangeArrowheads="1"/>
          </p:cNvSpPr>
          <p:nvPr/>
        </p:nvSpPr>
        <p:spPr bwMode="auto">
          <a:xfrm>
            <a:off x="920750" y="5111750"/>
            <a:ext cx="3568700" cy="1206500"/>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17" name="Rectangle 1033"/>
          <p:cNvSpPr>
            <a:spLocks noChangeArrowheads="1"/>
          </p:cNvSpPr>
          <p:nvPr/>
        </p:nvSpPr>
        <p:spPr bwMode="auto">
          <a:xfrm rot="16260000">
            <a:off x="-212725" y="2751138"/>
            <a:ext cx="139382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a:solidFill>
                  <a:schemeClr val="tx1"/>
                </a:solidFill>
                <a:latin typeface="Tahoma" panose="020B0604030504040204" pitchFamily="34" charset="0"/>
              </a:rPr>
              <a:t>encoding</a:t>
            </a:r>
          </a:p>
        </p:txBody>
      </p:sp>
      <p:sp>
        <p:nvSpPr>
          <p:cNvPr id="1041418" name="Rectangle 1034"/>
          <p:cNvSpPr>
            <a:spLocks noChangeArrowheads="1"/>
          </p:cNvSpPr>
          <p:nvPr/>
        </p:nvSpPr>
        <p:spPr bwMode="auto">
          <a:xfrm rot="16260000">
            <a:off x="112713" y="4152900"/>
            <a:ext cx="6921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dirty="0">
                <a:solidFill>
                  <a:schemeClr val="tx1"/>
                </a:solidFill>
                <a:latin typeface="Tahoma" panose="020B0604030504040204" pitchFamily="34" charset="0"/>
              </a:rPr>
              <a:t>unit</a:t>
            </a:r>
          </a:p>
        </p:txBody>
      </p:sp>
      <p:sp>
        <p:nvSpPr>
          <p:cNvPr id="1041419" name="Rectangle 1035"/>
          <p:cNvSpPr>
            <a:spLocks noChangeArrowheads="1"/>
          </p:cNvSpPr>
          <p:nvPr/>
        </p:nvSpPr>
        <p:spPr bwMode="auto">
          <a:xfrm rot="16260000">
            <a:off x="130175" y="5537200"/>
            <a:ext cx="74612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dirty="0">
                <a:solidFill>
                  <a:schemeClr val="tx1"/>
                </a:solidFill>
                <a:latin typeface="Tahoma" panose="020B0604030504040204" pitchFamily="34" charset="0"/>
              </a:rPr>
              <a:t>field</a:t>
            </a:r>
          </a:p>
        </p:txBody>
      </p:sp>
      <p:sp useBgFill="1">
        <p:nvSpPr>
          <p:cNvPr id="1041420" name="Rectangle 1036"/>
          <p:cNvSpPr>
            <a:spLocks noChangeArrowheads="1"/>
          </p:cNvSpPr>
          <p:nvPr/>
        </p:nvSpPr>
        <p:spPr bwMode="auto">
          <a:xfrm>
            <a:off x="5340350" y="2292350"/>
            <a:ext cx="3568700" cy="1206500"/>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1041421" name="Rectangle 1037"/>
          <p:cNvSpPr>
            <a:spLocks noChangeArrowheads="1"/>
          </p:cNvSpPr>
          <p:nvPr/>
        </p:nvSpPr>
        <p:spPr bwMode="auto">
          <a:xfrm>
            <a:off x="5340350" y="3663950"/>
            <a:ext cx="3568700" cy="1206500"/>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1041422" name="Rectangle 1038"/>
          <p:cNvSpPr>
            <a:spLocks noChangeArrowheads="1"/>
          </p:cNvSpPr>
          <p:nvPr/>
        </p:nvSpPr>
        <p:spPr bwMode="auto">
          <a:xfrm>
            <a:off x="5340350" y="5111750"/>
            <a:ext cx="3568700" cy="1206500"/>
          </a:xfrm>
          <a:prstGeom prst="rect">
            <a:avLst/>
          </a:prstGeom>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23" name="Rectangle 1039"/>
          <p:cNvSpPr>
            <a:spLocks noChangeArrowheads="1"/>
          </p:cNvSpPr>
          <p:nvPr/>
        </p:nvSpPr>
        <p:spPr bwMode="auto">
          <a:xfrm>
            <a:off x="1052513" y="5159375"/>
            <a:ext cx="181451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1800">
                <a:solidFill>
                  <a:schemeClr val="tx1"/>
                </a:solidFill>
                <a:latin typeface="Tahoma" panose="020B0604030504040204" pitchFamily="34" charset="0"/>
              </a:rPr>
              <a:t>appl A - balance</a:t>
            </a:r>
          </a:p>
          <a:p>
            <a:pPr algn="l"/>
            <a:r>
              <a:rPr lang="en-US" altLang="en-US" sz="1800">
                <a:solidFill>
                  <a:schemeClr val="tx1"/>
                </a:solidFill>
                <a:latin typeface="Tahoma" panose="020B0604030504040204" pitchFamily="34" charset="0"/>
              </a:rPr>
              <a:t>appl B - bal</a:t>
            </a:r>
          </a:p>
          <a:p>
            <a:pPr algn="l"/>
            <a:r>
              <a:rPr lang="en-US" altLang="en-US" sz="1800">
                <a:solidFill>
                  <a:schemeClr val="tx1"/>
                </a:solidFill>
                <a:latin typeface="Tahoma" panose="020B0604030504040204" pitchFamily="34" charset="0"/>
              </a:rPr>
              <a:t>appl C - currbal</a:t>
            </a:r>
          </a:p>
          <a:p>
            <a:pPr algn="l"/>
            <a:r>
              <a:rPr lang="en-US" altLang="en-US" sz="1800">
                <a:solidFill>
                  <a:schemeClr val="tx1"/>
                </a:solidFill>
                <a:latin typeface="Tahoma" panose="020B0604030504040204" pitchFamily="34" charset="0"/>
              </a:rPr>
              <a:t>appl D - balcurr</a:t>
            </a:r>
          </a:p>
        </p:txBody>
      </p:sp>
      <p:sp>
        <p:nvSpPr>
          <p:cNvPr id="1041424" name="Rectangle 1040"/>
          <p:cNvSpPr>
            <a:spLocks noChangeArrowheads="1"/>
          </p:cNvSpPr>
          <p:nvPr/>
        </p:nvSpPr>
        <p:spPr bwMode="auto">
          <a:xfrm>
            <a:off x="1052513" y="3787775"/>
            <a:ext cx="243681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1800">
                <a:solidFill>
                  <a:schemeClr val="tx1"/>
                </a:solidFill>
                <a:latin typeface="Tahoma" panose="020B0604030504040204" pitchFamily="34" charset="0"/>
              </a:rPr>
              <a:t>appl A - pipeline - cm</a:t>
            </a:r>
          </a:p>
          <a:p>
            <a:pPr algn="l"/>
            <a:r>
              <a:rPr lang="en-US" altLang="en-US" sz="1800">
                <a:solidFill>
                  <a:schemeClr val="tx1"/>
                </a:solidFill>
                <a:latin typeface="Tahoma" panose="020B0604030504040204" pitchFamily="34" charset="0"/>
              </a:rPr>
              <a:t>appl B - pipeline - in</a:t>
            </a:r>
          </a:p>
          <a:p>
            <a:pPr algn="l"/>
            <a:r>
              <a:rPr lang="en-US" altLang="en-US" sz="1800">
                <a:solidFill>
                  <a:schemeClr val="tx1"/>
                </a:solidFill>
                <a:latin typeface="Tahoma" panose="020B0604030504040204" pitchFamily="34" charset="0"/>
              </a:rPr>
              <a:t>appl C - pipeline - feet</a:t>
            </a:r>
          </a:p>
          <a:p>
            <a:pPr algn="l"/>
            <a:r>
              <a:rPr lang="en-US" altLang="en-US" sz="1800">
                <a:solidFill>
                  <a:schemeClr val="tx1"/>
                </a:solidFill>
                <a:latin typeface="Tahoma" panose="020B0604030504040204" pitchFamily="34" charset="0"/>
              </a:rPr>
              <a:t>appl D - pipeline - yds</a:t>
            </a:r>
          </a:p>
        </p:txBody>
      </p:sp>
      <p:sp>
        <p:nvSpPr>
          <p:cNvPr id="1041425" name="Rectangle 1041"/>
          <p:cNvSpPr>
            <a:spLocks noChangeArrowheads="1"/>
          </p:cNvSpPr>
          <p:nvPr/>
        </p:nvSpPr>
        <p:spPr bwMode="auto">
          <a:xfrm>
            <a:off x="1052513" y="2416175"/>
            <a:ext cx="236696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sz="1800">
                <a:solidFill>
                  <a:schemeClr val="tx1"/>
                </a:solidFill>
                <a:latin typeface="Tahoma" panose="020B0604030504040204" pitchFamily="34" charset="0"/>
              </a:rPr>
              <a:t>appl A - m,f</a:t>
            </a:r>
          </a:p>
          <a:p>
            <a:pPr algn="l"/>
            <a:r>
              <a:rPr lang="en-US" altLang="en-US" sz="1800">
                <a:solidFill>
                  <a:schemeClr val="tx1"/>
                </a:solidFill>
                <a:latin typeface="Tahoma" panose="020B0604030504040204" pitchFamily="34" charset="0"/>
              </a:rPr>
              <a:t>appl B - 1,0</a:t>
            </a:r>
          </a:p>
          <a:p>
            <a:pPr algn="l"/>
            <a:r>
              <a:rPr lang="en-US" altLang="en-US" sz="1800">
                <a:solidFill>
                  <a:schemeClr val="tx1"/>
                </a:solidFill>
                <a:latin typeface="Tahoma" panose="020B0604030504040204" pitchFamily="34" charset="0"/>
              </a:rPr>
              <a:t>appl C - x,y</a:t>
            </a:r>
          </a:p>
          <a:p>
            <a:pPr algn="l"/>
            <a:r>
              <a:rPr lang="en-US" altLang="en-US" sz="1800">
                <a:solidFill>
                  <a:schemeClr val="tx1"/>
                </a:solidFill>
                <a:latin typeface="Tahoma" panose="020B0604030504040204" pitchFamily="34" charset="0"/>
              </a:rPr>
              <a:t>appl D - male, female</a:t>
            </a:r>
          </a:p>
        </p:txBody>
      </p:sp>
      <p:sp>
        <p:nvSpPr>
          <p:cNvPr id="1041426" name="Rectangle 1042"/>
          <p:cNvSpPr>
            <a:spLocks noChangeArrowheads="1"/>
          </p:cNvSpPr>
          <p:nvPr/>
        </p:nvSpPr>
        <p:spPr bwMode="auto">
          <a:xfrm>
            <a:off x="6157913" y="1738313"/>
            <a:ext cx="2201862"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en-US">
                <a:solidFill>
                  <a:schemeClr val="tx1"/>
                </a:solidFill>
              </a:rPr>
              <a:t>Data Warehouse</a:t>
            </a:r>
          </a:p>
        </p:txBody>
      </p:sp>
      <p:sp>
        <p:nvSpPr>
          <p:cNvPr id="1041427" name="Rectangle 1043"/>
          <p:cNvSpPr>
            <a:spLocks noChangeArrowheads="1"/>
          </p:cNvSpPr>
          <p:nvPr/>
        </p:nvSpPr>
        <p:spPr bwMode="auto">
          <a:xfrm>
            <a:off x="4806950" y="2673350"/>
            <a:ext cx="215900" cy="215900"/>
          </a:xfrm>
          <a:prstGeom prst="rect">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28" name="Rectangle 1044"/>
          <p:cNvSpPr>
            <a:spLocks noChangeArrowheads="1"/>
          </p:cNvSpPr>
          <p:nvPr/>
        </p:nvSpPr>
        <p:spPr bwMode="auto">
          <a:xfrm>
            <a:off x="4806950" y="2978150"/>
            <a:ext cx="215900" cy="215900"/>
          </a:xfrm>
          <a:prstGeom prst="rect">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29" name="Rectangle 1045"/>
          <p:cNvSpPr>
            <a:spLocks noChangeArrowheads="1"/>
          </p:cNvSpPr>
          <p:nvPr/>
        </p:nvSpPr>
        <p:spPr bwMode="auto">
          <a:xfrm>
            <a:off x="4806950" y="3282950"/>
            <a:ext cx="215900" cy="215900"/>
          </a:xfrm>
          <a:prstGeom prst="rect">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30" name="Rectangle 1046"/>
          <p:cNvSpPr>
            <a:spLocks noChangeArrowheads="1"/>
          </p:cNvSpPr>
          <p:nvPr/>
        </p:nvSpPr>
        <p:spPr bwMode="auto">
          <a:xfrm>
            <a:off x="4806950" y="3816350"/>
            <a:ext cx="215900" cy="215900"/>
          </a:xfrm>
          <a:prstGeom prst="rect">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31" name="Rectangle 1047"/>
          <p:cNvSpPr>
            <a:spLocks noChangeArrowheads="1"/>
          </p:cNvSpPr>
          <p:nvPr/>
        </p:nvSpPr>
        <p:spPr bwMode="auto">
          <a:xfrm>
            <a:off x="4806950" y="4349750"/>
            <a:ext cx="215900" cy="215900"/>
          </a:xfrm>
          <a:prstGeom prst="rect">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32" name="Rectangle 1048"/>
          <p:cNvSpPr>
            <a:spLocks noChangeArrowheads="1"/>
          </p:cNvSpPr>
          <p:nvPr/>
        </p:nvSpPr>
        <p:spPr bwMode="auto">
          <a:xfrm>
            <a:off x="4806950" y="4730750"/>
            <a:ext cx="215900" cy="215900"/>
          </a:xfrm>
          <a:prstGeom prst="rect">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33" name="Rectangle 1049"/>
          <p:cNvSpPr>
            <a:spLocks noChangeArrowheads="1"/>
          </p:cNvSpPr>
          <p:nvPr/>
        </p:nvSpPr>
        <p:spPr bwMode="auto">
          <a:xfrm>
            <a:off x="4806950" y="5492750"/>
            <a:ext cx="215900" cy="215900"/>
          </a:xfrm>
          <a:prstGeom prst="rect">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34" name="Rectangle 1050"/>
          <p:cNvSpPr>
            <a:spLocks noChangeArrowheads="1"/>
          </p:cNvSpPr>
          <p:nvPr/>
        </p:nvSpPr>
        <p:spPr bwMode="auto">
          <a:xfrm>
            <a:off x="4806950" y="5797550"/>
            <a:ext cx="215900" cy="215900"/>
          </a:xfrm>
          <a:prstGeom prst="rect">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35" name="Rectangle 1051"/>
          <p:cNvSpPr>
            <a:spLocks noChangeArrowheads="1"/>
          </p:cNvSpPr>
          <p:nvPr/>
        </p:nvSpPr>
        <p:spPr bwMode="auto">
          <a:xfrm>
            <a:off x="4806950" y="6102350"/>
            <a:ext cx="215900" cy="215900"/>
          </a:xfrm>
          <a:prstGeom prst="rect">
            <a:avLst/>
          </a:prstGeom>
          <a:solidFill>
            <a:schemeClr val="hlink"/>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36" name="Line 1052"/>
          <p:cNvSpPr>
            <a:spLocks noChangeShapeType="1"/>
          </p:cNvSpPr>
          <p:nvPr/>
        </p:nvSpPr>
        <p:spPr bwMode="auto">
          <a:xfrm>
            <a:off x="3214688" y="3429000"/>
            <a:ext cx="149701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37" name="Line 1053"/>
          <p:cNvSpPr>
            <a:spLocks noChangeShapeType="1"/>
          </p:cNvSpPr>
          <p:nvPr/>
        </p:nvSpPr>
        <p:spPr bwMode="auto">
          <a:xfrm>
            <a:off x="3214688" y="2590800"/>
            <a:ext cx="279241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40" name="Line 1056"/>
          <p:cNvSpPr>
            <a:spLocks noChangeShapeType="1"/>
          </p:cNvSpPr>
          <p:nvPr/>
        </p:nvSpPr>
        <p:spPr bwMode="auto">
          <a:xfrm>
            <a:off x="3214688" y="3962400"/>
            <a:ext cx="149701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41" name="Line 1057"/>
          <p:cNvSpPr>
            <a:spLocks noChangeShapeType="1"/>
          </p:cNvSpPr>
          <p:nvPr/>
        </p:nvSpPr>
        <p:spPr bwMode="auto">
          <a:xfrm>
            <a:off x="3214688" y="4495800"/>
            <a:ext cx="149701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42" name="Line 1058"/>
          <p:cNvSpPr>
            <a:spLocks noChangeShapeType="1"/>
          </p:cNvSpPr>
          <p:nvPr/>
        </p:nvSpPr>
        <p:spPr bwMode="auto">
          <a:xfrm>
            <a:off x="3214688" y="4800600"/>
            <a:ext cx="149701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43" name="Line 1059"/>
          <p:cNvSpPr>
            <a:spLocks noChangeShapeType="1"/>
          </p:cNvSpPr>
          <p:nvPr/>
        </p:nvSpPr>
        <p:spPr bwMode="auto">
          <a:xfrm>
            <a:off x="3214688" y="5867400"/>
            <a:ext cx="149701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44" name="Line 1060"/>
          <p:cNvSpPr>
            <a:spLocks noChangeShapeType="1"/>
          </p:cNvSpPr>
          <p:nvPr/>
        </p:nvSpPr>
        <p:spPr bwMode="auto">
          <a:xfrm>
            <a:off x="3214688" y="5638800"/>
            <a:ext cx="149701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45" name="Line 1061"/>
          <p:cNvSpPr>
            <a:spLocks noChangeShapeType="1"/>
          </p:cNvSpPr>
          <p:nvPr/>
        </p:nvSpPr>
        <p:spPr bwMode="auto">
          <a:xfrm>
            <a:off x="3214688" y="6172200"/>
            <a:ext cx="149701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46" name="Line 1062"/>
          <p:cNvSpPr>
            <a:spLocks noChangeShapeType="1"/>
          </p:cNvSpPr>
          <p:nvPr/>
        </p:nvSpPr>
        <p:spPr bwMode="auto">
          <a:xfrm>
            <a:off x="3214688" y="4267200"/>
            <a:ext cx="279241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47" name="Line 1063"/>
          <p:cNvSpPr>
            <a:spLocks noChangeShapeType="1"/>
          </p:cNvSpPr>
          <p:nvPr/>
        </p:nvSpPr>
        <p:spPr bwMode="auto">
          <a:xfrm>
            <a:off x="3290888" y="5334000"/>
            <a:ext cx="2792412"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48" name="Line 1064"/>
          <p:cNvSpPr>
            <a:spLocks noChangeShapeType="1"/>
          </p:cNvSpPr>
          <p:nvPr/>
        </p:nvSpPr>
        <p:spPr bwMode="auto">
          <a:xfrm>
            <a:off x="3200400" y="2819400"/>
            <a:ext cx="1447800"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449" name="Line 1065"/>
          <p:cNvSpPr>
            <a:spLocks noChangeShapeType="1"/>
          </p:cNvSpPr>
          <p:nvPr/>
        </p:nvSpPr>
        <p:spPr bwMode="auto">
          <a:xfrm>
            <a:off x="3200400" y="3124200"/>
            <a:ext cx="1447800"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3460" name="Rectangle 4"/>
          <p:cNvSpPr>
            <a:spLocks noGrp="1" noChangeArrowheads="1"/>
          </p:cNvSpPr>
          <p:nvPr>
            <p:ph type="title"/>
          </p:nvPr>
        </p:nvSpPr>
        <p:spPr>
          <a:xfrm>
            <a:off x="1247031" y="306710"/>
            <a:ext cx="6535638" cy="1171398"/>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p>
            <a:r>
              <a:rPr lang="en-US" altLang="en-US" b="1" dirty="0">
                <a:latin typeface="Tahoma" panose="020B0604030504040204" pitchFamily="34" charset="0"/>
                <a:ea typeface="Tahoma" panose="020B0604030504040204" pitchFamily="34" charset="0"/>
                <a:cs typeface="Tahoma" panose="020B0604030504040204" pitchFamily="34" charset="0"/>
              </a:rPr>
              <a:t>Data Transformation Terms</a:t>
            </a:r>
          </a:p>
        </p:txBody>
      </p:sp>
      <p:sp>
        <p:nvSpPr>
          <p:cNvPr id="1043461" name="Rectangle 5"/>
          <p:cNvSpPr>
            <a:spLocks noGrp="1" noChangeArrowheads="1"/>
          </p:cNvSpPr>
          <p:nvPr>
            <p:ph sz="half" idx="1"/>
          </p:nvPr>
        </p:nvSpPr>
        <p:spPr>
          <a:xfrm>
            <a:off x="827584" y="1793198"/>
            <a:ext cx="1927126" cy="2640090"/>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fontScale="85000" lnSpcReduction="10000"/>
          </a:bodyPr>
          <a:lstStyle/>
          <a:p>
            <a:pPr algn="just">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Extracting</a:t>
            </a:r>
          </a:p>
          <a:p>
            <a:pPr algn="just">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Conditioning</a:t>
            </a:r>
          </a:p>
          <a:p>
            <a:pPr algn="just">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Scrubbing</a:t>
            </a:r>
          </a:p>
          <a:p>
            <a:pPr algn="just">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Merging</a:t>
            </a:r>
          </a:p>
          <a:p>
            <a:pPr algn="just">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Householding</a:t>
            </a:r>
          </a:p>
        </p:txBody>
      </p:sp>
      <p:sp>
        <p:nvSpPr>
          <p:cNvPr id="1043462" name="Rectangle 6"/>
          <p:cNvSpPr>
            <a:spLocks noGrp="1" noChangeArrowheads="1"/>
          </p:cNvSpPr>
          <p:nvPr>
            <p:ph sz="half" idx="2"/>
          </p:nvPr>
        </p:nvSpPr>
        <p:spPr>
          <a:xfrm>
            <a:off x="4629150" y="1825625"/>
            <a:ext cx="2175098" cy="2467471"/>
          </a:xfrm>
        </p:spPr>
        <p:txBody>
          <a:bodyPr>
            <a:normAutofit fontScale="85000" lnSpcReduction="10000"/>
          </a:bodyPr>
          <a:lstStyle/>
          <a:p>
            <a:pPr algn="just">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Enrichment</a:t>
            </a:r>
          </a:p>
          <a:p>
            <a:pPr algn="just">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Scoring</a:t>
            </a:r>
          </a:p>
          <a:p>
            <a:pPr algn="just">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Loading</a:t>
            </a:r>
          </a:p>
          <a:p>
            <a:pPr algn="just">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Validating</a:t>
            </a:r>
          </a:p>
        </p:txBody>
      </p:sp>
      <p:sp>
        <p:nvSpPr>
          <p:cNvPr id="7" name="Slide Number Placeholder 5"/>
          <p:cNvSpPr>
            <a:spLocks noGrp="1"/>
          </p:cNvSpPr>
          <p:nvPr>
            <p:ph type="sldNum" sz="quarter" idx="12"/>
          </p:nvPr>
        </p:nvSpPr>
        <p:spPr/>
        <p:txBody>
          <a:bodyPr/>
          <a:lstStyle/>
          <a:p>
            <a:fld id="{ECB89741-B116-4ABF-BD98-42ABA2097D3A}" type="slidenum">
              <a:rPr lang="en-US" altLang="en-US"/>
              <a:t>9</a:t>
            </a:fld>
            <a:endParaRPr lang="en-US" altLang="en-US"/>
          </a:p>
        </p:txBody>
      </p:sp>
      <p:sp>
        <p:nvSpPr>
          <p:cNvPr id="1043458"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3459"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TextBox 8"/>
          <p:cNvSpPr txBox="1"/>
          <p:nvPr/>
        </p:nvSpPr>
        <p:spPr>
          <a:xfrm>
            <a:off x="413221" y="4748379"/>
            <a:ext cx="8203257" cy="1709571"/>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b="1" i="0" dirty="0">
                <a:solidFill>
                  <a:srgbClr val="FF0000"/>
                </a:solidFill>
                <a:effectLst/>
                <a:latin typeface="Arial" panose="020B0604020202020204" pitchFamily="34" charset="0"/>
              </a:rPr>
              <a:t>Data scrubbing</a:t>
            </a:r>
            <a:r>
              <a:rPr lang="en-US" b="0" i="0" dirty="0">
                <a:solidFill>
                  <a:srgbClr val="FF0000"/>
                </a:solidFill>
                <a:effectLst/>
                <a:latin typeface="Arial" panose="020B0604020202020204" pitchFamily="34" charset="0"/>
              </a:rPr>
              <a:t> </a:t>
            </a:r>
            <a:r>
              <a:rPr lang="en-US" b="0" i="0" dirty="0">
                <a:solidFill>
                  <a:srgbClr val="202122"/>
                </a:solidFill>
                <a:effectLst/>
                <a:latin typeface="Arial" panose="020B0604020202020204" pitchFamily="34" charset="0"/>
              </a:rPr>
              <a:t>is an </a:t>
            </a:r>
            <a:r>
              <a:rPr lang="en-US" b="1" dirty="0">
                <a:solidFill>
                  <a:srgbClr val="0645AD"/>
                </a:solidFill>
                <a:latin typeface="Arial" panose="020B0604020202020204" pitchFamily="34" charset="0"/>
              </a:rPr>
              <a:t>error correction</a:t>
            </a:r>
            <a:r>
              <a:rPr lang="en-US" b="1" i="0" dirty="0">
                <a:solidFill>
                  <a:srgbClr val="202122"/>
                </a:solidFill>
                <a:effectLst/>
                <a:latin typeface="Arial" panose="020B0604020202020204" pitchFamily="34" charset="0"/>
              </a:rPr>
              <a:t> </a:t>
            </a:r>
            <a:r>
              <a:rPr lang="en-US" b="0" i="0" dirty="0">
                <a:solidFill>
                  <a:srgbClr val="202122"/>
                </a:solidFill>
                <a:effectLst/>
                <a:latin typeface="Arial" panose="020B0604020202020204" pitchFamily="34" charset="0"/>
              </a:rPr>
              <a:t>technique that uses a background task to periodically inspect </a:t>
            </a:r>
            <a:r>
              <a:rPr lang="en-US" b="1" dirty="0">
                <a:solidFill>
                  <a:srgbClr val="0645AD"/>
                </a:solidFill>
                <a:latin typeface="Arial" panose="020B0604020202020204" pitchFamily="34" charset="0"/>
              </a:rPr>
              <a:t>main memory</a:t>
            </a:r>
            <a:r>
              <a:rPr lang="en-US" b="1" i="0" dirty="0">
                <a:solidFill>
                  <a:srgbClr val="202122"/>
                </a:solidFill>
                <a:effectLst/>
                <a:latin typeface="Arial" panose="020B0604020202020204" pitchFamily="34" charset="0"/>
              </a:rPr>
              <a:t> </a:t>
            </a:r>
            <a:r>
              <a:rPr lang="en-US" b="0" i="0" dirty="0">
                <a:solidFill>
                  <a:srgbClr val="202122"/>
                </a:solidFill>
                <a:effectLst/>
                <a:latin typeface="Arial" panose="020B0604020202020204" pitchFamily="34" charset="0"/>
              </a:rPr>
              <a:t>or </a:t>
            </a:r>
            <a:r>
              <a:rPr lang="en-US" b="1" dirty="0">
                <a:solidFill>
                  <a:srgbClr val="0645AD"/>
                </a:solidFill>
                <a:latin typeface="Arial" panose="020B0604020202020204" pitchFamily="34" charset="0"/>
              </a:rPr>
              <a:t>storage</a:t>
            </a:r>
            <a:r>
              <a:rPr lang="en-US" b="0" i="0" dirty="0">
                <a:solidFill>
                  <a:srgbClr val="202122"/>
                </a:solidFill>
                <a:effectLst/>
                <a:latin typeface="Arial" panose="020B0604020202020204" pitchFamily="34" charset="0"/>
              </a:rPr>
              <a:t> for errors, then corrects detected errors using </a:t>
            </a:r>
            <a:r>
              <a:rPr lang="en-US" b="1" dirty="0">
                <a:solidFill>
                  <a:srgbClr val="0645AD"/>
                </a:solidFill>
                <a:latin typeface="Arial" panose="020B0604020202020204" pitchFamily="34" charset="0"/>
              </a:rPr>
              <a:t>redundant data</a:t>
            </a:r>
            <a:r>
              <a:rPr lang="en-US" b="1" i="0" dirty="0">
                <a:solidFill>
                  <a:srgbClr val="202122"/>
                </a:solidFill>
                <a:effectLst/>
                <a:latin typeface="Arial" panose="020B0604020202020204" pitchFamily="34" charset="0"/>
              </a:rPr>
              <a:t> </a:t>
            </a:r>
            <a:r>
              <a:rPr lang="en-US" b="0" i="0" dirty="0">
                <a:solidFill>
                  <a:srgbClr val="202122"/>
                </a:solidFill>
                <a:effectLst/>
                <a:latin typeface="Arial" panose="020B0604020202020204" pitchFamily="34" charset="0"/>
              </a:rPr>
              <a:t>in the form of different </a:t>
            </a:r>
            <a:r>
              <a:rPr lang="en-US" b="1" dirty="0">
                <a:solidFill>
                  <a:srgbClr val="0645AD"/>
                </a:solidFill>
                <a:latin typeface="Arial" panose="020B0604020202020204" pitchFamily="34" charset="0"/>
              </a:rPr>
              <a:t>checksums</a:t>
            </a:r>
            <a:r>
              <a:rPr lang="en-US" b="1" i="0" dirty="0">
                <a:solidFill>
                  <a:srgbClr val="202122"/>
                </a:solidFill>
                <a:effectLst/>
                <a:latin typeface="Arial" panose="020B0604020202020204" pitchFamily="34" charset="0"/>
              </a:rPr>
              <a:t> </a:t>
            </a:r>
            <a:r>
              <a:rPr lang="en-US" b="0" i="0" dirty="0">
                <a:solidFill>
                  <a:srgbClr val="202122"/>
                </a:solidFill>
                <a:effectLst/>
                <a:latin typeface="Arial" panose="020B0604020202020204" pitchFamily="34" charset="0"/>
              </a:rPr>
              <a:t>or copies of data.</a:t>
            </a:r>
            <a:endParaRPr 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84" name="Rectangle 1028"/>
          <p:cNvSpPr>
            <a:spLocks noGrp="1" noChangeArrowheads="1"/>
          </p:cNvSpPr>
          <p:nvPr>
            <p:ph type="title"/>
          </p:nvPr>
        </p:nvSpPr>
        <p:spPr>
          <a:xfrm>
            <a:off x="628650" y="365127"/>
            <a:ext cx="7886700" cy="831626"/>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p>
            <a:r>
              <a:rPr lang="en-US" altLang="en-US" b="1" dirty="0">
                <a:latin typeface="Tahoma" panose="020B0604030504040204" pitchFamily="34" charset="0"/>
                <a:ea typeface="Tahoma" panose="020B0604030504040204" pitchFamily="34" charset="0"/>
                <a:cs typeface="Tahoma" panose="020B0604030504040204" pitchFamily="34" charset="0"/>
              </a:rPr>
              <a:t>Data Transformation Terms</a:t>
            </a:r>
          </a:p>
        </p:txBody>
      </p:sp>
      <p:sp>
        <p:nvSpPr>
          <p:cNvPr id="1044485" name="Rectangle 1029"/>
          <p:cNvSpPr>
            <a:spLocks noGrp="1" noChangeArrowheads="1"/>
          </p:cNvSpPr>
          <p:nvPr>
            <p:ph idx="1"/>
          </p:nvPr>
        </p:nvSpPr>
        <p:spPr>
          <a:xfrm>
            <a:off x="459252" y="1204429"/>
            <a:ext cx="8001000" cy="4920952"/>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a:bodyPr>
          <a:lstStyle/>
          <a:p>
            <a:pPr algn="just">
              <a:lnSpc>
                <a:spcPct val="150000"/>
              </a:lnSpc>
            </a:pPr>
            <a:r>
              <a:rPr lang="en-US" altLang="en-US" sz="2800" b="1" dirty="0">
                <a:solidFill>
                  <a:srgbClr val="FF0000"/>
                </a:solidFill>
              </a:rPr>
              <a:t>Extracting</a:t>
            </a:r>
          </a:p>
          <a:p>
            <a:pPr lvl="1" algn="just">
              <a:lnSpc>
                <a:spcPct val="150000"/>
              </a:lnSpc>
              <a:buFont typeface="Wingdings" panose="05000000000000000000" pitchFamily="2" charset="2"/>
              <a:buChar char="ü"/>
            </a:pPr>
            <a:r>
              <a:rPr lang="en-US" altLang="en-US" sz="2400" dirty="0"/>
              <a:t>Capture of data from operational source in “as is” status</a:t>
            </a:r>
          </a:p>
          <a:p>
            <a:pPr algn="just">
              <a:lnSpc>
                <a:spcPct val="150000"/>
              </a:lnSpc>
            </a:pPr>
            <a:r>
              <a:rPr lang="en-US" altLang="en-US" sz="2800" b="1" dirty="0">
                <a:solidFill>
                  <a:srgbClr val="FF0000"/>
                </a:solidFill>
              </a:rPr>
              <a:t>Conditioning</a:t>
            </a:r>
          </a:p>
          <a:p>
            <a:pPr lvl="1" algn="just">
              <a:lnSpc>
                <a:spcPct val="150000"/>
              </a:lnSpc>
              <a:buFont typeface="Wingdings" panose="05000000000000000000" pitchFamily="2" charset="2"/>
              <a:buChar char="Ø"/>
            </a:pPr>
            <a:r>
              <a:rPr lang="en-US" altLang="en-US" sz="2400" dirty="0"/>
              <a:t>The </a:t>
            </a:r>
            <a:r>
              <a:rPr lang="en-US" altLang="en-US" sz="2400" b="1" dirty="0"/>
              <a:t>conversion of data types </a:t>
            </a:r>
            <a:r>
              <a:rPr lang="en-US" altLang="en-US" sz="2400" dirty="0"/>
              <a:t>from </a:t>
            </a:r>
            <a:r>
              <a:rPr lang="en-US" altLang="en-US" sz="2400" b="1" dirty="0"/>
              <a:t>the source to the target data store (warehouse)</a:t>
            </a:r>
            <a:r>
              <a:rPr lang="en-US" altLang="en-US" sz="2400" dirty="0"/>
              <a:t> -- always a relational database</a:t>
            </a:r>
            <a:endParaRPr lang="en-US" altLang="en-US" dirty="0"/>
          </a:p>
        </p:txBody>
      </p:sp>
      <p:sp>
        <p:nvSpPr>
          <p:cNvPr id="6" name="Slide Number Placeholder 4"/>
          <p:cNvSpPr>
            <a:spLocks noGrp="1"/>
          </p:cNvSpPr>
          <p:nvPr>
            <p:ph type="sldNum" sz="quarter" idx="12"/>
          </p:nvPr>
        </p:nvSpPr>
        <p:spPr/>
        <p:txBody>
          <a:bodyPr/>
          <a:lstStyle/>
          <a:p>
            <a:fld id="{C67CB185-ABD1-4461-892D-C4F8CD2E194F}" type="slidenum">
              <a:rPr lang="en-US" altLang="en-US"/>
              <a:t>10</a:t>
            </a:fld>
            <a:endParaRPr lang="en-US" altLang="en-US"/>
          </a:p>
        </p:txBody>
      </p:sp>
      <p:sp>
        <p:nvSpPr>
          <p:cNvPr id="1044482" name="Rectangle 1026"/>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4483" name="Rectangle 1027"/>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508" name="Rectangle 4"/>
          <p:cNvSpPr>
            <a:spLocks noGrp="1" noChangeArrowheads="1"/>
          </p:cNvSpPr>
          <p:nvPr>
            <p:ph type="title"/>
          </p:nvPr>
        </p:nvSpPr>
        <p:spPr>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p>
            <a:r>
              <a:rPr lang="en-US" altLang="en-US" b="1" dirty="0">
                <a:latin typeface="Tahoma" panose="020B0604030504040204" pitchFamily="34" charset="0"/>
                <a:ea typeface="Tahoma" panose="020B0604030504040204" pitchFamily="34" charset="0"/>
                <a:cs typeface="Tahoma" panose="020B0604030504040204" pitchFamily="34" charset="0"/>
              </a:rPr>
              <a:t>Data Transformation Terms </a:t>
            </a:r>
            <a:r>
              <a:rPr lang="en-US" altLang="en-US" b="1" dirty="0" err="1">
                <a:latin typeface="Tahoma" panose="020B0604030504040204" pitchFamily="34" charset="0"/>
                <a:ea typeface="Tahoma" panose="020B0604030504040204" pitchFamily="34" charset="0"/>
                <a:cs typeface="Tahoma" panose="020B0604030504040204" pitchFamily="34" charset="0"/>
              </a:rPr>
              <a:t>cont</a:t>
            </a:r>
            <a:r>
              <a:rPr lang="en-US" altLang="en-US" b="1" dirty="0">
                <a:latin typeface="Tahoma" panose="020B0604030504040204" pitchFamily="34" charset="0"/>
                <a:ea typeface="Tahoma" panose="020B0604030504040204" pitchFamily="34" charset="0"/>
                <a:cs typeface="Tahoma" panose="020B0604030504040204" pitchFamily="34" charset="0"/>
              </a:rPr>
              <a:t>’</a:t>
            </a:r>
          </a:p>
        </p:txBody>
      </p:sp>
      <p:sp>
        <p:nvSpPr>
          <p:cNvPr id="1045509" name="Rectangle 5"/>
          <p:cNvSpPr>
            <a:spLocks noGrp="1" noChangeArrowheads="1"/>
          </p:cNvSpPr>
          <p:nvPr>
            <p:ph idx="1"/>
          </p:nvPr>
        </p:nvSpPr>
        <p:spPr>
          <a:xfrm>
            <a:off x="628650" y="1629420"/>
            <a:ext cx="7886700" cy="3043535"/>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a:bodyPr>
          <a:lstStyle/>
          <a:p>
            <a:pPr algn="just">
              <a:lnSpc>
                <a:spcPct val="150000"/>
              </a:lnSpc>
            </a:pPr>
            <a:r>
              <a:rPr lang="en-US" altLang="en-US" sz="2400" b="1" dirty="0">
                <a:solidFill>
                  <a:srgbClr val="FF0000"/>
                </a:solidFill>
              </a:rPr>
              <a:t>Householding:</a:t>
            </a:r>
          </a:p>
          <a:p>
            <a:pPr lvl="1" algn="just">
              <a:lnSpc>
                <a:spcPct val="150000"/>
              </a:lnSpc>
            </a:pPr>
            <a:r>
              <a:rPr lang="en-US" altLang="en-US" sz="2400" dirty="0"/>
              <a:t>Identifying all members of a household (living at the same address)</a:t>
            </a:r>
          </a:p>
          <a:p>
            <a:pPr lvl="1" algn="just">
              <a:lnSpc>
                <a:spcPct val="150000"/>
              </a:lnSpc>
            </a:pPr>
            <a:r>
              <a:rPr lang="en-US" altLang="en-US" sz="2400" dirty="0"/>
              <a:t>Ensures only one mail is  sent to a household</a:t>
            </a:r>
          </a:p>
          <a:p>
            <a:pPr lvl="1" algn="just">
              <a:lnSpc>
                <a:spcPct val="150000"/>
              </a:lnSpc>
            </a:pPr>
            <a:r>
              <a:rPr lang="en-US" altLang="en-US" sz="2400" dirty="0"/>
              <a:t>Can result in substantial savings:</a:t>
            </a:r>
          </a:p>
        </p:txBody>
      </p:sp>
      <p:sp>
        <p:nvSpPr>
          <p:cNvPr id="6" name="Slide Number Placeholder 4"/>
          <p:cNvSpPr>
            <a:spLocks noGrp="1"/>
          </p:cNvSpPr>
          <p:nvPr>
            <p:ph type="sldNum" sz="quarter" idx="12"/>
          </p:nvPr>
        </p:nvSpPr>
        <p:spPr/>
        <p:txBody>
          <a:bodyPr/>
          <a:lstStyle/>
          <a:p>
            <a:fld id="{9DDE86EF-5AE9-49E1-A450-59AF7B0A2709}" type="slidenum">
              <a:rPr lang="en-US" altLang="en-US"/>
              <a:t>11</a:t>
            </a:fld>
            <a:endParaRPr lang="en-US" altLang="en-US"/>
          </a:p>
        </p:txBody>
      </p:sp>
      <p:sp>
        <p:nvSpPr>
          <p:cNvPr id="1045506"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5507"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TextBox 7"/>
          <p:cNvSpPr txBox="1"/>
          <p:nvPr/>
        </p:nvSpPr>
        <p:spPr>
          <a:xfrm>
            <a:off x="827584" y="4898836"/>
            <a:ext cx="7992888" cy="142962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1" i="0" dirty="0">
                <a:solidFill>
                  <a:srgbClr val="FF0000"/>
                </a:solidFill>
                <a:effectLst/>
              </a:rPr>
              <a:t>Data validation </a:t>
            </a:r>
            <a:r>
              <a:rPr lang="en-US" sz="2000" b="0" i="0" dirty="0">
                <a:solidFill>
                  <a:srgbClr val="202124"/>
                </a:solidFill>
                <a:effectLst/>
              </a:rPr>
              <a:t>means </a:t>
            </a:r>
            <a:r>
              <a:rPr lang="en-US" sz="2000" b="1" i="0" dirty="0">
                <a:solidFill>
                  <a:srgbClr val="202124"/>
                </a:solidFill>
                <a:effectLst/>
              </a:rPr>
              <a:t>checking the accuracy and quality of source data before using, importing or otherwise processing data</a:t>
            </a:r>
            <a:r>
              <a:rPr lang="en-US" sz="2000" b="0" i="0" dirty="0">
                <a:solidFill>
                  <a:srgbClr val="202124"/>
                </a:solidFill>
                <a:effectLst/>
              </a:rPr>
              <a:t>. </a:t>
            </a:r>
          </a:p>
          <a:p>
            <a:pPr marL="285750" indent="-285750" algn="just">
              <a:lnSpc>
                <a:spcPct val="150000"/>
              </a:lnSpc>
              <a:buFont typeface="Arial" panose="020B0604020202020204" pitchFamily="34" charset="0"/>
              <a:buChar char="•"/>
            </a:pPr>
            <a:r>
              <a:rPr lang="en-US" sz="2000" b="0" i="0" dirty="0">
                <a:solidFill>
                  <a:srgbClr val="202124"/>
                </a:solidFill>
                <a:effectLst/>
              </a:rPr>
              <a:t>Data validation is a form of data cleansing.</a:t>
            </a:r>
            <a:endParaRPr lang="en-US" sz="200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6532" name="Rectangle 4"/>
          <p:cNvSpPr>
            <a:spLocks noGrp="1" noChangeArrowheads="1"/>
          </p:cNvSpPr>
          <p:nvPr>
            <p:ph type="title"/>
          </p:nvPr>
        </p:nvSpPr>
        <p:spPr>
          <a:xfrm>
            <a:off x="602754" y="260648"/>
            <a:ext cx="7886700" cy="687610"/>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p>
            <a:r>
              <a:rPr lang="en-US" altLang="en-US" b="1" dirty="0">
                <a:latin typeface="Tahoma" panose="020B0604030504040204" pitchFamily="34" charset="0"/>
                <a:ea typeface="Tahoma" panose="020B0604030504040204" pitchFamily="34" charset="0"/>
                <a:cs typeface="Tahoma" panose="020B0604030504040204" pitchFamily="34" charset="0"/>
              </a:rPr>
              <a:t>Data Transformation Terms</a:t>
            </a:r>
          </a:p>
        </p:txBody>
      </p:sp>
      <p:sp>
        <p:nvSpPr>
          <p:cNvPr id="1046533" name="Rectangle 5"/>
          <p:cNvSpPr>
            <a:spLocks noGrp="1" noChangeArrowheads="1"/>
          </p:cNvSpPr>
          <p:nvPr>
            <p:ph idx="1"/>
          </p:nvPr>
        </p:nvSpPr>
        <p:spPr>
          <a:xfrm>
            <a:off x="484751" y="1251222"/>
            <a:ext cx="8047806" cy="3185890"/>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Autofit/>
          </a:bodyPr>
          <a:lstStyle/>
          <a:p>
            <a:pPr algn="just">
              <a:lnSpc>
                <a:spcPct val="150000"/>
              </a:lnSpc>
            </a:pPr>
            <a:r>
              <a:rPr lang="en-US" altLang="en-US" b="1" dirty="0">
                <a:solidFill>
                  <a:srgbClr val="FF0000"/>
                </a:solidFill>
              </a:rPr>
              <a:t>Enrichment</a:t>
            </a:r>
          </a:p>
          <a:p>
            <a:pPr lvl="1" algn="just">
              <a:lnSpc>
                <a:spcPct val="150000"/>
              </a:lnSpc>
              <a:buFont typeface="Wingdings" panose="05000000000000000000" pitchFamily="2" charset="2"/>
              <a:buChar char="Ø"/>
            </a:pPr>
            <a:r>
              <a:rPr lang="en-US" altLang="en-US" sz="2100" dirty="0"/>
              <a:t>Bring data from external sources to augment/enrich operational data. </a:t>
            </a:r>
          </a:p>
          <a:p>
            <a:pPr lvl="1" algn="just">
              <a:lnSpc>
                <a:spcPct val="150000"/>
              </a:lnSpc>
            </a:pPr>
            <a:r>
              <a:rPr lang="en-US" altLang="en-US" sz="2100" b="1" dirty="0">
                <a:solidFill>
                  <a:srgbClr val="FF0000"/>
                </a:solidFill>
              </a:rPr>
              <a:t>Scoring </a:t>
            </a:r>
          </a:p>
          <a:p>
            <a:pPr marL="342900" lvl="1" indent="0" algn="just">
              <a:lnSpc>
                <a:spcPct val="150000"/>
              </a:lnSpc>
              <a:buNone/>
            </a:pPr>
            <a:r>
              <a:rPr lang="en-US" altLang="en-US" sz="2100" dirty="0"/>
              <a:t>Computation of a probability of an event. e.g...chance that a customer is likely to buy a new product.</a:t>
            </a:r>
          </a:p>
        </p:txBody>
      </p:sp>
      <p:sp>
        <p:nvSpPr>
          <p:cNvPr id="6" name="Slide Number Placeholder 4"/>
          <p:cNvSpPr>
            <a:spLocks noGrp="1"/>
          </p:cNvSpPr>
          <p:nvPr>
            <p:ph type="sldNum" sz="quarter" idx="12"/>
          </p:nvPr>
        </p:nvSpPr>
        <p:spPr/>
        <p:txBody>
          <a:bodyPr/>
          <a:lstStyle/>
          <a:p>
            <a:fld id="{E47E2176-D2BE-48D5-B299-5BA8FAA5652E}" type="slidenum">
              <a:rPr lang="en-US" altLang="en-US"/>
              <a:t>12</a:t>
            </a:fld>
            <a:endParaRPr lang="en-US" altLang="en-US"/>
          </a:p>
        </p:txBody>
      </p:sp>
      <p:sp>
        <p:nvSpPr>
          <p:cNvPr id="1046530"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6531"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TextBox 7"/>
          <p:cNvSpPr txBox="1"/>
          <p:nvPr/>
        </p:nvSpPr>
        <p:spPr>
          <a:xfrm>
            <a:off x="587744" y="4490062"/>
            <a:ext cx="7901710" cy="212686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b="1" i="0" dirty="0">
                <a:effectLst/>
              </a:rPr>
              <a:t>Data merging </a:t>
            </a:r>
            <a:r>
              <a:rPr lang="en-US" b="0" i="0" dirty="0">
                <a:effectLst/>
              </a:rPr>
              <a:t>is </a:t>
            </a:r>
            <a:r>
              <a:rPr lang="en-US" b="1" i="0" dirty="0">
                <a:effectLst/>
              </a:rPr>
              <a:t>the process of combining two or more similar records into a single one</a:t>
            </a:r>
            <a:r>
              <a:rPr lang="en-US" b="0" i="0" dirty="0">
                <a:effectLst/>
              </a:rPr>
              <a:t>. </a:t>
            </a:r>
          </a:p>
          <a:p>
            <a:pPr marL="285750" indent="-285750" algn="just">
              <a:lnSpc>
                <a:spcPct val="150000"/>
              </a:lnSpc>
              <a:buFont typeface="Arial" panose="020B0604020202020204" pitchFamily="34" charset="0"/>
              <a:buChar char="•"/>
            </a:pPr>
            <a:r>
              <a:rPr lang="en-US" b="0" i="0" dirty="0">
                <a:effectLst/>
              </a:rPr>
              <a:t>Merging is done to add variables to a dataset, append or add cases or observations to a dataset, or remove duplicates and other incorrect information</a:t>
            </a:r>
            <a:r>
              <a:rPr lang="en-US" b="0" i="0" dirty="0">
                <a:solidFill>
                  <a:srgbClr val="202124"/>
                </a:solidFill>
                <a:effectLst/>
              </a:rPr>
              <a:t>.</a:t>
            </a:r>
            <a:endParaRPr 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7556" name="Rectangle 4"/>
          <p:cNvSpPr>
            <a:spLocks noGrp="1" noChangeArrowheads="1"/>
          </p:cNvSpPr>
          <p:nvPr>
            <p:ph type="title"/>
          </p:nvPr>
        </p:nvSpPr>
        <p:spPr>
          <a:xfrm>
            <a:off x="632700" y="360158"/>
            <a:ext cx="7886700" cy="580229"/>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p>
            <a:r>
              <a:rPr lang="en-US" altLang="en-US" b="1" dirty="0">
                <a:latin typeface="Tahoma" panose="020B0604030504040204" pitchFamily="34" charset="0"/>
                <a:ea typeface="Tahoma" panose="020B0604030504040204" pitchFamily="34" charset="0"/>
                <a:cs typeface="Tahoma" panose="020B0604030504040204" pitchFamily="34" charset="0"/>
              </a:rPr>
              <a:t>Loads</a:t>
            </a:r>
          </a:p>
        </p:txBody>
      </p:sp>
      <p:sp>
        <p:nvSpPr>
          <p:cNvPr id="1047557" name="Rectangle 5"/>
          <p:cNvSpPr>
            <a:spLocks noGrp="1" noChangeArrowheads="1"/>
          </p:cNvSpPr>
          <p:nvPr>
            <p:ph idx="1"/>
          </p:nvPr>
        </p:nvSpPr>
        <p:spPr>
          <a:xfrm>
            <a:off x="628650" y="940387"/>
            <a:ext cx="8263830" cy="5746163"/>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Autofit/>
          </a:bodyPr>
          <a:lstStyle/>
          <a:p>
            <a:pPr algn="just">
              <a:lnSpc>
                <a:spcPct val="150000"/>
              </a:lnSpc>
            </a:pPr>
            <a:r>
              <a:rPr lang="en-US" altLang="en-US" sz="2000" dirty="0">
                <a:latin typeface="Tahoma" panose="020B0604030504040204" pitchFamily="34" charset="0"/>
                <a:ea typeface="Tahoma" panose="020B0604030504040204" pitchFamily="34" charset="0"/>
                <a:cs typeface="Tahoma" panose="020B0604030504040204" pitchFamily="34" charset="0"/>
              </a:rPr>
              <a:t>After extracting, cleaning, validating etc. need to load the data into the warehouse</a:t>
            </a:r>
          </a:p>
          <a:p>
            <a:pPr algn="just">
              <a:lnSpc>
                <a:spcPct val="150000"/>
              </a:lnSpc>
            </a:pPr>
            <a:r>
              <a:rPr lang="en-US" altLang="en-US" sz="2000" dirty="0">
                <a:latin typeface="Tahoma" panose="020B0604030504040204" pitchFamily="34" charset="0"/>
                <a:ea typeface="Tahoma" panose="020B0604030504040204" pitchFamily="34" charset="0"/>
                <a:cs typeface="Tahoma" panose="020B0604030504040204" pitchFamily="34" charset="0"/>
              </a:rPr>
              <a:t>Issues</a:t>
            </a:r>
          </a:p>
          <a:p>
            <a:pPr lvl="1" algn="just">
              <a:lnSpc>
                <a:spcPct val="150000"/>
              </a:lnSpc>
              <a:buFont typeface="Wingdings" panose="05000000000000000000" pitchFamily="2" charset="2"/>
              <a:buChar char="ü"/>
            </a:pPr>
            <a:r>
              <a:rPr lang="en-US" altLang="en-US" sz="2000" dirty="0">
                <a:latin typeface="Tahoma" panose="020B0604030504040204" pitchFamily="34" charset="0"/>
                <a:ea typeface="Tahoma" panose="020B0604030504040204" pitchFamily="34" charset="0"/>
                <a:cs typeface="Tahoma" panose="020B0604030504040204" pitchFamily="34" charset="0"/>
              </a:rPr>
              <a:t>huge volumes of data to be loaded</a:t>
            </a:r>
          </a:p>
          <a:p>
            <a:pPr lvl="1" algn="just">
              <a:lnSpc>
                <a:spcPct val="150000"/>
              </a:lnSpc>
              <a:buFont typeface="Wingdings" panose="05000000000000000000" pitchFamily="2" charset="2"/>
              <a:buChar char="ü"/>
            </a:pPr>
            <a:r>
              <a:rPr lang="en-US" altLang="en-US" sz="2000" dirty="0">
                <a:latin typeface="Tahoma" panose="020B0604030504040204" pitchFamily="34" charset="0"/>
                <a:ea typeface="Tahoma" panose="020B0604030504040204" pitchFamily="34" charset="0"/>
                <a:cs typeface="Tahoma" panose="020B0604030504040204" pitchFamily="34" charset="0"/>
              </a:rPr>
              <a:t>small time window available when warehouse can be taken off line (usually nights)</a:t>
            </a:r>
          </a:p>
          <a:p>
            <a:pPr lvl="1" algn="just">
              <a:lnSpc>
                <a:spcPct val="150000"/>
              </a:lnSpc>
              <a:buFont typeface="Wingdings" panose="05000000000000000000" pitchFamily="2" charset="2"/>
              <a:buChar char="ü"/>
            </a:pPr>
            <a:r>
              <a:rPr lang="en-US" altLang="en-US" sz="2000" dirty="0">
                <a:latin typeface="Tahoma" panose="020B0604030504040204" pitchFamily="34" charset="0"/>
                <a:ea typeface="Tahoma" panose="020B0604030504040204" pitchFamily="34" charset="0"/>
                <a:cs typeface="Tahoma" panose="020B0604030504040204" pitchFamily="34" charset="0"/>
              </a:rPr>
              <a:t>when to build index and summary tables</a:t>
            </a:r>
          </a:p>
          <a:p>
            <a:pPr lvl="1" algn="just">
              <a:lnSpc>
                <a:spcPct val="150000"/>
              </a:lnSpc>
              <a:buFont typeface="Wingdings" panose="05000000000000000000" pitchFamily="2" charset="2"/>
              <a:buChar char="ü"/>
            </a:pPr>
            <a:r>
              <a:rPr lang="en-US" altLang="en-US" sz="2000" dirty="0">
                <a:latin typeface="Tahoma" panose="020B0604030504040204" pitchFamily="34" charset="0"/>
                <a:ea typeface="Tahoma" panose="020B0604030504040204" pitchFamily="34" charset="0"/>
                <a:cs typeface="Tahoma" panose="020B0604030504040204" pitchFamily="34" charset="0"/>
              </a:rPr>
              <a:t>allow system administrators to monitor, cancel, resume, change load rates</a:t>
            </a:r>
          </a:p>
          <a:p>
            <a:pPr lvl="1" algn="just">
              <a:lnSpc>
                <a:spcPct val="150000"/>
              </a:lnSpc>
              <a:buFont typeface="Wingdings" panose="05000000000000000000" pitchFamily="2" charset="2"/>
              <a:buChar char="ü"/>
            </a:pPr>
            <a:r>
              <a:rPr lang="en-US" altLang="en-US" sz="2000" b="1" dirty="0">
                <a:solidFill>
                  <a:srgbClr val="FF0000"/>
                </a:solidFill>
                <a:latin typeface="Tahoma" panose="020B0604030504040204" pitchFamily="34" charset="0"/>
                <a:ea typeface="Tahoma" panose="020B0604030504040204" pitchFamily="34" charset="0"/>
                <a:cs typeface="Tahoma" panose="020B0604030504040204" pitchFamily="34" charset="0"/>
              </a:rPr>
              <a:t>Recover gracefully </a:t>
            </a:r>
            <a:r>
              <a:rPr lang="en-US" altLang="en-US" sz="2000" dirty="0">
                <a:latin typeface="Tahoma" panose="020B0604030504040204" pitchFamily="34" charset="0"/>
                <a:ea typeface="Tahoma" panose="020B0604030504040204" pitchFamily="34" charset="0"/>
                <a:cs typeface="Tahoma" panose="020B0604030504040204" pitchFamily="34" charset="0"/>
              </a:rPr>
              <a:t>-- restart after failure from where you were and without loss of data integrity</a:t>
            </a:r>
          </a:p>
        </p:txBody>
      </p:sp>
      <p:sp>
        <p:nvSpPr>
          <p:cNvPr id="6" name="Slide Number Placeholder 4"/>
          <p:cNvSpPr>
            <a:spLocks noGrp="1"/>
          </p:cNvSpPr>
          <p:nvPr>
            <p:ph type="sldNum" sz="quarter" idx="12"/>
          </p:nvPr>
        </p:nvSpPr>
        <p:spPr/>
        <p:txBody>
          <a:bodyPr/>
          <a:lstStyle/>
          <a:p>
            <a:fld id="{26761742-7D22-4334-99F9-49320CBF0C11}" type="slidenum">
              <a:rPr lang="en-US" altLang="en-US"/>
              <a:t>13</a:t>
            </a:fld>
            <a:endParaRPr lang="en-US" altLang="en-US"/>
          </a:p>
        </p:txBody>
      </p:sp>
      <p:sp>
        <p:nvSpPr>
          <p:cNvPr id="1047554"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7555"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p:txBody>
          <a:bodyPr/>
          <a:lstStyle/>
          <a:p>
            <a:fld id="{7DDCA18F-E109-4516-8E2C-84137FD18E7A}" type="slidenum">
              <a:rPr lang="en-US" altLang="en-US"/>
              <a:t>14</a:t>
            </a:fld>
            <a:endParaRPr lang="en-US" altLang="en-US"/>
          </a:p>
        </p:txBody>
      </p:sp>
      <p:sp>
        <p:nvSpPr>
          <p:cNvPr id="1049602"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9603"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Rectangle 4"/>
          <p:cNvSpPr txBox="1">
            <a:spLocks noChangeArrowheads="1"/>
          </p:cNvSpPr>
          <p:nvPr/>
        </p:nvSpPr>
        <p:spPr>
          <a:xfrm>
            <a:off x="755576" y="90973"/>
            <a:ext cx="7886700" cy="1325563"/>
          </a:xfrm>
          <a:prstGeom prst="rect">
            <a:avLst/>
          </a:prstGeo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0488" tIns="44450" rIns="90488" bIns="4445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en-US" b="1" dirty="0">
                <a:latin typeface="Tahoma" panose="020B0604030504040204" pitchFamily="34" charset="0"/>
                <a:ea typeface="Tahoma" panose="020B0604030504040204" pitchFamily="34" charset="0"/>
                <a:cs typeface="Tahoma" panose="020B0604030504040204" pitchFamily="34" charset="0"/>
              </a:rPr>
              <a:t>Refresh</a:t>
            </a:r>
          </a:p>
        </p:txBody>
      </p:sp>
      <p:sp>
        <p:nvSpPr>
          <p:cNvPr id="11" name="TextBox 10"/>
          <p:cNvSpPr txBox="1"/>
          <p:nvPr/>
        </p:nvSpPr>
        <p:spPr>
          <a:xfrm>
            <a:off x="592646" y="1700808"/>
            <a:ext cx="7958708" cy="3257174"/>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altLang="en-US" sz="2800" b="1" dirty="0"/>
              <a:t>Propagate updates </a:t>
            </a:r>
            <a:r>
              <a:rPr lang="en-US" altLang="en-US" sz="2800" dirty="0"/>
              <a:t>on source data to the warehouse</a:t>
            </a:r>
          </a:p>
          <a:p>
            <a:pPr marL="285750" indent="-285750" algn="just">
              <a:lnSpc>
                <a:spcPct val="150000"/>
              </a:lnSpc>
              <a:buFont typeface="Wingdings" panose="05000000000000000000" pitchFamily="2" charset="2"/>
              <a:buChar char="§"/>
            </a:pPr>
            <a:r>
              <a:rPr lang="en-US" altLang="en-US" sz="2800" dirty="0"/>
              <a:t>Issues:</a:t>
            </a:r>
          </a:p>
          <a:p>
            <a:pPr marL="742950" lvl="1" indent="-285750" algn="just">
              <a:lnSpc>
                <a:spcPct val="150000"/>
              </a:lnSpc>
              <a:buFont typeface="Wingdings" panose="05000000000000000000" pitchFamily="2" charset="2"/>
              <a:buChar char="ü"/>
            </a:pPr>
            <a:r>
              <a:rPr lang="en-US" altLang="en-US" sz="2800" dirty="0"/>
              <a:t>when to refresh</a:t>
            </a:r>
          </a:p>
          <a:p>
            <a:pPr marL="742950" lvl="1" indent="-285750" algn="just">
              <a:lnSpc>
                <a:spcPct val="150000"/>
              </a:lnSpc>
              <a:buFont typeface="Wingdings" panose="05000000000000000000" pitchFamily="2" charset="2"/>
              <a:buChar char="ü"/>
            </a:pPr>
            <a:r>
              <a:rPr lang="en-US" altLang="en-US" sz="2800" dirty="0"/>
              <a:t>how to refresh -- refresh techniques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650" name="Rectangle 2"/>
          <p:cNvSpPr>
            <a:spLocks noGrp="1" noChangeArrowheads="1"/>
          </p:cNvSpPr>
          <p:nvPr>
            <p:ph type="title"/>
          </p:nvPr>
        </p:nvSpPr>
        <p:spPr>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b="1" dirty="0">
                <a:latin typeface="Tahoma" panose="020B0604030504040204" pitchFamily="34" charset="0"/>
                <a:ea typeface="Tahoma" panose="020B0604030504040204" pitchFamily="34" charset="0"/>
                <a:cs typeface="Tahoma" panose="020B0604030504040204" pitchFamily="34" charset="0"/>
              </a:rPr>
              <a:t>When to Refresh?</a:t>
            </a:r>
          </a:p>
        </p:txBody>
      </p:sp>
      <p:sp>
        <p:nvSpPr>
          <p:cNvPr id="1051651" name="Rectangle 3"/>
          <p:cNvSpPr>
            <a:spLocks noGrp="1" noChangeArrowheads="1"/>
          </p:cNvSpPr>
          <p:nvPr>
            <p:ph idx="1"/>
          </p:nvPr>
        </p:nvSpPr>
        <p:spPr>
          <a:xfrm>
            <a:off x="628650" y="1690689"/>
            <a:ext cx="7886700" cy="4351338"/>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a:bodyPr>
          <a:lstStyle/>
          <a:p>
            <a:pPr algn="just">
              <a:lnSpc>
                <a:spcPct val="150000"/>
              </a:lnSpc>
            </a:pPr>
            <a:r>
              <a:rPr lang="en-US" altLang="en-US" sz="2400" b="1" dirty="0"/>
              <a:t>periodically</a:t>
            </a:r>
            <a:r>
              <a:rPr lang="en-US" altLang="en-US" sz="2400" dirty="0"/>
              <a:t> (e.g., every night, every week) or after significant events</a:t>
            </a:r>
          </a:p>
          <a:p>
            <a:pPr algn="just">
              <a:lnSpc>
                <a:spcPct val="150000"/>
              </a:lnSpc>
            </a:pPr>
            <a:r>
              <a:rPr lang="en-US" altLang="en-US" sz="2400" b="1" dirty="0"/>
              <a:t>on every update</a:t>
            </a:r>
            <a:r>
              <a:rPr lang="en-US" altLang="en-US" sz="2400" dirty="0"/>
              <a:t>: not warranted unless warehouse data require  current data (up to the minute stock quotes)</a:t>
            </a:r>
          </a:p>
          <a:p>
            <a:pPr algn="just">
              <a:lnSpc>
                <a:spcPct val="150000"/>
              </a:lnSpc>
            </a:pPr>
            <a:r>
              <a:rPr lang="en-US" altLang="en-US" sz="2400" b="1" dirty="0"/>
              <a:t>refresh policy set by administrator based on user needs and traffic</a:t>
            </a:r>
          </a:p>
          <a:p>
            <a:pPr algn="just">
              <a:lnSpc>
                <a:spcPct val="150000"/>
              </a:lnSpc>
            </a:pPr>
            <a:r>
              <a:rPr lang="en-US" altLang="en-US" sz="2400" b="1" dirty="0"/>
              <a:t>possibly different policies for different sources</a:t>
            </a:r>
          </a:p>
        </p:txBody>
      </p:sp>
      <p:sp>
        <p:nvSpPr>
          <p:cNvPr id="4" name="Slide Number Placeholder 4"/>
          <p:cNvSpPr>
            <a:spLocks noGrp="1"/>
          </p:cNvSpPr>
          <p:nvPr>
            <p:ph type="sldNum" sz="quarter" idx="12"/>
          </p:nvPr>
        </p:nvSpPr>
        <p:spPr/>
        <p:txBody>
          <a:bodyPr/>
          <a:lstStyle/>
          <a:p>
            <a:fld id="{1CB21900-E978-4E0C-BF39-DE938DD22452}" type="slidenum">
              <a:rPr lang="en-US" altLang="en-US"/>
              <a:t>15</a:t>
            </a:fld>
            <a:endParaRPr lang="en-US" alt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058" name="Rectangle 2"/>
          <p:cNvSpPr>
            <a:spLocks noGrp="1" noChangeArrowheads="1"/>
          </p:cNvSpPr>
          <p:nvPr>
            <p:ph type="title"/>
          </p:nvPr>
        </p:nvSpPr>
        <p:spPr>
          <a:xfrm>
            <a:off x="628650" y="365127"/>
            <a:ext cx="7886700" cy="975642"/>
          </a:xfrm>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Data Extraction and Cleansing</a:t>
            </a:r>
          </a:p>
        </p:txBody>
      </p:sp>
      <p:sp>
        <p:nvSpPr>
          <p:cNvPr id="1069059" name="Rectangle 3"/>
          <p:cNvSpPr>
            <a:spLocks noGrp="1" noChangeArrowheads="1"/>
          </p:cNvSpPr>
          <p:nvPr>
            <p:ph idx="1"/>
          </p:nvPr>
        </p:nvSpPr>
        <p:spPr>
          <a:xfrm>
            <a:off x="628650" y="1676991"/>
            <a:ext cx="8335838" cy="4667249"/>
          </a:xfrm>
        </p:spPr>
        <p:txBody>
          <a:bodyPr>
            <a:normAutofit fontScale="92500"/>
          </a:bodyPr>
          <a:lstStyle/>
          <a:p>
            <a:pPr algn="just">
              <a:lnSpc>
                <a:spcPct val="150000"/>
              </a:lnSpc>
            </a:pPr>
            <a:r>
              <a:rPr lang="en-US" altLang="en-US" sz="2600" dirty="0"/>
              <a:t>Extract data from existing operational and legacy data</a:t>
            </a:r>
          </a:p>
          <a:p>
            <a:pPr algn="just">
              <a:lnSpc>
                <a:spcPct val="150000"/>
              </a:lnSpc>
            </a:pPr>
            <a:r>
              <a:rPr lang="en-US" altLang="en-US" sz="2600" dirty="0"/>
              <a:t>Issues:</a:t>
            </a:r>
          </a:p>
          <a:p>
            <a:pPr lvl="1" algn="just">
              <a:lnSpc>
                <a:spcPct val="150000"/>
              </a:lnSpc>
              <a:buFont typeface="Wingdings" panose="05000000000000000000" pitchFamily="2" charset="2"/>
              <a:buChar char="ü"/>
            </a:pPr>
            <a:r>
              <a:rPr lang="en-US" altLang="en-US" sz="2400" dirty="0"/>
              <a:t>Sources of data for the warehouse</a:t>
            </a:r>
          </a:p>
          <a:p>
            <a:pPr lvl="1" algn="just">
              <a:lnSpc>
                <a:spcPct val="150000"/>
              </a:lnSpc>
              <a:buFont typeface="Wingdings" panose="05000000000000000000" pitchFamily="2" charset="2"/>
              <a:buChar char="ü"/>
            </a:pPr>
            <a:r>
              <a:rPr lang="en-US" altLang="en-US" sz="2400" dirty="0"/>
              <a:t>Data quality at the sources</a:t>
            </a:r>
          </a:p>
          <a:p>
            <a:pPr lvl="1" algn="just">
              <a:lnSpc>
                <a:spcPct val="150000"/>
              </a:lnSpc>
              <a:buFont typeface="Wingdings" panose="05000000000000000000" pitchFamily="2" charset="2"/>
              <a:buChar char="ü"/>
            </a:pPr>
            <a:r>
              <a:rPr lang="en-US" altLang="en-US" sz="2400" dirty="0"/>
              <a:t>Merging different data sources</a:t>
            </a:r>
          </a:p>
          <a:p>
            <a:pPr lvl="1" algn="just">
              <a:lnSpc>
                <a:spcPct val="150000"/>
              </a:lnSpc>
              <a:buFont typeface="Wingdings" panose="05000000000000000000" pitchFamily="2" charset="2"/>
              <a:buChar char="ü"/>
            </a:pPr>
            <a:r>
              <a:rPr lang="en-US" altLang="en-US" sz="2400" dirty="0"/>
              <a:t>Data Transformation</a:t>
            </a:r>
          </a:p>
          <a:p>
            <a:pPr lvl="1" algn="just">
              <a:lnSpc>
                <a:spcPct val="150000"/>
              </a:lnSpc>
              <a:buFont typeface="Wingdings" panose="05000000000000000000" pitchFamily="2" charset="2"/>
              <a:buChar char="ü"/>
            </a:pPr>
            <a:r>
              <a:rPr lang="en-US" altLang="en-US" sz="2400" dirty="0"/>
              <a:t>How to propagate updates (on the sources) to the warehouse</a:t>
            </a:r>
          </a:p>
          <a:p>
            <a:pPr lvl="1" algn="just">
              <a:lnSpc>
                <a:spcPct val="150000"/>
              </a:lnSpc>
              <a:buFont typeface="Wingdings" panose="05000000000000000000" pitchFamily="2" charset="2"/>
              <a:buChar char="ü"/>
            </a:pPr>
            <a:r>
              <a:rPr lang="en-US" altLang="en-US" sz="2400" dirty="0"/>
              <a:t>Terabytes of data to be loaded</a:t>
            </a:r>
          </a:p>
        </p:txBody>
      </p:sp>
      <p:sp>
        <p:nvSpPr>
          <p:cNvPr id="4" name="Slide Number Placeholder 4"/>
          <p:cNvSpPr>
            <a:spLocks noGrp="1"/>
          </p:cNvSpPr>
          <p:nvPr>
            <p:ph type="sldNum" sz="quarter" idx="12"/>
          </p:nvPr>
        </p:nvSpPr>
        <p:spPr/>
        <p:txBody>
          <a:bodyPr/>
          <a:lstStyle/>
          <a:p>
            <a:fld id="{3DDC17F3-AE44-4A3B-A587-21AA037F82CC}" type="slidenum">
              <a:rPr lang="en-US" altLang="en-US"/>
              <a:t>16</a:t>
            </a:fld>
            <a:endParaRPr lang="en-US"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2" name="Rectangle 4"/>
          <p:cNvSpPr>
            <a:spLocks noGrp="1" noChangeArrowheads="1"/>
          </p:cNvSpPr>
          <p:nvPr>
            <p:ph type="title"/>
          </p:nvPr>
        </p:nvSpPr>
        <p:spPr>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p>
            <a:r>
              <a:rPr lang="en-US" altLang="en-US" b="1" dirty="0">
                <a:solidFill>
                  <a:srgbClr val="FF0000"/>
                </a:solidFill>
                <a:latin typeface="Tahoma" panose="020B0604030504040204" pitchFamily="34" charset="0"/>
                <a:ea typeface="Tahoma" panose="020B0604030504040204" pitchFamily="34" charset="0"/>
                <a:cs typeface="Tahoma" panose="020B0604030504040204" pitchFamily="34" charset="0"/>
              </a:rPr>
              <a:t>Granularity</a:t>
            </a:r>
            <a:r>
              <a:rPr lang="en-US" altLang="en-US" b="1" dirty="0">
                <a:latin typeface="Tahoma" panose="020B0604030504040204" pitchFamily="34" charset="0"/>
                <a:ea typeface="Tahoma" panose="020B0604030504040204" pitchFamily="34" charset="0"/>
                <a:cs typeface="Tahoma" panose="020B0604030504040204" pitchFamily="34" charset="0"/>
              </a:rPr>
              <a:t> </a:t>
            </a:r>
            <a:r>
              <a:rPr lang="en-US" altLang="en-US" b="1" dirty="0">
                <a:solidFill>
                  <a:srgbClr val="FF0000"/>
                </a:solidFill>
                <a:latin typeface="Tahoma" panose="020B0604030504040204" pitchFamily="34" charset="0"/>
                <a:ea typeface="Tahoma" panose="020B0604030504040204" pitchFamily="34" charset="0"/>
                <a:cs typeface="Tahoma" panose="020B0604030504040204" pitchFamily="34" charset="0"/>
              </a:rPr>
              <a:t>in Warehouse</a:t>
            </a:r>
          </a:p>
        </p:txBody>
      </p:sp>
      <p:sp>
        <p:nvSpPr>
          <p:cNvPr id="877573" name="Rectangle 5"/>
          <p:cNvSpPr>
            <a:spLocks noGrp="1" noChangeArrowheads="1"/>
          </p:cNvSpPr>
          <p:nvPr>
            <p:ph idx="1"/>
          </p:nvPr>
        </p:nvSpPr>
        <p:spPr>
          <a:xfrm>
            <a:off x="539750" y="1340484"/>
            <a:ext cx="7886700" cy="4771727"/>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a:bodyPr>
          <a:lstStyle/>
          <a:p>
            <a:pPr algn="just">
              <a:lnSpc>
                <a:spcPct val="150000"/>
              </a:lnSpc>
            </a:pPr>
            <a:r>
              <a:rPr lang="en-US" altLang="en-US" sz="2400" b="1" dirty="0"/>
              <a:t>Can not answer some questions with summarized data</a:t>
            </a:r>
          </a:p>
          <a:p>
            <a:pPr lvl="1" algn="just">
              <a:lnSpc>
                <a:spcPct val="150000"/>
              </a:lnSpc>
              <a:buFont typeface="Wingdings" panose="05000000000000000000" pitchFamily="2" charset="2"/>
              <a:buChar char="Ø"/>
            </a:pPr>
            <a:r>
              <a:rPr lang="en-US" altLang="en-US" sz="2000" dirty="0"/>
              <a:t>Did Anand call Seshadri last month? Not possible to answer if total duration of calls by Anand over a month  is only maintained and  individual call details are not.</a:t>
            </a:r>
          </a:p>
          <a:p>
            <a:pPr algn="just">
              <a:lnSpc>
                <a:spcPct val="150000"/>
              </a:lnSpc>
            </a:pPr>
            <a:r>
              <a:rPr lang="en-US" altLang="en-US" sz="2400" b="1" dirty="0"/>
              <a:t>Detailed data too voluminous</a:t>
            </a:r>
          </a:p>
        </p:txBody>
      </p:sp>
      <p:sp>
        <p:nvSpPr>
          <p:cNvPr id="6" name="Slide Number Placeholder 4"/>
          <p:cNvSpPr>
            <a:spLocks noGrp="1"/>
          </p:cNvSpPr>
          <p:nvPr>
            <p:ph type="sldNum" sz="quarter" idx="12"/>
          </p:nvPr>
        </p:nvSpPr>
        <p:spPr/>
        <p:txBody>
          <a:bodyPr/>
          <a:lstStyle/>
          <a:p>
            <a:fld id="{6458D7CD-6EEA-4978-929E-34899CFDDB8C}" type="slidenum">
              <a:rPr lang="en-US" altLang="en-US"/>
              <a:t>17</a:t>
            </a:fld>
            <a:endParaRPr lang="en-US" altLang="en-US"/>
          </a:p>
        </p:txBody>
      </p:sp>
      <p:sp>
        <p:nvSpPr>
          <p:cNvPr id="877570" name="Rectangle 2"/>
          <p:cNvSpPr>
            <a:spLocks noChangeArrowheads="1"/>
          </p:cNvSpPr>
          <p:nvPr/>
        </p:nvSpPr>
        <p:spPr bwMode="auto">
          <a:xfrm>
            <a:off x="431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77571" name="Rectangle 3"/>
          <p:cNvSpPr>
            <a:spLocks noChangeArrowheads="1"/>
          </p:cNvSpPr>
          <p:nvPr/>
        </p:nvSpPr>
        <p:spPr bwMode="auto">
          <a:xfrm>
            <a:off x="3124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TextBox 7"/>
          <p:cNvSpPr txBox="1"/>
          <p:nvPr/>
        </p:nvSpPr>
        <p:spPr>
          <a:xfrm>
            <a:off x="611505" y="4799816"/>
            <a:ext cx="7560840" cy="1429622"/>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sz="2000" b="1" i="0" dirty="0">
                <a:solidFill>
                  <a:srgbClr val="000000"/>
                </a:solidFill>
                <a:effectLst/>
                <a:latin typeface="proxima_novaregular"/>
              </a:rPr>
              <a:t>Granularity </a:t>
            </a:r>
            <a:r>
              <a:rPr lang="en-US" sz="2000" b="0" i="0" dirty="0">
                <a:solidFill>
                  <a:srgbClr val="000000"/>
                </a:solidFill>
                <a:effectLst/>
                <a:latin typeface="proxima_novaregular"/>
              </a:rPr>
              <a:t>tells us about the level (high to low) of information residing in the table. </a:t>
            </a:r>
          </a:p>
          <a:p>
            <a:pPr marL="285750" indent="-285750" algn="just">
              <a:lnSpc>
                <a:spcPct val="150000"/>
              </a:lnSpc>
              <a:buFont typeface="Wingdings" panose="05000000000000000000" pitchFamily="2" charset="2"/>
              <a:buChar char="§"/>
            </a:pPr>
            <a:r>
              <a:rPr lang="en-US" sz="2000" b="0" i="0" dirty="0">
                <a:solidFill>
                  <a:srgbClr val="000000"/>
                </a:solidFill>
                <a:effectLst/>
                <a:latin typeface="proxima_novaregular"/>
              </a:rPr>
              <a:t>The </a:t>
            </a:r>
            <a:r>
              <a:rPr lang="en-US" sz="2000" b="1" i="0" dirty="0">
                <a:solidFill>
                  <a:srgbClr val="000000"/>
                </a:solidFill>
                <a:effectLst/>
                <a:latin typeface="proxima_novaregular"/>
              </a:rPr>
              <a:t>lower the granularity is</a:t>
            </a:r>
            <a:r>
              <a:rPr lang="en-US" sz="2000" b="0" i="0" dirty="0">
                <a:solidFill>
                  <a:srgbClr val="000000"/>
                </a:solidFill>
                <a:effectLst/>
                <a:latin typeface="proxima_novaregular"/>
              </a:rPr>
              <a:t>, the </a:t>
            </a:r>
            <a:r>
              <a:rPr lang="en-US" sz="2000" b="1" i="0" dirty="0">
                <a:solidFill>
                  <a:srgbClr val="000000"/>
                </a:solidFill>
                <a:effectLst/>
                <a:latin typeface="proxima_novaregular"/>
              </a:rPr>
              <a:t>low-level information it contains</a:t>
            </a:r>
            <a:r>
              <a:rPr lang="en-US" sz="2000" b="0" i="0" dirty="0">
                <a:solidFill>
                  <a:srgbClr val="000000"/>
                </a:solidFill>
                <a:effectLst/>
                <a:latin typeface="proxima_novaregular"/>
              </a:rPr>
              <a:t>.</a:t>
            </a:r>
            <a:endParaRPr lang="en-US" sz="2000" dirty="0"/>
          </a:p>
        </p:txBody>
      </p:sp>
    </p:spTree>
  </p:cSld>
  <p:clrMapOvr>
    <a:masterClrMapping/>
  </p:clrMapOvr>
  <p:transition>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a:xfrm>
            <a:off x="628650" y="365127"/>
            <a:ext cx="7886700" cy="615602"/>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b="1" dirty="0">
                <a:solidFill>
                  <a:srgbClr val="FF0000"/>
                </a:solidFill>
                <a:latin typeface="Tahoma" panose="020B0604030504040204" pitchFamily="34" charset="0"/>
                <a:ea typeface="Tahoma" panose="020B0604030504040204" pitchFamily="34" charset="0"/>
                <a:cs typeface="Tahoma" panose="020B0604030504040204" pitchFamily="34" charset="0"/>
              </a:rPr>
              <a:t>Derived Data</a:t>
            </a:r>
          </a:p>
        </p:txBody>
      </p:sp>
      <p:sp>
        <p:nvSpPr>
          <p:cNvPr id="880643" name="Rectangle 3"/>
          <p:cNvSpPr>
            <a:spLocks noGrp="1" noChangeArrowheads="1"/>
          </p:cNvSpPr>
          <p:nvPr>
            <p:ph idx="1"/>
          </p:nvPr>
        </p:nvSpPr>
        <p:spPr>
          <a:xfrm>
            <a:off x="467360" y="980440"/>
            <a:ext cx="8609330" cy="3298825"/>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ormAutofit/>
          </a:bodyPr>
          <a:lstStyle/>
          <a:p>
            <a:pPr algn="just">
              <a:lnSpc>
                <a:spcPct val="210000"/>
              </a:lnSpc>
            </a:pPr>
            <a:r>
              <a:rPr lang="en-US" altLang="en-US" sz="2400" b="1" dirty="0"/>
              <a:t>Introduction of derived (calculated data</a:t>
            </a:r>
            <a:r>
              <a:rPr lang="en-US" altLang="en-US" sz="2400" dirty="0"/>
              <a:t>) may often help</a:t>
            </a:r>
          </a:p>
          <a:p>
            <a:pPr algn="just">
              <a:lnSpc>
                <a:spcPct val="210000"/>
              </a:lnSpc>
            </a:pPr>
            <a:r>
              <a:rPr lang="en-US" altLang="en-US" sz="2400" dirty="0"/>
              <a:t>Have seen this in the context of dual levels of  granularity </a:t>
            </a:r>
          </a:p>
          <a:p>
            <a:pPr algn="just">
              <a:lnSpc>
                <a:spcPct val="210000"/>
              </a:lnSpc>
            </a:pPr>
            <a:r>
              <a:rPr lang="en-US" altLang="en-US" sz="2400" b="1" dirty="0"/>
              <a:t>Can keep auxiliary views and indexes to speed up query processing</a:t>
            </a:r>
          </a:p>
        </p:txBody>
      </p:sp>
      <p:sp>
        <p:nvSpPr>
          <p:cNvPr id="4" name="Slide Number Placeholder 4"/>
          <p:cNvSpPr>
            <a:spLocks noGrp="1"/>
          </p:cNvSpPr>
          <p:nvPr>
            <p:ph type="sldNum" sz="quarter" idx="12"/>
          </p:nvPr>
        </p:nvSpPr>
        <p:spPr/>
        <p:txBody>
          <a:bodyPr/>
          <a:lstStyle/>
          <a:p>
            <a:fld id="{4FC0D7DF-35CA-4428-AE61-45F9335584EE}" type="slidenum">
              <a:rPr lang="en-US" altLang="en-US"/>
              <a:t>18</a:t>
            </a:fld>
            <a:endParaRPr lang="en-US" altLang="en-US"/>
          </a:p>
        </p:txBody>
      </p:sp>
      <p:sp>
        <p:nvSpPr>
          <p:cNvPr id="6" name="TextBox 5"/>
          <p:cNvSpPr txBox="1"/>
          <p:nvPr/>
        </p:nvSpPr>
        <p:spPr>
          <a:xfrm>
            <a:off x="828040" y="4725035"/>
            <a:ext cx="7687310" cy="1753235"/>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b="1" i="0" dirty="0">
                <a:solidFill>
                  <a:srgbClr val="FF0000"/>
                </a:solidFill>
                <a:effectLst/>
                <a:latin typeface="Arial" panose="020B0604020202020204" pitchFamily="34" charset="0"/>
              </a:rPr>
              <a:t>Derived data</a:t>
            </a:r>
            <a:r>
              <a:rPr lang="en-US" b="0" i="0" dirty="0">
                <a:solidFill>
                  <a:srgbClr val="FF0000"/>
                </a:solidFill>
                <a:effectLst/>
                <a:latin typeface="Arial" panose="020B0604020202020204" pitchFamily="34" charset="0"/>
              </a:rPr>
              <a:t> </a:t>
            </a:r>
            <a:r>
              <a:rPr lang="en-US" b="0" i="0" dirty="0">
                <a:solidFill>
                  <a:srgbClr val="202124"/>
                </a:solidFill>
                <a:effectLst/>
                <a:latin typeface="Arial" panose="020B0604020202020204" pitchFamily="34" charset="0"/>
              </a:rPr>
              <a:t>is generated from existing </a:t>
            </a:r>
            <a:r>
              <a:rPr lang="en-US" b="1" i="0" dirty="0">
                <a:solidFill>
                  <a:srgbClr val="202124"/>
                </a:solidFill>
                <a:effectLst/>
                <a:latin typeface="Arial" panose="020B0604020202020204" pitchFamily="34" charset="0"/>
              </a:rPr>
              <a:t>data</a:t>
            </a:r>
            <a:r>
              <a:rPr lang="en-US" b="0" i="0" dirty="0">
                <a:solidFill>
                  <a:srgbClr val="202124"/>
                </a:solidFill>
                <a:effectLst/>
                <a:latin typeface="Arial" panose="020B0604020202020204" pitchFamily="34" charset="0"/>
              </a:rPr>
              <a:t> using a mathematical operation or a </a:t>
            </a:r>
            <a:r>
              <a:rPr lang="en-US" b="1" i="0" dirty="0">
                <a:solidFill>
                  <a:srgbClr val="202124"/>
                </a:solidFill>
                <a:effectLst/>
                <a:latin typeface="Arial" panose="020B0604020202020204" pitchFamily="34" charset="0"/>
              </a:rPr>
              <a:t>data</a:t>
            </a:r>
            <a:r>
              <a:rPr lang="en-US" b="0" i="0" dirty="0">
                <a:solidFill>
                  <a:srgbClr val="202124"/>
                </a:solidFill>
                <a:effectLst/>
                <a:latin typeface="Arial" panose="020B0604020202020204" pitchFamily="34" charset="0"/>
              </a:rPr>
              <a:t> transformation. </a:t>
            </a:r>
            <a:endParaRPr lang="en-US" dirty="0">
              <a:solidFill>
                <a:srgbClr val="202124"/>
              </a:solidFill>
              <a:latin typeface="Arial" panose="020B0604020202020204" pitchFamily="34" charset="0"/>
            </a:endParaRPr>
          </a:p>
          <a:p>
            <a:pPr marL="285750" indent="-285750" algn="just">
              <a:lnSpc>
                <a:spcPct val="150000"/>
              </a:lnSpc>
              <a:buFont typeface="Wingdings" panose="05000000000000000000" pitchFamily="2" charset="2"/>
              <a:buChar char="§"/>
            </a:pPr>
            <a:r>
              <a:rPr lang="en-US" b="1" i="0" dirty="0">
                <a:solidFill>
                  <a:srgbClr val="202124"/>
                </a:solidFill>
                <a:effectLst/>
                <a:latin typeface="Arial" panose="020B0604020202020204" pitchFamily="34" charset="0"/>
              </a:rPr>
              <a:t>OLAP Services uses </a:t>
            </a:r>
            <a:r>
              <a:rPr lang="en-US" b="1" i="0" dirty="0">
                <a:solidFill>
                  <a:srgbClr val="FF0000"/>
                </a:solidFill>
                <a:effectLst/>
                <a:latin typeface="Arial" panose="020B0604020202020204" pitchFamily="34" charset="0"/>
              </a:rPr>
              <a:t>SQL ROLLUP </a:t>
            </a:r>
            <a:r>
              <a:rPr lang="en-US" b="0" i="0" dirty="0">
                <a:solidFill>
                  <a:srgbClr val="202124"/>
                </a:solidFill>
                <a:effectLst/>
                <a:latin typeface="Arial" panose="020B0604020202020204" pitchFamily="34" charset="0"/>
              </a:rPr>
              <a:t>to generate aggregate </a:t>
            </a:r>
            <a:r>
              <a:rPr lang="en-US" b="1" i="0" dirty="0">
                <a:solidFill>
                  <a:srgbClr val="202124"/>
                </a:solidFill>
                <a:effectLst/>
                <a:latin typeface="Arial" panose="020B0604020202020204" pitchFamily="34" charset="0"/>
              </a:rPr>
              <a:t>data</a:t>
            </a:r>
            <a:r>
              <a:rPr lang="en-US" b="0" i="0" dirty="0">
                <a:solidFill>
                  <a:srgbClr val="202124"/>
                </a:solidFill>
                <a:effectLst/>
                <a:latin typeface="Arial" panose="020B0604020202020204" pitchFamily="34" charset="0"/>
              </a:rPr>
              <a:t> in the </a:t>
            </a:r>
            <a:r>
              <a:rPr lang="en-US" b="1" i="0" dirty="0">
                <a:solidFill>
                  <a:srgbClr val="202124"/>
                </a:solidFill>
                <a:effectLst/>
                <a:latin typeface="Arial" panose="020B0604020202020204" pitchFamily="34" charset="0"/>
              </a:rPr>
              <a:t>data warehouse</a:t>
            </a:r>
            <a:r>
              <a:rPr lang="en-US" b="0" i="0" dirty="0">
                <a:solidFill>
                  <a:srgbClr val="202124"/>
                </a:solidFill>
                <a:effectLst/>
                <a:latin typeface="Arial" panose="020B0604020202020204" pitchFamily="34" charset="0"/>
              </a:rPr>
              <a:t>. </a:t>
            </a:r>
            <a:endParaRPr lang="en-US" dirty="0"/>
          </a:p>
        </p:txBody>
      </p:sp>
    </p:spTree>
  </p:cSld>
  <p:clrMapOvr>
    <a:masterClrMapping/>
  </p:clrMapOvr>
  <p:transition>
    <p:strips dir="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FDE86E47-3DE5-4D6B-9CD6-1354722CD93A}" type="slidenum">
              <a:rPr lang="en-US" altLang="en-GB"/>
              <a:t>19</a:t>
            </a:fld>
            <a:endParaRPr lang="en-US" altLang="en-GB"/>
          </a:p>
        </p:txBody>
      </p:sp>
      <p:sp>
        <p:nvSpPr>
          <p:cNvPr id="40962" name="Rectangle 2"/>
          <p:cNvSpPr>
            <a:spLocks noGrp="1" noChangeArrowheads="1"/>
          </p:cNvSpPr>
          <p:nvPr>
            <p:ph type="title"/>
          </p:nvPr>
        </p:nvSpPr>
        <p:spPr/>
        <p:txBody>
          <a:bodyPr>
            <a:normAutofit/>
          </a:bodyPr>
          <a:lstStyle/>
          <a:p>
            <a:r>
              <a:rPr lang="en-US" altLang="en-GB" sz="2800" b="1" dirty="0">
                <a:latin typeface="Tahoma" panose="020B0604030504040204" pitchFamily="34" charset="0"/>
                <a:ea typeface="Tahoma" panose="020B0604030504040204" pitchFamily="34" charset="0"/>
                <a:cs typeface="Tahoma" panose="020B0604030504040204" pitchFamily="34" charset="0"/>
              </a:rPr>
              <a:t>Data Warehousing: Two Distinct Issues</a:t>
            </a:r>
          </a:p>
        </p:txBody>
      </p:sp>
      <p:sp>
        <p:nvSpPr>
          <p:cNvPr id="40963" name="Rectangle 3"/>
          <p:cNvSpPr>
            <a:spLocks noGrp="1" noChangeArrowheads="1"/>
          </p:cNvSpPr>
          <p:nvPr>
            <p:ph type="body" idx="1"/>
          </p:nvPr>
        </p:nvSpPr>
        <p:spPr>
          <a:xfrm>
            <a:off x="539552" y="1719194"/>
            <a:ext cx="7975798" cy="4667249"/>
          </a:xfrm>
        </p:spPr>
        <p:txBody>
          <a:bodyPr>
            <a:normAutofit/>
          </a:bodyPr>
          <a:lstStyle/>
          <a:p>
            <a:pPr algn="just">
              <a:lnSpc>
                <a:spcPct val="200000"/>
              </a:lnSpc>
              <a:buFont typeface="Symbol" panose="05050102010706020507" pitchFamily="18" charset="2"/>
              <a:buNone/>
            </a:pPr>
            <a:r>
              <a:rPr lang="en-US" altLang="en-GB" dirty="0">
                <a:latin typeface="Tahoma" panose="020B0604030504040204" pitchFamily="34" charset="0"/>
                <a:ea typeface="Tahoma" panose="020B0604030504040204" pitchFamily="34" charset="0"/>
                <a:cs typeface="Tahoma" panose="020B0604030504040204" pitchFamily="34" charset="0"/>
              </a:rPr>
              <a:t>(1) How to get information into warehouse</a:t>
            </a:r>
          </a:p>
          <a:p>
            <a:pPr algn="just">
              <a:lnSpc>
                <a:spcPct val="200000"/>
              </a:lnSpc>
              <a:buFont typeface="Symbol" panose="05050102010706020507" pitchFamily="18" charset="2"/>
              <a:buNone/>
            </a:pPr>
            <a:r>
              <a:rPr lang="en-US" altLang="en-GB" b="1" dirty="0">
                <a:latin typeface="Tahoma" panose="020B0604030504040204" pitchFamily="34" charset="0"/>
                <a:ea typeface="Tahoma" panose="020B0604030504040204" pitchFamily="34" charset="0"/>
                <a:cs typeface="Tahoma" panose="020B0604030504040204" pitchFamily="34" charset="0"/>
              </a:rPr>
              <a:t>	</a:t>
            </a:r>
            <a:r>
              <a:rPr lang="en-US" altLang="en-GB" b="1" i="1" dirty="0">
                <a:latin typeface="Tahoma" panose="020B0604030504040204" pitchFamily="34" charset="0"/>
                <a:ea typeface="Tahoma" panose="020B0604030504040204" pitchFamily="34" charset="0"/>
                <a:cs typeface="Tahoma" panose="020B0604030504040204" pitchFamily="34" charset="0"/>
              </a:rPr>
              <a:t>“Data warehousing”</a:t>
            </a:r>
            <a:endParaRPr lang="en-US" altLang="en-GB" b="1" dirty="0">
              <a:latin typeface="Tahoma" panose="020B0604030504040204" pitchFamily="34" charset="0"/>
              <a:ea typeface="Tahoma" panose="020B0604030504040204" pitchFamily="34" charset="0"/>
              <a:cs typeface="Tahoma" panose="020B0604030504040204" pitchFamily="34" charset="0"/>
            </a:endParaRPr>
          </a:p>
          <a:p>
            <a:pPr algn="just">
              <a:lnSpc>
                <a:spcPct val="200000"/>
              </a:lnSpc>
              <a:buFont typeface="Symbol" panose="05050102010706020507" pitchFamily="18" charset="2"/>
              <a:buNone/>
            </a:pPr>
            <a:r>
              <a:rPr lang="en-US" altLang="en-GB" dirty="0">
                <a:latin typeface="Tahoma" panose="020B0604030504040204" pitchFamily="34" charset="0"/>
                <a:ea typeface="Tahoma" panose="020B0604030504040204" pitchFamily="34" charset="0"/>
                <a:cs typeface="Tahoma" panose="020B0604030504040204" pitchFamily="34" charset="0"/>
              </a:rPr>
              <a:t>(2) What to do with data once it’s in warehouse</a:t>
            </a:r>
          </a:p>
          <a:p>
            <a:pPr algn="just">
              <a:lnSpc>
                <a:spcPct val="200000"/>
              </a:lnSpc>
              <a:buFont typeface="Symbol" panose="05050102010706020507" pitchFamily="18" charset="2"/>
              <a:buNone/>
            </a:pPr>
            <a:r>
              <a:rPr lang="en-US" altLang="en-GB" b="1" dirty="0">
                <a:latin typeface="Tahoma" panose="020B0604030504040204" pitchFamily="34" charset="0"/>
                <a:ea typeface="Tahoma" panose="020B0604030504040204" pitchFamily="34" charset="0"/>
                <a:cs typeface="Tahoma" panose="020B0604030504040204" pitchFamily="34" charset="0"/>
              </a:rPr>
              <a:t>	</a:t>
            </a:r>
            <a:r>
              <a:rPr lang="en-US" altLang="en-GB" b="1" i="1" dirty="0">
                <a:latin typeface="Tahoma" panose="020B0604030504040204" pitchFamily="34" charset="0"/>
                <a:ea typeface="Tahoma" panose="020B0604030504040204" pitchFamily="34" charset="0"/>
                <a:cs typeface="Tahoma" panose="020B0604030504040204" pitchFamily="34" charset="0"/>
              </a:rPr>
              <a:t>“Warehouse DBMS”</a:t>
            </a:r>
            <a:endParaRPr lang="en-US" altLang="en-GB" b="1"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8B25DF85-7625-422B-91B1-399F6C52D892}" type="slidenum">
              <a:rPr lang="en-US" altLang="en-GB"/>
              <a:t>20</a:t>
            </a:fld>
            <a:endParaRPr lang="en-US" altLang="en-GB"/>
          </a:p>
        </p:txBody>
      </p:sp>
      <p:sp>
        <p:nvSpPr>
          <p:cNvPr id="48130" name="Rectangle 2"/>
          <p:cNvSpPr>
            <a:spLocks noGrp="1" noChangeArrowheads="1"/>
          </p:cNvSpPr>
          <p:nvPr>
            <p:ph type="title"/>
          </p:nvPr>
        </p:nvSpPr>
        <p:spPr>
          <a:xfrm>
            <a:off x="1464470" y="381000"/>
            <a:ext cx="6912768" cy="914400"/>
          </a:xfrm>
        </p:spPr>
        <p:txBody>
          <a:bodyPr/>
          <a:lstStyle/>
          <a:p>
            <a:r>
              <a:rPr lang="en-US" altLang="en-GB" b="1" dirty="0">
                <a:latin typeface="Tahoma" panose="020B0604030504040204" pitchFamily="34" charset="0"/>
                <a:ea typeface="Tahoma" panose="020B0604030504040204" pitchFamily="34" charset="0"/>
                <a:cs typeface="Tahoma" panose="020B0604030504040204" pitchFamily="34" charset="0"/>
              </a:rPr>
              <a:t>Issues in Data Warehousing</a:t>
            </a:r>
          </a:p>
        </p:txBody>
      </p:sp>
      <p:sp>
        <p:nvSpPr>
          <p:cNvPr id="48131" name="Rectangle 3"/>
          <p:cNvSpPr>
            <a:spLocks noGrp="1" noChangeArrowheads="1"/>
          </p:cNvSpPr>
          <p:nvPr>
            <p:ph type="body" idx="1"/>
          </p:nvPr>
        </p:nvSpPr>
        <p:spPr>
          <a:xfrm>
            <a:off x="1034654" y="1372772"/>
            <a:ext cx="7772400" cy="5105400"/>
          </a:xfrm>
        </p:spPr>
        <p:txBody>
          <a:bodyPr>
            <a:normAutofit/>
          </a:bodyPr>
          <a:lstStyle/>
          <a:p>
            <a:pPr algn="just">
              <a:lnSpc>
                <a:spcPct val="150000"/>
              </a:lnSpc>
            </a:pPr>
            <a:r>
              <a:rPr lang="en-US" altLang="en-GB" sz="2400" dirty="0"/>
              <a:t>Warehouse Design</a:t>
            </a:r>
          </a:p>
          <a:p>
            <a:pPr algn="just">
              <a:lnSpc>
                <a:spcPct val="150000"/>
              </a:lnSpc>
            </a:pPr>
            <a:r>
              <a:rPr lang="en-US" altLang="en-GB" sz="2400" dirty="0"/>
              <a:t>Extraction</a:t>
            </a:r>
          </a:p>
          <a:p>
            <a:pPr lvl="1" algn="just">
              <a:lnSpc>
                <a:spcPct val="150000"/>
              </a:lnSpc>
              <a:buFont typeface="Wingdings" panose="05000000000000000000" pitchFamily="2" charset="2"/>
              <a:buChar char="§"/>
            </a:pPr>
            <a:r>
              <a:rPr lang="en-US" altLang="en-GB" sz="2400" dirty="0"/>
              <a:t>Wrappers, monitors (change detectors)</a:t>
            </a:r>
          </a:p>
          <a:p>
            <a:pPr algn="just">
              <a:lnSpc>
                <a:spcPct val="150000"/>
              </a:lnSpc>
            </a:pPr>
            <a:r>
              <a:rPr lang="en-US" altLang="en-GB" sz="2400" dirty="0"/>
              <a:t>Integration</a:t>
            </a:r>
          </a:p>
          <a:p>
            <a:pPr lvl="1" algn="just">
              <a:lnSpc>
                <a:spcPct val="150000"/>
              </a:lnSpc>
              <a:buFont typeface="Wingdings" panose="05000000000000000000" pitchFamily="2" charset="2"/>
              <a:buChar char="§"/>
            </a:pPr>
            <a:r>
              <a:rPr lang="en-US" altLang="en-GB" sz="2400" dirty="0"/>
              <a:t>Cleansing &amp; merging</a:t>
            </a:r>
          </a:p>
          <a:p>
            <a:pPr algn="just">
              <a:lnSpc>
                <a:spcPct val="150000"/>
              </a:lnSpc>
            </a:pPr>
            <a:r>
              <a:rPr lang="en-US" altLang="en-GB" sz="2400" dirty="0"/>
              <a:t>Warehousing specification &amp; Maintenance</a:t>
            </a:r>
          </a:p>
          <a:p>
            <a:pPr algn="just">
              <a:lnSpc>
                <a:spcPct val="150000"/>
              </a:lnSpc>
            </a:pPr>
            <a:r>
              <a:rPr lang="en-US" altLang="en-GB" sz="2400" dirty="0"/>
              <a:t>Optimizations</a:t>
            </a:r>
          </a:p>
          <a:p>
            <a:pPr algn="just">
              <a:lnSpc>
                <a:spcPct val="150000"/>
              </a:lnSpc>
            </a:pPr>
            <a:r>
              <a:rPr lang="en-US" altLang="en-GB" sz="2400" dirty="0"/>
              <a:t>Miscellaneous (e.g., evolution)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827405" y="2720975"/>
            <a:ext cx="7463790"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4000" b="1" dirty="0">
                <a:solidFill>
                  <a:srgbClr val="000000"/>
                </a:solidFill>
                <a:latin typeface="Univers LT 47 CondensedLt"/>
              </a:rPr>
              <a:t>OLAP – Online Analytical Processing </a:t>
            </a:r>
            <a:endParaRPr lang="en-US" altLang="en-US" sz="4000" b="1" dirty="0"/>
          </a:p>
        </p:txBody>
      </p:sp>
      <p:sp>
        <p:nvSpPr>
          <p:cNvPr id="3" name="Slide Number Placeholder 2"/>
          <p:cNvSpPr>
            <a:spLocks noGrp="1"/>
          </p:cNvSpPr>
          <p:nvPr>
            <p:ph type="sldNum" sz="quarter" idx="12"/>
          </p:nvPr>
        </p:nvSpPr>
        <p:spPr/>
        <p:txBody>
          <a:bodyPr/>
          <a:lstStyle/>
          <a:p>
            <a:pPr>
              <a:defRPr/>
            </a:pPr>
            <a:fld id="{36C509BE-F34F-4EEC-87B6-BC0DBCFBBA25}"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1090323" y="319087"/>
            <a:ext cx="637963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3200" b="1" dirty="0">
                <a:solidFill>
                  <a:srgbClr val="000000"/>
                </a:solidFill>
                <a:latin typeface="Univers LT 47 CondensedLt"/>
              </a:rPr>
              <a:t>OLAP – Online Analytical Processing </a:t>
            </a:r>
            <a:endParaRPr lang="en-US" altLang="en-US" sz="3200" b="1" dirty="0"/>
          </a:p>
        </p:txBody>
      </p:sp>
      <p:sp>
        <p:nvSpPr>
          <p:cNvPr id="39939" name="Rectangle 2"/>
          <p:cNvSpPr>
            <a:spLocks noChangeArrowheads="1"/>
          </p:cNvSpPr>
          <p:nvPr/>
        </p:nvSpPr>
        <p:spPr bwMode="auto">
          <a:xfrm>
            <a:off x="360680" y="957580"/>
            <a:ext cx="858266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lnSpc>
                <a:spcPct val="200000"/>
              </a:lnSpc>
              <a:buFont typeface="Wingdings" panose="05000000000000000000" pitchFamily="2" charset="2"/>
              <a:buChar char="§"/>
            </a:pPr>
            <a:r>
              <a:rPr lang="en-US" altLang="en-US" sz="2400" dirty="0">
                <a:latin typeface="Univers LT 47 CondensedLt"/>
              </a:rPr>
              <a:t>Online analytical processing, or OLAP is an </a:t>
            </a:r>
            <a:r>
              <a:rPr lang="en-US" altLang="en-US" sz="2400" b="1" dirty="0">
                <a:solidFill>
                  <a:srgbClr val="FF0000"/>
                </a:solidFill>
                <a:latin typeface="Univers LT 47 CondensedLt"/>
              </a:rPr>
              <a:t>approach to answering multi-dimensional analytical (MDA) queries swiftly</a:t>
            </a:r>
            <a:r>
              <a:rPr lang="en-US" altLang="en-US" sz="2400" dirty="0">
                <a:latin typeface="Univers LT 47 CondensedLt"/>
              </a:rPr>
              <a:t>.</a:t>
            </a:r>
          </a:p>
          <a:p>
            <a:pPr algn="just">
              <a:lnSpc>
                <a:spcPct val="200000"/>
              </a:lnSpc>
              <a:buFont typeface="Wingdings" panose="05000000000000000000" pitchFamily="2" charset="2"/>
              <a:buChar char="§"/>
            </a:pPr>
            <a:r>
              <a:rPr lang="en-US" altLang="en-US" sz="2400" dirty="0">
                <a:latin typeface="Univers LT 47 CondensedLt"/>
              </a:rPr>
              <a:t>OLAP tools enable users </a:t>
            </a:r>
            <a:r>
              <a:rPr lang="en-US" altLang="en-US" sz="2400" b="1" dirty="0">
                <a:solidFill>
                  <a:srgbClr val="FF0000"/>
                </a:solidFill>
                <a:latin typeface="Univers LT 47 CondensedLt"/>
              </a:rPr>
              <a:t>to analyze multidimensional data interactively from multiple perspectives</a:t>
            </a:r>
            <a:r>
              <a:rPr lang="en-US" altLang="en-US" sz="2400" b="1" dirty="0">
                <a:latin typeface="Univers LT 47 CondensedLt"/>
              </a:rPr>
              <a:t>. </a:t>
            </a:r>
          </a:p>
          <a:p>
            <a:pPr algn="just">
              <a:lnSpc>
                <a:spcPct val="200000"/>
              </a:lnSpc>
              <a:buFont typeface="Wingdings" panose="05000000000000000000" pitchFamily="2" charset="2"/>
              <a:buChar char="§"/>
            </a:pPr>
            <a:r>
              <a:rPr lang="en-US" altLang="en-US" sz="2400" dirty="0">
                <a:latin typeface="Univers LT 47 CondensedLt"/>
              </a:rPr>
              <a:t>OLAP consists of</a:t>
            </a:r>
            <a:r>
              <a:rPr lang="en-US" altLang="en-US" sz="2400" b="1" dirty="0">
                <a:latin typeface="Univers LT 47 CondensedLt"/>
              </a:rPr>
              <a:t> three </a:t>
            </a:r>
            <a:r>
              <a:rPr lang="en-US" altLang="en-US" sz="2400" dirty="0">
                <a:latin typeface="Univers LT 47 CondensedLt"/>
              </a:rPr>
              <a:t>basic analytical operations: </a:t>
            </a:r>
            <a:r>
              <a:rPr lang="en-US" altLang="en-US" sz="2400" b="1" dirty="0">
                <a:solidFill>
                  <a:srgbClr val="FF0000"/>
                </a:solidFill>
                <a:latin typeface="Univers LT 47 CondensedLt"/>
              </a:rPr>
              <a:t>consolidation</a:t>
            </a:r>
            <a:r>
              <a:rPr lang="en-US" altLang="en-US" sz="2400" dirty="0">
                <a:solidFill>
                  <a:srgbClr val="FF0000"/>
                </a:solidFill>
                <a:latin typeface="Univers LT 47 CondensedLt"/>
              </a:rPr>
              <a:t> (roll-up), </a:t>
            </a:r>
            <a:r>
              <a:rPr lang="en-US" altLang="en-US" sz="2400" b="1" dirty="0">
                <a:solidFill>
                  <a:srgbClr val="FF0000"/>
                </a:solidFill>
                <a:latin typeface="Univers LT 47 CondensedLt"/>
              </a:rPr>
              <a:t>drill-down</a:t>
            </a:r>
            <a:r>
              <a:rPr lang="en-US" altLang="en-US" sz="2400" dirty="0">
                <a:solidFill>
                  <a:srgbClr val="FF0000"/>
                </a:solidFill>
                <a:latin typeface="Univers LT 47 CondensedLt"/>
              </a:rPr>
              <a:t>, </a:t>
            </a:r>
            <a:r>
              <a:rPr lang="en-US" altLang="en-US" sz="2400" dirty="0">
                <a:latin typeface="Univers LT 47 CondensedLt"/>
              </a:rPr>
              <a:t>and</a:t>
            </a:r>
            <a:r>
              <a:rPr lang="en-US" altLang="en-US" sz="2400" dirty="0">
                <a:solidFill>
                  <a:srgbClr val="FF0000"/>
                </a:solidFill>
                <a:latin typeface="Univers LT 47 CondensedLt"/>
              </a:rPr>
              <a:t> </a:t>
            </a:r>
            <a:r>
              <a:rPr lang="en-US" altLang="en-US" sz="2400" b="1" dirty="0">
                <a:solidFill>
                  <a:srgbClr val="FF0000"/>
                </a:solidFill>
                <a:latin typeface="Univers LT 47 CondensedLt"/>
              </a:rPr>
              <a:t>slicing </a:t>
            </a:r>
            <a:r>
              <a:rPr lang="en-US" altLang="en-US" sz="2400" dirty="0">
                <a:solidFill>
                  <a:srgbClr val="FF0000"/>
                </a:solidFill>
                <a:latin typeface="Univers LT 47 CondensedLt"/>
              </a:rPr>
              <a:t>and </a:t>
            </a:r>
            <a:r>
              <a:rPr lang="en-US" altLang="en-US" sz="2400" b="1" dirty="0">
                <a:solidFill>
                  <a:srgbClr val="FF0000"/>
                </a:solidFill>
                <a:latin typeface="Univers LT 47 CondensedLt"/>
              </a:rPr>
              <a:t>dicing</a:t>
            </a:r>
            <a:r>
              <a:rPr lang="en-US" altLang="en-US" sz="2400" dirty="0">
                <a:solidFill>
                  <a:srgbClr val="FF0000"/>
                </a:solidFill>
                <a:latin typeface="Univers LT 47 CondensedLt"/>
              </a:rPr>
              <a:t>.</a:t>
            </a:r>
          </a:p>
        </p:txBody>
      </p:sp>
      <p:sp>
        <p:nvSpPr>
          <p:cNvPr id="3" name="Slide Number Placeholder 2"/>
          <p:cNvSpPr>
            <a:spLocks noGrp="1"/>
          </p:cNvSpPr>
          <p:nvPr>
            <p:ph type="sldNum" sz="quarter" idx="12"/>
          </p:nvPr>
        </p:nvSpPr>
        <p:spPr/>
        <p:txBody>
          <a:bodyPr/>
          <a:lstStyle/>
          <a:p>
            <a:pPr>
              <a:defRPr/>
            </a:pPr>
            <a:fld id="{36C509BE-F34F-4EEC-87B6-BC0DBCFBBA25}"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ChangeArrowheads="1"/>
          </p:cNvSpPr>
          <p:nvPr/>
        </p:nvSpPr>
        <p:spPr bwMode="auto">
          <a:xfrm>
            <a:off x="827584" y="1268760"/>
            <a:ext cx="7344816" cy="12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lnSpc>
                <a:spcPct val="200000"/>
              </a:lnSpc>
              <a:buFont typeface="Wingdings" panose="05000000000000000000" pitchFamily="2" charset="2"/>
              <a:buChar char="§"/>
            </a:pPr>
            <a:r>
              <a:rPr lang="en-US" altLang="en-US" sz="2000" dirty="0">
                <a:solidFill>
                  <a:srgbClr val="FF0000"/>
                </a:solidFill>
                <a:latin typeface="Univers LT 47 CondensedLt"/>
              </a:rPr>
              <a:t> </a:t>
            </a:r>
            <a:r>
              <a:rPr lang="en-US" altLang="en-US" sz="2000" b="1" dirty="0">
                <a:solidFill>
                  <a:srgbClr val="FF0000"/>
                </a:solidFill>
                <a:latin typeface="Univers LT 47 CondensedLt"/>
              </a:rPr>
              <a:t>Consolidation</a:t>
            </a:r>
            <a:r>
              <a:rPr lang="en-US" altLang="en-US" sz="2000" dirty="0">
                <a:solidFill>
                  <a:srgbClr val="FF0000"/>
                </a:solidFill>
                <a:latin typeface="Univers LT 47 CondensedLt"/>
              </a:rPr>
              <a:t> </a:t>
            </a:r>
            <a:r>
              <a:rPr lang="en-US" altLang="en-US" sz="2000" dirty="0">
                <a:latin typeface="Univers LT 47 CondensedLt"/>
              </a:rPr>
              <a:t>involves the </a:t>
            </a:r>
            <a:r>
              <a:rPr lang="en-US" altLang="en-US" sz="2000" b="1" dirty="0">
                <a:latin typeface="Univers LT 47 CondensedLt"/>
              </a:rPr>
              <a:t>aggregation of data that can be accumulated and computed in one or more dimensions. </a:t>
            </a:r>
            <a:endParaRPr lang="en-US" altLang="en-US" sz="2000" b="1" dirty="0"/>
          </a:p>
        </p:txBody>
      </p:sp>
      <p:sp>
        <p:nvSpPr>
          <p:cNvPr id="3" name="Slide Number Placeholder 2"/>
          <p:cNvSpPr>
            <a:spLocks noGrp="1"/>
          </p:cNvSpPr>
          <p:nvPr>
            <p:ph type="sldNum" sz="quarter" idx="12"/>
          </p:nvPr>
        </p:nvSpPr>
        <p:spPr/>
        <p:txBody>
          <a:bodyPr/>
          <a:lstStyle/>
          <a:p>
            <a:pPr>
              <a:defRPr/>
            </a:pPr>
            <a:fld id="{87BB9864-2482-4E54-BF5E-F490CC15E1D9}"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4" name="Rectangle 70"/>
          <p:cNvSpPr>
            <a:spLocks noGrp="1" noRot="1" noChangeAspect="1" noMove="1" noResize="1" noEditPoints="1" noAdjustHandles="1" noChangeArrowheads="1" noChangeShapeType="1" noTextEdit="1"/>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467487" y="2132838"/>
            <a:ext cx="2571750" cy="3410712"/>
          </a:xfrm>
          <a:prstGeom prst="rect">
            <a:avLst/>
          </a:prstGeom>
        </p:spPr>
        <p:txBody>
          <a:bodyPr vert="horz" lIns="91440" tIns="45720" rIns="91440" bIns="45720" rtlCol="0" anchor="t">
            <a:normAutofit lnSpcReduction="10000"/>
          </a:bodyPr>
          <a:lstStyle/>
          <a:p>
            <a:pPr marL="285750" indent="-228600" algn="just">
              <a:lnSpc>
                <a:spcPct val="150000"/>
              </a:lnSpc>
              <a:spcAft>
                <a:spcPts val="600"/>
              </a:spcAft>
              <a:buFont typeface="Arial" panose="020B0604020202020204" pitchFamily="34" charset="0"/>
              <a:buChar char="•"/>
            </a:pPr>
            <a:r>
              <a:rPr lang="en-US" sz="1900" b="0" i="0" dirty="0">
                <a:effectLst/>
              </a:rPr>
              <a:t>OLAP databases are divided into </a:t>
            </a:r>
            <a:r>
              <a:rPr lang="en-US" sz="1900" b="1" i="0" dirty="0">
                <a:solidFill>
                  <a:srgbClr val="FF0000"/>
                </a:solidFill>
                <a:effectLst/>
              </a:rPr>
              <a:t>one or more cubes</a:t>
            </a:r>
            <a:r>
              <a:rPr lang="en-US" sz="1900" b="0" i="0" dirty="0">
                <a:solidFill>
                  <a:srgbClr val="FF0000"/>
                </a:solidFill>
                <a:effectLst/>
              </a:rPr>
              <a:t>. </a:t>
            </a:r>
          </a:p>
          <a:p>
            <a:pPr marL="285750" indent="-228600" algn="just">
              <a:lnSpc>
                <a:spcPct val="150000"/>
              </a:lnSpc>
              <a:spcAft>
                <a:spcPts val="600"/>
              </a:spcAft>
              <a:buFont typeface="Arial" panose="020B0604020202020204" pitchFamily="34" charset="0"/>
              <a:buChar char="•"/>
            </a:pPr>
            <a:r>
              <a:rPr lang="en-US" sz="1900" b="1" i="0" dirty="0">
                <a:effectLst/>
              </a:rPr>
              <a:t>The cubes </a:t>
            </a:r>
            <a:r>
              <a:rPr lang="en-US" sz="1900" b="0" i="0" dirty="0">
                <a:effectLst/>
              </a:rPr>
              <a:t>are designed in such a way that creating and viewing reports become easy.</a:t>
            </a:r>
            <a:endParaRPr lang="en-US" sz="1900" dirty="0"/>
          </a:p>
        </p:txBody>
      </p:sp>
      <p:pic>
        <p:nvPicPr>
          <p:cNvPr id="1026" name="Picture 2" descr="Diagram&#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518154" y="1628800"/>
            <a:ext cx="5177790" cy="441675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62BE4758-BB84-4083-99BB-4E2B11E348E5}" type="slidenum">
              <a:rPr lang="en-US" altLang="en-US" sz="1200" smtClean="0"/>
              <a:t>24</a:t>
            </a:fld>
            <a:endParaRPr lang="en-US" altLang="en-US" sz="12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0" name="Rectangle 79"/>
          <p:cNvSpPr>
            <a:spLocks noGrp="1" noRot="1" noChangeAspect="1" noMove="1" noResize="1" noEditPoints="1" noAdjustHandles="1" noChangeArrowheads="1" noChangeShapeType="1" noTextEdit="1"/>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Diagram&#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3202" y="1682775"/>
            <a:ext cx="4094226" cy="34924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860032" y="2492896"/>
            <a:ext cx="3614166" cy="3550789"/>
          </a:xfrm>
          <a:prstGeom prst="rect">
            <a:avLst/>
          </a:prstGeom>
        </p:spPr>
        <p:txBody>
          <a:bodyPr vert="horz" lIns="91440" tIns="45720" rIns="91440" bIns="45720" rtlCol="0" anchor="t">
            <a:normAutofit fontScale="85000" lnSpcReduction="10000"/>
          </a:bodyPr>
          <a:lstStyle/>
          <a:p>
            <a:pPr indent="-228600" algn="just">
              <a:lnSpc>
                <a:spcPct val="150000"/>
              </a:lnSpc>
              <a:spcAft>
                <a:spcPts val="600"/>
              </a:spcAft>
              <a:buFont typeface="Arial" panose="020B0604020202020204" pitchFamily="34" charset="0"/>
              <a:buChar char="•"/>
            </a:pPr>
            <a:r>
              <a:rPr lang="en-US" sz="1900" b="0" i="0" dirty="0">
                <a:effectLst/>
              </a:rPr>
              <a:t>At the core of the OLAP concept, is an </a:t>
            </a:r>
            <a:r>
              <a:rPr lang="en-US" sz="1900" b="1" i="0" dirty="0">
                <a:effectLst/>
              </a:rPr>
              <a:t>OLAP Cube. </a:t>
            </a:r>
          </a:p>
          <a:p>
            <a:pPr indent="-228600" algn="just">
              <a:lnSpc>
                <a:spcPct val="150000"/>
              </a:lnSpc>
              <a:spcAft>
                <a:spcPts val="600"/>
              </a:spcAft>
              <a:buFont typeface="Arial" panose="020B0604020202020204" pitchFamily="34" charset="0"/>
              <a:buChar char="•"/>
            </a:pPr>
            <a:r>
              <a:rPr lang="en-US" sz="1900" b="0" i="0" dirty="0">
                <a:effectLst/>
              </a:rPr>
              <a:t>The OLAP cube is a </a:t>
            </a:r>
            <a:r>
              <a:rPr lang="en-US" sz="1900" b="1" i="0" dirty="0">
                <a:effectLst/>
              </a:rPr>
              <a:t>data structure optimized for very quick data analysis</a:t>
            </a:r>
            <a:r>
              <a:rPr lang="en-US" sz="1900" b="0" i="0" dirty="0">
                <a:effectLst/>
              </a:rPr>
              <a:t>.</a:t>
            </a:r>
          </a:p>
          <a:p>
            <a:pPr indent="-228600" algn="just">
              <a:lnSpc>
                <a:spcPct val="150000"/>
              </a:lnSpc>
              <a:spcAft>
                <a:spcPts val="600"/>
              </a:spcAft>
              <a:buFont typeface="Arial" panose="020B0604020202020204" pitchFamily="34" charset="0"/>
              <a:buChar char="•"/>
            </a:pPr>
            <a:r>
              <a:rPr lang="en-US" sz="1900" b="1" i="0" dirty="0">
                <a:solidFill>
                  <a:srgbClr val="FF0000"/>
                </a:solidFill>
                <a:effectLst/>
              </a:rPr>
              <a:t>The OLAP Cube </a:t>
            </a:r>
            <a:r>
              <a:rPr lang="en-US" sz="1900" b="0" i="0" dirty="0">
                <a:effectLst/>
              </a:rPr>
              <a:t>consists of numeric </a:t>
            </a:r>
            <a:r>
              <a:rPr lang="en-US" sz="1900" b="1" i="0" dirty="0">
                <a:effectLst/>
              </a:rPr>
              <a:t>facts</a:t>
            </a:r>
            <a:r>
              <a:rPr lang="en-US" sz="1900" b="0" i="0" dirty="0">
                <a:effectLst/>
              </a:rPr>
              <a:t> called </a:t>
            </a:r>
            <a:r>
              <a:rPr lang="en-US" sz="1900" b="1" i="0" dirty="0">
                <a:solidFill>
                  <a:srgbClr val="FF0000"/>
                </a:solidFill>
                <a:effectLst/>
              </a:rPr>
              <a:t>measures</a:t>
            </a:r>
            <a:r>
              <a:rPr lang="en-US" sz="1900" b="0" i="0" dirty="0">
                <a:effectLst/>
              </a:rPr>
              <a:t> which are categorized </a:t>
            </a:r>
            <a:r>
              <a:rPr lang="en-US" sz="1900" b="1" i="0" dirty="0">
                <a:solidFill>
                  <a:srgbClr val="FF0000"/>
                </a:solidFill>
                <a:effectLst/>
              </a:rPr>
              <a:t>by dimensions. </a:t>
            </a:r>
          </a:p>
          <a:p>
            <a:pPr indent="-228600" algn="just">
              <a:lnSpc>
                <a:spcPct val="150000"/>
              </a:lnSpc>
              <a:spcAft>
                <a:spcPts val="600"/>
              </a:spcAft>
              <a:buFont typeface="Arial" panose="020B0604020202020204" pitchFamily="34" charset="0"/>
              <a:buChar char="•"/>
            </a:pPr>
            <a:r>
              <a:rPr lang="en-US" sz="1900" b="0" i="0" dirty="0">
                <a:effectLst/>
              </a:rPr>
              <a:t>OLAP Cube is also called the </a:t>
            </a:r>
            <a:r>
              <a:rPr lang="en-US" sz="1900" b="1" i="0" dirty="0">
                <a:effectLst/>
              </a:rPr>
              <a:t>hypercube</a:t>
            </a:r>
            <a:r>
              <a:rPr lang="en-US" sz="1900" b="0" i="0" dirty="0">
                <a:effectLst/>
              </a:rPr>
              <a:t>.</a:t>
            </a:r>
          </a:p>
        </p:txBody>
      </p:sp>
      <p:sp>
        <p:nvSpPr>
          <p:cNvPr id="2" name="Slide Number Placeholder 1"/>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62BE4758-BB84-4083-99BB-4E2B11E348E5}" type="slidenum">
              <a:rPr lang="en-US" altLang="en-US" sz="1200" smtClean="0"/>
              <a:t>25</a:t>
            </a:fld>
            <a:endParaRPr lang="en-US" altLang="en-US"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2BE4758-BB84-4083-99BB-4E2B11E348E5}" type="slidenum">
              <a:rPr lang="en-US" altLang="en-US" smtClean="0"/>
              <a:t>26</a:t>
            </a:fld>
            <a:endParaRPr lang="en-US" altLang="en-US"/>
          </a:p>
        </p:txBody>
      </p:sp>
      <p:sp>
        <p:nvSpPr>
          <p:cNvPr id="4" name="TextBox 3"/>
          <p:cNvSpPr txBox="1"/>
          <p:nvPr/>
        </p:nvSpPr>
        <p:spPr>
          <a:xfrm>
            <a:off x="755576" y="1197823"/>
            <a:ext cx="7848872" cy="5158528"/>
          </a:xfrm>
          <a:prstGeom prst="rect">
            <a:avLst/>
          </a:prstGeom>
          <a:noFill/>
        </p:spPr>
        <p:txBody>
          <a:bodyPr wrap="square">
            <a:spAutoFit/>
          </a:bodyPr>
          <a:lstStyle/>
          <a:p>
            <a:pPr marL="285750" indent="-285750" algn="just">
              <a:lnSpc>
                <a:spcPct val="200000"/>
              </a:lnSpc>
              <a:buFont typeface="Wingdings" panose="05000000000000000000" pitchFamily="2" charset="2"/>
              <a:buChar char="§"/>
            </a:pPr>
            <a:r>
              <a:rPr lang="en-US" sz="2400" b="0" i="0" dirty="0">
                <a:solidFill>
                  <a:srgbClr val="222222"/>
                </a:solidFill>
                <a:effectLst/>
                <a:latin typeface="Source Sans Pro" panose="020B0503030403020204" pitchFamily="34" charset="0"/>
              </a:rPr>
              <a:t>A Data warehouse </a:t>
            </a:r>
            <a:r>
              <a:rPr lang="en-US" sz="2400" b="1" i="0" dirty="0">
                <a:solidFill>
                  <a:srgbClr val="222222"/>
                </a:solidFill>
                <a:effectLst/>
                <a:latin typeface="Source Sans Pro" panose="020B0503030403020204" pitchFamily="34" charset="0"/>
              </a:rPr>
              <a:t>would extract information </a:t>
            </a:r>
            <a:r>
              <a:rPr lang="en-US" sz="2400" b="0" i="0" dirty="0">
                <a:solidFill>
                  <a:srgbClr val="222222"/>
                </a:solidFill>
                <a:effectLst/>
                <a:latin typeface="Source Sans Pro" panose="020B0503030403020204" pitchFamily="34" charset="0"/>
              </a:rPr>
              <a:t>from </a:t>
            </a:r>
            <a:r>
              <a:rPr lang="en-US" sz="2400" b="1" i="0" dirty="0">
                <a:solidFill>
                  <a:srgbClr val="FF0000"/>
                </a:solidFill>
                <a:effectLst/>
                <a:latin typeface="Source Sans Pro" panose="020B0503030403020204" pitchFamily="34" charset="0"/>
              </a:rPr>
              <a:t>multiple data sources and formats </a:t>
            </a:r>
            <a:r>
              <a:rPr lang="en-US" sz="2400" b="0" i="0" dirty="0">
                <a:solidFill>
                  <a:srgbClr val="222222"/>
                </a:solidFill>
                <a:effectLst/>
                <a:latin typeface="Source Sans Pro" panose="020B0503030403020204" pitchFamily="34" charset="0"/>
              </a:rPr>
              <a:t>like </a:t>
            </a:r>
            <a:r>
              <a:rPr lang="en-US" sz="2400" b="1" i="0" dirty="0">
                <a:solidFill>
                  <a:srgbClr val="222222"/>
                </a:solidFill>
                <a:effectLst/>
                <a:latin typeface="Source Sans Pro" panose="020B0503030403020204" pitchFamily="34" charset="0"/>
              </a:rPr>
              <a:t>text files, excel sheet, multimedia files, etc.</a:t>
            </a:r>
          </a:p>
          <a:p>
            <a:pPr marL="285750" indent="-285750" algn="just">
              <a:lnSpc>
                <a:spcPct val="200000"/>
              </a:lnSpc>
              <a:buFont typeface="Wingdings" panose="05000000000000000000" pitchFamily="2" charset="2"/>
              <a:buChar char="§"/>
            </a:pPr>
            <a:r>
              <a:rPr lang="en-US" sz="2400" b="0" i="0" dirty="0">
                <a:solidFill>
                  <a:srgbClr val="222222"/>
                </a:solidFill>
                <a:effectLst/>
                <a:latin typeface="Source Sans Pro" panose="020B0503030403020204" pitchFamily="34" charset="0"/>
              </a:rPr>
              <a:t>The extracted data is </a:t>
            </a:r>
            <a:r>
              <a:rPr lang="en-US" sz="2400" b="1" i="0" dirty="0">
                <a:solidFill>
                  <a:srgbClr val="FF0000"/>
                </a:solidFill>
                <a:effectLst/>
                <a:latin typeface="Source Sans Pro" panose="020B0503030403020204" pitchFamily="34" charset="0"/>
              </a:rPr>
              <a:t>cleaned and transformed</a:t>
            </a:r>
            <a:r>
              <a:rPr lang="en-US" sz="2400" b="0" i="0" dirty="0">
                <a:solidFill>
                  <a:srgbClr val="222222"/>
                </a:solidFill>
                <a:effectLst/>
                <a:latin typeface="Source Sans Pro" panose="020B0503030403020204" pitchFamily="34" charset="0"/>
              </a:rPr>
              <a:t>. </a:t>
            </a:r>
          </a:p>
          <a:p>
            <a:pPr marL="285750" indent="-285750" algn="just">
              <a:lnSpc>
                <a:spcPct val="200000"/>
              </a:lnSpc>
              <a:buFont typeface="Wingdings" panose="05000000000000000000" pitchFamily="2" charset="2"/>
              <a:buChar char="§"/>
            </a:pPr>
            <a:r>
              <a:rPr lang="en-US" sz="2400" b="0" i="0" dirty="0">
                <a:solidFill>
                  <a:srgbClr val="222222"/>
                </a:solidFill>
                <a:effectLst/>
                <a:latin typeface="Source Sans Pro" panose="020B0503030403020204" pitchFamily="34" charset="0"/>
              </a:rPr>
              <a:t>Data is loaded into an </a:t>
            </a:r>
            <a:r>
              <a:rPr lang="en-US" sz="2400" b="1" i="0" dirty="0">
                <a:solidFill>
                  <a:srgbClr val="222222"/>
                </a:solidFill>
                <a:effectLst/>
                <a:latin typeface="Source Sans Pro" panose="020B0503030403020204" pitchFamily="34" charset="0"/>
              </a:rPr>
              <a:t>OLAP server (or OLAP cube) </a:t>
            </a:r>
            <a:r>
              <a:rPr lang="en-US" sz="2400" b="0" i="0" dirty="0">
                <a:solidFill>
                  <a:srgbClr val="222222"/>
                </a:solidFill>
                <a:effectLst/>
                <a:latin typeface="Source Sans Pro" panose="020B0503030403020204" pitchFamily="34" charset="0"/>
              </a:rPr>
              <a:t>where information is </a:t>
            </a:r>
            <a:r>
              <a:rPr lang="en-US" sz="2400" b="1" i="0" dirty="0">
                <a:solidFill>
                  <a:srgbClr val="222222"/>
                </a:solidFill>
                <a:effectLst/>
                <a:latin typeface="Source Sans Pro" panose="020B0503030403020204" pitchFamily="34" charset="0"/>
              </a:rPr>
              <a:t>pre-calculated</a:t>
            </a:r>
            <a:r>
              <a:rPr lang="en-US" sz="2400" b="0" i="0" dirty="0">
                <a:solidFill>
                  <a:srgbClr val="222222"/>
                </a:solidFill>
                <a:effectLst/>
                <a:latin typeface="Source Sans Pro" panose="020B0503030403020204" pitchFamily="34" charset="0"/>
              </a:rPr>
              <a:t> in advance for </a:t>
            </a:r>
            <a:r>
              <a:rPr lang="en-US" sz="2400" b="1" i="0" dirty="0">
                <a:solidFill>
                  <a:srgbClr val="222222"/>
                </a:solidFill>
                <a:effectLst/>
                <a:latin typeface="Source Sans Pro" panose="020B0503030403020204" pitchFamily="34" charset="0"/>
              </a:rPr>
              <a:t>further analysis</a:t>
            </a:r>
            <a:r>
              <a:rPr lang="en-US" sz="2400" b="0" i="0" dirty="0">
                <a:solidFill>
                  <a:srgbClr val="222222"/>
                </a:solidFill>
                <a:effectLst/>
                <a:latin typeface="Source Sans Pro" panose="020B0503030403020204" pitchFamily="34" charset="0"/>
              </a:rPr>
              <a:t>.</a:t>
            </a:r>
          </a:p>
        </p:txBody>
      </p:sp>
      <p:sp>
        <p:nvSpPr>
          <p:cNvPr id="6" name="TextBox 5"/>
          <p:cNvSpPr txBox="1"/>
          <p:nvPr/>
        </p:nvSpPr>
        <p:spPr>
          <a:xfrm>
            <a:off x="2286000" y="404664"/>
            <a:ext cx="4572000" cy="523220"/>
          </a:xfrm>
          <a:prstGeom prst="rect">
            <a:avLst/>
          </a:prstGeom>
          <a:noFill/>
        </p:spPr>
        <p:txBody>
          <a:bodyPr wrap="square">
            <a:spAutoFit/>
          </a:bodyPr>
          <a:lstStyle/>
          <a:p>
            <a:pPr algn="l"/>
            <a:r>
              <a:rPr lang="en-US" sz="2800" b="1" i="0" dirty="0">
                <a:solidFill>
                  <a:srgbClr val="222222"/>
                </a:solidFill>
                <a:effectLst/>
                <a:latin typeface="Source Sans Pro" panose="020B0503030403020204" pitchFamily="34" charset="0"/>
              </a:rPr>
              <a:t>How does it work?</a:t>
            </a:r>
            <a:endParaRPr lang="en-US" sz="2800" b="0" i="0" dirty="0">
              <a:solidFill>
                <a:srgbClr val="222222"/>
              </a:solidFill>
              <a:effectLst/>
              <a:latin typeface="Source Sans Pro" panose="020B0503030403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2BE4758-BB84-4083-99BB-4E2B11E348E5}" type="slidenum">
              <a:rPr lang="en-US" altLang="en-US" smtClean="0"/>
              <a:t>27</a:t>
            </a:fld>
            <a:endParaRPr lang="en-US" altLang="en-US"/>
          </a:p>
        </p:txBody>
      </p:sp>
      <p:sp>
        <p:nvSpPr>
          <p:cNvPr id="4" name="TextBox 3"/>
          <p:cNvSpPr txBox="1"/>
          <p:nvPr/>
        </p:nvSpPr>
        <p:spPr>
          <a:xfrm>
            <a:off x="755576" y="908720"/>
            <a:ext cx="7920880" cy="5158528"/>
          </a:xfrm>
          <a:prstGeom prst="rect">
            <a:avLst/>
          </a:prstGeom>
          <a:noFill/>
        </p:spPr>
        <p:txBody>
          <a:bodyPr wrap="square">
            <a:spAutoFit/>
          </a:bodyPr>
          <a:lstStyle/>
          <a:p>
            <a:pPr algn="just">
              <a:lnSpc>
                <a:spcPct val="200000"/>
              </a:lnSpc>
            </a:pPr>
            <a:r>
              <a:rPr lang="en-US" sz="2400" b="1" i="0" dirty="0">
                <a:solidFill>
                  <a:srgbClr val="222222"/>
                </a:solidFill>
                <a:effectLst/>
                <a:latin typeface="Source Sans Pro" panose="020B0503030403020204" pitchFamily="34" charset="0"/>
              </a:rPr>
              <a:t>Basic analytical operations of OLAP (we shall the details later)</a:t>
            </a:r>
          </a:p>
          <a:p>
            <a:pPr algn="just">
              <a:lnSpc>
                <a:spcPct val="200000"/>
              </a:lnSpc>
            </a:pPr>
            <a:r>
              <a:rPr lang="en-US" sz="2400" b="0" i="0" dirty="0">
                <a:solidFill>
                  <a:srgbClr val="222222"/>
                </a:solidFill>
                <a:effectLst/>
                <a:latin typeface="Source Sans Pro" panose="020B0503030403020204" pitchFamily="34" charset="0"/>
              </a:rPr>
              <a:t>Four types of analytical operations in OLAP are:</a:t>
            </a:r>
          </a:p>
          <a:p>
            <a:pPr algn="just">
              <a:lnSpc>
                <a:spcPct val="200000"/>
              </a:lnSpc>
              <a:buFont typeface="+mj-lt"/>
              <a:buAutoNum type="arabicPeriod"/>
            </a:pPr>
            <a:r>
              <a:rPr lang="en-US" sz="2400" b="1" i="0" dirty="0">
                <a:solidFill>
                  <a:srgbClr val="222222"/>
                </a:solidFill>
                <a:effectLst/>
                <a:latin typeface="Source Sans Pro" panose="020B0503030403020204" pitchFamily="34" charset="0"/>
              </a:rPr>
              <a:t>Roll-up</a:t>
            </a:r>
          </a:p>
          <a:p>
            <a:pPr algn="just">
              <a:lnSpc>
                <a:spcPct val="200000"/>
              </a:lnSpc>
              <a:buFont typeface="+mj-lt"/>
              <a:buAutoNum type="arabicPeriod"/>
            </a:pPr>
            <a:r>
              <a:rPr lang="en-US" sz="2400" b="1" i="0" dirty="0">
                <a:solidFill>
                  <a:srgbClr val="222222"/>
                </a:solidFill>
                <a:effectLst/>
                <a:latin typeface="Source Sans Pro" panose="020B0503030403020204" pitchFamily="34" charset="0"/>
              </a:rPr>
              <a:t>Drill-down</a:t>
            </a:r>
          </a:p>
          <a:p>
            <a:pPr algn="just">
              <a:lnSpc>
                <a:spcPct val="200000"/>
              </a:lnSpc>
              <a:buFont typeface="+mj-lt"/>
              <a:buAutoNum type="arabicPeriod"/>
            </a:pPr>
            <a:r>
              <a:rPr lang="en-US" sz="2400" b="1" i="0" dirty="0">
                <a:solidFill>
                  <a:srgbClr val="222222"/>
                </a:solidFill>
                <a:effectLst/>
                <a:latin typeface="Source Sans Pro" panose="020B0503030403020204" pitchFamily="34" charset="0"/>
              </a:rPr>
              <a:t>Slice and dice</a:t>
            </a:r>
          </a:p>
          <a:p>
            <a:pPr algn="just">
              <a:lnSpc>
                <a:spcPct val="200000"/>
              </a:lnSpc>
              <a:buFont typeface="+mj-lt"/>
              <a:buAutoNum type="arabicPeriod"/>
            </a:pPr>
            <a:r>
              <a:rPr lang="en-US" sz="2400" b="1" i="0" dirty="0">
                <a:solidFill>
                  <a:srgbClr val="222222"/>
                </a:solidFill>
                <a:effectLst/>
                <a:latin typeface="Source Sans Pro" panose="020B0503030403020204" pitchFamily="34" charset="0"/>
              </a:rPr>
              <a:t>Pivot (rotate)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0" i="0" dirty="0">
                <a:effectLst/>
                <a:latin typeface="Heebo" pitchFamily="2" charset="-79"/>
                <a:cs typeface="Heebo" pitchFamily="2" charset="-79"/>
              </a:rPr>
              <a:t>Roll-up</a:t>
            </a:r>
            <a:endParaRPr lang="en-US" dirty="0"/>
          </a:p>
        </p:txBody>
      </p:sp>
      <p:sp>
        <p:nvSpPr>
          <p:cNvPr id="4" name="Content Placeholder 3"/>
          <p:cNvSpPr>
            <a:spLocks noGrp="1"/>
          </p:cNvSpPr>
          <p:nvPr>
            <p:ph idx="1"/>
          </p:nvPr>
        </p:nvSpPr>
        <p:spPr>
          <a:xfrm>
            <a:off x="251520" y="1668752"/>
            <a:ext cx="4572000" cy="2408320"/>
          </a:xfrm>
        </p:spPr>
        <p:txBody>
          <a:bodyPr>
            <a:normAutofit/>
          </a:bodyPr>
          <a:lstStyle/>
          <a:p>
            <a:pPr algn="just"/>
            <a:r>
              <a:rPr lang="en-US" sz="1800" dirty="0">
                <a:solidFill>
                  <a:srgbClr val="000000"/>
                </a:solidFill>
                <a:latin typeface="Nunito" pitchFamily="2" charset="0"/>
              </a:rPr>
              <a:t>Roll-up performs aggregation on a data cube in any of the following ways −</a:t>
            </a:r>
          </a:p>
          <a:p>
            <a:pPr algn="l">
              <a:buFont typeface="Arial" panose="020B0604020202020204" pitchFamily="34" charset="0"/>
              <a:buChar char="•"/>
            </a:pPr>
            <a:r>
              <a:rPr lang="en-US" sz="1800" dirty="0">
                <a:solidFill>
                  <a:srgbClr val="000000"/>
                </a:solidFill>
                <a:latin typeface="Nunito" pitchFamily="2" charset="0"/>
              </a:rPr>
              <a:t>By climbing up a concept hierarchy for a dimension</a:t>
            </a:r>
          </a:p>
          <a:p>
            <a:pPr algn="l">
              <a:buFont typeface="Arial" panose="020B0604020202020204" pitchFamily="34" charset="0"/>
              <a:buChar char="•"/>
            </a:pPr>
            <a:r>
              <a:rPr lang="en-US" sz="1800" dirty="0">
                <a:solidFill>
                  <a:srgbClr val="000000"/>
                </a:solidFill>
                <a:latin typeface="Nunito" pitchFamily="2" charset="0"/>
              </a:rPr>
              <a:t>By dimension reduction</a:t>
            </a:r>
          </a:p>
          <a:p>
            <a:pPr algn="just"/>
            <a:r>
              <a:rPr lang="en-US" sz="1800" dirty="0">
                <a:solidFill>
                  <a:srgbClr val="000000"/>
                </a:solidFill>
                <a:latin typeface="Nunito" pitchFamily="2" charset="0"/>
              </a:rPr>
              <a:t>The following diagram illustrates how roll-up works.</a:t>
            </a:r>
          </a:p>
          <a:p>
            <a:endParaRPr lang="en-US" dirty="0"/>
          </a:p>
        </p:txBody>
      </p:sp>
      <p:sp>
        <p:nvSpPr>
          <p:cNvPr id="2" name="Slide Number Placeholder 1"/>
          <p:cNvSpPr>
            <a:spLocks noGrp="1"/>
          </p:cNvSpPr>
          <p:nvPr>
            <p:ph type="sldNum" sz="quarter" idx="12"/>
          </p:nvPr>
        </p:nvSpPr>
        <p:spPr/>
        <p:txBody>
          <a:bodyPr/>
          <a:lstStyle/>
          <a:p>
            <a:fld id="{62BE4758-BB84-4083-99BB-4E2B11E348E5}" type="slidenum">
              <a:rPr lang="en-US" altLang="en-US" smtClean="0"/>
              <a:t>28</a:t>
            </a:fld>
            <a:endParaRPr lang="en-US" altLang="en-US"/>
          </a:p>
        </p:txBody>
      </p:sp>
      <p:pic>
        <p:nvPicPr>
          <p:cNvPr id="1026" name="Picture 2" descr="Roll-u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1979" y="1484785"/>
            <a:ext cx="4143771" cy="424847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42875" y="4265783"/>
            <a:ext cx="4572000" cy="2031325"/>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Nunito" pitchFamily="2" charset="0"/>
              </a:rPr>
              <a:t>Initially the concept hierarchy was "street &lt; city &lt; province &lt; country".</a:t>
            </a:r>
          </a:p>
          <a:p>
            <a:pPr algn="just">
              <a:buFont typeface="Arial" panose="020B0604020202020204" pitchFamily="34" charset="0"/>
              <a:buChar char="•"/>
            </a:pPr>
            <a:r>
              <a:rPr lang="en-US" b="0" i="0" dirty="0">
                <a:solidFill>
                  <a:srgbClr val="000000"/>
                </a:solidFill>
                <a:effectLst/>
                <a:latin typeface="Nunito" pitchFamily="2" charset="0"/>
              </a:rPr>
              <a:t>On rolling up, the data is aggregated by ascending the location hierarchy from the level of city to the level of country.</a:t>
            </a:r>
          </a:p>
          <a:p>
            <a:pPr algn="just">
              <a:buFont typeface="Arial" panose="020B0604020202020204" pitchFamily="34" charset="0"/>
              <a:buChar char="•"/>
            </a:pPr>
            <a:r>
              <a:rPr lang="en-US" b="0" i="0" dirty="0">
                <a:solidFill>
                  <a:srgbClr val="000000"/>
                </a:solidFill>
                <a:effectLst/>
                <a:latin typeface="Nunito" pitchFamily="2" charset="0"/>
              </a:rPr>
              <a:t>The data is grouped into cities rather than countries.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i="0" dirty="0">
                <a:effectLst/>
                <a:latin typeface="Heebo" pitchFamily="2" charset="-79"/>
                <a:cs typeface="Heebo" pitchFamily="2" charset="-79"/>
              </a:rPr>
              <a:t>Drill-down</a:t>
            </a:r>
            <a:endParaRPr lang="en-US" dirty="0"/>
          </a:p>
        </p:txBody>
      </p:sp>
      <p:sp>
        <p:nvSpPr>
          <p:cNvPr id="3" name="Content Placeholder 2"/>
          <p:cNvSpPr>
            <a:spLocks noGrp="1"/>
          </p:cNvSpPr>
          <p:nvPr>
            <p:ph idx="1"/>
          </p:nvPr>
        </p:nvSpPr>
        <p:spPr>
          <a:xfrm>
            <a:off x="628650" y="1825625"/>
            <a:ext cx="3439294" cy="2395463"/>
          </a:xfrm>
        </p:spPr>
        <p:txBody>
          <a:bodyPr>
            <a:normAutofit/>
          </a:bodyPr>
          <a:lstStyle/>
          <a:p>
            <a:pPr algn="just"/>
            <a:r>
              <a:rPr lang="en-US" sz="1600" b="0" i="0" dirty="0">
                <a:solidFill>
                  <a:srgbClr val="000000"/>
                </a:solidFill>
                <a:effectLst/>
                <a:latin typeface="Nunito" pitchFamily="2" charset="0"/>
              </a:rPr>
              <a:t>Drill-down is the reverse operation of roll-up. It is performed by either of the following ways −</a:t>
            </a:r>
          </a:p>
          <a:p>
            <a:pPr algn="l">
              <a:buFont typeface="Arial" panose="020B0604020202020204" pitchFamily="34" charset="0"/>
              <a:buChar char="•"/>
            </a:pPr>
            <a:r>
              <a:rPr lang="en-US" sz="1600" b="0" i="0" dirty="0">
                <a:solidFill>
                  <a:srgbClr val="000000"/>
                </a:solidFill>
                <a:effectLst/>
                <a:latin typeface="Nunito" pitchFamily="2" charset="0"/>
              </a:rPr>
              <a:t>By stepping down a concept hierarchy for a dimension</a:t>
            </a:r>
          </a:p>
          <a:p>
            <a:pPr algn="l">
              <a:buFont typeface="Arial" panose="020B0604020202020204" pitchFamily="34" charset="0"/>
              <a:buChar char="•"/>
            </a:pPr>
            <a:r>
              <a:rPr lang="en-US" sz="1600" b="0" i="0" dirty="0">
                <a:solidFill>
                  <a:srgbClr val="000000"/>
                </a:solidFill>
                <a:effectLst/>
                <a:latin typeface="Nunito" pitchFamily="2" charset="0"/>
              </a:rPr>
              <a:t>By introducing a new dimension.</a:t>
            </a:r>
          </a:p>
          <a:p>
            <a:pPr algn="just"/>
            <a:r>
              <a:rPr lang="en-US" sz="1600" b="0" i="0" dirty="0">
                <a:solidFill>
                  <a:srgbClr val="000000"/>
                </a:solidFill>
                <a:effectLst/>
                <a:latin typeface="Nunito" pitchFamily="2" charset="0"/>
              </a:rPr>
              <a:t>The following diagram illustrates how drill-down works −</a:t>
            </a:r>
          </a:p>
        </p:txBody>
      </p:sp>
      <p:sp>
        <p:nvSpPr>
          <p:cNvPr id="4" name="Slide Number Placeholder 3"/>
          <p:cNvSpPr>
            <a:spLocks noGrp="1"/>
          </p:cNvSpPr>
          <p:nvPr>
            <p:ph type="sldNum" sz="quarter" idx="12"/>
          </p:nvPr>
        </p:nvSpPr>
        <p:spPr/>
        <p:txBody>
          <a:bodyPr/>
          <a:lstStyle/>
          <a:p>
            <a:fld id="{CF35A7C8-22FE-475B-982D-092C8637B139}" type="slidenum">
              <a:rPr lang="en-US" altLang="en-US" smtClean="0"/>
              <a:t>29</a:t>
            </a:fld>
            <a:endParaRPr lang="en-US" altLang="en-US"/>
          </a:p>
        </p:txBody>
      </p:sp>
      <p:pic>
        <p:nvPicPr>
          <p:cNvPr id="2050" name="Picture 2" descr="Drill-Dow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008" y="1412777"/>
            <a:ext cx="4680520" cy="403244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26518" y="4413152"/>
            <a:ext cx="4576864" cy="2308324"/>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Nunito" pitchFamily="2" charset="0"/>
              </a:rPr>
              <a:t>Drill-down is performed by stepping down a concept hierarchy for the dimension time.</a:t>
            </a:r>
          </a:p>
          <a:p>
            <a:pPr algn="just">
              <a:buFont typeface="Arial" panose="020B0604020202020204" pitchFamily="34" charset="0"/>
              <a:buChar char="•"/>
            </a:pPr>
            <a:r>
              <a:rPr lang="en-US" b="0" i="0" dirty="0">
                <a:solidFill>
                  <a:srgbClr val="000000"/>
                </a:solidFill>
                <a:effectLst/>
                <a:latin typeface="Nunito" pitchFamily="2" charset="0"/>
              </a:rPr>
              <a:t>Initially the concept hierarchy was "day &lt; month &lt; quarter &lt; year."</a:t>
            </a:r>
          </a:p>
          <a:p>
            <a:pPr algn="just">
              <a:buFont typeface="Arial" panose="020B0604020202020204" pitchFamily="34" charset="0"/>
              <a:buChar char="•"/>
            </a:pPr>
            <a:r>
              <a:rPr lang="en-US" b="0" i="0" dirty="0">
                <a:solidFill>
                  <a:srgbClr val="000000"/>
                </a:solidFill>
                <a:effectLst/>
                <a:latin typeface="Nunito" pitchFamily="2" charset="0"/>
              </a:rPr>
              <a:t>On drilling down, the time dimension is descended from the level of quarter to the level of month.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i="0" dirty="0">
                <a:effectLst/>
                <a:latin typeface="Heebo" pitchFamily="2" charset="-79"/>
                <a:cs typeface="Heebo" pitchFamily="2" charset="-79"/>
              </a:rPr>
              <a:t>Slice</a:t>
            </a:r>
            <a:endParaRPr lang="en-US" dirty="0"/>
          </a:p>
        </p:txBody>
      </p:sp>
      <p:sp>
        <p:nvSpPr>
          <p:cNvPr id="3" name="Content Placeholder 2"/>
          <p:cNvSpPr>
            <a:spLocks noGrp="1"/>
          </p:cNvSpPr>
          <p:nvPr>
            <p:ph idx="1"/>
          </p:nvPr>
        </p:nvSpPr>
        <p:spPr>
          <a:xfrm>
            <a:off x="628650" y="1825625"/>
            <a:ext cx="3799334" cy="2179439"/>
          </a:xfrm>
        </p:spPr>
        <p:txBody>
          <a:bodyPr/>
          <a:lstStyle/>
          <a:p>
            <a:pPr algn="just"/>
            <a:r>
              <a:rPr lang="en-US" b="0" i="0" dirty="0">
                <a:solidFill>
                  <a:srgbClr val="000000"/>
                </a:solidFill>
                <a:effectLst/>
                <a:latin typeface="Nunito" pitchFamily="2" charset="0"/>
              </a:rPr>
              <a:t>The slice operation selects one particular dimension from a given cube and provides a new sub-cube. Consider the following diagram that shows how slice works.</a:t>
            </a:r>
            <a:endParaRPr lang="en-US" dirty="0"/>
          </a:p>
        </p:txBody>
      </p:sp>
      <p:sp>
        <p:nvSpPr>
          <p:cNvPr id="4" name="Slide Number Placeholder 3"/>
          <p:cNvSpPr>
            <a:spLocks noGrp="1"/>
          </p:cNvSpPr>
          <p:nvPr>
            <p:ph type="sldNum" sz="quarter" idx="12"/>
          </p:nvPr>
        </p:nvSpPr>
        <p:spPr/>
        <p:txBody>
          <a:bodyPr/>
          <a:lstStyle/>
          <a:p>
            <a:fld id="{CF35A7C8-22FE-475B-982D-092C8637B139}" type="slidenum">
              <a:rPr lang="en-US" altLang="en-US" smtClean="0"/>
              <a:t>30</a:t>
            </a:fld>
            <a:endParaRPr lang="en-US" altLang="en-US"/>
          </a:p>
        </p:txBody>
      </p:sp>
      <p:pic>
        <p:nvPicPr>
          <p:cNvPr id="3074" name="Picture 2" descr="Sl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088" y="1268760"/>
            <a:ext cx="3200400" cy="4191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50346" y="4725144"/>
            <a:ext cx="4572000" cy="1200329"/>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Nunito" pitchFamily="2" charset="0"/>
              </a:rPr>
              <a:t>Here Slice is performed for the dimension "time" using the criterion time = "Q1".</a:t>
            </a:r>
          </a:p>
          <a:p>
            <a:pPr algn="just">
              <a:buFont typeface="Arial" panose="020B0604020202020204" pitchFamily="34" charset="0"/>
              <a:buChar char="•"/>
            </a:pPr>
            <a:r>
              <a:rPr lang="en-US" b="0" i="0" dirty="0">
                <a:solidFill>
                  <a:srgbClr val="000000"/>
                </a:solidFill>
                <a:effectLst/>
                <a:latin typeface="Nunito" pitchFamily="2" charset="0"/>
              </a:rPr>
              <a:t>It will form a new sub-cube by selecting one or more dimensions.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i="0" dirty="0">
                <a:effectLst/>
                <a:latin typeface="Heebo" pitchFamily="2" charset="-79"/>
                <a:cs typeface="Heebo" pitchFamily="2" charset="-79"/>
              </a:rPr>
              <a:t>Dice</a:t>
            </a:r>
            <a:endParaRPr lang="en-US" dirty="0"/>
          </a:p>
        </p:txBody>
      </p:sp>
      <p:sp>
        <p:nvSpPr>
          <p:cNvPr id="3" name="Content Placeholder 2"/>
          <p:cNvSpPr>
            <a:spLocks noGrp="1"/>
          </p:cNvSpPr>
          <p:nvPr>
            <p:ph idx="1"/>
          </p:nvPr>
        </p:nvSpPr>
        <p:spPr>
          <a:xfrm>
            <a:off x="628650" y="1825625"/>
            <a:ext cx="4663430" cy="1754326"/>
          </a:xfrm>
        </p:spPr>
        <p:txBody>
          <a:bodyPr/>
          <a:lstStyle/>
          <a:p>
            <a:pPr algn="just"/>
            <a:r>
              <a:rPr lang="en-US" b="0" i="0" dirty="0">
                <a:solidFill>
                  <a:srgbClr val="000000"/>
                </a:solidFill>
                <a:effectLst/>
                <a:latin typeface="Nunito" pitchFamily="2" charset="0"/>
              </a:rPr>
              <a:t>Dice selects two or more dimensions from a given cube and provides a new sub-cube. Consider the following diagram that shows the dice operation.</a:t>
            </a:r>
          </a:p>
          <a:p>
            <a:endParaRPr lang="en-US" dirty="0"/>
          </a:p>
        </p:txBody>
      </p:sp>
      <p:sp>
        <p:nvSpPr>
          <p:cNvPr id="4" name="Slide Number Placeholder 3"/>
          <p:cNvSpPr>
            <a:spLocks noGrp="1"/>
          </p:cNvSpPr>
          <p:nvPr>
            <p:ph type="sldNum" sz="quarter" idx="12"/>
          </p:nvPr>
        </p:nvSpPr>
        <p:spPr/>
        <p:txBody>
          <a:bodyPr/>
          <a:lstStyle/>
          <a:p>
            <a:fld id="{CF35A7C8-22FE-475B-982D-092C8637B139}" type="slidenum">
              <a:rPr lang="en-US" altLang="en-US" smtClean="0"/>
              <a:t>31</a:t>
            </a:fld>
            <a:endParaRPr lang="en-US" altLang="en-US"/>
          </a:p>
        </p:txBody>
      </p:sp>
      <p:pic>
        <p:nvPicPr>
          <p:cNvPr id="4098" name="Picture 2" descr="D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2575" y="1610072"/>
            <a:ext cx="3152775" cy="42672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28650" y="4005064"/>
            <a:ext cx="4572000" cy="1754326"/>
          </a:xfrm>
          <a:prstGeom prst="rect">
            <a:avLst/>
          </a:prstGeom>
          <a:noFill/>
        </p:spPr>
        <p:txBody>
          <a:bodyPr wrap="square">
            <a:spAutoFit/>
          </a:bodyPr>
          <a:lstStyle/>
          <a:p>
            <a:pPr algn="just"/>
            <a:r>
              <a:rPr lang="en-US" b="0" i="0" dirty="0">
                <a:solidFill>
                  <a:srgbClr val="000000"/>
                </a:solidFill>
                <a:effectLst/>
                <a:latin typeface="Nunito" pitchFamily="2" charset="0"/>
              </a:rPr>
              <a:t>The dice operation on the cube based on the following selection criteria involves three dimensions.</a:t>
            </a:r>
          </a:p>
          <a:p>
            <a:pPr algn="l">
              <a:buFont typeface="Arial" panose="020B0604020202020204" pitchFamily="34" charset="0"/>
              <a:buChar char="•"/>
            </a:pPr>
            <a:r>
              <a:rPr lang="en-US" b="0" i="0" dirty="0">
                <a:solidFill>
                  <a:srgbClr val="000000"/>
                </a:solidFill>
                <a:effectLst/>
                <a:latin typeface="Nunito" pitchFamily="2" charset="0"/>
              </a:rPr>
              <a:t>(location = "Toronto" or "Vancouver")</a:t>
            </a:r>
          </a:p>
          <a:p>
            <a:pPr algn="l">
              <a:buFont typeface="Arial" panose="020B0604020202020204" pitchFamily="34" charset="0"/>
              <a:buChar char="•"/>
            </a:pPr>
            <a:r>
              <a:rPr lang="en-US" b="0" i="0" dirty="0">
                <a:solidFill>
                  <a:srgbClr val="000000"/>
                </a:solidFill>
                <a:effectLst/>
                <a:latin typeface="Nunito" pitchFamily="2" charset="0"/>
              </a:rPr>
              <a:t>(time = "Q1" or "Q2")</a:t>
            </a:r>
          </a:p>
          <a:p>
            <a:pPr algn="l">
              <a:buFont typeface="Arial" panose="020B0604020202020204" pitchFamily="34" charset="0"/>
              <a:buChar char="•"/>
            </a:pPr>
            <a:r>
              <a:rPr lang="en-US" b="0" i="0" dirty="0">
                <a:solidFill>
                  <a:srgbClr val="000000"/>
                </a:solidFill>
                <a:effectLst/>
                <a:latin typeface="Nunito" pitchFamily="2" charset="0"/>
              </a:rPr>
              <a:t>(item =" Mobile" or "Modem")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0" i="0" dirty="0">
                <a:effectLst/>
                <a:latin typeface="Heebo" pitchFamily="2" charset="-79"/>
                <a:cs typeface="Heebo" pitchFamily="2" charset="-79"/>
              </a:rPr>
              <a:t>Pivot</a:t>
            </a:r>
            <a:endParaRPr lang="en-US" dirty="0"/>
          </a:p>
        </p:txBody>
      </p:sp>
      <p:sp>
        <p:nvSpPr>
          <p:cNvPr id="4" name="Slide Number Placeholder 3"/>
          <p:cNvSpPr>
            <a:spLocks noGrp="1"/>
          </p:cNvSpPr>
          <p:nvPr>
            <p:ph type="sldNum" sz="quarter" idx="12"/>
          </p:nvPr>
        </p:nvSpPr>
        <p:spPr/>
        <p:txBody>
          <a:bodyPr/>
          <a:lstStyle/>
          <a:p>
            <a:fld id="{CF35A7C8-22FE-475B-982D-092C8637B139}" type="slidenum">
              <a:rPr lang="en-US" altLang="en-US" smtClean="0"/>
              <a:t>32</a:t>
            </a:fld>
            <a:endParaRPr lang="en-US" altLang="en-US"/>
          </a:p>
        </p:txBody>
      </p:sp>
      <p:pic>
        <p:nvPicPr>
          <p:cNvPr id="5122" name="Picture 2" descr="Piv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76056" y="1700808"/>
            <a:ext cx="3985063" cy="43513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95536" y="2204864"/>
            <a:ext cx="4572000" cy="2031325"/>
          </a:xfrm>
          <a:prstGeom prst="rect">
            <a:avLst/>
          </a:prstGeom>
          <a:noFill/>
        </p:spPr>
        <p:txBody>
          <a:bodyPr wrap="square">
            <a:spAutoFit/>
          </a:bodyPr>
          <a:lstStyle/>
          <a:p>
            <a:pPr algn="l"/>
            <a:endParaRPr lang="en-US" b="0" i="0" dirty="0">
              <a:effectLst/>
              <a:latin typeface="Heebo" pitchFamily="2" charset="-79"/>
              <a:cs typeface="Heebo" pitchFamily="2" charset="-79"/>
            </a:endParaRPr>
          </a:p>
          <a:p>
            <a:pPr algn="just"/>
            <a:r>
              <a:rPr lang="en-US" b="0" i="0" dirty="0">
                <a:solidFill>
                  <a:srgbClr val="000000"/>
                </a:solidFill>
                <a:effectLst/>
                <a:latin typeface="Nunito" pitchFamily="2" charset="0"/>
              </a:rPr>
              <a:t>The pivot operation is also known as rotation. It rotates the data axes in view in order to provide an alternative presentation of data. Consider the following diagram that shows the pivot operation.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p:cNvSpPr>
            <a:spLocks noGrp="1" noRot="1" noChangeAspect="1" noMove="1" noResize="1" noEditPoints="1" noAdjustHandles="1" noChangeArrowheads="1" noChangeShapeType="1" noTextEdit="1"/>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Freeform: Shape 136"/>
          <p:cNvSpPr>
            <a:spLocks noGrp="1" noRot="1" noChangeAspect="1" noMove="1" noResize="1" noEditPoints="1" noAdjustHandles="1" noChangeArrowheads="1" noChangeShapeType="1" noTextEdit="1"/>
          </p:cNvSpPr>
          <p:nvPr/>
        </p:nvSpPr>
        <p:spPr>
          <a:xfrm>
            <a:off x="0" y="0"/>
            <a:ext cx="9144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p:cNvSpPr txBox="1"/>
          <p:nvPr/>
        </p:nvSpPr>
        <p:spPr>
          <a:xfrm>
            <a:off x="479160" y="390525"/>
            <a:ext cx="8182230" cy="1510301"/>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5700" b="1" i="0" kern="1200" dirty="0">
                <a:solidFill>
                  <a:srgbClr val="FFFFFF"/>
                </a:solidFill>
                <a:effectLst/>
                <a:latin typeface="+mj-lt"/>
                <a:ea typeface="+mj-ea"/>
                <a:cs typeface="+mj-cs"/>
              </a:rPr>
              <a:t>Types of OLAP systems</a:t>
            </a:r>
          </a:p>
        </p:txBody>
      </p:sp>
      <p:sp>
        <p:nvSpPr>
          <p:cNvPr id="139" name="sketch line"/>
          <p:cNvSpPr>
            <a:spLocks noGrp="1" noRot="1" noChangeAspect="1" noMove="1" noResize="1" noEditPoints="1" noAdjustHandles="1" noChangeArrowheads="1" noChangeShapeType="1" noTextEdit="1"/>
          </p:cNvSpPr>
          <p:nvPr/>
        </p:nvSpPr>
        <p:spPr>
          <a:xfrm>
            <a:off x="2980654" y="1753266"/>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 name="connsiteX0-1" fmla="*/ 0 w 3182692"/>
              <a:gd name="connsiteY0-2" fmla="*/ 0 h 18288"/>
              <a:gd name="connsiteX1-3" fmla="*/ 604711 w 3182692"/>
              <a:gd name="connsiteY1-4" fmla="*/ 0 h 18288"/>
              <a:gd name="connsiteX2-5" fmla="*/ 1145769 w 3182692"/>
              <a:gd name="connsiteY2-6" fmla="*/ 0 h 18288"/>
              <a:gd name="connsiteX3-7" fmla="*/ 1845961 w 3182692"/>
              <a:gd name="connsiteY3-8" fmla="*/ 0 h 18288"/>
              <a:gd name="connsiteX4-9" fmla="*/ 2450673 w 3182692"/>
              <a:gd name="connsiteY4-10" fmla="*/ 0 h 18288"/>
              <a:gd name="connsiteX5-11" fmla="*/ 3182692 w 3182692"/>
              <a:gd name="connsiteY5-12" fmla="*/ 0 h 18288"/>
              <a:gd name="connsiteX6-13" fmla="*/ 3182692 w 3182692"/>
              <a:gd name="connsiteY6-14" fmla="*/ 18288 h 18288"/>
              <a:gd name="connsiteX7-15" fmla="*/ 2546154 w 3182692"/>
              <a:gd name="connsiteY7-16" fmla="*/ 18288 h 18288"/>
              <a:gd name="connsiteX8-17" fmla="*/ 1845961 w 3182692"/>
              <a:gd name="connsiteY8-18" fmla="*/ 18288 h 18288"/>
              <a:gd name="connsiteX9-19" fmla="*/ 1304904 w 3182692"/>
              <a:gd name="connsiteY9-20" fmla="*/ 18288 h 18288"/>
              <a:gd name="connsiteX10-21" fmla="*/ 668365 w 3182692"/>
              <a:gd name="connsiteY10-22" fmla="*/ 18288 h 18288"/>
              <a:gd name="connsiteX11-23" fmla="*/ 0 w 3182692"/>
              <a:gd name="connsiteY11-24" fmla="*/ 18288 h 18288"/>
              <a:gd name="connsiteX12" fmla="*/ 0 w 3182692"/>
              <a:gd name="connsiteY12" fmla="*/ 0 h 182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 y="connsiteY12"/>
              </a:cxn>
            </a:cxnLst>
            <a:rect l="l" t="t" r="r" b="b"/>
            <a:pathLst>
              <a:path w="3182692" h="18288" fill="none" extrusionOk="0">
                <a:moveTo>
                  <a:pt x="0" y="0"/>
                </a:moveTo>
                <a:cubicBezTo>
                  <a:pt x="145195" y="-37571"/>
                  <a:pt x="472618" y="-13696"/>
                  <a:pt x="604711" y="0"/>
                </a:cubicBezTo>
                <a:cubicBezTo>
                  <a:pt x="706652" y="-3280"/>
                  <a:pt x="1039328" y="-8567"/>
                  <a:pt x="1241250" y="0"/>
                </a:cubicBezTo>
                <a:cubicBezTo>
                  <a:pt x="1405712" y="-7891"/>
                  <a:pt x="1711158" y="8053"/>
                  <a:pt x="1909615" y="0"/>
                </a:cubicBezTo>
                <a:cubicBezTo>
                  <a:pt x="2107436" y="-40150"/>
                  <a:pt x="2247192" y="19443"/>
                  <a:pt x="2577981" y="0"/>
                </a:cubicBezTo>
                <a:cubicBezTo>
                  <a:pt x="2894393" y="-5855"/>
                  <a:pt x="3041563" y="17846"/>
                  <a:pt x="3182692" y="0"/>
                </a:cubicBezTo>
                <a:cubicBezTo>
                  <a:pt x="3181973" y="8390"/>
                  <a:pt x="3182735" y="11854"/>
                  <a:pt x="3182692" y="18288"/>
                </a:cubicBezTo>
                <a:cubicBezTo>
                  <a:pt x="2975928" y="57450"/>
                  <a:pt x="2667693" y="19406"/>
                  <a:pt x="2482500" y="18288"/>
                </a:cubicBezTo>
                <a:cubicBezTo>
                  <a:pt x="2299734" y="36912"/>
                  <a:pt x="1925962" y="9303"/>
                  <a:pt x="1782308" y="18288"/>
                </a:cubicBezTo>
                <a:cubicBezTo>
                  <a:pt x="1635580" y="20546"/>
                  <a:pt x="1257854" y="-3663"/>
                  <a:pt x="1145769" y="18288"/>
                </a:cubicBezTo>
                <a:cubicBezTo>
                  <a:pt x="1025065" y="56574"/>
                  <a:pt x="247799" y="-11536"/>
                  <a:pt x="0" y="18288"/>
                </a:cubicBezTo>
                <a:cubicBezTo>
                  <a:pt x="-405" y="13204"/>
                  <a:pt x="-1092" y="5311"/>
                  <a:pt x="0" y="0"/>
                </a:cubicBezTo>
                <a:close/>
              </a:path>
              <a:path w="3182692" h="18288" stroke="0" extrusionOk="0">
                <a:moveTo>
                  <a:pt x="0" y="0"/>
                </a:moveTo>
                <a:cubicBezTo>
                  <a:pt x="288308" y="19724"/>
                  <a:pt x="431183" y="-26509"/>
                  <a:pt x="604711" y="0"/>
                </a:cubicBezTo>
                <a:cubicBezTo>
                  <a:pt x="795174" y="4405"/>
                  <a:pt x="950067" y="22541"/>
                  <a:pt x="1145769" y="0"/>
                </a:cubicBezTo>
                <a:cubicBezTo>
                  <a:pt x="1301850" y="7702"/>
                  <a:pt x="1499974" y="-70469"/>
                  <a:pt x="1845961" y="0"/>
                </a:cubicBezTo>
                <a:cubicBezTo>
                  <a:pt x="2191264" y="15313"/>
                  <a:pt x="2307232" y="-97"/>
                  <a:pt x="2450673" y="0"/>
                </a:cubicBezTo>
                <a:cubicBezTo>
                  <a:pt x="2596405" y="-19465"/>
                  <a:pt x="3033067" y="-31048"/>
                  <a:pt x="3182692" y="0"/>
                </a:cubicBezTo>
                <a:cubicBezTo>
                  <a:pt x="3182066" y="4696"/>
                  <a:pt x="3183370" y="10269"/>
                  <a:pt x="3182692" y="18288"/>
                </a:cubicBezTo>
                <a:cubicBezTo>
                  <a:pt x="3091120" y="-23022"/>
                  <a:pt x="2811074" y="61693"/>
                  <a:pt x="2546154" y="18288"/>
                </a:cubicBezTo>
                <a:cubicBezTo>
                  <a:pt x="2285186" y="27529"/>
                  <a:pt x="2090205" y="-22321"/>
                  <a:pt x="1845961" y="18288"/>
                </a:cubicBezTo>
                <a:cubicBezTo>
                  <a:pt x="1599794" y="31493"/>
                  <a:pt x="1466284" y="37447"/>
                  <a:pt x="1304904" y="18288"/>
                </a:cubicBezTo>
                <a:cubicBezTo>
                  <a:pt x="1189365" y="43775"/>
                  <a:pt x="952251" y="23461"/>
                  <a:pt x="668365" y="18288"/>
                </a:cubicBezTo>
                <a:cubicBezTo>
                  <a:pt x="407868" y="43595"/>
                  <a:pt x="284672" y="-9405"/>
                  <a:pt x="0" y="18288"/>
                </a:cubicBezTo>
                <a:cubicBezTo>
                  <a:pt x="527" y="9891"/>
                  <a:pt x="870" y="7012"/>
                  <a:pt x="0" y="0"/>
                </a:cubicBezTo>
                <a:close/>
              </a:path>
              <a:path w="3182692" h="18288" fill="none" stroke="0" extrusionOk="0">
                <a:moveTo>
                  <a:pt x="0" y="0"/>
                </a:moveTo>
                <a:cubicBezTo>
                  <a:pt x="108839" y="-32375"/>
                  <a:pt x="447732" y="16552"/>
                  <a:pt x="604711" y="0"/>
                </a:cubicBezTo>
                <a:cubicBezTo>
                  <a:pt x="781899" y="-548"/>
                  <a:pt x="1052060" y="7118"/>
                  <a:pt x="1241250" y="0"/>
                </a:cubicBezTo>
                <a:cubicBezTo>
                  <a:pt x="1399482" y="14083"/>
                  <a:pt x="1706293" y="54730"/>
                  <a:pt x="1909615" y="0"/>
                </a:cubicBezTo>
                <a:cubicBezTo>
                  <a:pt x="2085313" y="-24404"/>
                  <a:pt x="2264415" y="16988"/>
                  <a:pt x="2577981" y="0"/>
                </a:cubicBezTo>
                <a:cubicBezTo>
                  <a:pt x="2926098" y="-10318"/>
                  <a:pt x="3036314" y="-14769"/>
                  <a:pt x="3182692" y="0"/>
                </a:cubicBezTo>
                <a:cubicBezTo>
                  <a:pt x="3181841" y="8135"/>
                  <a:pt x="3181636" y="12730"/>
                  <a:pt x="3182692" y="18288"/>
                </a:cubicBezTo>
                <a:cubicBezTo>
                  <a:pt x="2996012" y="-1231"/>
                  <a:pt x="2669008" y="27395"/>
                  <a:pt x="2482500" y="18288"/>
                </a:cubicBezTo>
                <a:cubicBezTo>
                  <a:pt x="2296543" y="21246"/>
                  <a:pt x="1935236" y="7938"/>
                  <a:pt x="1782308" y="18288"/>
                </a:cubicBezTo>
                <a:cubicBezTo>
                  <a:pt x="1607683" y="25490"/>
                  <a:pt x="1291498" y="1369"/>
                  <a:pt x="1145769" y="18288"/>
                </a:cubicBezTo>
                <a:cubicBezTo>
                  <a:pt x="1015407" y="55325"/>
                  <a:pt x="262557" y="26571"/>
                  <a:pt x="0" y="18288"/>
                </a:cubicBezTo>
                <a:cubicBezTo>
                  <a:pt x="508" y="13336"/>
                  <a:pt x="437" y="7274"/>
                  <a:pt x="0" y="0"/>
                </a:cubicBezTo>
                <a:close/>
              </a:path>
            </a:pathLst>
          </a:custGeom>
          <a:solidFill>
            <a:srgbClr val="FFFFFF"/>
          </a:solidFill>
          <a:ln w="38100" cap="rnd">
            <a:solidFill>
              <a:srgbClr val="FFFFFF"/>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75315" y="2924944"/>
            <a:ext cx="7389919" cy="3019537"/>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62BE4758-BB84-4083-99BB-4E2B11E348E5}" type="slidenum">
              <a:rPr lang="en-US" altLang="en-US" sz="1200" smtClean="0"/>
              <a:t>33</a:t>
            </a:fld>
            <a:endParaRPr lang="en-US" altLang="en-US" sz="1200"/>
          </a:p>
        </p:txBody>
      </p:sp>
      <p:sp>
        <p:nvSpPr>
          <p:cNvPr id="12" name="TextBox 11"/>
          <p:cNvSpPr txBox="1"/>
          <p:nvPr/>
        </p:nvSpPr>
        <p:spPr>
          <a:xfrm>
            <a:off x="2195736" y="6017082"/>
            <a:ext cx="4572000" cy="369332"/>
          </a:xfrm>
          <a:prstGeom prst="rect">
            <a:avLst/>
          </a:prstGeom>
          <a:noFill/>
        </p:spPr>
        <p:txBody>
          <a:bodyPr wrap="square">
            <a:spAutoFit/>
          </a:bodyPr>
          <a:lstStyle/>
          <a:p>
            <a:r>
              <a:rPr lang="en-US" b="1" i="0" dirty="0">
                <a:solidFill>
                  <a:srgbClr val="222222"/>
                </a:solidFill>
                <a:effectLst/>
                <a:latin typeface="Source Sans Pro" panose="020B0503030403020204" pitchFamily="34" charset="0"/>
              </a:rPr>
              <a:t>OLAP Hierarchical Structure</a:t>
            </a:r>
            <a:endParaRPr lang="en-US"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p:cNvSpPr>
            <a:spLocks noGrp="1" noRot="1" noChangeAspect="1" noMove="1" noResize="1" noEditPoints="1" noAdjustHandles="1" noChangeArrowheads="1" noChangeShapeType="1" noTextEdit="1"/>
          </p:cNvSpPr>
          <p:nvPr/>
        </p:nvSpPr>
        <p:spPr>
          <a:xfrm>
            <a:off x="0" y="0"/>
            <a:ext cx="9144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Slide Number Placeholder 1"/>
          <p:cNvSpPr>
            <a:spLocks noGrp="1"/>
          </p:cNvSpPr>
          <p:nvPr>
            <p:ph type="sldNum" sz="quarter" idx="12"/>
          </p:nvPr>
        </p:nvSpPr>
        <p:spPr>
          <a:xfrm>
            <a:off x="6457950" y="6356350"/>
            <a:ext cx="2057400" cy="365125"/>
          </a:xfrm>
        </p:spPr>
        <p:txBody>
          <a:bodyPr>
            <a:normAutofit/>
          </a:bodyPr>
          <a:lstStyle/>
          <a:p>
            <a:pPr>
              <a:spcAft>
                <a:spcPts val="600"/>
              </a:spcAft>
            </a:pPr>
            <a:fld id="{62BE4758-BB84-4083-99BB-4E2B11E348E5}" type="slidenum">
              <a:rPr lang="en-US" altLang="en-US">
                <a:solidFill>
                  <a:srgbClr val="FFFFFF"/>
                </a:solidFill>
              </a:rPr>
              <a:t>34</a:t>
            </a:fld>
            <a:endParaRPr lang="en-US" altLang="en-US">
              <a:solidFill>
                <a:srgbClr val="FFFFFF"/>
              </a:solidFill>
            </a:endParaRPr>
          </a:p>
        </p:txBody>
      </p:sp>
      <p:graphicFrame>
        <p:nvGraphicFramePr>
          <p:cNvPr id="3" name="Table 2"/>
          <p:cNvGraphicFramePr>
            <a:graphicFrameLocks noGrp="1"/>
          </p:cNvGraphicFramePr>
          <p:nvPr/>
        </p:nvGraphicFramePr>
        <p:xfrm>
          <a:off x="387935" y="213567"/>
          <a:ext cx="8142465" cy="6023746"/>
        </p:xfrm>
        <a:graphic>
          <a:graphicData uri="http://schemas.openxmlformats.org/drawingml/2006/table">
            <a:tbl>
              <a:tblPr>
                <a:tableStyleId>{69CF1AB2-1976-4502-BF36-3FF5EA218861}</a:tableStyleId>
              </a:tblPr>
              <a:tblGrid>
                <a:gridCol w="3682994">
                  <a:extLst>
                    <a:ext uri="{9D8B030D-6E8A-4147-A177-3AD203B41FA5}">
                      <a16:colId xmlns:a16="http://schemas.microsoft.com/office/drawing/2014/main" val="20000"/>
                    </a:ext>
                  </a:extLst>
                </a:gridCol>
                <a:gridCol w="4459471">
                  <a:extLst>
                    <a:ext uri="{9D8B030D-6E8A-4147-A177-3AD203B41FA5}">
                      <a16:colId xmlns:a16="http://schemas.microsoft.com/office/drawing/2014/main" val="20001"/>
                    </a:ext>
                  </a:extLst>
                </a:gridCol>
              </a:tblGrid>
              <a:tr h="323337">
                <a:tc>
                  <a:txBody>
                    <a:bodyPr/>
                    <a:lstStyle/>
                    <a:p>
                      <a:pPr algn="l" fontAlgn="t">
                        <a:spcBef>
                          <a:spcPts val="0"/>
                        </a:spcBef>
                        <a:spcAft>
                          <a:spcPts val="0"/>
                        </a:spcAft>
                      </a:pPr>
                      <a:r>
                        <a:rPr lang="en-US" sz="1200" b="1" u="none" strike="noStrike">
                          <a:effectLst/>
                        </a:rPr>
                        <a:t>Type of OLAP</a:t>
                      </a:r>
                      <a:endParaRPr lang="en-US" sz="1200" b="0" i="0" u="none" strike="noStrike">
                        <a:effectLst/>
                        <a:latin typeface="Arial" panose="020B0604020202020204" pitchFamily="34" charset="0"/>
                      </a:endParaRPr>
                    </a:p>
                  </a:txBody>
                  <a:tcPr marL="26168" marR="26168" marT="26168" marB="26168"/>
                </a:tc>
                <a:tc>
                  <a:txBody>
                    <a:bodyPr/>
                    <a:lstStyle/>
                    <a:p>
                      <a:pPr algn="l" fontAlgn="t">
                        <a:spcBef>
                          <a:spcPts val="0"/>
                        </a:spcBef>
                        <a:spcAft>
                          <a:spcPts val="0"/>
                        </a:spcAft>
                      </a:pPr>
                      <a:r>
                        <a:rPr lang="en-US" sz="1200" b="1" u="none" strike="noStrike" dirty="0">
                          <a:effectLst/>
                        </a:rPr>
                        <a:t>Explanation</a:t>
                      </a:r>
                      <a:endParaRPr lang="en-US" sz="1200" b="0" i="0" u="none" strike="noStrike" dirty="0">
                        <a:effectLst/>
                        <a:latin typeface="Arial" panose="020B0604020202020204" pitchFamily="34" charset="0"/>
                      </a:endParaRPr>
                    </a:p>
                  </a:txBody>
                  <a:tcPr marL="26168" marR="26168" marT="26168" marB="26168"/>
                </a:tc>
                <a:extLst>
                  <a:ext uri="{0D108BD9-81ED-4DB2-BD59-A6C34878D82A}">
                    <a16:rowId xmlns:a16="http://schemas.microsoft.com/office/drawing/2014/main" val="10000"/>
                  </a:ext>
                </a:extLst>
              </a:tr>
              <a:tr h="552474">
                <a:tc>
                  <a:txBody>
                    <a:bodyPr/>
                    <a:lstStyle/>
                    <a:p>
                      <a:pPr algn="l" fontAlgn="t">
                        <a:spcBef>
                          <a:spcPts val="0"/>
                        </a:spcBef>
                        <a:spcAft>
                          <a:spcPts val="0"/>
                        </a:spcAft>
                      </a:pPr>
                      <a:r>
                        <a:rPr lang="en-US" sz="1200" b="1" u="none" strike="noStrike" dirty="0">
                          <a:effectLst/>
                        </a:rPr>
                        <a:t>Relational OLAP(ROLAP):</a:t>
                      </a:r>
                      <a:endParaRPr lang="en-US" sz="1200" b="0" i="0" u="none" strike="noStrike" dirty="0">
                        <a:effectLst/>
                        <a:latin typeface="Arial" panose="020B0604020202020204" pitchFamily="34" charset="0"/>
                      </a:endParaRPr>
                    </a:p>
                  </a:txBody>
                  <a:tcPr marL="26168" marR="26168" marT="26168" marB="26168"/>
                </a:tc>
                <a:tc>
                  <a:txBody>
                    <a:bodyPr/>
                    <a:lstStyle/>
                    <a:p>
                      <a:pPr algn="l" fontAlgn="t">
                        <a:spcBef>
                          <a:spcPts val="0"/>
                        </a:spcBef>
                        <a:spcAft>
                          <a:spcPts val="0"/>
                        </a:spcAft>
                      </a:pPr>
                      <a:r>
                        <a:rPr lang="en-US" sz="1200" b="0" u="none" strike="noStrike" dirty="0">
                          <a:effectLst/>
                        </a:rPr>
                        <a:t>ROLAP is an extended RDBMS along with </a:t>
                      </a:r>
                      <a:r>
                        <a:rPr lang="en-US" sz="1200" b="1" u="none" strike="noStrike" dirty="0">
                          <a:effectLst/>
                        </a:rPr>
                        <a:t>multidimensional data </a:t>
                      </a:r>
                      <a:r>
                        <a:rPr lang="en-US" sz="1200" b="0" u="none" strike="noStrike" dirty="0">
                          <a:effectLst/>
                        </a:rPr>
                        <a:t>mapping to perform the </a:t>
                      </a:r>
                      <a:r>
                        <a:rPr lang="en-US" sz="1200" b="1" u="none" strike="noStrike" dirty="0">
                          <a:effectLst/>
                        </a:rPr>
                        <a:t>standard relational operation</a:t>
                      </a:r>
                      <a:r>
                        <a:rPr lang="en-US" sz="1200" b="0" u="none" strike="noStrike" dirty="0">
                          <a:effectLst/>
                        </a:rPr>
                        <a:t>.</a:t>
                      </a:r>
                      <a:endParaRPr lang="en-US" sz="1200" b="0" i="0" u="none" strike="noStrike" dirty="0">
                        <a:effectLst/>
                        <a:latin typeface="Arial" panose="020B0604020202020204" pitchFamily="34" charset="0"/>
                      </a:endParaRPr>
                    </a:p>
                  </a:txBody>
                  <a:tcPr marL="26168" marR="26168" marT="26168" marB="26168"/>
                </a:tc>
                <a:extLst>
                  <a:ext uri="{0D108BD9-81ED-4DB2-BD59-A6C34878D82A}">
                    <a16:rowId xmlns:a16="http://schemas.microsoft.com/office/drawing/2014/main" val="10001"/>
                  </a:ext>
                </a:extLst>
              </a:tr>
              <a:tr h="323337">
                <a:tc>
                  <a:txBody>
                    <a:bodyPr/>
                    <a:lstStyle/>
                    <a:p>
                      <a:pPr algn="l" fontAlgn="t">
                        <a:spcBef>
                          <a:spcPts val="0"/>
                        </a:spcBef>
                        <a:spcAft>
                          <a:spcPts val="0"/>
                        </a:spcAft>
                      </a:pPr>
                      <a:r>
                        <a:rPr lang="en-US" sz="1200" b="1" u="none" strike="noStrike" dirty="0">
                          <a:effectLst/>
                        </a:rPr>
                        <a:t>Multidimensional OLAP (MOLAP)</a:t>
                      </a:r>
                      <a:endParaRPr lang="en-US" sz="1200" b="0" i="0" u="none" strike="noStrike" dirty="0">
                        <a:effectLst/>
                        <a:latin typeface="Arial" panose="020B0604020202020204" pitchFamily="34" charset="0"/>
                      </a:endParaRPr>
                    </a:p>
                  </a:txBody>
                  <a:tcPr marL="26168" marR="26168" marT="26168" marB="26168"/>
                </a:tc>
                <a:tc>
                  <a:txBody>
                    <a:bodyPr/>
                    <a:lstStyle/>
                    <a:p>
                      <a:pPr algn="l" fontAlgn="t">
                        <a:spcBef>
                          <a:spcPts val="0"/>
                        </a:spcBef>
                        <a:spcAft>
                          <a:spcPts val="0"/>
                        </a:spcAft>
                      </a:pPr>
                      <a:r>
                        <a:rPr lang="en-US" sz="1200" b="0" u="none" strike="noStrike" dirty="0">
                          <a:effectLst/>
                        </a:rPr>
                        <a:t>MOLAP Implements </a:t>
                      </a:r>
                      <a:r>
                        <a:rPr lang="en-US" sz="1200" b="1" u="none" strike="noStrike" dirty="0">
                          <a:effectLst/>
                        </a:rPr>
                        <a:t>operation in multidimensional data</a:t>
                      </a:r>
                      <a:r>
                        <a:rPr lang="en-US" sz="1200" b="0" u="none" strike="noStrike" dirty="0">
                          <a:effectLst/>
                        </a:rPr>
                        <a:t>.</a:t>
                      </a:r>
                      <a:endParaRPr lang="en-US" sz="1200" b="0" i="0" u="none" strike="noStrike" dirty="0">
                        <a:effectLst/>
                        <a:latin typeface="Arial" panose="020B0604020202020204" pitchFamily="34" charset="0"/>
                      </a:endParaRPr>
                    </a:p>
                  </a:txBody>
                  <a:tcPr marL="26168" marR="26168" marT="26168" marB="26168"/>
                </a:tc>
                <a:extLst>
                  <a:ext uri="{0D108BD9-81ED-4DB2-BD59-A6C34878D82A}">
                    <a16:rowId xmlns:a16="http://schemas.microsoft.com/office/drawing/2014/main" val="10002"/>
                  </a:ext>
                </a:extLst>
              </a:tr>
              <a:tr h="1239883">
                <a:tc>
                  <a:txBody>
                    <a:bodyPr/>
                    <a:lstStyle/>
                    <a:p>
                      <a:pPr algn="l" fontAlgn="t">
                        <a:spcBef>
                          <a:spcPts val="0"/>
                        </a:spcBef>
                        <a:spcAft>
                          <a:spcPts val="0"/>
                        </a:spcAft>
                      </a:pPr>
                      <a:r>
                        <a:rPr lang="en-US" sz="1200" b="1" u="none" strike="noStrike" dirty="0">
                          <a:effectLst/>
                        </a:rPr>
                        <a:t>Hybrid Online Analytical Processing (HOLAP)</a:t>
                      </a:r>
                      <a:endParaRPr lang="en-US" sz="1200" b="0" i="0" u="none" strike="noStrike" dirty="0">
                        <a:effectLst/>
                        <a:latin typeface="Arial" panose="020B0604020202020204" pitchFamily="34" charset="0"/>
                      </a:endParaRPr>
                    </a:p>
                  </a:txBody>
                  <a:tcPr marL="26168" marR="26168" marT="26168" marB="26168"/>
                </a:tc>
                <a:tc>
                  <a:txBody>
                    <a:bodyPr/>
                    <a:lstStyle/>
                    <a:p>
                      <a:pPr algn="l" fontAlgn="t">
                        <a:spcBef>
                          <a:spcPts val="0"/>
                        </a:spcBef>
                        <a:spcAft>
                          <a:spcPts val="0"/>
                        </a:spcAft>
                      </a:pPr>
                      <a:r>
                        <a:rPr lang="en-US" sz="1200" b="0" u="none" strike="noStrike" dirty="0">
                          <a:effectLst/>
                        </a:rPr>
                        <a:t>In HOLAP approach the aggregated totals are stored in a multidimensional database while the detailed data is stored in the relational database. This offers </a:t>
                      </a:r>
                      <a:r>
                        <a:rPr lang="en-US" sz="1200" b="1" u="none" strike="noStrike" dirty="0">
                          <a:solidFill>
                            <a:srgbClr val="FF0000"/>
                          </a:solidFill>
                          <a:effectLst/>
                        </a:rPr>
                        <a:t>both data efficiency </a:t>
                      </a:r>
                      <a:r>
                        <a:rPr lang="en-US" sz="1200" b="0" u="none" strike="noStrike" dirty="0">
                          <a:effectLst/>
                        </a:rPr>
                        <a:t>of the ROLAP model and the </a:t>
                      </a:r>
                      <a:r>
                        <a:rPr lang="en-US" sz="1200" b="1" u="none" strike="noStrike" dirty="0">
                          <a:effectLst/>
                        </a:rPr>
                        <a:t>performance of the MOLAP model</a:t>
                      </a:r>
                      <a:r>
                        <a:rPr lang="en-US" sz="1200" b="0" u="none" strike="noStrike" dirty="0">
                          <a:effectLst/>
                        </a:rPr>
                        <a:t>.</a:t>
                      </a:r>
                      <a:endParaRPr lang="en-US" sz="1200" b="0" i="0" u="none" strike="noStrike" dirty="0">
                        <a:effectLst/>
                        <a:latin typeface="Arial" panose="020B0604020202020204" pitchFamily="34" charset="0"/>
                      </a:endParaRPr>
                    </a:p>
                  </a:txBody>
                  <a:tcPr marL="26168" marR="26168" marT="26168" marB="26168"/>
                </a:tc>
                <a:extLst>
                  <a:ext uri="{0D108BD9-81ED-4DB2-BD59-A6C34878D82A}">
                    <a16:rowId xmlns:a16="http://schemas.microsoft.com/office/drawing/2014/main" val="10003"/>
                  </a:ext>
                </a:extLst>
              </a:tr>
              <a:tr h="1239883">
                <a:tc>
                  <a:txBody>
                    <a:bodyPr/>
                    <a:lstStyle/>
                    <a:p>
                      <a:pPr algn="l" fontAlgn="t">
                        <a:spcBef>
                          <a:spcPts val="0"/>
                        </a:spcBef>
                        <a:spcAft>
                          <a:spcPts val="0"/>
                        </a:spcAft>
                      </a:pPr>
                      <a:r>
                        <a:rPr lang="en-US" sz="1200" b="1" u="none" strike="noStrike">
                          <a:effectLst/>
                        </a:rPr>
                        <a:t>Desktop OLAP (DOLAP)</a:t>
                      </a:r>
                      <a:endParaRPr lang="en-US" sz="1200" b="0" i="0" u="none" strike="noStrike">
                        <a:effectLst/>
                        <a:latin typeface="Arial" panose="020B0604020202020204" pitchFamily="34" charset="0"/>
                      </a:endParaRPr>
                    </a:p>
                  </a:txBody>
                  <a:tcPr marL="26168" marR="26168" marT="26168" marB="26168"/>
                </a:tc>
                <a:tc>
                  <a:txBody>
                    <a:bodyPr/>
                    <a:lstStyle/>
                    <a:p>
                      <a:pPr algn="l" fontAlgn="t">
                        <a:spcBef>
                          <a:spcPts val="0"/>
                        </a:spcBef>
                        <a:spcAft>
                          <a:spcPts val="0"/>
                        </a:spcAft>
                      </a:pPr>
                      <a:r>
                        <a:rPr lang="en-US" sz="1200" b="0" u="none" strike="noStrike">
                          <a:effectLst/>
                        </a:rPr>
                        <a:t>In Desktop OLAP, a user downloads a part of the data from the database locally, or on their desktop and analyze it.</a:t>
                      </a:r>
                      <a:br>
                        <a:rPr lang="en-US" sz="1200" b="0" u="none" strike="noStrike">
                          <a:effectLst/>
                        </a:rPr>
                      </a:br>
                      <a:br>
                        <a:rPr lang="en-US" sz="1200" b="0" u="none" strike="noStrike">
                          <a:effectLst/>
                        </a:rPr>
                      </a:br>
                      <a:r>
                        <a:rPr lang="en-US" sz="1200" b="0" u="none" strike="noStrike">
                          <a:effectLst/>
                        </a:rPr>
                        <a:t>DOLAP is relatively cheaper to deploy as it offers very few functionalities compares to other OLAP systems.</a:t>
                      </a:r>
                      <a:endParaRPr lang="en-US" sz="1200" b="0" i="0" u="none" strike="noStrike">
                        <a:effectLst/>
                        <a:latin typeface="Arial" panose="020B0604020202020204" pitchFamily="34" charset="0"/>
                      </a:endParaRPr>
                    </a:p>
                  </a:txBody>
                  <a:tcPr marL="26168" marR="26168" marT="26168" marB="26168"/>
                </a:tc>
                <a:extLst>
                  <a:ext uri="{0D108BD9-81ED-4DB2-BD59-A6C34878D82A}">
                    <a16:rowId xmlns:a16="http://schemas.microsoft.com/office/drawing/2014/main" val="10004"/>
                  </a:ext>
                </a:extLst>
              </a:tr>
              <a:tr h="1010747">
                <a:tc>
                  <a:txBody>
                    <a:bodyPr/>
                    <a:lstStyle/>
                    <a:p>
                      <a:pPr algn="l" fontAlgn="t">
                        <a:spcBef>
                          <a:spcPts val="0"/>
                        </a:spcBef>
                        <a:spcAft>
                          <a:spcPts val="0"/>
                        </a:spcAft>
                      </a:pPr>
                      <a:r>
                        <a:rPr lang="en-US" sz="1200" b="1" u="none" strike="noStrike">
                          <a:effectLst/>
                        </a:rPr>
                        <a:t>Web OLAP (WOLAP)</a:t>
                      </a:r>
                      <a:endParaRPr lang="en-US" sz="1200" b="0" i="0" u="none" strike="noStrike">
                        <a:effectLst/>
                        <a:latin typeface="Arial" panose="020B0604020202020204" pitchFamily="34" charset="0"/>
                      </a:endParaRPr>
                    </a:p>
                  </a:txBody>
                  <a:tcPr marL="26168" marR="26168" marT="26168" marB="26168"/>
                </a:tc>
                <a:tc>
                  <a:txBody>
                    <a:bodyPr/>
                    <a:lstStyle/>
                    <a:p>
                      <a:pPr algn="l" fontAlgn="t">
                        <a:spcBef>
                          <a:spcPts val="0"/>
                        </a:spcBef>
                        <a:spcAft>
                          <a:spcPts val="0"/>
                        </a:spcAft>
                      </a:pPr>
                      <a:r>
                        <a:rPr lang="en-US" sz="1200" b="0" u="none" strike="noStrike">
                          <a:effectLst/>
                        </a:rPr>
                        <a:t>Web OLAP which is OLAP system accessible via the web browser. WOLAP is a three-tiered architecture. It consists of three components: client, middleware, and a database server.</a:t>
                      </a:r>
                      <a:endParaRPr lang="en-US" sz="1200" b="0" i="0" u="none" strike="noStrike">
                        <a:effectLst/>
                        <a:latin typeface="Arial" panose="020B0604020202020204" pitchFamily="34" charset="0"/>
                      </a:endParaRPr>
                    </a:p>
                  </a:txBody>
                  <a:tcPr marL="26168" marR="26168" marT="26168" marB="26168"/>
                </a:tc>
                <a:extLst>
                  <a:ext uri="{0D108BD9-81ED-4DB2-BD59-A6C34878D82A}">
                    <a16:rowId xmlns:a16="http://schemas.microsoft.com/office/drawing/2014/main" val="10005"/>
                  </a:ext>
                </a:extLst>
              </a:tr>
              <a:tr h="552474">
                <a:tc>
                  <a:txBody>
                    <a:bodyPr/>
                    <a:lstStyle/>
                    <a:p>
                      <a:pPr algn="l" fontAlgn="t">
                        <a:spcBef>
                          <a:spcPts val="0"/>
                        </a:spcBef>
                        <a:spcAft>
                          <a:spcPts val="0"/>
                        </a:spcAft>
                      </a:pPr>
                      <a:r>
                        <a:rPr lang="en-US" sz="1200" b="1" u="none" strike="noStrike" dirty="0">
                          <a:effectLst/>
                        </a:rPr>
                        <a:t>Mobile OLAP:</a:t>
                      </a:r>
                      <a:endParaRPr lang="en-US" sz="1200" b="0" i="0" u="none" strike="noStrike" dirty="0">
                        <a:effectLst/>
                        <a:latin typeface="Arial" panose="020B0604020202020204" pitchFamily="34" charset="0"/>
                      </a:endParaRPr>
                    </a:p>
                  </a:txBody>
                  <a:tcPr marL="26168" marR="26168" marT="26168" marB="26168"/>
                </a:tc>
                <a:tc>
                  <a:txBody>
                    <a:bodyPr/>
                    <a:lstStyle/>
                    <a:p>
                      <a:pPr algn="l" fontAlgn="t">
                        <a:spcBef>
                          <a:spcPts val="0"/>
                        </a:spcBef>
                        <a:spcAft>
                          <a:spcPts val="0"/>
                        </a:spcAft>
                      </a:pPr>
                      <a:r>
                        <a:rPr lang="en-US" sz="1200" b="0" u="none" strike="noStrike" dirty="0">
                          <a:effectLst/>
                        </a:rPr>
                        <a:t>Mobile OLAP helps users to access and analyze OLAP data using their mobile devices</a:t>
                      </a:r>
                      <a:endParaRPr lang="en-US" sz="1200" b="0" i="0" u="none" strike="noStrike" dirty="0">
                        <a:effectLst/>
                        <a:latin typeface="Arial" panose="020B0604020202020204" pitchFamily="34" charset="0"/>
                      </a:endParaRPr>
                    </a:p>
                  </a:txBody>
                  <a:tcPr marL="26168" marR="26168" marT="26168" marB="26168"/>
                </a:tc>
                <a:extLst>
                  <a:ext uri="{0D108BD9-81ED-4DB2-BD59-A6C34878D82A}">
                    <a16:rowId xmlns:a16="http://schemas.microsoft.com/office/drawing/2014/main" val="10006"/>
                  </a:ext>
                </a:extLst>
              </a:tr>
              <a:tr h="781611">
                <a:tc>
                  <a:txBody>
                    <a:bodyPr/>
                    <a:lstStyle/>
                    <a:p>
                      <a:pPr algn="l" fontAlgn="t">
                        <a:spcBef>
                          <a:spcPts val="0"/>
                        </a:spcBef>
                        <a:spcAft>
                          <a:spcPts val="0"/>
                        </a:spcAft>
                      </a:pPr>
                      <a:r>
                        <a:rPr lang="en-US" sz="1200" b="1" u="none" strike="noStrike" dirty="0">
                          <a:effectLst/>
                        </a:rPr>
                        <a:t>Spatial OLAP :</a:t>
                      </a:r>
                      <a:endParaRPr lang="en-US" sz="1200" b="0" i="0" u="none" strike="noStrike" dirty="0">
                        <a:effectLst/>
                        <a:latin typeface="Arial" panose="020B0604020202020204" pitchFamily="34" charset="0"/>
                      </a:endParaRPr>
                    </a:p>
                  </a:txBody>
                  <a:tcPr marL="26168" marR="26168" marT="26168" marB="26168"/>
                </a:tc>
                <a:tc>
                  <a:txBody>
                    <a:bodyPr/>
                    <a:lstStyle/>
                    <a:p>
                      <a:pPr algn="l" fontAlgn="t">
                        <a:spcBef>
                          <a:spcPts val="0"/>
                        </a:spcBef>
                        <a:spcAft>
                          <a:spcPts val="0"/>
                        </a:spcAft>
                      </a:pPr>
                      <a:r>
                        <a:rPr lang="en-US" sz="1200" b="0" u="none" strike="noStrike" dirty="0">
                          <a:effectLst/>
                        </a:rPr>
                        <a:t>SOLAP is created to facilitate management of both spatial and non-spatial data in a Geographic Information system (GIS)</a:t>
                      </a:r>
                      <a:endParaRPr lang="en-US" sz="1200" b="0" i="0" u="none" strike="noStrike" dirty="0">
                        <a:effectLst/>
                        <a:latin typeface="Arial" panose="020B0604020202020204" pitchFamily="34" charset="0"/>
                      </a:endParaRPr>
                    </a:p>
                  </a:txBody>
                  <a:tcPr marL="26168" marR="26168" marT="26168" marB="26168"/>
                </a:tc>
                <a:extLst>
                  <a:ext uri="{0D108BD9-81ED-4DB2-BD59-A6C34878D82A}">
                    <a16:rowId xmlns:a16="http://schemas.microsoft.com/office/drawing/2014/main" val="10007"/>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2BE4758-BB84-4083-99BB-4E2B11E348E5}" type="slidenum">
              <a:rPr lang="en-US" altLang="en-US" smtClean="0"/>
              <a:t>35</a:t>
            </a:fld>
            <a:endParaRPr lang="en-US" altLang="en-US"/>
          </a:p>
        </p:txBody>
      </p:sp>
      <p:sp>
        <p:nvSpPr>
          <p:cNvPr id="4" name="TextBox 3"/>
          <p:cNvSpPr txBox="1"/>
          <p:nvPr/>
        </p:nvSpPr>
        <p:spPr>
          <a:xfrm>
            <a:off x="503548" y="908720"/>
            <a:ext cx="8136904" cy="1890389"/>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sz="2000" b="1" i="0" dirty="0">
                <a:solidFill>
                  <a:srgbClr val="222222"/>
                </a:solidFill>
                <a:effectLst/>
                <a:latin typeface="Source Sans Pro" panose="020B0503030403020204" pitchFamily="34" charset="0"/>
              </a:rPr>
              <a:t>ROLAP works with data that exist in a relational database. </a:t>
            </a:r>
          </a:p>
          <a:p>
            <a:pPr marL="285750" indent="-285750" algn="just">
              <a:lnSpc>
                <a:spcPct val="150000"/>
              </a:lnSpc>
              <a:buFont typeface="Wingdings" panose="05000000000000000000" pitchFamily="2" charset="2"/>
              <a:buChar char="§"/>
            </a:pPr>
            <a:r>
              <a:rPr lang="en-US" sz="2000" b="1" i="0" dirty="0">
                <a:solidFill>
                  <a:srgbClr val="222222"/>
                </a:solidFill>
                <a:effectLst/>
                <a:latin typeface="Source Sans Pro" panose="020B0503030403020204" pitchFamily="34" charset="0"/>
              </a:rPr>
              <a:t>Facts</a:t>
            </a:r>
            <a:r>
              <a:rPr lang="en-US" sz="2000" b="0" i="0" dirty="0">
                <a:solidFill>
                  <a:srgbClr val="222222"/>
                </a:solidFill>
                <a:effectLst/>
                <a:latin typeface="Source Sans Pro" panose="020B0503030403020204" pitchFamily="34" charset="0"/>
              </a:rPr>
              <a:t> and </a:t>
            </a:r>
            <a:r>
              <a:rPr lang="en-US" sz="2000" b="1" i="0" dirty="0">
                <a:solidFill>
                  <a:srgbClr val="222222"/>
                </a:solidFill>
                <a:effectLst/>
                <a:latin typeface="Source Sans Pro" panose="020B0503030403020204" pitchFamily="34" charset="0"/>
              </a:rPr>
              <a:t>dimension tables </a:t>
            </a:r>
            <a:r>
              <a:rPr lang="en-US" sz="2000" b="0" i="0" dirty="0">
                <a:solidFill>
                  <a:srgbClr val="222222"/>
                </a:solidFill>
                <a:effectLst/>
                <a:latin typeface="Source Sans Pro" panose="020B0503030403020204" pitchFamily="34" charset="0"/>
              </a:rPr>
              <a:t>are stored as relational tables. </a:t>
            </a:r>
          </a:p>
          <a:p>
            <a:pPr marL="285750" indent="-285750" algn="just">
              <a:lnSpc>
                <a:spcPct val="150000"/>
              </a:lnSpc>
              <a:buFont typeface="Wingdings" panose="05000000000000000000" pitchFamily="2" charset="2"/>
              <a:buChar char="§"/>
            </a:pPr>
            <a:r>
              <a:rPr lang="en-US" sz="2000" b="0" i="0" dirty="0">
                <a:solidFill>
                  <a:srgbClr val="222222"/>
                </a:solidFill>
                <a:effectLst/>
                <a:latin typeface="Source Sans Pro" panose="020B0503030403020204" pitchFamily="34" charset="0"/>
              </a:rPr>
              <a:t>It </a:t>
            </a:r>
            <a:r>
              <a:rPr lang="en-US" sz="2000" b="1" i="0" dirty="0">
                <a:solidFill>
                  <a:srgbClr val="222222"/>
                </a:solidFill>
                <a:effectLst/>
                <a:latin typeface="Source Sans Pro" panose="020B0503030403020204" pitchFamily="34" charset="0"/>
              </a:rPr>
              <a:t>also allows multidimensional analysis of data and is the fastest growing OLAP</a:t>
            </a:r>
            <a:r>
              <a:rPr lang="en-US" sz="2000" b="0" i="0" dirty="0">
                <a:solidFill>
                  <a:srgbClr val="222222"/>
                </a:solidFill>
                <a:effectLst/>
                <a:latin typeface="Source Sans Pro" panose="020B0503030403020204" pitchFamily="34" charset="0"/>
              </a:rPr>
              <a:t>.</a:t>
            </a:r>
          </a:p>
        </p:txBody>
      </p:sp>
      <p:sp>
        <p:nvSpPr>
          <p:cNvPr id="6" name="TextBox 5"/>
          <p:cNvSpPr txBox="1"/>
          <p:nvPr/>
        </p:nvSpPr>
        <p:spPr>
          <a:xfrm>
            <a:off x="2411760" y="381589"/>
            <a:ext cx="4572000" cy="369332"/>
          </a:xfrm>
          <a:prstGeom prst="rect">
            <a:avLst/>
          </a:prstGeom>
          <a:noFill/>
        </p:spPr>
        <p:txBody>
          <a:bodyPr wrap="square">
            <a:spAutoFit/>
          </a:bodyPr>
          <a:lstStyle/>
          <a:p>
            <a:pPr algn="l"/>
            <a:r>
              <a:rPr lang="en-US" b="1" i="0" dirty="0">
                <a:solidFill>
                  <a:srgbClr val="222222"/>
                </a:solidFill>
                <a:effectLst/>
                <a:latin typeface="Source Sans Pro" panose="020B0503030403020204" pitchFamily="34" charset="0"/>
              </a:rPr>
              <a:t>ROLAP</a:t>
            </a:r>
          </a:p>
        </p:txBody>
      </p:sp>
      <p:pic>
        <p:nvPicPr>
          <p:cNvPr id="7" name="Picture 6"/>
          <p:cNvPicPr>
            <a:picLocks noChangeAspect="1"/>
          </p:cNvPicPr>
          <p:nvPr/>
        </p:nvPicPr>
        <p:blipFill>
          <a:blip r:embed="rId2"/>
          <a:stretch>
            <a:fillRect/>
          </a:stretch>
        </p:blipFill>
        <p:spPr>
          <a:xfrm>
            <a:off x="705221" y="2990583"/>
            <a:ext cx="7812868" cy="3174293"/>
          </a:xfrm>
          <a:prstGeom prst="rect">
            <a:avLst/>
          </a:prstGeom>
        </p:spPr>
      </p:pic>
      <p:sp>
        <p:nvSpPr>
          <p:cNvPr id="8" name="TextBox 7"/>
          <p:cNvSpPr txBox="1"/>
          <p:nvPr/>
        </p:nvSpPr>
        <p:spPr>
          <a:xfrm>
            <a:off x="2914650" y="6291745"/>
            <a:ext cx="4572000" cy="369332"/>
          </a:xfrm>
          <a:prstGeom prst="rect">
            <a:avLst/>
          </a:prstGeom>
          <a:noFill/>
        </p:spPr>
        <p:txBody>
          <a:bodyPr wrap="square">
            <a:spAutoFit/>
          </a:bodyPr>
          <a:lstStyle/>
          <a:p>
            <a:pPr algn="l" fontAlgn="t">
              <a:spcBef>
                <a:spcPts val="0"/>
              </a:spcBef>
              <a:spcAft>
                <a:spcPts val="0"/>
              </a:spcAft>
            </a:pPr>
            <a:r>
              <a:rPr lang="en-US" sz="1800" b="1" u="none" strike="noStrike" dirty="0">
                <a:effectLst/>
              </a:rPr>
              <a:t>Relational OLAP(ROLAP)</a:t>
            </a:r>
            <a:endParaRPr lang="en-US" sz="1800" b="0" i="0" u="none" strike="noStrike" dirty="0">
              <a:effectLst/>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5"/>
          <p:cNvSpPr>
            <a:spLocks noGrp="1"/>
          </p:cNvSpPr>
          <p:nvPr>
            <p:ph type="sldNum" sz="quarter" idx="12"/>
          </p:nvPr>
        </p:nvSpPr>
        <p:spPr>
          <a:xfrm>
            <a:off x="7272339" y="5805487"/>
            <a:ext cx="702469" cy="215504"/>
          </a:xfrm>
        </p:spPr>
        <p:txBody>
          <a:bodyPr/>
          <a:lstStyle>
            <a:lvl1pPr eaLnBrk="0" hangingPunct="0">
              <a:defRPr kumimoji="1">
                <a:solidFill>
                  <a:schemeClr val="tx1"/>
                </a:solidFill>
                <a:latin typeface="Arial" panose="020B0604020202020204" pitchFamily="34" charset="0"/>
                <a:ea typeface="PMingLiU" panose="02020500000000000000" pitchFamily="18" charset="-120"/>
              </a:defRPr>
            </a:lvl1pPr>
            <a:lvl2pPr marL="557530" indent="-214630" eaLnBrk="0" hangingPunct="0">
              <a:defRPr kumimoji="1">
                <a:solidFill>
                  <a:schemeClr val="tx1"/>
                </a:solidFill>
                <a:latin typeface="Arial" panose="020B0604020202020204" pitchFamily="34" charset="0"/>
                <a:ea typeface="PMingLiU" panose="02020500000000000000" pitchFamily="18" charset="-120"/>
              </a:defRPr>
            </a:lvl2pPr>
            <a:lvl3pPr marL="857250" indent="-171450" eaLnBrk="0" hangingPunct="0">
              <a:defRPr kumimoji="1">
                <a:solidFill>
                  <a:schemeClr val="tx1"/>
                </a:solidFill>
                <a:latin typeface="Arial" panose="020B0604020202020204" pitchFamily="34" charset="0"/>
                <a:ea typeface="PMingLiU" panose="02020500000000000000" pitchFamily="18" charset="-120"/>
              </a:defRPr>
            </a:lvl3pPr>
            <a:lvl4pPr marL="1200150" indent="-171450" eaLnBrk="0" hangingPunct="0">
              <a:defRPr kumimoji="1">
                <a:solidFill>
                  <a:schemeClr val="tx1"/>
                </a:solidFill>
                <a:latin typeface="Arial" panose="020B0604020202020204" pitchFamily="34" charset="0"/>
                <a:ea typeface="PMingLiU" panose="02020500000000000000" pitchFamily="18" charset="-120"/>
              </a:defRPr>
            </a:lvl4pPr>
            <a:lvl5pPr marL="1543050" indent="-171450" eaLnBrk="0" hangingPunct="0">
              <a:defRPr kumimoji="1">
                <a:solidFill>
                  <a:schemeClr val="tx1"/>
                </a:solidFill>
                <a:latin typeface="Arial" panose="020B0604020202020204" pitchFamily="34" charset="0"/>
                <a:ea typeface="PMingLiU" panose="02020500000000000000" pitchFamily="18" charset="-120"/>
              </a:defRPr>
            </a:lvl5pPr>
            <a:lvl6pPr marL="18859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2288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25717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29146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fld id="{528B142A-88ED-46E4-B503-EADA1123A1F2}" type="slidenum">
              <a:rPr kumimoji="0" lang="en-US" altLang="zh-TW">
                <a:solidFill>
                  <a:srgbClr val="898989"/>
                </a:solidFill>
                <a:latin typeface="Calibri" panose="020F0502020204030204" pitchFamily="34" charset="0"/>
              </a:rPr>
              <a:t>36</a:t>
            </a:fld>
            <a:endParaRPr kumimoji="0" lang="en-US" altLang="zh-TW">
              <a:solidFill>
                <a:srgbClr val="898989"/>
              </a:solidFill>
              <a:latin typeface="Calibri" panose="020F0502020204030204" pitchFamily="34" charset="0"/>
            </a:endParaRPr>
          </a:p>
        </p:txBody>
      </p:sp>
      <p:sp>
        <p:nvSpPr>
          <p:cNvPr id="14" name="TextBox 13"/>
          <p:cNvSpPr txBox="1"/>
          <p:nvPr/>
        </p:nvSpPr>
        <p:spPr>
          <a:xfrm>
            <a:off x="1907704" y="1484784"/>
            <a:ext cx="4572000" cy="369332"/>
          </a:xfrm>
          <a:prstGeom prst="rect">
            <a:avLst/>
          </a:prstGeom>
          <a:noFill/>
        </p:spPr>
        <p:txBody>
          <a:bodyPr wrap="square">
            <a:spAutoFit/>
          </a:bodyPr>
          <a:lstStyle/>
          <a:p>
            <a:pPr algn="l"/>
            <a:r>
              <a:rPr lang="en-US" b="1" i="0" dirty="0">
                <a:solidFill>
                  <a:srgbClr val="222222"/>
                </a:solidFill>
                <a:effectLst/>
                <a:latin typeface="Source Sans Pro" panose="020B0503030403020204" pitchFamily="34" charset="0"/>
              </a:rPr>
              <a:t>Advantages of ROLAP model:</a:t>
            </a:r>
            <a:endParaRPr lang="en-US" b="0" i="0" dirty="0">
              <a:solidFill>
                <a:srgbClr val="222222"/>
              </a:solidFill>
              <a:effectLst/>
              <a:latin typeface="Source Sans Pro" panose="020B0503030403020204" pitchFamily="34" charset="0"/>
            </a:endParaRPr>
          </a:p>
        </p:txBody>
      </p:sp>
      <p:sp>
        <p:nvSpPr>
          <p:cNvPr id="16" name="TextBox 15"/>
          <p:cNvSpPr txBox="1"/>
          <p:nvPr/>
        </p:nvSpPr>
        <p:spPr>
          <a:xfrm>
            <a:off x="683568" y="2564904"/>
            <a:ext cx="7632848" cy="2126095"/>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b="1" i="0" dirty="0">
                <a:solidFill>
                  <a:srgbClr val="222222"/>
                </a:solidFill>
                <a:effectLst/>
                <a:latin typeface="Source Sans Pro" panose="020B0503030403020204" pitchFamily="34" charset="0"/>
              </a:rPr>
              <a:t>High data efficiency: </a:t>
            </a:r>
            <a:r>
              <a:rPr lang="en-US" b="0" i="0" dirty="0">
                <a:solidFill>
                  <a:srgbClr val="222222"/>
                </a:solidFill>
                <a:effectLst/>
                <a:latin typeface="Source Sans Pro" panose="020B0503030403020204" pitchFamily="34" charset="0"/>
              </a:rPr>
              <a:t>It offers high data efficiency because query performance and access language are optimized particularly for the multidimensional data analysis.</a:t>
            </a:r>
          </a:p>
          <a:p>
            <a:pPr marL="285750" indent="-285750" algn="just">
              <a:lnSpc>
                <a:spcPct val="150000"/>
              </a:lnSpc>
              <a:buFont typeface="Wingdings" panose="05000000000000000000" pitchFamily="2" charset="2"/>
              <a:buChar char="§"/>
            </a:pPr>
            <a:r>
              <a:rPr lang="en-US" b="1" i="0" dirty="0">
                <a:solidFill>
                  <a:srgbClr val="222222"/>
                </a:solidFill>
                <a:effectLst/>
                <a:latin typeface="Source Sans Pro" panose="020B0503030403020204" pitchFamily="34" charset="0"/>
              </a:rPr>
              <a:t>Scalability.</a:t>
            </a:r>
            <a:r>
              <a:rPr lang="en-US" b="0" i="0" dirty="0">
                <a:solidFill>
                  <a:srgbClr val="222222"/>
                </a:solidFill>
                <a:effectLst/>
                <a:latin typeface="Source Sans Pro" panose="020B0503030403020204" pitchFamily="34" charset="0"/>
              </a:rPr>
              <a:t> This type of OLAP system offers scalability for managing large volumes of data, and even when the data is steadily increasing.</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2BE4758-BB84-4083-99BB-4E2B11E348E5}" type="slidenum">
              <a:rPr lang="en-US" altLang="en-US" smtClean="0"/>
              <a:t>37</a:t>
            </a:fld>
            <a:endParaRPr lang="en-US" altLang="en-US"/>
          </a:p>
        </p:txBody>
      </p:sp>
      <p:sp>
        <p:nvSpPr>
          <p:cNvPr id="5" name="TextBox 4"/>
          <p:cNvSpPr txBox="1"/>
          <p:nvPr/>
        </p:nvSpPr>
        <p:spPr>
          <a:xfrm>
            <a:off x="1077938" y="1700808"/>
            <a:ext cx="6408712" cy="2957092"/>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b="1" i="0" dirty="0">
                <a:solidFill>
                  <a:srgbClr val="222222"/>
                </a:solidFill>
                <a:effectLst/>
                <a:latin typeface="Source Sans Pro" panose="020B0503030403020204" pitchFamily="34" charset="0"/>
              </a:rPr>
              <a:t>Demand for higher resources: </a:t>
            </a:r>
            <a:r>
              <a:rPr lang="en-US" b="0" i="0" dirty="0">
                <a:solidFill>
                  <a:srgbClr val="222222"/>
                </a:solidFill>
                <a:effectLst/>
                <a:latin typeface="Source Sans Pro" panose="020B0503030403020204" pitchFamily="34" charset="0"/>
              </a:rPr>
              <a:t>ROLAP needs high utilization of manpower, software, and hardware resources.</a:t>
            </a:r>
          </a:p>
          <a:p>
            <a:pPr marL="285750" indent="-285750" algn="just">
              <a:lnSpc>
                <a:spcPct val="150000"/>
              </a:lnSpc>
              <a:buFont typeface="Wingdings" panose="05000000000000000000" pitchFamily="2" charset="2"/>
              <a:buChar char="§"/>
            </a:pPr>
            <a:r>
              <a:rPr lang="en-US" b="1" i="0" dirty="0">
                <a:solidFill>
                  <a:srgbClr val="222222"/>
                </a:solidFill>
                <a:effectLst/>
                <a:latin typeface="Source Sans Pro" panose="020B0503030403020204" pitchFamily="34" charset="0"/>
              </a:rPr>
              <a:t>Aggregately data limitations.</a:t>
            </a:r>
            <a:r>
              <a:rPr lang="en-US" b="0" i="0" dirty="0">
                <a:solidFill>
                  <a:srgbClr val="222222"/>
                </a:solidFill>
                <a:effectLst/>
                <a:latin typeface="Source Sans Pro" panose="020B0503030403020204" pitchFamily="34" charset="0"/>
              </a:rPr>
              <a:t> ROLAP tools use SQL for all calculation of aggregate data. However, there are no set limits to the for handling computations.</a:t>
            </a:r>
          </a:p>
          <a:p>
            <a:pPr marL="285750" indent="-285750" algn="just">
              <a:lnSpc>
                <a:spcPct val="150000"/>
              </a:lnSpc>
              <a:buFont typeface="Wingdings" panose="05000000000000000000" pitchFamily="2" charset="2"/>
              <a:buChar char="§"/>
            </a:pPr>
            <a:r>
              <a:rPr lang="en-US" b="1" i="0" dirty="0">
                <a:solidFill>
                  <a:srgbClr val="222222"/>
                </a:solidFill>
                <a:effectLst/>
                <a:latin typeface="Source Sans Pro" panose="020B0503030403020204" pitchFamily="34" charset="0"/>
              </a:rPr>
              <a:t>Slow query performance.</a:t>
            </a:r>
            <a:r>
              <a:rPr lang="en-US" b="0" i="0" dirty="0">
                <a:solidFill>
                  <a:srgbClr val="222222"/>
                </a:solidFill>
                <a:effectLst/>
                <a:latin typeface="Source Sans Pro" panose="020B0503030403020204" pitchFamily="34" charset="0"/>
              </a:rPr>
              <a:t> Query performance in this model is slow when compared with MOLAP</a:t>
            </a:r>
          </a:p>
        </p:txBody>
      </p:sp>
      <p:sp>
        <p:nvSpPr>
          <p:cNvPr id="7" name="TextBox 6"/>
          <p:cNvSpPr txBox="1"/>
          <p:nvPr/>
        </p:nvSpPr>
        <p:spPr>
          <a:xfrm>
            <a:off x="1979712" y="836712"/>
            <a:ext cx="4572000" cy="464101"/>
          </a:xfrm>
          <a:prstGeom prst="rect">
            <a:avLst/>
          </a:prstGeom>
          <a:noFill/>
        </p:spPr>
        <p:txBody>
          <a:bodyPr wrap="square">
            <a:spAutoFit/>
          </a:bodyPr>
          <a:lstStyle/>
          <a:p>
            <a:pPr algn="just">
              <a:lnSpc>
                <a:spcPct val="150000"/>
              </a:lnSpc>
            </a:pPr>
            <a:r>
              <a:rPr lang="en-US" b="1" i="0" dirty="0">
                <a:solidFill>
                  <a:srgbClr val="222222"/>
                </a:solidFill>
                <a:effectLst/>
                <a:latin typeface="Source Sans Pro" panose="020B0503030403020204" pitchFamily="34" charset="0"/>
              </a:rPr>
              <a:t>Drawbacks of ROLAP model:</a:t>
            </a:r>
            <a:endParaRPr lang="en-US" b="0" i="0" dirty="0">
              <a:solidFill>
                <a:srgbClr val="222222"/>
              </a:solidFill>
              <a:effectLst/>
              <a:latin typeface="Source Sans Pro" panose="020B0503030403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5"/>
          <p:cNvSpPr>
            <a:spLocks noGrp="1"/>
          </p:cNvSpPr>
          <p:nvPr>
            <p:ph type="sldNum" sz="quarter" idx="12"/>
          </p:nvPr>
        </p:nvSpPr>
        <p:spPr>
          <a:xfrm>
            <a:off x="7272339" y="5805487"/>
            <a:ext cx="702469" cy="215504"/>
          </a:xfrm>
        </p:spPr>
        <p:txBody>
          <a:bodyPr/>
          <a:lstStyle>
            <a:lvl1pPr eaLnBrk="0" hangingPunct="0">
              <a:defRPr kumimoji="1">
                <a:solidFill>
                  <a:schemeClr val="tx1"/>
                </a:solidFill>
                <a:latin typeface="Arial" panose="020B0604020202020204" pitchFamily="34" charset="0"/>
                <a:ea typeface="PMingLiU" panose="02020500000000000000" pitchFamily="18" charset="-120"/>
              </a:defRPr>
            </a:lvl1pPr>
            <a:lvl2pPr marL="557530" indent="-214630" eaLnBrk="0" hangingPunct="0">
              <a:defRPr kumimoji="1">
                <a:solidFill>
                  <a:schemeClr val="tx1"/>
                </a:solidFill>
                <a:latin typeface="Arial" panose="020B0604020202020204" pitchFamily="34" charset="0"/>
                <a:ea typeface="PMingLiU" panose="02020500000000000000" pitchFamily="18" charset="-120"/>
              </a:defRPr>
            </a:lvl2pPr>
            <a:lvl3pPr marL="857250" indent="-171450" eaLnBrk="0" hangingPunct="0">
              <a:defRPr kumimoji="1">
                <a:solidFill>
                  <a:schemeClr val="tx1"/>
                </a:solidFill>
                <a:latin typeface="Arial" panose="020B0604020202020204" pitchFamily="34" charset="0"/>
                <a:ea typeface="PMingLiU" panose="02020500000000000000" pitchFamily="18" charset="-120"/>
              </a:defRPr>
            </a:lvl3pPr>
            <a:lvl4pPr marL="1200150" indent="-171450" eaLnBrk="0" hangingPunct="0">
              <a:defRPr kumimoji="1">
                <a:solidFill>
                  <a:schemeClr val="tx1"/>
                </a:solidFill>
                <a:latin typeface="Arial" panose="020B0604020202020204" pitchFamily="34" charset="0"/>
                <a:ea typeface="PMingLiU" panose="02020500000000000000" pitchFamily="18" charset="-120"/>
              </a:defRPr>
            </a:lvl4pPr>
            <a:lvl5pPr marL="1543050" indent="-171450" eaLnBrk="0" hangingPunct="0">
              <a:defRPr kumimoji="1">
                <a:solidFill>
                  <a:schemeClr val="tx1"/>
                </a:solidFill>
                <a:latin typeface="Arial" panose="020B0604020202020204" pitchFamily="34" charset="0"/>
                <a:ea typeface="PMingLiU" panose="02020500000000000000" pitchFamily="18" charset="-120"/>
              </a:defRPr>
            </a:lvl5pPr>
            <a:lvl6pPr marL="18859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2288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25717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29146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fld id="{528B142A-88ED-46E4-B503-EADA1123A1F2}" type="slidenum">
              <a:rPr kumimoji="0" lang="en-US" altLang="zh-TW">
                <a:solidFill>
                  <a:srgbClr val="898989"/>
                </a:solidFill>
                <a:latin typeface="Calibri" panose="020F0502020204030204" pitchFamily="34" charset="0"/>
              </a:rPr>
              <a:t>38</a:t>
            </a:fld>
            <a:endParaRPr kumimoji="0" lang="en-US" altLang="zh-TW">
              <a:solidFill>
                <a:srgbClr val="898989"/>
              </a:solidFill>
              <a:latin typeface="Calibri" panose="020F0502020204030204" pitchFamily="34" charset="0"/>
            </a:endParaRPr>
          </a:p>
        </p:txBody>
      </p:sp>
      <p:sp>
        <p:nvSpPr>
          <p:cNvPr id="16" name="TextBox 15"/>
          <p:cNvSpPr txBox="1"/>
          <p:nvPr/>
        </p:nvSpPr>
        <p:spPr>
          <a:xfrm>
            <a:off x="1691680" y="620688"/>
            <a:ext cx="4572000" cy="461665"/>
          </a:xfrm>
          <a:prstGeom prst="rect">
            <a:avLst/>
          </a:prstGeom>
          <a:noFill/>
        </p:spPr>
        <p:txBody>
          <a:bodyPr wrap="square">
            <a:spAutoFit/>
          </a:bodyPr>
          <a:lstStyle/>
          <a:p>
            <a:pPr algn="l" fontAlgn="t">
              <a:spcBef>
                <a:spcPts val="0"/>
              </a:spcBef>
              <a:spcAft>
                <a:spcPts val="0"/>
              </a:spcAft>
            </a:pPr>
            <a:r>
              <a:rPr lang="en-US" sz="2400" b="1" u="none" strike="noStrike" dirty="0">
                <a:effectLst/>
              </a:rPr>
              <a:t>Multidimensional OLAP (MOLAP)</a:t>
            </a:r>
            <a:endParaRPr lang="en-US" sz="2400" b="0" i="0" u="none" strike="noStrike" dirty="0">
              <a:effectLst/>
              <a:latin typeface="Arial" panose="020B0604020202020204" pitchFamily="34" charset="0"/>
            </a:endParaRPr>
          </a:p>
        </p:txBody>
      </p:sp>
      <p:sp>
        <p:nvSpPr>
          <p:cNvPr id="20" name="TextBox 19"/>
          <p:cNvSpPr txBox="1"/>
          <p:nvPr/>
        </p:nvSpPr>
        <p:spPr>
          <a:xfrm>
            <a:off x="539552" y="1412776"/>
            <a:ext cx="8280920" cy="4660378"/>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sz="2000" b="0" i="0" dirty="0">
                <a:solidFill>
                  <a:srgbClr val="222222"/>
                </a:solidFill>
                <a:effectLst/>
                <a:latin typeface="Source Sans Pro" panose="020B0503030403020204" pitchFamily="34" charset="0"/>
              </a:rPr>
              <a:t>It is a classical OLAP that facilitates data analysis by using a </a:t>
            </a:r>
            <a:r>
              <a:rPr lang="en-US" sz="2000" b="1" i="0" dirty="0">
                <a:solidFill>
                  <a:srgbClr val="222222"/>
                </a:solidFill>
                <a:effectLst/>
                <a:latin typeface="Source Sans Pro" panose="020B0503030403020204" pitchFamily="34" charset="0"/>
              </a:rPr>
              <a:t>multidimensional data cube. </a:t>
            </a:r>
          </a:p>
          <a:p>
            <a:pPr marL="285750" indent="-285750" algn="just">
              <a:lnSpc>
                <a:spcPct val="150000"/>
              </a:lnSpc>
              <a:buFont typeface="Wingdings" panose="05000000000000000000" pitchFamily="2" charset="2"/>
              <a:buChar char="§"/>
            </a:pPr>
            <a:r>
              <a:rPr lang="en-US" sz="2000" b="0" i="0" dirty="0">
                <a:solidFill>
                  <a:srgbClr val="222222"/>
                </a:solidFill>
                <a:effectLst/>
                <a:latin typeface="Source Sans Pro" panose="020B0503030403020204" pitchFamily="34" charset="0"/>
              </a:rPr>
              <a:t>Data is </a:t>
            </a:r>
            <a:r>
              <a:rPr lang="en-US" sz="2000" b="1" i="0" dirty="0">
                <a:solidFill>
                  <a:srgbClr val="222222"/>
                </a:solidFill>
                <a:effectLst/>
                <a:latin typeface="Source Sans Pro" panose="020B0503030403020204" pitchFamily="34" charset="0"/>
              </a:rPr>
              <a:t>pre-computed, re-summarized, and stored in a MOLAP (a major difference from ROLAP). </a:t>
            </a:r>
          </a:p>
          <a:p>
            <a:pPr marL="285750" indent="-285750" algn="just">
              <a:lnSpc>
                <a:spcPct val="150000"/>
              </a:lnSpc>
              <a:buFont typeface="Wingdings" panose="05000000000000000000" pitchFamily="2" charset="2"/>
              <a:buChar char="§"/>
            </a:pPr>
            <a:r>
              <a:rPr lang="en-US" sz="2000" b="0" i="0" dirty="0">
                <a:solidFill>
                  <a:srgbClr val="222222"/>
                </a:solidFill>
                <a:effectLst/>
                <a:latin typeface="Source Sans Pro" panose="020B0503030403020204" pitchFamily="34" charset="0"/>
              </a:rPr>
              <a:t>Using a MOLAP, a user can </a:t>
            </a:r>
            <a:r>
              <a:rPr lang="en-US" sz="2000" b="1" i="0" dirty="0">
                <a:solidFill>
                  <a:srgbClr val="222222"/>
                </a:solidFill>
                <a:effectLst/>
                <a:latin typeface="Source Sans Pro" panose="020B0503030403020204" pitchFamily="34" charset="0"/>
              </a:rPr>
              <a:t>use multidimensional view data with different facets.</a:t>
            </a:r>
          </a:p>
          <a:p>
            <a:pPr marL="285750" indent="-285750" algn="just">
              <a:lnSpc>
                <a:spcPct val="150000"/>
              </a:lnSpc>
              <a:buFont typeface="Wingdings" panose="05000000000000000000" pitchFamily="2" charset="2"/>
              <a:buChar char="§"/>
            </a:pPr>
            <a:r>
              <a:rPr lang="en-US" sz="2000" b="1" i="0" dirty="0">
                <a:solidFill>
                  <a:srgbClr val="222222"/>
                </a:solidFill>
                <a:effectLst/>
                <a:latin typeface="Source Sans Pro" panose="020B0503030403020204" pitchFamily="34" charset="0"/>
              </a:rPr>
              <a:t>Facts are stored </a:t>
            </a:r>
            <a:r>
              <a:rPr lang="en-US" sz="2000" b="0" i="0" dirty="0">
                <a:solidFill>
                  <a:srgbClr val="222222"/>
                </a:solidFill>
                <a:effectLst/>
                <a:latin typeface="Source Sans Pro" panose="020B0503030403020204" pitchFamily="34" charset="0"/>
              </a:rPr>
              <a:t>in </a:t>
            </a:r>
            <a:r>
              <a:rPr lang="en-US" sz="2000" b="1" i="0" dirty="0">
                <a:solidFill>
                  <a:srgbClr val="222222"/>
                </a:solidFill>
                <a:effectLst/>
                <a:latin typeface="Source Sans Pro" panose="020B0503030403020204" pitchFamily="34" charset="0"/>
              </a:rPr>
              <a:t>multi-dimensional array and dimensions used to query them.</a:t>
            </a:r>
          </a:p>
          <a:p>
            <a:pPr marL="285750" indent="-285750" algn="just">
              <a:lnSpc>
                <a:spcPct val="150000"/>
              </a:lnSpc>
              <a:buFont typeface="Wingdings" panose="05000000000000000000" pitchFamily="2" charset="2"/>
              <a:buChar char="§"/>
            </a:pPr>
            <a:r>
              <a:rPr lang="en-US" sz="2000" b="0" i="0" dirty="0">
                <a:solidFill>
                  <a:srgbClr val="222222"/>
                </a:solidFill>
                <a:effectLst/>
                <a:latin typeface="Source Sans Pro" panose="020B0503030403020204" pitchFamily="34" charset="0"/>
              </a:rPr>
              <a:t>Basically, they use an </a:t>
            </a:r>
            <a:r>
              <a:rPr lang="en-US" sz="2000" b="1" i="0" dirty="0">
                <a:solidFill>
                  <a:srgbClr val="222222"/>
                </a:solidFill>
                <a:effectLst/>
                <a:latin typeface="Source Sans Pro" panose="020B0503030403020204" pitchFamily="34" charset="0"/>
              </a:rPr>
              <a:t>OLAP cube.</a:t>
            </a:r>
          </a:p>
          <a:p>
            <a:pPr marL="285750" indent="-285750" algn="just">
              <a:lnSpc>
                <a:spcPct val="150000"/>
              </a:lnSpc>
              <a:buFont typeface="Wingdings" panose="05000000000000000000" pitchFamily="2" charset="2"/>
              <a:buChar char="§"/>
            </a:pPr>
            <a:endParaRPr lang="en-US" sz="2000" b="0" i="0" dirty="0">
              <a:solidFill>
                <a:srgbClr val="222222"/>
              </a:solidFill>
              <a:effectLst/>
              <a:latin typeface="Source Sans Pro" panose="020B0503030403020204" pitchFamily="34"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5"/>
          <p:cNvSpPr>
            <a:spLocks noGrp="1"/>
          </p:cNvSpPr>
          <p:nvPr>
            <p:ph type="sldNum" sz="quarter" idx="12"/>
          </p:nvPr>
        </p:nvSpPr>
        <p:spPr>
          <a:xfrm>
            <a:off x="7272339" y="5805487"/>
            <a:ext cx="702469" cy="215504"/>
          </a:xfrm>
        </p:spPr>
        <p:txBody>
          <a:bodyPr/>
          <a:lstStyle>
            <a:lvl1pPr eaLnBrk="0" hangingPunct="0">
              <a:defRPr kumimoji="1">
                <a:solidFill>
                  <a:schemeClr val="tx1"/>
                </a:solidFill>
                <a:latin typeface="Arial" panose="020B0604020202020204" pitchFamily="34" charset="0"/>
                <a:ea typeface="PMingLiU" panose="02020500000000000000" pitchFamily="18" charset="-120"/>
              </a:defRPr>
            </a:lvl1pPr>
            <a:lvl2pPr marL="557530" indent="-214630" eaLnBrk="0" hangingPunct="0">
              <a:defRPr kumimoji="1">
                <a:solidFill>
                  <a:schemeClr val="tx1"/>
                </a:solidFill>
                <a:latin typeface="Arial" panose="020B0604020202020204" pitchFamily="34" charset="0"/>
                <a:ea typeface="PMingLiU" panose="02020500000000000000" pitchFamily="18" charset="-120"/>
              </a:defRPr>
            </a:lvl2pPr>
            <a:lvl3pPr marL="857250" indent="-171450" eaLnBrk="0" hangingPunct="0">
              <a:defRPr kumimoji="1">
                <a:solidFill>
                  <a:schemeClr val="tx1"/>
                </a:solidFill>
                <a:latin typeface="Arial" panose="020B0604020202020204" pitchFamily="34" charset="0"/>
                <a:ea typeface="PMingLiU" panose="02020500000000000000" pitchFamily="18" charset="-120"/>
              </a:defRPr>
            </a:lvl3pPr>
            <a:lvl4pPr marL="1200150" indent="-171450" eaLnBrk="0" hangingPunct="0">
              <a:defRPr kumimoji="1">
                <a:solidFill>
                  <a:schemeClr val="tx1"/>
                </a:solidFill>
                <a:latin typeface="Arial" panose="020B0604020202020204" pitchFamily="34" charset="0"/>
                <a:ea typeface="PMingLiU" panose="02020500000000000000" pitchFamily="18" charset="-120"/>
              </a:defRPr>
            </a:lvl4pPr>
            <a:lvl5pPr marL="1543050" indent="-171450" eaLnBrk="0" hangingPunct="0">
              <a:defRPr kumimoji="1">
                <a:solidFill>
                  <a:schemeClr val="tx1"/>
                </a:solidFill>
                <a:latin typeface="Arial" panose="020B0604020202020204" pitchFamily="34" charset="0"/>
                <a:ea typeface="PMingLiU" panose="02020500000000000000" pitchFamily="18" charset="-120"/>
              </a:defRPr>
            </a:lvl5pPr>
            <a:lvl6pPr marL="18859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2288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25717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29146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fld id="{528B142A-88ED-46E4-B503-EADA1123A1F2}" type="slidenum">
              <a:rPr kumimoji="0" lang="en-US" altLang="zh-TW">
                <a:solidFill>
                  <a:srgbClr val="898989"/>
                </a:solidFill>
                <a:latin typeface="Calibri" panose="020F0502020204030204" pitchFamily="34" charset="0"/>
              </a:rPr>
              <a:t>39</a:t>
            </a:fld>
            <a:endParaRPr kumimoji="0" lang="en-US" altLang="zh-TW">
              <a:solidFill>
                <a:srgbClr val="898989"/>
              </a:solidFill>
              <a:latin typeface="Calibri" panose="020F0502020204030204" pitchFamily="34" charset="0"/>
            </a:endParaRPr>
          </a:p>
        </p:txBody>
      </p:sp>
      <p:sp>
        <p:nvSpPr>
          <p:cNvPr id="8" name="TextBox 7"/>
          <p:cNvSpPr txBox="1"/>
          <p:nvPr/>
        </p:nvSpPr>
        <p:spPr>
          <a:xfrm>
            <a:off x="899592" y="1052736"/>
            <a:ext cx="6912768" cy="369332"/>
          </a:xfrm>
          <a:prstGeom prst="rect">
            <a:avLst/>
          </a:prstGeom>
          <a:noFill/>
        </p:spPr>
        <p:txBody>
          <a:bodyPr wrap="square">
            <a:spAutoFit/>
          </a:bodyPr>
          <a:lstStyle/>
          <a:p>
            <a:pPr algn="l"/>
            <a:r>
              <a:rPr lang="en-US" b="0" i="0" dirty="0">
                <a:solidFill>
                  <a:srgbClr val="222222"/>
                </a:solidFill>
                <a:effectLst/>
                <a:latin typeface="Source Sans Pro" panose="020B0503030403020204" pitchFamily="34" charset="0"/>
              </a:rPr>
              <a:t>MOLAP Architecture includes the following components ?</a:t>
            </a:r>
          </a:p>
        </p:txBody>
      </p:sp>
      <p:sp>
        <p:nvSpPr>
          <p:cNvPr id="9" name="TextBox 8"/>
          <p:cNvSpPr txBox="1"/>
          <p:nvPr/>
        </p:nvSpPr>
        <p:spPr>
          <a:xfrm>
            <a:off x="2267744" y="476672"/>
            <a:ext cx="4572000" cy="461665"/>
          </a:xfrm>
          <a:prstGeom prst="rect">
            <a:avLst/>
          </a:prstGeom>
          <a:noFill/>
        </p:spPr>
        <p:txBody>
          <a:bodyPr wrap="square">
            <a:spAutoFit/>
          </a:bodyPr>
          <a:lstStyle/>
          <a:p>
            <a:pPr algn="l"/>
            <a:r>
              <a:rPr lang="en-US" sz="2400" b="1" i="0" dirty="0">
                <a:solidFill>
                  <a:srgbClr val="222222"/>
                </a:solidFill>
                <a:effectLst/>
                <a:latin typeface="Source Sans Pro" panose="020B0503030403020204" pitchFamily="34" charset="0"/>
              </a:rPr>
              <a:t>MOLAP Architecture</a:t>
            </a:r>
          </a:p>
        </p:txBody>
      </p:sp>
      <p:sp>
        <p:nvSpPr>
          <p:cNvPr id="11" name="TextBox 10"/>
          <p:cNvSpPr txBox="1"/>
          <p:nvPr/>
        </p:nvSpPr>
        <p:spPr>
          <a:xfrm>
            <a:off x="2915816" y="1526967"/>
            <a:ext cx="2448272" cy="1295098"/>
          </a:xfrm>
          <a:prstGeom prst="rect">
            <a:avLst/>
          </a:prstGeom>
          <a:noFill/>
        </p:spPr>
        <p:txBody>
          <a:bodyPr wrap="square">
            <a:spAutoFit/>
          </a:bodyPr>
          <a:lstStyle/>
          <a:p>
            <a:pPr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Database server.</a:t>
            </a:r>
          </a:p>
          <a:p>
            <a:pPr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MOLAP server.</a:t>
            </a:r>
          </a:p>
          <a:p>
            <a:pPr algn="l">
              <a:lnSpc>
                <a:spcPct val="150000"/>
              </a:lnSpc>
              <a:buFont typeface="Arial" panose="020B0604020202020204" pitchFamily="34" charset="0"/>
              <a:buChar char="•"/>
            </a:pPr>
            <a:r>
              <a:rPr lang="en-US" b="0" i="0" dirty="0">
                <a:solidFill>
                  <a:srgbClr val="222222"/>
                </a:solidFill>
                <a:effectLst/>
                <a:latin typeface="Source Sans Pro" panose="020B0503030403020204" pitchFamily="34" charset="0"/>
              </a:rPr>
              <a:t>Front-end tool.</a:t>
            </a:r>
          </a:p>
        </p:txBody>
      </p:sp>
      <p:pic>
        <p:nvPicPr>
          <p:cNvPr id="5126" name="Picture 6" descr="MOLAP Architectur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068960"/>
            <a:ext cx="6972275" cy="30766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35A7C8-22FE-475B-982D-092C8637B139}" type="slidenum">
              <a:rPr lang="en-US" altLang="en-US" smtClean="0"/>
              <a:t>40</a:t>
            </a:fld>
            <a:endParaRPr lang="en-US" altLang="en-US"/>
          </a:p>
        </p:txBody>
      </p:sp>
      <p:sp>
        <p:nvSpPr>
          <p:cNvPr id="6" name="TextBox 5"/>
          <p:cNvSpPr txBox="1"/>
          <p:nvPr/>
        </p:nvSpPr>
        <p:spPr>
          <a:xfrm>
            <a:off x="827584" y="476672"/>
            <a:ext cx="6336704" cy="2126095"/>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b="0" i="0" dirty="0">
                <a:solidFill>
                  <a:srgbClr val="222222"/>
                </a:solidFill>
                <a:effectLst/>
                <a:latin typeface="Source Sans Pro" panose="020B0503030403020204" pitchFamily="34" charset="0"/>
              </a:rPr>
              <a:t>The user request reports through the interface</a:t>
            </a:r>
          </a:p>
          <a:p>
            <a:pPr marL="285750" indent="-285750" algn="just">
              <a:lnSpc>
                <a:spcPct val="150000"/>
              </a:lnSpc>
              <a:buFont typeface="Wingdings" panose="05000000000000000000" pitchFamily="2" charset="2"/>
              <a:buChar char="§"/>
            </a:pPr>
            <a:r>
              <a:rPr lang="en-US" b="0" i="0" dirty="0">
                <a:solidFill>
                  <a:srgbClr val="222222"/>
                </a:solidFill>
                <a:effectLst/>
                <a:latin typeface="Source Sans Pro" panose="020B0503030403020204" pitchFamily="34" charset="0"/>
              </a:rPr>
              <a:t>The application logic layer of the MDDB retrieves the stored data from Database</a:t>
            </a:r>
          </a:p>
          <a:p>
            <a:pPr marL="285750" indent="-285750" algn="just">
              <a:lnSpc>
                <a:spcPct val="150000"/>
              </a:lnSpc>
              <a:buFont typeface="Wingdings" panose="05000000000000000000" pitchFamily="2" charset="2"/>
              <a:buChar char="§"/>
            </a:pPr>
            <a:r>
              <a:rPr lang="en-US" b="0" i="0" dirty="0">
                <a:solidFill>
                  <a:srgbClr val="222222"/>
                </a:solidFill>
                <a:effectLst/>
                <a:latin typeface="Source Sans Pro" panose="020B0503030403020204" pitchFamily="34" charset="0"/>
              </a:rPr>
              <a:t>The application logic layer forwards the result to the client/user.</a:t>
            </a:r>
          </a:p>
        </p:txBody>
      </p:sp>
      <p:sp>
        <p:nvSpPr>
          <p:cNvPr id="8" name="TextBox 7"/>
          <p:cNvSpPr txBox="1"/>
          <p:nvPr/>
        </p:nvSpPr>
        <p:spPr>
          <a:xfrm>
            <a:off x="332585" y="2924944"/>
            <a:ext cx="4392489" cy="2957092"/>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b="0" i="0" dirty="0">
                <a:solidFill>
                  <a:srgbClr val="222222"/>
                </a:solidFill>
                <a:effectLst/>
                <a:latin typeface="Source Sans Pro" panose="020B0503030403020204" pitchFamily="34" charset="0"/>
              </a:rPr>
              <a:t>MOLAP architecture mainl</a:t>
            </a:r>
            <a:r>
              <a:rPr lang="en-US" b="1" i="0" dirty="0">
                <a:solidFill>
                  <a:srgbClr val="222222"/>
                </a:solidFill>
                <a:effectLst/>
                <a:latin typeface="Source Sans Pro" panose="020B0503030403020204" pitchFamily="34" charset="0"/>
              </a:rPr>
              <a:t>y reads the precompiled data</a:t>
            </a:r>
            <a:r>
              <a:rPr lang="en-US" b="0" i="0" dirty="0">
                <a:solidFill>
                  <a:srgbClr val="222222"/>
                </a:solidFill>
                <a:effectLst/>
                <a:latin typeface="Source Sans Pro" panose="020B0503030403020204" pitchFamily="34" charset="0"/>
              </a:rPr>
              <a:t>. </a:t>
            </a:r>
          </a:p>
          <a:p>
            <a:pPr marL="285750" indent="-285750" algn="just">
              <a:lnSpc>
                <a:spcPct val="150000"/>
              </a:lnSpc>
              <a:buFont typeface="Wingdings" panose="05000000000000000000" pitchFamily="2" charset="2"/>
              <a:buChar char="Ø"/>
            </a:pPr>
            <a:r>
              <a:rPr lang="en-US" b="0" i="0" dirty="0">
                <a:solidFill>
                  <a:srgbClr val="222222"/>
                </a:solidFill>
                <a:effectLst/>
                <a:latin typeface="Source Sans Pro" panose="020B0503030403020204" pitchFamily="34" charset="0"/>
              </a:rPr>
              <a:t>MOLAP architecture has limited capabilities to dynamically create aggregations or to calculate results that have not been pre-calculated and stored.</a:t>
            </a:r>
          </a:p>
        </p:txBody>
      </p:sp>
      <p:sp>
        <p:nvSpPr>
          <p:cNvPr id="10" name="TextBox 9"/>
          <p:cNvSpPr txBox="1"/>
          <p:nvPr/>
        </p:nvSpPr>
        <p:spPr>
          <a:xfrm>
            <a:off x="5076056" y="2852936"/>
            <a:ext cx="3654152" cy="3372590"/>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en-US" b="0" i="0" dirty="0">
                <a:solidFill>
                  <a:srgbClr val="222222"/>
                </a:solidFill>
                <a:effectLst/>
                <a:latin typeface="Source Sans Pro" panose="020B0503030403020204" pitchFamily="34" charset="0"/>
              </a:rPr>
              <a:t>For example, an accounting head can run a report showing the corporate P/L account or P/L account for a specific subsidiary. </a:t>
            </a:r>
          </a:p>
          <a:p>
            <a:pPr marL="285750" indent="-285750" algn="just">
              <a:lnSpc>
                <a:spcPct val="150000"/>
              </a:lnSpc>
              <a:buFont typeface="Wingdings" panose="05000000000000000000" pitchFamily="2" charset="2"/>
              <a:buChar char="ü"/>
            </a:pPr>
            <a:r>
              <a:rPr lang="en-US" b="0" i="0" dirty="0">
                <a:solidFill>
                  <a:srgbClr val="222222"/>
                </a:solidFill>
                <a:effectLst/>
                <a:latin typeface="Source Sans Pro" panose="020B0503030403020204" pitchFamily="34" charset="0"/>
              </a:rPr>
              <a:t>The MDDB would retrieve precompiled Profit &amp; Loss figures and display that result to the user.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5"/>
          <p:cNvSpPr>
            <a:spLocks noGrp="1"/>
          </p:cNvSpPr>
          <p:nvPr>
            <p:ph type="sldNum" sz="quarter" idx="12"/>
          </p:nvPr>
        </p:nvSpPr>
        <p:spPr>
          <a:xfrm>
            <a:off x="7272339" y="5805487"/>
            <a:ext cx="702469" cy="215504"/>
          </a:xfrm>
        </p:spPr>
        <p:txBody>
          <a:bodyPr/>
          <a:lstStyle>
            <a:lvl1pPr eaLnBrk="0" hangingPunct="0">
              <a:defRPr kumimoji="1">
                <a:solidFill>
                  <a:schemeClr val="tx1"/>
                </a:solidFill>
                <a:latin typeface="Arial" panose="020B0604020202020204" pitchFamily="34" charset="0"/>
                <a:ea typeface="PMingLiU" panose="02020500000000000000" pitchFamily="18" charset="-120"/>
              </a:defRPr>
            </a:lvl1pPr>
            <a:lvl2pPr marL="557530" indent="-214630" eaLnBrk="0" hangingPunct="0">
              <a:defRPr kumimoji="1">
                <a:solidFill>
                  <a:schemeClr val="tx1"/>
                </a:solidFill>
                <a:latin typeface="Arial" panose="020B0604020202020204" pitchFamily="34" charset="0"/>
                <a:ea typeface="PMingLiU" panose="02020500000000000000" pitchFamily="18" charset="-120"/>
              </a:defRPr>
            </a:lvl2pPr>
            <a:lvl3pPr marL="857250" indent="-171450" eaLnBrk="0" hangingPunct="0">
              <a:defRPr kumimoji="1">
                <a:solidFill>
                  <a:schemeClr val="tx1"/>
                </a:solidFill>
                <a:latin typeface="Arial" panose="020B0604020202020204" pitchFamily="34" charset="0"/>
                <a:ea typeface="PMingLiU" panose="02020500000000000000" pitchFamily="18" charset="-120"/>
              </a:defRPr>
            </a:lvl3pPr>
            <a:lvl4pPr marL="1200150" indent="-171450" eaLnBrk="0" hangingPunct="0">
              <a:defRPr kumimoji="1">
                <a:solidFill>
                  <a:schemeClr val="tx1"/>
                </a:solidFill>
                <a:latin typeface="Arial" panose="020B0604020202020204" pitchFamily="34" charset="0"/>
                <a:ea typeface="PMingLiU" panose="02020500000000000000" pitchFamily="18" charset="-120"/>
              </a:defRPr>
            </a:lvl4pPr>
            <a:lvl5pPr marL="1543050" indent="-171450" eaLnBrk="0" hangingPunct="0">
              <a:defRPr kumimoji="1">
                <a:solidFill>
                  <a:schemeClr val="tx1"/>
                </a:solidFill>
                <a:latin typeface="Arial" panose="020B0604020202020204" pitchFamily="34" charset="0"/>
                <a:ea typeface="PMingLiU" panose="02020500000000000000" pitchFamily="18" charset="-120"/>
              </a:defRPr>
            </a:lvl5pPr>
            <a:lvl6pPr marL="18859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2288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25717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2914650" indent="-17145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fld id="{528B142A-88ED-46E4-B503-EADA1123A1F2}" type="slidenum">
              <a:rPr kumimoji="0" lang="en-US" altLang="zh-TW" smtClean="0">
                <a:solidFill>
                  <a:srgbClr val="898989"/>
                </a:solidFill>
                <a:latin typeface="Calibri" panose="020F0502020204030204" pitchFamily="34" charset="0"/>
              </a:rPr>
              <a:t>41</a:t>
            </a:fld>
            <a:endParaRPr kumimoji="0" lang="en-US" altLang="zh-TW">
              <a:solidFill>
                <a:srgbClr val="898989"/>
              </a:solidFill>
              <a:latin typeface="Calibri" panose="020F0502020204030204" pitchFamily="34" charset="0"/>
            </a:endParaRPr>
          </a:p>
        </p:txBody>
      </p:sp>
      <p:sp>
        <p:nvSpPr>
          <p:cNvPr id="15" name="TextBox 14"/>
          <p:cNvSpPr txBox="1"/>
          <p:nvPr/>
        </p:nvSpPr>
        <p:spPr>
          <a:xfrm>
            <a:off x="791580" y="595253"/>
            <a:ext cx="7560840" cy="1428724"/>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sz="2000" b="0" i="0" dirty="0">
                <a:solidFill>
                  <a:srgbClr val="222222"/>
                </a:solidFill>
                <a:effectLst/>
                <a:latin typeface="Source Sans Pro" panose="020B0503030403020204" pitchFamily="34" charset="0"/>
              </a:rPr>
              <a:t>Hybrid OLAP is a mixture of both </a:t>
            </a:r>
            <a:r>
              <a:rPr lang="en-US" sz="2000" b="1" i="0" dirty="0">
                <a:solidFill>
                  <a:srgbClr val="222222"/>
                </a:solidFill>
                <a:effectLst/>
                <a:latin typeface="Source Sans Pro" panose="020B0503030403020204" pitchFamily="34" charset="0"/>
              </a:rPr>
              <a:t>ROLAP and MOLAP</a:t>
            </a:r>
            <a:r>
              <a:rPr lang="en-US" sz="2000" b="0" i="0" dirty="0">
                <a:solidFill>
                  <a:srgbClr val="222222"/>
                </a:solidFill>
                <a:effectLst/>
                <a:latin typeface="Source Sans Pro" panose="020B0503030403020204" pitchFamily="34" charset="0"/>
              </a:rPr>
              <a:t>. </a:t>
            </a:r>
          </a:p>
          <a:p>
            <a:pPr marL="285750" indent="-285750" algn="just">
              <a:lnSpc>
                <a:spcPct val="150000"/>
              </a:lnSpc>
              <a:buFont typeface="Wingdings" panose="05000000000000000000" pitchFamily="2" charset="2"/>
              <a:buChar char="§"/>
            </a:pPr>
            <a:r>
              <a:rPr lang="en-US" sz="2000" b="0" i="0" dirty="0">
                <a:solidFill>
                  <a:srgbClr val="222222"/>
                </a:solidFill>
                <a:effectLst/>
                <a:latin typeface="Source Sans Pro" panose="020B0503030403020204" pitchFamily="34" charset="0"/>
              </a:rPr>
              <a:t>It offers fast computation of MOLAP and </a:t>
            </a:r>
            <a:r>
              <a:rPr lang="en-US" sz="2000" b="1" i="0" dirty="0">
                <a:solidFill>
                  <a:srgbClr val="FF0000"/>
                </a:solidFill>
                <a:effectLst/>
                <a:latin typeface="Source Sans Pro" panose="020B0503030403020204" pitchFamily="34" charset="0"/>
              </a:rPr>
              <a:t>higher scalability of ROLAP</a:t>
            </a:r>
            <a:r>
              <a:rPr lang="en-US" sz="2000" b="0" i="0" dirty="0">
                <a:solidFill>
                  <a:srgbClr val="222222"/>
                </a:solidFill>
                <a:effectLst/>
                <a:latin typeface="Source Sans Pro" panose="020B0503030403020204" pitchFamily="34" charset="0"/>
              </a:rPr>
              <a:t>. HOLAP uses </a:t>
            </a:r>
            <a:r>
              <a:rPr lang="en-US" sz="2000" b="1" i="0" dirty="0">
                <a:solidFill>
                  <a:srgbClr val="222222"/>
                </a:solidFill>
                <a:effectLst/>
                <a:latin typeface="Source Sans Pro" panose="020B0503030403020204" pitchFamily="34" charset="0"/>
              </a:rPr>
              <a:t>two databases</a:t>
            </a:r>
            <a:r>
              <a:rPr lang="en-US" sz="2000" dirty="0">
                <a:solidFill>
                  <a:srgbClr val="222222"/>
                </a:solidFill>
                <a:latin typeface="Source Sans Pro" panose="020B0503030403020204" pitchFamily="34" charset="0"/>
              </a:rPr>
              <a:t>:</a:t>
            </a:r>
            <a:endParaRPr lang="en-US" sz="2000" b="0" i="0" dirty="0">
              <a:solidFill>
                <a:srgbClr val="222222"/>
              </a:solidFill>
              <a:effectLst/>
              <a:latin typeface="Source Sans Pro" panose="020B0503030403020204" pitchFamily="34" charset="0"/>
            </a:endParaRPr>
          </a:p>
        </p:txBody>
      </p:sp>
      <p:sp>
        <p:nvSpPr>
          <p:cNvPr id="17" name="TextBox 16"/>
          <p:cNvSpPr txBox="1"/>
          <p:nvPr/>
        </p:nvSpPr>
        <p:spPr>
          <a:xfrm>
            <a:off x="2286000" y="188640"/>
            <a:ext cx="4572000" cy="369332"/>
          </a:xfrm>
          <a:prstGeom prst="rect">
            <a:avLst/>
          </a:prstGeom>
          <a:noFill/>
        </p:spPr>
        <p:txBody>
          <a:bodyPr wrap="square">
            <a:spAutoFit/>
          </a:bodyPr>
          <a:lstStyle/>
          <a:p>
            <a:pPr algn="l"/>
            <a:r>
              <a:rPr lang="en-US" b="1" i="0">
                <a:solidFill>
                  <a:srgbClr val="222222"/>
                </a:solidFill>
                <a:effectLst/>
                <a:latin typeface="Source Sans Pro" panose="020B0503030403020204" pitchFamily="34" charset="0"/>
              </a:rPr>
              <a:t>Hybrid OLAP</a:t>
            </a:r>
            <a:endParaRPr lang="en-US" b="1" i="0" dirty="0">
              <a:solidFill>
                <a:srgbClr val="222222"/>
              </a:solidFill>
              <a:effectLst/>
              <a:latin typeface="Source Sans Pro" panose="020B0503030403020204" pitchFamily="34" charset="0"/>
            </a:endParaRPr>
          </a:p>
        </p:txBody>
      </p:sp>
      <p:sp>
        <p:nvSpPr>
          <p:cNvPr id="19" name="TextBox 18"/>
          <p:cNvSpPr txBox="1"/>
          <p:nvPr/>
        </p:nvSpPr>
        <p:spPr>
          <a:xfrm>
            <a:off x="896804" y="2061258"/>
            <a:ext cx="7350391" cy="1428724"/>
          </a:xfrm>
          <a:prstGeom prst="rect">
            <a:avLst/>
          </a:prstGeom>
          <a:noFill/>
        </p:spPr>
        <p:txBody>
          <a:bodyPr wrap="square">
            <a:spAutoFit/>
          </a:bodyPr>
          <a:lstStyle/>
          <a:p>
            <a:pPr marL="342900" indent="-342900" algn="just">
              <a:lnSpc>
                <a:spcPct val="150000"/>
              </a:lnSpc>
              <a:buFont typeface="+mj-lt"/>
              <a:buAutoNum type="arabicPeriod"/>
            </a:pPr>
            <a:r>
              <a:rPr lang="en-US" sz="2000" b="1" i="0" dirty="0">
                <a:solidFill>
                  <a:srgbClr val="222222"/>
                </a:solidFill>
                <a:effectLst/>
                <a:latin typeface="Source Sans Pro" panose="020B0503030403020204" pitchFamily="34" charset="0"/>
              </a:rPr>
              <a:t>Aggregated or computed data </a:t>
            </a:r>
            <a:r>
              <a:rPr lang="en-US" sz="2000" b="0" i="0" dirty="0">
                <a:solidFill>
                  <a:srgbClr val="222222"/>
                </a:solidFill>
                <a:effectLst/>
                <a:latin typeface="Source Sans Pro" panose="020B0503030403020204" pitchFamily="34" charset="0"/>
              </a:rPr>
              <a:t>is stored in a </a:t>
            </a:r>
            <a:r>
              <a:rPr lang="en-US" sz="2000" b="1" i="0" dirty="0">
                <a:solidFill>
                  <a:srgbClr val="222222"/>
                </a:solidFill>
                <a:effectLst/>
                <a:latin typeface="Source Sans Pro" panose="020B0503030403020204" pitchFamily="34" charset="0"/>
              </a:rPr>
              <a:t>multidimensional OLAP cube</a:t>
            </a:r>
          </a:p>
          <a:p>
            <a:pPr marL="342900" indent="-342900" algn="just">
              <a:lnSpc>
                <a:spcPct val="150000"/>
              </a:lnSpc>
              <a:buFont typeface="+mj-lt"/>
              <a:buAutoNum type="arabicPeriod"/>
            </a:pPr>
            <a:r>
              <a:rPr lang="en-US" sz="2000" b="1" i="0" dirty="0">
                <a:solidFill>
                  <a:srgbClr val="222222"/>
                </a:solidFill>
                <a:effectLst/>
                <a:latin typeface="Source Sans Pro" panose="020B0503030403020204" pitchFamily="34" charset="0"/>
              </a:rPr>
              <a:t>Detailed information is stored in a relational database.</a:t>
            </a:r>
          </a:p>
        </p:txBody>
      </p:sp>
      <p:pic>
        <p:nvPicPr>
          <p:cNvPr id="20" name="Picture 19"/>
          <p:cNvPicPr>
            <a:picLocks noChangeAspect="1"/>
          </p:cNvPicPr>
          <p:nvPr/>
        </p:nvPicPr>
        <p:blipFill>
          <a:blip r:embed="rId2"/>
          <a:stretch>
            <a:fillRect/>
          </a:stretch>
        </p:blipFill>
        <p:spPr>
          <a:xfrm>
            <a:off x="1115616" y="3573016"/>
            <a:ext cx="6912768" cy="2952328"/>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p:cNvSpPr txBox="1"/>
          <p:nvPr/>
        </p:nvSpPr>
        <p:spPr>
          <a:xfrm>
            <a:off x="628650" y="1929384"/>
            <a:ext cx="7886700" cy="3803872"/>
          </a:xfrm>
          <a:prstGeom prst="rect">
            <a:avLst/>
          </a:prstGeom>
        </p:spPr>
        <p:txBody>
          <a:bodyPr vert="horz" lIns="91440" tIns="45720" rIns="91440" bIns="45720" rtlCol="0">
            <a:normAutofit fontScale="92500"/>
          </a:bodyPr>
          <a:lstStyle/>
          <a:p>
            <a:pPr marL="114300" indent="-342900">
              <a:lnSpc>
                <a:spcPct val="150000"/>
              </a:lnSpc>
              <a:spcAft>
                <a:spcPts val="600"/>
              </a:spcAft>
              <a:buFont typeface="Wingdings" panose="05000000000000000000" pitchFamily="2" charset="2"/>
              <a:buChar char="§"/>
            </a:pPr>
            <a:r>
              <a:rPr lang="en-US" sz="1900" b="0" i="0" dirty="0">
                <a:effectLst/>
              </a:rPr>
              <a:t>This kind of OLAP helps to economize the disk space, and it also remains compact which helps to avoid issues related to access speed and convenience.</a:t>
            </a:r>
          </a:p>
          <a:p>
            <a:pPr marL="114300" indent="-342900">
              <a:lnSpc>
                <a:spcPct val="150000"/>
              </a:lnSpc>
              <a:spcAft>
                <a:spcPts val="600"/>
              </a:spcAft>
              <a:buFont typeface="Wingdings" panose="05000000000000000000" pitchFamily="2" charset="2"/>
              <a:buChar char="§"/>
            </a:pPr>
            <a:r>
              <a:rPr lang="en-US" sz="1900" b="0" i="0" dirty="0">
                <a:effectLst/>
              </a:rPr>
              <a:t>Hybrid HOLAP's uses cube technology which allows faster performance for all types of data.</a:t>
            </a:r>
          </a:p>
          <a:p>
            <a:pPr marL="114300" indent="-342900">
              <a:lnSpc>
                <a:spcPct val="150000"/>
              </a:lnSpc>
              <a:spcAft>
                <a:spcPts val="600"/>
              </a:spcAft>
              <a:buFont typeface="Wingdings" panose="05000000000000000000" pitchFamily="2" charset="2"/>
              <a:buChar char="§"/>
            </a:pPr>
            <a:r>
              <a:rPr lang="en-US" sz="1900" b="0" i="0" dirty="0">
                <a:effectLst/>
              </a:rPr>
              <a:t>ROLAP are instantly updated and HOLAP users have access to this real-time instantly updated data. </a:t>
            </a:r>
          </a:p>
          <a:p>
            <a:pPr marL="114300" indent="-342900">
              <a:lnSpc>
                <a:spcPct val="150000"/>
              </a:lnSpc>
              <a:spcAft>
                <a:spcPts val="600"/>
              </a:spcAft>
              <a:buFont typeface="Wingdings" panose="05000000000000000000" pitchFamily="2" charset="2"/>
              <a:buChar char="§"/>
            </a:pPr>
            <a:r>
              <a:rPr lang="en-US" sz="1900" b="0" i="0" dirty="0">
                <a:effectLst/>
              </a:rPr>
              <a:t>MOLAP brings cleaning and conversion of data thereby improving data relevance. This brings best of both worlds.</a:t>
            </a:r>
          </a:p>
        </p:txBody>
      </p:sp>
      <p:sp>
        <p:nvSpPr>
          <p:cNvPr id="4" name="Slide Number Placeholder 3"/>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CF35A7C8-22FE-475B-982D-092C8637B139}" type="slidenum">
              <a:rPr lang="en-US" altLang="en-US" sz="1200" smtClean="0"/>
              <a:t>42</a:t>
            </a:fld>
            <a:endParaRPr lang="en-US" altLang="en-US" sz="1200"/>
          </a:p>
        </p:txBody>
      </p:sp>
      <p:sp>
        <p:nvSpPr>
          <p:cNvPr id="20" name="TextBox 19"/>
          <p:cNvSpPr txBox="1"/>
          <p:nvPr/>
        </p:nvSpPr>
        <p:spPr>
          <a:xfrm>
            <a:off x="1919219" y="1000717"/>
            <a:ext cx="4572000" cy="480131"/>
          </a:xfrm>
          <a:prstGeom prst="rect">
            <a:avLst/>
          </a:prstGeom>
          <a:noFill/>
        </p:spPr>
        <p:txBody>
          <a:bodyPr wrap="square">
            <a:spAutoFit/>
          </a:bodyPr>
          <a:lstStyle/>
          <a:p>
            <a:pPr>
              <a:lnSpc>
                <a:spcPct val="90000"/>
              </a:lnSpc>
              <a:spcAft>
                <a:spcPts val="600"/>
              </a:spcAft>
            </a:pPr>
            <a:r>
              <a:rPr lang="en-US" sz="2800" b="1" i="0" dirty="0">
                <a:effectLst/>
              </a:rPr>
              <a:t>Benefits of Hybrid OLAP</a:t>
            </a:r>
            <a:endParaRPr lang="en-US" sz="2800" b="0" i="0" dirty="0">
              <a:effectLs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0936" y="1477348"/>
            <a:ext cx="4304663" cy="2915153"/>
          </a:xfrm>
          <a:prstGeom prst="rect">
            <a:avLst/>
          </a:prstGeom>
        </p:spPr>
      </p:pic>
      <p:pic>
        <p:nvPicPr>
          <p:cNvPr id="5" name="Picture 4"/>
          <p:cNvPicPr>
            <a:picLocks noChangeAspect="1"/>
          </p:cNvPicPr>
          <p:nvPr/>
        </p:nvPicPr>
        <p:blipFill>
          <a:blip r:embed="rId3"/>
          <a:stretch>
            <a:fillRect/>
          </a:stretch>
        </p:blipFill>
        <p:spPr>
          <a:xfrm>
            <a:off x="4375598" y="2240976"/>
            <a:ext cx="4562744" cy="203561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E22C4C9-4933-45DC-93D1-285C9953FE79}" type="slidenum">
              <a:rPr lang="en-US" altLang="en-US" smtClean="0"/>
              <a:t>44</a:t>
            </a:fld>
            <a:endParaRPr lang="en-US" altLang="en-US"/>
          </a:p>
        </p:txBody>
      </p:sp>
      <p:sp>
        <p:nvSpPr>
          <p:cNvPr id="7" name="TextBox 6"/>
          <p:cNvSpPr txBox="1"/>
          <p:nvPr/>
        </p:nvSpPr>
        <p:spPr>
          <a:xfrm>
            <a:off x="1115616" y="1556792"/>
            <a:ext cx="6624736" cy="4619085"/>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b="0" i="0" dirty="0">
                <a:solidFill>
                  <a:srgbClr val="222222"/>
                </a:solidFill>
                <a:effectLst/>
                <a:latin typeface="Source Sans Pro" panose="020B0503030403020204" pitchFamily="34" charset="0"/>
              </a:rPr>
              <a:t>OLAP is a </a:t>
            </a:r>
            <a:r>
              <a:rPr lang="en-US" b="1" i="0" dirty="0">
                <a:solidFill>
                  <a:srgbClr val="222222"/>
                </a:solidFill>
                <a:effectLst/>
                <a:latin typeface="Source Sans Pro" panose="020B0503030403020204" pitchFamily="34" charset="0"/>
              </a:rPr>
              <a:t>technology that enables analysts to extract and view business data from different points of view</a:t>
            </a:r>
            <a:r>
              <a:rPr lang="en-US" b="0" i="0" dirty="0">
                <a:solidFill>
                  <a:srgbClr val="222222"/>
                </a:solidFill>
                <a:effectLst/>
                <a:latin typeface="Source Sans Pro" panose="020B0503030403020204" pitchFamily="34" charset="0"/>
              </a:rPr>
              <a:t>.</a:t>
            </a:r>
          </a:p>
          <a:p>
            <a:pPr marL="285750" indent="-285750" algn="just">
              <a:lnSpc>
                <a:spcPct val="150000"/>
              </a:lnSpc>
              <a:buFont typeface="Wingdings" panose="05000000000000000000" pitchFamily="2" charset="2"/>
              <a:buChar char="§"/>
            </a:pPr>
            <a:r>
              <a:rPr lang="en-US" b="0" i="0" dirty="0">
                <a:solidFill>
                  <a:srgbClr val="222222"/>
                </a:solidFill>
                <a:effectLst/>
                <a:latin typeface="Source Sans Pro" panose="020B0503030403020204" pitchFamily="34" charset="0"/>
              </a:rPr>
              <a:t>At the core of the OLAP concept, is an </a:t>
            </a:r>
            <a:r>
              <a:rPr lang="en-US" b="1" i="0" dirty="0">
                <a:solidFill>
                  <a:srgbClr val="FF0000"/>
                </a:solidFill>
                <a:effectLst/>
                <a:latin typeface="Source Sans Pro" panose="020B0503030403020204" pitchFamily="34" charset="0"/>
              </a:rPr>
              <a:t>OLAP Cube.</a:t>
            </a:r>
          </a:p>
          <a:p>
            <a:pPr marL="285750" indent="-285750" algn="just">
              <a:lnSpc>
                <a:spcPct val="150000"/>
              </a:lnSpc>
              <a:buFont typeface="Wingdings" panose="05000000000000000000" pitchFamily="2" charset="2"/>
              <a:buChar char="§"/>
            </a:pPr>
            <a:r>
              <a:rPr lang="en-US" b="0" i="0" dirty="0">
                <a:solidFill>
                  <a:srgbClr val="222222"/>
                </a:solidFill>
                <a:effectLst/>
                <a:latin typeface="Source Sans Pro" panose="020B0503030403020204" pitchFamily="34" charset="0"/>
              </a:rPr>
              <a:t>Various business applications and other data operations require the </a:t>
            </a:r>
            <a:r>
              <a:rPr lang="en-US" b="1" i="0" dirty="0">
                <a:solidFill>
                  <a:srgbClr val="222222"/>
                </a:solidFill>
                <a:effectLst/>
                <a:latin typeface="Source Sans Pro" panose="020B0503030403020204" pitchFamily="34" charset="0"/>
              </a:rPr>
              <a:t>use of OLAP Cube.</a:t>
            </a:r>
          </a:p>
          <a:p>
            <a:pPr marL="285750" indent="-285750" algn="just">
              <a:lnSpc>
                <a:spcPct val="150000"/>
              </a:lnSpc>
              <a:buFont typeface="Wingdings" panose="05000000000000000000" pitchFamily="2" charset="2"/>
              <a:buChar char="§"/>
            </a:pPr>
            <a:r>
              <a:rPr lang="en-US" b="0" i="0" dirty="0">
                <a:solidFill>
                  <a:srgbClr val="222222"/>
                </a:solidFill>
                <a:effectLst/>
                <a:latin typeface="Source Sans Pro" panose="020B0503030403020204" pitchFamily="34" charset="0"/>
              </a:rPr>
              <a:t>There are primary five types of analytical operations in OLAP </a:t>
            </a:r>
          </a:p>
          <a:p>
            <a:pPr algn="just">
              <a:lnSpc>
                <a:spcPct val="150000"/>
              </a:lnSpc>
            </a:pPr>
            <a:r>
              <a:rPr lang="en-US" dirty="0">
                <a:solidFill>
                  <a:srgbClr val="222222"/>
                </a:solidFill>
                <a:latin typeface="Source Sans Pro" panose="020B0503030403020204" pitchFamily="34" charset="0"/>
              </a:rPr>
              <a:t>        </a:t>
            </a:r>
            <a:r>
              <a:rPr lang="en-US" b="1" i="0" dirty="0">
                <a:solidFill>
                  <a:srgbClr val="F95AB7"/>
                </a:solidFill>
                <a:effectLst/>
                <a:latin typeface="Source Sans Pro" panose="020B0503030403020204" pitchFamily="34" charset="0"/>
              </a:rPr>
              <a:t>1) Roll-up 2) Drill-down 3) Slice 4) Dice and 5) Pivot</a:t>
            </a:r>
          </a:p>
          <a:p>
            <a:pPr marL="285750" indent="-285750" algn="just">
              <a:lnSpc>
                <a:spcPct val="150000"/>
              </a:lnSpc>
              <a:buFont typeface="Wingdings" panose="05000000000000000000" pitchFamily="2" charset="2"/>
              <a:buChar char="§"/>
            </a:pPr>
            <a:r>
              <a:rPr lang="en-US" b="0" i="0" dirty="0">
                <a:solidFill>
                  <a:srgbClr val="222222"/>
                </a:solidFill>
                <a:effectLst/>
                <a:latin typeface="Source Sans Pro" panose="020B0503030403020204" pitchFamily="34" charset="0"/>
              </a:rPr>
              <a:t>Three types of widely used OLAP systems are </a:t>
            </a:r>
            <a:r>
              <a:rPr lang="en-US" b="1" i="0" dirty="0">
                <a:solidFill>
                  <a:srgbClr val="222222"/>
                </a:solidFill>
                <a:effectLst/>
                <a:latin typeface="Source Sans Pro" panose="020B0503030403020204" pitchFamily="34" charset="0"/>
              </a:rPr>
              <a:t>MOLAP, ROLAP, and Hybrid OLAP.</a:t>
            </a:r>
          </a:p>
          <a:p>
            <a:pPr marL="285750" indent="-285750" algn="just">
              <a:lnSpc>
                <a:spcPct val="150000"/>
              </a:lnSpc>
              <a:buFont typeface="Wingdings" panose="05000000000000000000" pitchFamily="2" charset="2"/>
              <a:buChar char="§"/>
            </a:pPr>
            <a:r>
              <a:rPr lang="en-US" b="0" i="0" dirty="0">
                <a:solidFill>
                  <a:srgbClr val="222222"/>
                </a:solidFill>
                <a:effectLst/>
                <a:latin typeface="Source Sans Pro" panose="020B0503030403020204" pitchFamily="34" charset="0"/>
              </a:rPr>
              <a:t>Desktop OLAP, Web OLAP, and Mobile OLAP are some other types of OLAP systems.</a:t>
            </a:r>
          </a:p>
        </p:txBody>
      </p:sp>
      <p:sp>
        <p:nvSpPr>
          <p:cNvPr id="9" name="TextBox 8"/>
          <p:cNvSpPr txBox="1"/>
          <p:nvPr/>
        </p:nvSpPr>
        <p:spPr>
          <a:xfrm>
            <a:off x="2051720" y="764704"/>
            <a:ext cx="4572000" cy="523220"/>
          </a:xfrm>
          <a:prstGeom prst="rect">
            <a:avLst/>
          </a:prstGeom>
          <a:noFill/>
        </p:spPr>
        <p:txBody>
          <a:bodyPr wrap="square">
            <a:spAutoFit/>
          </a:bodyPr>
          <a:lstStyle/>
          <a:p>
            <a:pPr algn="l"/>
            <a:r>
              <a:rPr lang="en-US" sz="2800" b="1" i="0" dirty="0">
                <a:solidFill>
                  <a:srgbClr val="222222"/>
                </a:solidFill>
                <a:effectLst/>
                <a:latin typeface="Source Sans Pro" panose="020B0503030403020204" pitchFamily="34" charset="0"/>
              </a:rPr>
              <a:t>Summary </a:t>
            </a:r>
            <a:r>
              <a:rPr lang="en-US" sz="2800" b="1" i="0" dirty="0" err="1">
                <a:solidFill>
                  <a:srgbClr val="222222"/>
                </a:solidFill>
                <a:effectLst/>
                <a:latin typeface="Source Sans Pro" panose="020B0503030403020204" pitchFamily="34" charset="0"/>
              </a:rPr>
              <a:t>cont</a:t>
            </a:r>
            <a:r>
              <a:rPr lang="en-US" sz="2800" b="1" i="0" dirty="0">
                <a:solidFill>
                  <a:srgbClr val="222222"/>
                </a:solidFill>
                <a:effectLst/>
                <a:latin typeface="Source Sans Pro" panose="020B0503030403020204" pitchFamily="34"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1187624" y="2492896"/>
            <a:ext cx="57879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solidFill>
                  <a:srgbClr val="000000"/>
                </a:solidFill>
                <a:latin typeface="Univers LT 47 CondensedLt"/>
              </a:rPr>
              <a:t>OLTP – Online Transaction Processing </a:t>
            </a:r>
            <a:endParaRPr lang="en-US" altLang="en-US" sz="2800" b="1" dirty="0"/>
          </a:p>
        </p:txBody>
      </p:sp>
      <p:sp>
        <p:nvSpPr>
          <p:cNvPr id="4" name="Slide Number Placeholder 3"/>
          <p:cNvSpPr>
            <a:spLocks noGrp="1"/>
          </p:cNvSpPr>
          <p:nvPr>
            <p:ph type="sldNum" sz="quarter" idx="12"/>
          </p:nvPr>
        </p:nvSpPr>
        <p:spPr/>
        <p:txBody>
          <a:bodyPr/>
          <a:lstStyle/>
          <a:p>
            <a:pPr>
              <a:defRPr/>
            </a:pPr>
            <a:fld id="{713A6D18-81B7-42FF-9897-F9E31179C005}"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13A6D18-81B7-42FF-9897-F9E31179C005}" type="slidenum">
              <a:rPr lang="en-US" smtClean="0"/>
              <a:t>46</a:t>
            </a:fld>
            <a:endParaRPr lang="en-US"/>
          </a:p>
        </p:txBody>
      </p:sp>
      <p:sp>
        <p:nvSpPr>
          <p:cNvPr id="6" name="TextBox 5"/>
          <p:cNvSpPr txBox="1"/>
          <p:nvPr/>
        </p:nvSpPr>
        <p:spPr>
          <a:xfrm>
            <a:off x="755576" y="1052736"/>
            <a:ext cx="7560840" cy="4930389"/>
          </a:xfrm>
          <a:prstGeom prst="rect">
            <a:avLst/>
          </a:prstGeom>
          <a:noFill/>
        </p:spPr>
        <p:txBody>
          <a:bodyPr wrap="square">
            <a:spAutoFit/>
          </a:bodyPr>
          <a:lstStyle/>
          <a:p>
            <a:pPr marL="285750" indent="-285750" algn="just">
              <a:lnSpc>
                <a:spcPct val="200000"/>
              </a:lnSpc>
              <a:buFont typeface="Wingdings" panose="05000000000000000000" pitchFamily="2" charset="2"/>
              <a:buChar char="§"/>
            </a:pPr>
            <a:r>
              <a:rPr lang="en-US" sz="2000" b="1" i="0" dirty="0">
                <a:effectLst/>
                <a:latin typeface="Source Sans Pro" panose="020B0503030403020204" pitchFamily="34" charset="0"/>
              </a:rPr>
              <a:t>OLTP</a:t>
            </a:r>
            <a:r>
              <a:rPr lang="en-US" sz="2000" b="0" i="0" dirty="0">
                <a:effectLst/>
                <a:latin typeface="Source Sans Pro" panose="020B0503030403020204" pitchFamily="34" charset="0"/>
              </a:rPr>
              <a:t> is an operational system that supports transaction-oriented applications in a </a:t>
            </a:r>
            <a:r>
              <a:rPr lang="en-US" sz="2000" b="1" i="0" dirty="0">
                <a:effectLst/>
                <a:latin typeface="Source Sans Pro" panose="020B0503030403020204" pitchFamily="34" charset="0"/>
              </a:rPr>
              <a:t>3-tier architecture.</a:t>
            </a:r>
          </a:p>
          <a:p>
            <a:pPr marL="285750" indent="-285750" algn="just">
              <a:lnSpc>
                <a:spcPct val="200000"/>
              </a:lnSpc>
              <a:buFont typeface="Wingdings" panose="05000000000000000000" pitchFamily="2" charset="2"/>
              <a:buChar char="§"/>
            </a:pPr>
            <a:r>
              <a:rPr lang="en-US" sz="2000" b="0" i="0" dirty="0">
                <a:effectLst/>
                <a:latin typeface="Source Sans Pro" panose="020B0503030403020204" pitchFamily="34" charset="0"/>
              </a:rPr>
              <a:t> It administers the </a:t>
            </a:r>
            <a:r>
              <a:rPr lang="en-US" sz="2000" b="1" i="0" dirty="0">
                <a:effectLst/>
                <a:latin typeface="Source Sans Pro" panose="020B0503030403020204" pitchFamily="34" charset="0"/>
              </a:rPr>
              <a:t>day-to-day transaction of an organization. </a:t>
            </a:r>
          </a:p>
          <a:p>
            <a:pPr marL="285750" indent="-285750" algn="just">
              <a:lnSpc>
                <a:spcPct val="200000"/>
              </a:lnSpc>
              <a:buFont typeface="Wingdings" panose="05000000000000000000" pitchFamily="2" charset="2"/>
              <a:buChar char="§"/>
            </a:pPr>
            <a:r>
              <a:rPr lang="en-US" sz="2000" b="0" i="0" dirty="0">
                <a:effectLst/>
                <a:latin typeface="Source Sans Pro" panose="020B0503030403020204" pitchFamily="34" charset="0"/>
              </a:rPr>
              <a:t>OLTP is </a:t>
            </a:r>
            <a:r>
              <a:rPr lang="en-US" sz="2000" b="1" i="0" dirty="0">
                <a:effectLst/>
                <a:latin typeface="Source Sans Pro" panose="020B0503030403020204" pitchFamily="34" charset="0"/>
              </a:rPr>
              <a:t>basically focused on query processing, maintaining data integrity in multi-access environments as well as effectiveness </a:t>
            </a:r>
            <a:r>
              <a:rPr lang="en-US" sz="2000" b="0" i="0" dirty="0">
                <a:effectLst/>
                <a:latin typeface="Source Sans Pro" panose="020B0503030403020204" pitchFamily="34" charset="0"/>
              </a:rPr>
              <a:t>that is measured by the total number of transactions per second. </a:t>
            </a:r>
          </a:p>
          <a:p>
            <a:pPr marL="285750" indent="-285750" algn="just">
              <a:lnSpc>
                <a:spcPct val="200000"/>
              </a:lnSpc>
              <a:buFont typeface="Wingdings" panose="05000000000000000000" pitchFamily="2" charset="2"/>
              <a:buChar char="§"/>
            </a:pPr>
            <a:r>
              <a:rPr lang="en-US" sz="2000" b="0" i="0" dirty="0">
                <a:effectLst/>
                <a:latin typeface="Source Sans Pro" panose="020B0503030403020204" pitchFamily="34" charset="0"/>
              </a:rPr>
              <a:t>The full form of OLTP is Online Transaction Processing.</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222222"/>
                </a:solidFill>
                <a:effectLst/>
                <a:latin typeface="Source Sans Pro" panose="020B0503030403020204" pitchFamily="34" charset="0"/>
              </a:rPr>
              <a:t>         Characteristics of OLTP</a:t>
            </a:r>
            <a:endParaRPr lang="en-US" dirty="0"/>
          </a:p>
        </p:txBody>
      </p:sp>
      <p:sp>
        <p:nvSpPr>
          <p:cNvPr id="3" name="Content Placeholder 2"/>
          <p:cNvSpPr>
            <a:spLocks noGrp="1"/>
          </p:cNvSpPr>
          <p:nvPr>
            <p:ph sz="half" idx="1"/>
          </p:nvPr>
        </p:nvSpPr>
        <p:spPr>
          <a:xfrm>
            <a:off x="628650" y="1825625"/>
            <a:ext cx="3727326" cy="4351338"/>
          </a:xfrm>
        </p:spPr>
        <p:txBody>
          <a:bodyPr>
            <a:normAutofit fontScale="77500" lnSpcReduction="20000"/>
          </a:bodyPr>
          <a:lstStyle/>
          <a:p>
            <a:pPr marL="285750" indent="-285750" algn="just">
              <a:lnSpc>
                <a:spcPct val="200000"/>
              </a:lnSpc>
              <a:buFont typeface="Wingdings" panose="05000000000000000000" pitchFamily="2" charset="2"/>
              <a:buChar char="§"/>
            </a:pPr>
            <a:r>
              <a:rPr lang="en-US" b="0" i="0" dirty="0">
                <a:solidFill>
                  <a:srgbClr val="222222"/>
                </a:solidFill>
                <a:effectLst/>
                <a:latin typeface="Source Sans Pro" panose="020B0503030403020204" pitchFamily="34" charset="0"/>
              </a:rPr>
              <a:t>OLTP uses transactions that include </a:t>
            </a:r>
            <a:r>
              <a:rPr lang="en-US" b="1" i="0" dirty="0">
                <a:solidFill>
                  <a:srgbClr val="222222"/>
                </a:solidFill>
                <a:effectLst/>
                <a:latin typeface="Source Sans Pro" panose="020B0503030403020204" pitchFamily="34" charset="0"/>
              </a:rPr>
              <a:t>small amounts of data.</a:t>
            </a:r>
          </a:p>
          <a:p>
            <a:pPr marL="285750" indent="-285750" algn="just">
              <a:lnSpc>
                <a:spcPct val="200000"/>
              </a:lnSpc>
              <a:buFont typeface="Wingdings" panose="05000000000000000000" pitchFamily="2" charset="2"/>
              <a:buChar char="§"/>
            </a:pPr>
            <a:r>
              <a:rPr lang="en-US" b="1" i="0" dirty="0">
                <a:solidFill>
                  <a:srgbClr val="222222"/>
                </a:solidFill>
                <a:effectLst/>
                <a:latin typeface="Source Sans Pro" panose="020B0503030403020204" pitchFamily="34" charset="0"/>
              </a:rPr>
              <a:t>Indexed data </a:t>
            </a:r>
            <a:r>
              <a:rPr lang="en-US" b="0" i="0" dirty="0">
                <a:solidFill>
                  <a:srgbClr val="222222"/>
                </a:solidFill>
                <a:effectLst/>
                <a:latin typeface="Source Sans Pro" panose="020B0503030403020204" pitchFamily="34" charset="0"/>
              </a:rPr>
              <a:t>in the database can be accessed easily.</a:t>
            </a:r>
          </a:p>
          <a:p>
            <a:pPr marL="285750" indent="-285750" algn="just">
              <a:lnSpc>
                <a:spcPct val="200000"/>
              </a:lnSpc>
              <a:buFont typeface="Wingdings" panose="05000000000000000000" pitchFamily="2" charset="2"/>
              <a:buChar char="§"/>
            </a:pPr>
            <a:r>
              <a:rPr lang="en-US" b="0" i="0" dirty="0">
                <a:solidFill>
                  <a:srgbClr val="222222"/>
                </a:solidFill>
                <a:effectLst/>
                <a:latin typeface="Source Sans Pro" panose="020B0503030403020204" pitchFamily="34" charset="0"/>
              </a:rPr>
              <a:t>OLTP has a </a:t>
            </a:r>
            <a:r>
              <a:rPr lang="en-US" b="1" i="0" dirty="0">
                <a:solidFill>
                  <a:srgbClr val="222222"/>
                </a:solidFill>
                <a:effectLst/>
                <a:latin typeface="Source Sans Pro" panose="020B0503030403020204" pitchFamily="34" charset="0"/>
              </a:rPr>
              <a:t>large number of users.</a:t>
            </a:r>
          </a:p>
          <a:p>
            <a:pPr marL="285750" indent="-285750" algn="just">
              <a:lnSpc>
                <a:spcPct val="200000"/>
              </a:lnSpc>
              <a:buFont typeface="Wingdings" panose="05000000000000000000" pitchFamily="2" charset="2"/>
              <a:buChar char="§"/>
            </a:pPr>
            <a:r>
              <a:rPr lang="en-US" b="0" i="0" dirty="0">
                <a:solidFill>
                  <a:srgbClr val="222222"/>
                </a:solidFill>
                <a:effectLst/>
                <a:latin typeface="Source Sans Pro" panose="020B0503030403020204" pitchFamily="34" charset="0"/>
              </a:rPr>
              <a:t>It has </a:t>
            </a:r>
            <a:r>
              <a:rPr lang="en-US" b="1" i="0" dirty="0">
                <a:solidFill>
                  <a:srgbClr val="222222"/>
                </a:solidFill>
                <a:effectLst/>
                <a:latin typeface="Source Sans Pro" panose="020B0503030403020204" pitchFamily="34" charset="0"/>
              </a:rPr>
              <a:t>fast response times.</a:t>
            </a:r>
          </a:p>
          <a:p>
            <a:pPr marL="285750" indent="-285750" algn="just">
              <a:lnSpc>
                <a:spcPct val="200000"/>
              </a:lnSpc>
              <a:buFont typeface="Wingdings" panose="05000000000000000000" pitchFamily="2" charset="2"/>
              <a:buChar char="§"/>
            </a:pPr>
            <a:r>
              <a:rPr lang="en-US" b="0" i="0" dirty="0">
                <a:solidFill>
                  <a:srgbClr val="222222"/>
                </a:solidFill>
                <a:effectLst/>
                <a:latin typeface="Source Sans Pro" panose="020B0503030403020204" pitchFamily="34" charset="0"/>
              </a:rPr>
              <a:t>Databases are directly </a:t>
            </a:r>
            <a:r>
              <a:rPr lang="en-US" b="1" i="0" dirty="0">
                <a:solidFill>
                  <a:srgbClr val="222222"/>
                </a:solidFill>
                <a:effectLst/>
                <a:latin typeface="Source Sans Pro" panose="020B0503030403020204" pitchFamily="34" charset="0"/>
              </a:rPr>
              <a:t>accessible to end-users</a:t>
            </a:r>
          </a:p>
        </p:txBody>
      </p:sp>
      <p:sp>
        <p:nvSpPr>
          <p:cNvPr id="4" name="Content Placeholder 3"/>
          <p:cNvSpPr>
            <a:spLocks noGrp="1"/>
          </p:cNvSpPr>
          <p:nvPr>
            <p:ph sz="half" idx="2"/>
          </p:nvPr>
        </p:nvSpPr>
        <p:spPr/>
        <p:txBody>
          <a:bodyPr>
            <a:normAutofit fontScale="77500" lnSpcReduction="20000"/>
          </a:bodyPr>
          <a:lstStyle/>
          <a:p>
            <a:pPr algn="just">
              <a:lnSpc>
                <a:spcPct val="170000"/>
              </a:lnSpc>
              <a:buFont typeface="Arial" panose="020B0604020202020204" pitchFamily="34" charset="0"/>
              <a:buChar char="•"/>
            </a:pPr>
            <a:r>
              <a:rPr lang="en-US" b="0" i="0" dirty="0">
                <a:solidFill>
                  <a:srgbClr val="222222"/>
                </a:solidFill>
                <a:effectLst/>
                <a:latin typeface="Source Sans Pro" panose="020B0503030403020204" pitchFamily="34" charset="0"/>
              </a:rPr>
              <a:t>OLTP uses a </a:t>
            </a:r>
            <a:r>
              <a:rPr lang="en-US" b="1" i="0" dirty="0">
                <a:solidFill>
                  <a:srgbClr val="222222"/>
                </a:solidFill>
                <a:effectLst/>
                <a:latin typeface="Source Sans Pro" panose="020B0503030403020204" pitchFamily="34" charset="0"/>
              </a:rPr>
              <a:t>fully normalized schema for database consistency.</a:t>
            </a:r>
          </a:p>
          <a:p>
            <a:pPr algn="just">
              <a:lnSpc>
                <a:spcPct val="170000"/>
              </a:lnSpc>
              <a:buFont typeface="Arial" panose="020B0604020202020204" pitchFamily="34" charset="0"/>
              <a:buChar char="•"/>
            </a:pPr>
            <a:r>
              <a:rPr lang="en-US" b="0" i="0" dirty="0">
                <a:solidFill>
                  <a:srgbClr val="222222"/>
                </a:solidFill>
                <a:effectLst/>
                <a:latin typeface="Source Sans Pro" panose="020B0503030403020204" pitchFamily="34" charset="0"/>
              </a:rPr>
              <a:t>The </a:t>
            </a:r>
            <a:r>
              <a:rPr lang="en-US" b="1" i="0" dirty="0">
                <a:solidFill>
                  <a:srgbClr val="222222"/>
                </a:solidFill>
                <a:effectLst/>
                <a:latin typeface="Source Sans Pro" panose="020B0503030403020204" pitchFamily="34" charset="0"/>
              </a:rPr>
              <a:t>response time of OLTP system is short.</a:t>
            </a:r>
          </a:p>
          <a:p>
            <a:pPr algn="just">
              <a:lnSpc>
                <a:spcPct val="170000"/>
              </a:lnSpc>
              <a:buFont typeface="Arial" panose="020B0604020202020204" pitchFamily="34" charset="0"/>
              <a:buChar char="•"/>
            </a:pPr>
            <a:r>
              <a:rPr lang="en-US" b="0" i="0" dirty="0">
                <a:solidFill>
                  <a:srgbClr val="222222"/>
                </a:solidFill>
                <a:effectLst/>
                <a:latin typeface="Source Sans Pro" panose="020B0503030403020204" pitchFamily="34" charset="0"/>
              </a:rPr>
              <a:t>It strictly performs only the predefined operations on a small number of records.</a:t>
            </a:r>
          </a:p>
          <a:p>
            <a:pPr algn="just">
              <a:lnSpc>
                <a:spcPct val="170000"/>
              </a:lnSpc>
              <a:buFont typeface="Arial" panose="020B0604020202020204" pitchFamily="34" charset="0"/>
              <a:buChar char="•"/>
            </a:pPr>
            <a:r>
              <a:rPr lang="en-US" b="0" i="0" dirty="0">
                <a:solidFill>
                  <a:srgbClr val="222222"/>
                </a:solidFill>
                <a:effectLst/>
                <a:latin typeface="Source Sans Pro" panose="020B0503030403020204" pitchFamily="34" charset="0"/>
              </a:rPr>
              <a:t>OLTP stores the records of the last few days or a week.</a:t>
            </a:r>
          </a:p>
          <a:p>
            <a:pPr algn="just">
              <a:lnSpc>
                <a:spcPct val="170000"/>
              </a:lnSpc>
              <a:buFont typeface="Arial" panose="020B0604020202020204" pitchFamily="34" charset="0"/>
              <a:buChar char="•"/>
            </a:pPr>
            <a:r>
              <a:rPr lang="en-US" b="0" i="0" dirty="0">
                <a:solidFill>
                  <a:srgbClr val="222222"/>
                </a:solidFill>
                <a:effectLst/>
                <a:latin typeface="Source Sans Pro" panose="020B0503030403020204" pitchFamily="34" charset="0"/>
              </a:rPr>
              <a:t>It supports </a:t>
            </a:r>
            <a:r>
              <a:rPr lang="en-US" b="1" i="0" dirty="0">
                <a:solidFill>
                  <a:srgbClr val="222222"/>
                </a:solidFill>
                <a:effectLst/>
                <a:latin typeface="Source Sans Pro" panose="020B0503030403020204" pitchFamily="34" charset="0"/>
              </a:rPr>
              <a:t>complex data models and tables.</a:t>
            </a:r>
          </a:p>
          <a:p>
            <a:endParaRPr lang="en-US" dirty="0"/>
          </a:p>
        </p:txBody>
      </p:sp>
      <p:sp>
        <p:nvSpPr>
          <p:cNvPr id="5" name="Slide Number Placeholder 4"/>
          <p:cNvSpPr>
            <a:spLocks noGrp="1"/>
          </p:cNvSpPr>
          <p:nvPr>
            <p:ph type="sldNum" sz="quarter" idx="12"/>
          </p:nvPr>
        </p:nvSpPr>
        <p:spPr/>
        <p:txBody>
          <a:bodyPr/>
          <a:lstStyle/>
          <a:p>
            <a:fld id="{8E22C4C9-4933-45DC-93D1-285C9953FE79}" type="slidenum">
              <a:rPr lang="en-US" altLang="en-US" smtClean="0"/>
              <a:t>47</a:t>
            </a:fld>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71" name="Rectangle 70"/>
          <p:cNvSpPr>
            <a:spLocks noGrp="1" noRot="1" noChangeAspect="1" noMove="1" noResize="1" noEditPoints="1" noAdjustHandles="1" noChangeArrowheads="1" noChangeShapeType="1" noTextEdit="1"/>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161" y="639193"/>
            <a:ext cx="2678858" cy="3573516"/>
          </a:xfrm>
        </p:spPr>
        <p:txBody>
          <a:bodyPr vert="horz" lIns="91440" tIns="45720" rIns="91440" bIns="45720" rtlCol="0" anchor="b">
            <a:normAutofit/>
          </a:bodyPr>
          <a:lstStyle/>
          <a:p>
            <a:pPr defTabSz="914400"/>
            <a:r>
              <a:rPr lang="en-US" sz="4000" b="1" i="0" kern="1200">
                <a:solidFill>
                  <a:schemeClr val="tx1"/>
                </a:solidFill>
                <a:effectLst/>
                <a:latin typeface="+mj-lt"/>
                <a:ea typeface="+mj-ea"/>
                <a:cs typeface="+mj-cs"/>
              </a:rPr>
              <a:t>Architecture of OLTP</a:t>
            </a:r>
            <a:endParaRPr lang="en-US" sz="4000" b="1" kern="1200" dirty="0">
              <a:solidFill>
                <a:schemeClr val="tx1"/>
              </a:solidFill>
              <a:latin typeface="+mj-lt"/>
              <a:ea typeface="+mj-ea"/>
              <a:cs typeface="+mj-cs"/>
            </a:endParaRPr>
          </a:p>
        </p:txBody>
      </p:sp>
      <p:sp>
        <p:nvSpPr>
          <p:cNvPr id="4" name="Slide Number Placeholder 3"/>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CF35A7C8-22FE-475B-982D-092C8637B139}" type="slidenum">
              <a:rPr lang="en-US" altLang="en-US" sz="1200" smtClean="0"/>
              <a:t>48</a:t>
            </a:fld>
            <a:endParaRPr lang="en-US" altLang="en-US" sz="1200"/>
          </a:p>
        </p:txBody>
      </p:sp>
      <p:pic>
        <p:nvPicPr>
          <p:cNvPr id="6" name="Picture 5"/>
          <p:cNvPicPr>
            <a:picLocks noChangeAspect="1"/>
          </p:cNvPicPr>
          <p:nvPr/>
        </p:nvPicPr>
        <p:blipFill>
          <a:blip r:embed="rId2"/>
          <a:stretch>
            <a:fillRect/>
          </a:stretch>
        </p:blipFill>
        <p:spPr>
          <a:xfrm>
            <a:off x="3238667" y="692696"/>
            <a:ext cx="5590445" cy="5292003"/>
          </a:xfrm>
          <a:prstGeom prst="rect">
            <a:avLst/>
          </a:prstGeom>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9BC65-8947-6C20-6A3D-83A0DF9734AF}"/>
              </a:ext>
            </a:extLst>
          </p:cNvPr>
          <p:cNvSpPr>
            <a:spLocks noGrp="1"/>
          </p:cNvSpPr>
          <p:nvPr>
            <p:ph type="title"/>
          </p:nvPr>
        </p:nvSpPr>
        <p:spPr/>
        <p:txBody>
          <a:bodyPr/>
          <a:lstStyle/>
          <a:p>
            <a:pPr algn="ctr"/>
            <a:r>
              <a:rPr lang="en-RW" dirty="0"/>
              <a:t>ETL Processes</a:t>
            </a:r>
          </a:p>
        </p:txBody>
      </p:sp>
      <p:sp>
        <p:nvSpPr>
          <p:cNvPr id="3" name="Content Placeholder 2">
            <a:extLst>
              <a:ext uri="{FF2B5EF4-FFF2-40B4-BE49-F238E27FC236}">
                <a16:creationId xmlns:a16="http://schemas.microsoft.com/office/drawing/2014/main" id="{DEDCBEE7-F146-FA25-A339-1F7D25ADE0FB}"/>
              </a:ext>
            </a:extLst>
          </p:cNvPr>
          <p:cNvSpPr>
            <a:spLocks noGrp="1"/>
          </p:cNvSpPr>
          <p:nvPr>
            <p:ph idx="1"/>
          </p:nvPr>
        </p:nvSpPr>
        <p:spPr/>
        <p:txBody>
          <a:bodyPr/>
          <a:lstStyle/>
          <a:p>
            <a:endParaRPr lang="en-RW" dirty="0"/>
          </a:p>
        </p:txBody>
      </p:sp>
      <p:sp>
        <p:nvSpPr>
          <p:cNvPr id="4" name="Slide Number Placeholder 3">
            <a:extLst>
              <a:ext uri="{FF2B5EF4-FFF2-40B4-BE49-F238E27FC236}">
                <a16:creationId xmlns:a16="http://schemas.microsoft.com/office/drawing/2014/main" id="{EADA08BF-966F-FD04-A03E-B0C943ED20DC}"/>
              </a:ext>
            </a:extLst>
          </p:cNvPr>
          <p:cNvSpPr>
            <a:spLocks noGrp="1"/>
          </p:cNvSpPr>
          <p:nvPr>
            <p:ph type="sldNum" sz="quarter" idx="12"/>
          </p:nvPr>
        </p:nvSpPr>
        <p:spPr/>
        <p:txBody>
          <a:bodyPr/>
          <a:lstStyle/>
          <a:p>
            <a:fld id="{CF35A7C8-22FE-475B-982D-092C8637B139}" type="slidenum">
              <a:rPr lang="en-US" altLang="en-US" smtClean="0"/>
              <a:t>49</a:t>
            </a:fld>
            <a:endParaRPr lang="en-US" altLang="en-US"/>
          </a:p>
        </p:txBody>
      </p:sp>
      <p:pic>
        <p:nvPicPr>
          <p:cNvPr id="5" name="Picture 4">
            <a:extLst>
              <a:ext uri="{FF2B5EF4-FFF2-40B4-BE49-F238E27FC236}">
                <a16:creationId xmlns:a16="http://schemas.microsoft.com/office/drawing/2014/main" id="{D8FC6B00-0BD1-3718-0283-601791C3BF45}"/>
              </a:ext>
            </a:extLst>
          </p:cNvPr>
          <p:cNvPicPr>
            <a:picLocks noChangeAspect="1"/>
          </p:cNvPicPr>
          <p:nvPr/>
        </p:nvPicPr>
        <p:blipFill>
          <a:blip r:embed="rId2"/>
          <a:stretch>
            <a:fillRect/>
          </a:stretch>
        </p:blipFill>
        <p:spPr>
          <a:xfrm>
            <a:off x="536328" y="1870077"/>
            <a:ext cx="8231153" cy="4306885"/>
          </a:xfrm>
          <a:prstGeom prst="rect">
            <a:avLst/>
          </a:prstGeom>
        </p:spPr>
      </p:pic>
    </p:spTree>
    <p:extLst>
      <p:ext uri="{BB962C8B-B14F-4D97-AF65-F5344CB8AC3E}">
        <p14:creationId xmlns:p14="http://schemas.microsoft.com/office/powerpoint/2010/main" val="34776162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35A7C8-22FE-475B-982D-092C8637B139}" type="slidenum">
              <a:rPr lang="en-US" altLang="en-US" smtClean="0"/>
              <a:t>50</a:t>
            </a:fld>
            <a:endParaRPr lang="en-US" altLang="en-US"/>
          </a:p>
        </p:txBody>
      </p:sp>
      <p:sp>
        <p:nvSpPr>
          <p:cNvPr id="6" name="TextBox 5"/>
          <p:cNvSpPr txBox="1"/>
          <p:nvPr/>
        </p:nvSpPr>
        <p:spPr>
          <a:xfrm>
            <a:off x="899592" y="542120"/>
            <a:ext cx="7272808" cy="5773760"/>
          </a:xfrm>
          <a:prstGeom prst="rect">
            <a:avLst/>
          </a:prstGeom>
          <a:noFill/>
        </p:spPr>
        <p:txBody>
          <a:bodyPr wrap="square">
            <a:spAutoFit/>
          </a:bodyPr>
          <a:lstStyle/>
          <a:p>
            <a:pPr algn="just">
              <a:lnSpc>
                <a:spcPct val="200000"/>
              </a:lnSpc>
            </a:pPr>
            <a:r>
              <a:rPr lang="en-US" sz="1700" b="1" i="0" dirty="0">
                <a:solidFill>
                  <a:srgbClr val="222222"/>
                </a:solidFill>
                <a:effectLst/>
                <a:latin typeface="Source Sans Pro" panose="020B0503030403020204" pitchFamily="34" charset="0"/>
              </a:rPr>
              <a:t>Business / Enterprise Strategy:</a:t>
            </a:r>
            <a:r>
              <a:rPr lang="en-US" sz="1700" b="0" i="0" dirty="0">
                <a:solidFill>
                  <a:srgbClr val="222222"/>
                </a:solidFill>
                <a:effectLst/>
                <a:latin typeface="Source Sans Pro" panose="020B0503030403020204" pitchFamily="34" charset="0"/>
              </a:rPr>
              <a:t> </a:t>
            </a:r>
          </a:p>
          <a:p>
            <a:pPr marL="285750" indent="-285750" algn="just">
              <a:lnSpc>
                <a:spcPct val="200000"/>
              </a:lnSpc>
              <a:buFont typeface="Arial" panose="020B0604020202020204" pitchFamily="34" charset="0"/>
              <a:buChar char="•"/>
            </a:pPr>
            <a:r>
              <a:rPr lang="en-US" sz="1700" b="0" i="0" dirty="0">
                <a:solidFill>
                  <a:srgbClr val="222222"/>
                </a:solidFill>
                <a:effectLst/>
                <a:latin typeface="Source Sans Pro" panose="020B0503030403020204" pitchFamily="34" charset="0"/>
              </a:rPr>
              <a:t>Enterprise strategy deals with the issues that affect the organization as a whole. </a:t>
            </a:r>
            <a:endParaRPr lang="en-US" sz="1700" dirty="0">
              <a:solidFill>
                <a:srgbClr val="222222"/>
              </a:solidFill>
              <a:latin typeface="Source Sans Pro" panose="020B0503030403020204" pitchFamily="34" charset="0"/>
            </a:endParaRPr>
          </a:p>
          <a:p>
            <a:pPr marL="285750" indent="-285750" algn="just">
              <a:lnSpc>
                <a:spcPct val="200000"/>
              </a:lnSpc>
              <a:buFont typeface="Arial" panose="020B0604020202020204" pitchFamily="34" charset="0"/>
              <a:buChar char="•"/>
            </a:pPr>
            <a:r>
              <a:rPr lang="en-US" sz="1700" b="0" i="0" dirty="0">
                <a:solidFill>
                  <a:srgbClr val="222222"/>
                </a:solidFill>
                <a:effectLst/>
                <a:latin typeface="Source Sans Pro" panose="020B0503030403020204" pitchFamily="34" charset="0"/>
              </a:rPr>
              <a:t>In OLTP, it is typically developed at a high level within the firm, by the board of directors or the top management</a:t>
            </a:r>
          </a:p>
          <a:p>
            <a:pPr algn="just">
              <a:lnSpc>
                <a:spcPct val="200000"/>
              </a:lnSpc>
            </a:pPr>
            <a:r>
              <a:rPr lang="en-US" sz="1700" b="1" i="0" dirty="0">
                <a:solidFill>
                  <a:srgbClr val="222222"/>
                </a:solidFill>
                <a:effectLst/>
                <a:latin typeface="Source Sans Pro" panose="020B0503030403020204" pitchFamily="34" charset="0"/>
              </a:rPr>
              <a:t>Business Process:</a:t>
            </a:r>
            <a:r>
              <a:rPr lang="en-US" sz="1700" b="0" i="0" dirty="0">
                <a:solidFill>
                  <a:srgbClr val="222222"/>
                </a:solidFill>
                <a:effectLst/>
                <a:latin typeface="Source Sans Pro" panose="020B0503030403020204" pitchFamily="34" charset="0"/>
              </a:rPr>
              <a:t> </a:t>
            </a:r>
          </a:p>
          <a:p>
            <a:pPr algn="just">
              <a:lnSpc>
                <a:spcPct val="200000"/>
              </a:lnSpc>
            </a:pPr>
            <a:r>
              <a:rPr lang="en-US" sz="1700" b="0" i="0" dirty="0">
                <a:solidFill>
                  <a:srgbClr val="222222"/>
                </a:solidFill>
                <a:effectLst/>
                <a:latin typeface="Source Sans Pro" panose="020B0503030403020204" pitchFamily="34" charset="0"/>
              </a:rPr>
              <a:t>OLTP business process is a set of activities and tasks that, once completed, will accomplish an organizational goal.</a:t>
            </a:r>
          </a:p>
          <a:p>
            <a:pPr algn="just">
              <a:lnSpc>
                <a:spcPct val="200000"/>
              </a:lnSpc>
            </a:pPr>
            <a:r>
              <a:rPr lang="en-US" sz="1700" b="1" i="0" dirty="0">
                <a:solidFill>
                  <a:srgbClr val="222222"/>
                </a:solidFill>
                <a:effectLst/>
                <a:latin typeface="Source Sans Pro" panose="020B0503030403020204" pitchFamily="34" charset="0"/>
              </a:rPr>
              <a:t>Customers, Orders, and Products:</a:t>
            </a:r>
            <a:r>
              <a:rPr lang="en-US" sz="1700" b="0" i="0" dirty="0">
                <a:solidFill>
                  <a:srgbClr val="222222"/>
                </a:solidFill>
                <a:effectLst/>
                <a:latin typeface="Source Sans Pro" panose="020B0503030403020204" pitchFamily="34" charset="0"/>
              </a:rPr>
              <a:t> </a:t>
            </a:r>
          </a:p>
          <a:p>
            <a:pPr algn="just">
              <a:lnSpc>
                <a:spcPct val="200000"/>
              </a:lnSpc>
            </a:pPr>
            <a:r>
              <a:rPr lang="en-US" sz="1700" b="0" i="0" dirty="0">
                <a:solidFill>
                  <a:srgbClr val="222222"/>
                </a:solidFill>
                <a:effectLst/>
                <a:latin typeface="Source Sans Pro" panose="020B0503030403020204" pitchFamily="34" charset="0"/>
              </a:rPr>
              <a:t>OLTP database store information about products, orders (transactions), customers (buyers), suppliers (sellers), and employees.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F35A7C8-22FE-475B-982D-092C8637B139}" type="slidenum">
              <a:rPr lang="en-US" altLang="en-US" smtClean="0"/>
              <a:t>51</a:t>
            </a:fld>
            <a:endParaRPr lang="en-US" altLang="en-US"/>
          </a:p>
        </p:txBody>
      </p:sp>
      <p:sp>
        <p:nvSpPr>
          <p:cNvPr id="5" name="TextBox 4"/>
          <p:cNvSpPr txBox="1"/>
          <p:nvPr/>
        </p:nvSpPr>
        <p:spPr>
          <a:xfrm>
            <a:off x="617432" y="195470"/>
            <a:ext cx="7987016" cy="6297558"/>
          </a:xfrm>
          <a:prstGeom prst="rect">
            <a:avLst/>
          </a:prstGeom>
          <a:noFill/>
        </p:spPr>
        <p:txBody>
          <a:bodyPr wrap="square">
            <a:spAutoFit/>
          </a:bodyPr>
          <a:lstStyle/>
          <a:p>
            <a:pPr algn="just">
              <a:lnSpc>
                <a:spcPct val="200000"/>
              </a:lnSpc>
            </a:pPr>
            <a:r>
              <a:rPr lang="en-US" sz="1650" b="1" i="0" dirty="0">
                <a:solidFill>
                  <a:srgbClr val="222222"/>
                </a:solidFill>
                <a:effectLst/>
                <a:latin typeface="Source Sans Pro" panose="020B0503030403020204" pitchFamily="34" charset="0"/>
              </a:rPr>
              <a:t>ETL Processes:</a:t>
            </a:r>
            <a:r>
              <a:rPr lang="en-US" sz="1650" b="0" i="0" dirty="0">
                <a:solidFill>
                  <a:srgbClr val="222222"/>
                </a:solidFill>
                <a:effectLst/>
                <a:latin typeface="Source Sans Pro" panose="020B0503030403020204" pitchFamily="34" charset="0"/>
              </a:rPr>
              <a:t> </a:t>
            </a:r>
          </a:p>
          <a:p>
            <a:pPr marL="285750" indent="-285750" algn="just">
              <a:lnSpc>
                <a:spcPct val="200000"/>
              </a:lnSpc>
              <a:buFont typeface="Wingdings" panose="05000000000000000000" pitchFamily="2" charset="2"/>
              <a:buChar char="§"/>
            </a:pPr>
            <a:r>
              <a:rPr lang="en-US" sz="1650" b="0" i="0" dirty="0">
                <a:solidFill>
                  <a:srgbClr val="222222"/>
                </a:solidFill>
                <a:effectLst/>
                <a:latin typeface="Source Sans Pro" panose="020B0503030403020204" pitchFamily="34" charset="0"/>
              </a:rPr>
              <a:t>It separates the data from various RDBMS source systems, then transforms the data (like applying </a:t>
            </a:r>
            <a:r>
              <a:rPr lang="en-US" sz="1650" b="1" i="0" dirty="0">
                <a:solidFill>
                  <a:srgbClr val="222222"/>
                </a:solidFill>
                <a:effectLst/>
                <a:latin typeface="Source Sans Pro" panose="020B0503030403020204" pitchFamily="34" charset="0"/>
              </a:rPr>
              <a:t>concatenations, calculations</a:t>
            </a:r>
            <a:r>
              <a:rPr lang="en-US" sz="1650" b="0" i="0" dirty="0">
                <a:solidFill>
                  <a:srgbClr val="222222"/>
                </a:solidFill>
                <a:effectLst/>
                <a:latin typeface="Source Sans Pro" panose="020B0503030403020204" pitchFamily="34" charset="0"/>
              </a:rPr>
              <a:t>, etc.) and loads the processed data into the Data Warehouse system.</a:t>
            </a:r>
          </a:p>
          <a:p>
            <a:pPr algn="just">
              <a:lnSpc>
                <a:spcPct val="200000"/>
              </a:lnSpc>
            </a:pPr>
            <a:r>
              <a:rPr lang="en-US" sz="1650" b="1" i="0" dirty="0">
                <a:solidFill>
                  <a:srgbClr val="222222"/>
                </a:solidFill>
                <a:effectLst/>
                <a:latin typeface="Source Sans Pro" panose="020B0503030403020204" pitchFamily="34" charset="0"/>
              </a:rPr>
              <a:t>Data Mart and Data warehouse: </a:t>
            </a:r>
          </a:p>
          <a:p>
            <a:pPr algn="just">
              <a:lnSpc>
                <a:spcPct val="200000"/>
              </a:lnSpc>
            </a:pPr>
            <a:r>
              <a:rPr lang="en-US" sz="1650" b="0" i="0" dirty="0">
                <a:solidFill>
                  <a:srgbClr val="222222"/>
                </a:solidFill>
                <a:effectLst/>
                <a:latin typeface="Source Sans Pro" panose="020B0503030403020204" pitchFamily="34" charset="0"/>
              </a:rPr>
              <a:t>A data mart is a structure/access pattern specific to data warehouse environments.</a:t>
            </a:r>
            <a:r>
              <a:rPr lang="en-US" sz="1650" b="1" i="0" dirty="0">
                <a:solidFill>
                  <a:srgbClr val="222222"/>
                </a:solidFill>
                <a:effectLst/>
                <a:latin typeface="Source Sans Pro" panose="020B0503030403020204" pitchFamily="34" charset="0"/>
              </a:rPr>
              <a:t> </a:t>
            </a:r>
            <a:r>
              <a:rPr lang="en-US" sz="1650" b="0" i="0" dirty="0">
                <a:solidFill>
                  <a:srgbClr val="222222"/>
                </a:solidFill>
                <a:effectLst/>
                <a:latin typeface="Source Sans Pro" panose="020B0503030403020204" pitchFamily="34" charset="0"/>
              </a:rPr>
              <a:t>It is used by OLAP to store processed data.</a:t>
            </a:r>
          </a:p>
          <a:p>
            <a:pPr algn="just">
              <a:lnSpc>
                <a:spcPct val="200000"/>
              </a:lnSpc>
            </a:pPr>
            <a:r>
              <a:rPr lang="en-US" sz="1650" b="1" i="0" dirty="0">
                <a:solidFill>
                  <a:srgbClr val="222222"/>
                </a:solidFill>
                <a:effectLst/>
                <a:latin typeface="Source Sans Pro" panose="020B0503030403020204" pitchFamily="34" charset="0"/>
              </a:rPr>
              <a:t>Data Mining, Analytics, and Decision Making: </a:t>
            </a:r>
          </a:p>
          <a:p>
            <a:pPr marL="285750" indent="-285750" algn="just">
              <a:lnSpc>
                <a:spcPct val="200000"/>
              </a:lnSpc>
              <a:buFont typeface="Wingdings" panose="05000000000000000000" pitchFamily="2" charset="2"/>
              <a:buChar char="§"/>
            </a:pPr>
            <a:r>
              <a:rPr lang="en-US" sz="1650" b="0" i="0" dirty="0">
                <a:solidFill>
                  <a:srgbClr val="222222"/>
                </a:solidFill>
                <a:effectLst/>
                <a:latin typeface="Source Sans Pro" panose="020B0503030403020204" pitchFamily="34" charset="0"/>
              </a:rPr>
              <a:t>Data stored in the data mart and data warehouse can be used for data mining, analytics, and decision making.</a:t>
            </a:r>
          </a:p>
          <a:p>
            <a:pPr marL="285750" indent="-285750" algn="just">
              <a:lnSpc>
                <a:spcPct val="200000"/>
              </a:lnSpc>
              <a:buFont typeface="Wingdings" panose="05000000000000000000" pitchFamily="2" charset="2"/>
              <a:buChar char="§"/>
            </a:pPr>
            <a:r>
              <a:rPr lang="en-US" sz="1650" b="0" i="0" dirty="0">
                <a:solidFill>
                  <a:srgbClr val="222222"/>
                </a:solidFill>
                <a:effectLst/>
                <a:latin typeface="Source Sans Pro" panose="020B0503030403020204" pitchFamily="34" charset="0"/>
              </a:rPr>
              <a:t>This data helps you to discover data patterns, analyze raw data, and make analytical decisions for your organization's growth.</a:t>
            </a:r>
            <a:endParaRPr lang="en-US" sz="1650"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p:cNvSpPr>
            <a:spLocks noGrp="1" noRot="1" noChangeAspect="1" noMove="1" noResize="1" noEditPoints="1" noAdjustHandles="1" noChangeArrowheads="1" noChangeShapeType="1" noTextEdit="1"/>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3" name="Group 72"/>
          <p:cNvGrpSpPr>
            <a:grpSpLocks noGrp="1" noUngrp="1" noRot="1" noChangeAspect="1" noMove="1" noResize="1"/>
          </p:cNvGrpSpPr>
          <p:nvPr/>
        </p:nvGrpSpPr>
        <p:grpSpPr>
          <a:xfrm flipH="1">
            <a:off x="9" y="1"/>
            <a:ext cx="729530" cy="1935307"/>
            <a:chOff x="10918968" y="713127"/>
            <a:chExt cx="1273032" cy="2532832"/>
          </a:xfrm>
        </p:grpSpPr>
        <p:sp>
          <p:nvSpPr>
            <p:cNvPr id="74" name="Rectangle 73"/>
            <p:cNvSpPr/>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p:cNvSpPr/>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p:cNvSpPr>
            <a:spLocks noGrp="1"/>
          </p:cNvSpPr>
          <p:nvPr>
            <p:ph type="title"/>
          </p:nvPr>
        </p:nvSpPr>
        <p:spPr>
          <a:xfrm>
            <a:off x="1907704" y="188224"/>
            <a:ext cx="8178799" cy="1135737"/>
          </a:xfrm>
        </p:spPr>
        <p:txBody>
          <a:bodyPr vert="horz" lIns="91440" tIns="45720" rIns="91440" bIns="45720" rtlCol="0" anchor="ctr">
            <a:normAutofit/>
          </a:bodyPr>
          <a:lstStyle/>
          <a:p>
            <a:pPr defTabSz="914400"/>
            <a:r>
              <a:rPr lang="en-US" sz="3100" b="1" i="0" kern="1200" dirty="0">
                <a:solidFill>
                  <a:schemeClr val="tx1"/>
                </a:solidFill>
                <a:effectLst/>
                <a:latin typeface="+mj-lt"/>
                <a:ea typeface="+mj-ea"/>
                <a:cs typeface="+mj-cs"/>
              </a:rPr>
              <a:t>Example of OLTP Transaction</a:t>
            </a:r>
            <a:endParaRPr lang="en-US" sz="3100" b="1" kern="1200" dirty="0">
              <a:solidFill>
                <a:schemeClr val="tx1"/>
              </a:solidFill>
              <a:latin typeface="+mj-lt"/>
              <a:ea typeface="+mj-ea"/>
              <a:cs typeface="+mj-cs"/>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73126" y="1394881"/>
            <a:ext cx="4689910" cy="313569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658039" y="1782981"/>
            <a:ext cx="3003359" cy="439398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700" b="0" i="0" dirty="0">
                <a:effectLst/>
              </a:rPr>
              <a:t>An example of the OLTP system is the </a:t>
            </a:r>
            <a:r>
              <a:rPr lang="en-US" sz="1700" b="1" i="0" dirty="0">
                <a:solidFill>
                  <a:srgbClr val="FF0000"/>
                </a:solidFill>
                <a:effectLst/>
              </a:rPr>
              <a:t>ATM center.</a:t>
            </a:r>
          </a:p>
          <a:p>
            <a:pPr indent="-228600">
              <a:lnSpc>
                <a:spcPct val="90000"/>
              </a:lnSpc>
              <a:spcAft>
                <a:spcPts val="600"/>
              </a:spcAft>
              <a:buFont typeface="Arial" panose="020B0604020202020204" pitchFamily="34" charset="0"/>
              <a:buChar char="•"/>
            </a:pPr>
            <a:endParaRPr lang="en-US" sz="1700" dirty="0"/>
          </a:p>
          <a:p>
            <a:pPr indent="-228600">
              <a:lnSpc>
                <a:spcPct val="90000"/>
              </a:lnSpc>
              <a:spcAft>
                <a:spcPts val="600"/>
              </a:spcAft>
              <a:buFont typeface="Arial" panose="020B0604020202020204" pitchFamily="34" charset="0"/>
              <a:buChar char="•"/>
            </a:pPr>
            <a:endParaRPr lang="en-US" sz="1700" dirty="0"/>
          </a:p>
          <a:p>
            <a:pPr indent="-228600">
              <a:lnSpc>
                <a:spcPct val="90000"/>
              </a:lnSpc>
              <a:spcAft>
                <a:spcPts val="600"/>
              </a:spcAft>
              <a:buFont typeface="Arial" panose="020B0604020202020204" pitchFamily="34" charset="0"/>
              <a:buChar char="•"/>
            </a:pPr>
            <a:endParaRPr lang="en-US" sz="1700" dirty="0"/>
          </a:p>
          <a:p>
            <a:pPr algn="just">
              <a:lnSpc>
                <a:spcPct val="150000"/>
              </a:lnSpc>
            </a:pPr>
            <a:r>
              <a:rPr lang="en-US" sz="1600" b="0" i="0" dirty="0">
                <a:solidFill>
                  <a:srgbClr val="222222"/>
                </a:solidFill>
                <a:effectLst/>
                <a:latin typeface="Source Sans Pro" panose="020B0503030403020204" pitchFamily="34" charset="0"/>
              </a:rPr>
              <a:t>Other examples of OLTP system are:</a:t>
            </a:r>
          </a:p>
          <a:p>
            <a:pPr marL="285750" indent="-285750" algn="just">
              <a:lnSpc>
                <a:spcPct val="150000"/>
              </a:lnSpc>
              <a:buFont typeface="Wingdings" panose="05000000000000000000" pitchFamily="2" charset="2"/>
              <a:buChar char="Ø"/>
            </a:pPr>
            <a:r>
              <a:rPr lang="en-US" sz="1600" b="0" i="0" dirty="0">
                <a:solidFill>
                  <a:srgbClr val="222222"/>
                </a:solidFill>
                <a:effectLst/>
                <a:latin typeface="Source Sans Pro" panose="020B0503030403020204" pitchFamily="34" charset="0"/>
              </a:rPr>
              <a:t>Online banking</a:t>
            </a:r>
          </a:p>
          <a:p>
            <a:pPr marL="285750" indent="-285750" algn="just">
              <a:lnSpc>
                <a:spcPct val="150000"/>
              </a:lnSpc>
              <a:buFont typeface="Wingdings" panose="05000000000000000000" pitchFamily="2" charset="2"/>
              <a:buChar char="Ø"/>
            </a:pPr>
            <a:r>
              <a:rPr lang="en-US" sz="1600" b="0" i="0" dirty="0">
                <a:solidFill>
                  <a:srgbClr val="222222"/>
                </a:solidFill>
                <a:effectLst/>
                <a:latin typeface="Source Sans Pro" panose="020B0503030403020204" pitchFamily="34" charset="0"/>
              </a:rPr>
              <a:t>Online airline ticket booking</a:t>
            </a:r>
          </a:p>
          <a:p>
            <a:pPr marL="285750" indent="-285750" algn="just">
              <a:lnSpc>
                <a:spcPct val="150000"/>
              </a:lnSpc>
              <a:buFont typeface="Wingdings" panose="05000000000000000000" pitchFamily="2" charset="2"/>
              <a:buChar char="Ø"/>
            </a:pPr>
            <a:r>
              <a:rPr lang="en-US" sz="1600" b="0" i="0" dirty="0">
                <a:solidFill>
                  <a:srgbClr val="222222"/>
                </a:solidFill>
                <a:effectLst/>
                <a:latin typeface="Source Sans Pro" panose="020B0503030403020204" pitchFamily="34" charset="0"/>
              </a:rPr>
              <a:t>Sending a text message</a:t>
            </a:r>
          </a:p>
          <a:p>
            <a:pPr marL="285750" indent="-285750" algn="just">
              <a:lnSpc>
                <a:spcPct val="150000"/>
              </a:lnSpc>
              <a:buFont typeface="Wingdings" panose="05000000000000000000" pitchFamily="2" charset="2"/>
              <a:buChar char="Ø"/>
            </a:pPr>
            <a:r>
              <a:rPr lang="en-US" sz="1600" b="0" i="0" dirty="0">
                <a:solidFill>
                  <a:srgbClr val="222222"/>
                </a:solidFill>
                <a:effectLst/>
                <a:latin typeface="Source Sans Pro" panose="020B0503030403020204" pitchFamily="34" charset="0"/>
              </a:rPr>
              <a:t>Order entry</a:t>
            </a:r>
          </a:p>
          <a:p>
            <a:pPr marL="285750" indent="-285750" algn="just">
              <a:lnSpc>
                <a:spcPct val="150000"/>
              </a:lnSpc>
              <a:buFont typeface="Wingdings" panose="05000000000000000000" pitchFamily="2" charset="2"/>
              <a:buChar char="Ø"/>
            </a:pPr>
            <a:r>
              <a:rPr lang="en-US" sz="1600" b="0" i="0" dirty="0">
                <a:solidFill>
                  <a:srgbClr val="222222"/>
                </a:solidFill>
                <a:effectLst/>
                <a:latin typeface="Source Sans Pro" panose="020B0503030403020204" pitchFamily="34" charset="0"/>
              </a:rPr>
              <a:t>Add a book to shopping cart</a:t>
            </a:r>
          </a:p>
          <a:p>
            <a:pPr indent="-228600">
              <a:lnSpc>
                <a:spcPct val="90000"/>
              </a:lnSpc>
              <a:spcAft>
                <a:spcPts val="600"/>
              </a:spcAft>
              <a:buFont typeface="Arial" panose="020B0604020202020204" pitchFamily="34" charset="0"/>
              <a:buChar char="•"/>
            </a:pPr>
            <a:endParaRPr lang="en-US" sz="1700" dirty="0"/>
          </a:p>
        </p:txBody>
      </p:sp>
      <p:sp>
        <p:nvSpPr>
          <p:cNvPr id="4" name="Slide Number Placeholder 3"/>
          <p:cNvSpPr>
            <a:spLocks noGrp="1"/>
          </p:cNvSpPr>
          <p:nvPr>
            <p:ph type="sldNum" sz="quarter" idx="12"/>
          </p:nvPr>
        </p:nvSpPr>
        <p:spPr>
          <a:xfrm>
            <a:off x="6603999" y="6356350"/>
            <a:ext cx="2057400" cy="365125"/>
          </a:xfrm>
        </p:spPr>
        <p:txBody>
          <a:bodyPr vert="horz" lIns="91440" tIns="45720" rIns="91440" bIns="45720" rtlCol="0" anchor="ctr">
            <a:normAutofit/>
          </a:bodyPr>
          <a:lstStyle/>
          <a:p>
            <a:pPr>
              <a:spcAft>
                <a:spcPts val="600"/>
              </a:spcAft>
            </a:pPr>
            <a:fld id="{CF35A7C8-22FE-475B-982D-092C8637B139}" type="slidenum">
              <a:rPr lang="en-US" altLang="en-US" sz="1200" smtClean="0"/>
              <a:t>52</a:t>
            </a:fld>
            <a:endParaRPr lang="en-US" altLang="en-US" sz="1200"/>
          </a:p>
        </p:txBody>
      </p:sp>
      <p:grpSp>
        <p:nvGrpSpPr>
          <p:cNvPr id="77" name="Group 76"/>
          <p:cNvGrpSpPr>
            <a:grpSpLocks noGrp="1" noUngrp="1" noRot="1" noChangeAspect="1" noMove="1" noResize="1"/>
          </p:cNvGrpSpPr>
          <p:nvPr/>
        </p:nvGrpSpPr>
        <p:grpSpPr>
          <a:xfrm>
            <a:off x="8383455" y="4601497"/>
            <a:ext cx="760545" cy="2017580"/>
            <a:chOff x="11177940" y="4601497"/>
            <a:chExt cx="1014060" cy="2017580"/>
          </a:xfrm>
        </p:grpSpPr>
        <p:sp>
          <p:nvSpPr>
            <p:cNvPr id="78" name="Isosceles Triangle 77"/>
            <p:cNvSpPr/>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p:cNvSpPr txBox="1"/>
          <p:nvPr/>
        </p:nvSpPr>
        <p:spPr>
          <a:xfrm>
            <a:off x="2124625" y="4804930"/>
            <a:ext cx="3347050" cy="369332"/>
          </a:xfrm>
          <a:prstGeom prst="rect">
            <a:avLst/>
          </a:prstGeom>
          <a:noFill/>
        </p:spPr>
        <p:txBody>
          <a:bodyPr wrap="square">
            <a:spAutoFit/>
          </a:bodyPr>
          <a:lstStyle/>
          <a:p>
            <a:r>
              <a:rPr lang="en-US" b="0" i="0" dirty="0">
                <a:solidFill>
                  <a:srgbClr val="222222"/>
                </a:solidFill>
                <a:effectLst/>
                <a:latin typeface="Source Sans Pro" panose="020B0503030403020204" pitchFamily="34" charset="0"/>
              </a:rPr>
              <a:t>ATM image</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p:cNvSpPr>
            <a:spLocks noGrp="1" noRot="1" noChangeAspect="1" noMove="1" noResize="1" noEditPoints="1" noAdjustHandles="1" noChangeArrowheads="1" noChangeShapeType="1" noTextEdit="1"/>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p:cNvSpPr>
            <a:spLocks noGrp="1" noRot="1" noChangeAspect="1" noMove="1" noResize="1" noEditPoints="1" noAdjustHandles="1" noChangeArrowheads="1" noChangeShapeType="1" noTextEdit="1"/>
          </p:cNvSpPr>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74"/>
          <p:cNvSpPr>
            <a:spLocks noGrp="1" noRot="1" noChangeAspect="1" noMove="1" noResize="1" noEditPoints="1" noAdjustHandles="1" noChangeArrowheads="1" noChangeShapeType="1" noTextEdit="1"/>
          </p:cNvSpPr>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a:spLocks noGrp="1" noRot="1" noChangeAspect="1" noMove="1" noResize="1" noEditPoints="1" noAdjustHandles="1" noChangeArrowheads="1" noChangeShapeType="1" noTextEdit="1"/>
          </p:cNvSpPr>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p:cNvSpPr>
            <a:spLocks noGrp="1" noRot="1" noChangeAspect="1" noMove="1" noResize="1" noEditPoints="1" noAdjustHandles="1" noChangeArrowheads="1" noChangeShapeType="1" noTextEdit="1"/>
          </p:cNvSpPr>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Isosceles Triangle 80"/>
          <p:cNvSpPr>
            <a:spLocks noGrp="1" noRot="1" noChangeAspect="1" noMove="1" noResize="1" noEditPoints="1" noAdjustHandles="1" noChangeArrowheads="1" noChangeShapeType="1" noTextEdit="1"/>
          </p:cNvSpPr>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Isosceles Triangle 82"/>
          <p:cNvSpPr>
            <a:spLocks noGrp="1" noRot="1" noChangeAspect="1" noMove="1" noResize="1" noEditPoints="1" noAdjustHandles="1" noChangeArrowheads="1" noChangeShapeType="1" noTextEdit="1"/>
          </p:cNvSpPr>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209" y="447973"/>
            <a:ext cx="8177213" cy="5908377"/>
          </a:xfrm>
          <a:prstGeom prst="rect">
            <a:avLst/>
          </a:prstGeom>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82600" y="5070475"/>
            <a:ext cx="8177213" cy="1095375"/>
          </a:xfrm>
          <a:prstGeom prst="rect">
            <a:avLst/>
          </a:prstGeom>
          <a:solidFill>
            <a:srgbClr val="000000">
              <a:alpha val="50000"/>
            </a:srgbClr>
          </a:solidFill>
          <a:ln>
            <a:noFill/>
          </a:ln>
        </p:spPr>
        <p:txBody>
          <a:bodyPr wrap="square" anchor="ctr">
            <a:noAutofit/>
          </a:bodyPr>
          <a:lstStyle/>
          <a:p>
            <a:pPr algn="ctr">
              <a:spcAft>
                <a:spcPts val="600"/>
              </a:spcAft>
            </a:pPr>
            <a:r>
              <a:rPr lang="en-US" sz="1300" b="1" i="0" dirty="0">
                <a:solidFill>
                  <a:srgbClr val="FFFFFF"/>
                </a:solidFill>
                <a:effectLst/>
                <a:latin typeface="Source Sans Pro" panose="020B0503030403020204" pitchFamily="34" charset="0"/>
              </a:rPr>
              <a:t>OLTP vs. OLAP (Summary)</a:t>
            </a:r>
          </a:p>
        </p:txBody>
      </p:sp>
      <p:sp>
        <p:nvSpPr>
          <p:cNvPr id="4" name="Slide Number Placeholder 3"/>
          <p:cNvSpPr>
            <a:spLocks noGrp="1"/>
          </p:cNvSpPr>
          <p:nvPr>
            <p:ph type="sldNum" sz="quarter" idx="12"/>
          </p:nvPr>
        </p:nvSpPr>
        <p:spPr>
          <a:xfrm>
            <a:off x="6603999" y="6356350"/>
            <a:ext cx="2057400" cy="365125"/>
          </a:xfrm>
        </p:spPr>
        <p:txBody>
          <a:bodyPr vert="horz" lIns="91440" tIns="45720" rIns="91440" bIns="45720" rtlCol="0" anchor="ctr">
            <a:normAutofit/>
          </a:bodyPr>
          <a:lstStyle/>
          <a:p>
            <a:pPr>
              <a:spcAft>
                <a:spcPts val="600"/>
              </a:spcAft>
            </a:pPr>
            <a:fld id="{CF35A7C8-22FE-475B-982D-092C8637B139}" type="slidenum">
              <a:rPr lang="en-US" altLang="en-US" sz="1200" smtClean="0"/>
              <a:t>53</a:t>
            </a:fld>
            <a:endParaRPr lang="en-US" altLang="en-US" sz="12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210" name="Rectangle 2"/>
          <p:cNvSpPr>
            <a:spLocks noGrp="1" noChangeArrowheads="1"/>
          </p:cNvSpPr>
          <p:nvPr>
            <p:ph type="ctrTitle"/>
          </p:nvPr>
        </p:nvSpPr>
        <p:spPr>
          <a:xfrm>
            <a:off x="1143000" y="620688"/>
            <a:ext cx="6858000" cy="2387600"/>
          </a:xfrm>
        </p:spPr>
        <p:txBody>
          <a:bodyPr>
            <a:normAutofit fontScale="90000"/>
          </a:bodyPr>
          <a:lstStyle/>
          <a:p>
            <a:pPr>
              <a:lnSpc>
                <a:spcPct val="200000"/>
              </a:lnSpc>
            </a:pPr>
            <a:r>
              <a:rPr lang="en-US" altLang="en-US" b="1" dirty="0">
                <a:latin typeface="Tahoma" panose="020B0604030504040204" pitchFamily="34" charset="0"/>
                <a:ea typeface="Tahoma" panose="020B0604030504040204" pitchFamily="34" charset="0"/>
                <a:cs typeface="Tahoma" panose="020B0604030504040204" pitchFamily="34" charset="0"/>
              </a:rPr>
              <a:t>Data Warehouse vs. Data Marts</a:t>
            </a:r>
          </a:p>
        </p:txBody>
      </p:sp>
      <p:sp>
        <p:nvSpPr>
          <p:cNvPr id="1118211" name="Rectangle 3"/>
          <p:cNvSpPr>
            <a:spLocks noGrp="1" noChangeArrowheads="1"/>
          </p:cNvSpPr>
          <p:nvPr>
            <p:ph type="subTitle" idx="1"/>
          </p:nvPr>
        </p:nvSpPr>
        <p:spPr/>
        <p:txBody>
          <a:bodyPr>
            <a:normAutofit/>
          </a:bodyPr>
          <a:lstStyle/>
          <a:p>
            <a:r>
              <a:rPr lang="en-US" altLang="en-US" sz="3200" b="1" dirty="0"/>
              <a:t>What comes first?</a:t>
            </a:r>
          </a:p>
        </p:txBody>
      </p:sp>
    </p:spTree>
  </p:cSld>
  <p:clrMapOvr>
    <a:masterClrMapping/>
  </p:clrMapOvr>
  <p:transition>
    <p:strips dir="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4" name="Rectangle 2"/>
          <p:cNvSpPr>
            <a:spLocks noGrp="1" noChangeArrowheads="1"/>
          </p:cNvSpPr>
          <p:nvPr>
            <p:ph type="title"/>
          </p:nvPr>
        </p:nvSpPr>
        <p:spPr/>
        <p:txBody>
          <a:bodyPr>
            <a:normAutofit/>
          </a:bodyPr>
          <a:lstStyle/>
          <a:p>
            <a:r>
              <a:rPr lang="en-US" altLang="en-US" sz="2800" b="1" dirty="0">
                <a:latin typeface="Tahoma" panose="020B0604030504040204" pitchFamily="34" charset="0"/>
                <a:ea typeface="Tahoma" panose="020B0604030504040204" pitchFamily="34" charset="0"/>
                <a:cs typeface="Tahoma" panose="020B0604030504040204" pitchFamily="34" charset="0"/>
              </a:rPr>
              <a:t>From the Data Warehouse to Data Marts</a:t>
            </a:r>
          </a:p>
        </p:txBody>
      </p:sp>
      <p:sp>
        <p:nvSpPr>
          <p:cNvPr id="32" name="Slide Number Placeholder 3"/>
          <p:cNvSpPr>
            <a:spLocks noGrp="1"/>
          </p:cNvSpPr>
          <p:nvPr>
            <p:ph type="sldNum" sz="quarter" idx="12"/>
          </p:nvPr>
        </p:nvSpPr>
        <p:spPr/>
        <p:txBody>
          <a:bodyPr/>
          <a:lstStyle/>
          <a:p>
            <a:fld id="{135EB724-68F7-4A1A-B55F-E515FC6EB9FF}" type="slidenum">
              <a:rPr lang="en-US" altLang="en-US"/>
              <a:t>55</a:t>
            </a:fld>
            <a:endParaRPr lang="en-US" altLang="en-US"/>
          </a:p>
        </p:txBody>
      </p:sp>
      <p:grpSp>
        <p:nvGrpSpPr>
          <p:cNvPr id="1119235" name="Group 3"/>
          <p:cNvGrpSpPr/>
          <p:nvPr/>
        </p:nvGrpSpPr>
        <p:grpSpPr bwMode="auto">
          <a:xfrm>
            <a:off x="914400" y="3429000"/>
            <a:ext cx="5029200" cy="1524000"/>
            <a:chOff x="576" y="2160"/>
            <a:chExt cx="3168" cy="960"/>
          </a:xfrm>
        </p:grpSpPr>
        <p:sp>
          <p:nvSpPr>
            <p:cNvPr id="1119236" name="AutoShape 4"/>
            <p:cNvSpPr>
              <a:spLocks noChangeArrowheads="1"/>
            </p:cNvSpPr>
            <p:nvPr/>
          </p:nvSpPr>
          <p:spPr bwMode="auto">
            <a:xfrm>
              <a:off x="1632" y="2160"/>
              <a:ext cx="624" cy="480"/>
            </a:xfrm>
            <a:prstGeom prst="can">
              <a:avLst>
                <a:gd name="adj" fmla="val 25000"/>
              </a:avLst>
            </a:prstGeom>
            <a:gradFill rotWithShape="0">
              <a:gsLst>
                <a:gs pos="0">
                  <a:schemeClr val="tx2">
                    <a:gamma/>
                    <a:shade val="46275"/>
                    <a:invGamma/>
                  </a:schemeClr>
                </a:gs>
                <a:gs pos="100000">
                  <a:schemeClr val="tx2"/>
                </a:gs>
              </a:gsLst>
              <a:lin ang="5400000" scaled="1"/>
            </a:gra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37" name="AutoShape 5"/>
            <p:cNvSpPr>
              <a:spLocks noChangeArrowheads="1"/>
            </p:cNvSpPr>
            <p:nvPr/>
          </p:nvSpPr>
          <p:spPr bwMode="auto">
            <a:xfrm>
              <a:off x="3120" y="2160"/>
              <a:ext cx="624" cy="480"/>
            </a:xfrm>
            <a:prstGeom prst="can">
              <a:avLst>
                <a:gd name="adj" fmla="val 25000"/>
              </a:avLst>
            </a:prstGeom>
            <a:gradFill rotWithShape="0">
              <a:gsLst>
                <a:gs pos="0">
                  <a:schemeClr val="tx2">
                    <a:gamma/>
                    <a:shade val="46275"/>
                    <a:invGamma/>
                  </a:schemeClr>
                </a:gs>
                <a:gs pos="100000">
                  <a:schemeClr val="tx2"/>
                </a:gs>
              </a:gsLst>
              <a:lin ang="5400000" scaled="1"/>
            </a:gra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38" name="Line 6"/>
            <p:cNvSpPr>
              <a:spLocks noChangeShapeType="1"/>
            </p:cNvSpPr>
            <p:nvPr/>
          </p:nvSpPr>
          <p:spPr bwMode="auto">
            <a:xfrm flipH="1" flipV="1">
              <a:off x="2064" y="2640"/>
              <a:ext cx="288" cy="480"/>
            </a:xfrm>
            <a:prstGeom prst="line">
              <a:avLst/>
            </a:prstGeom>
            <a:noFill/>
            <a:ln w="762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39" name="Line 7"/>
            <p:cNvSpPr>
              <a:spLocks noChangeShapeType="1"/>
            </p:cNvSpPr>
            <p:nvPr/>
          </p:nvSpPr>
          <p:spPr bwMode="auto">
            <a:xfrm flipV="1">
              <a:off x="3024" y="2640"/>
              <a:ext cx="384" cy="480"/>
            </a:xfrm>
            <a:prstGeom prst="line">
              <a:avLst/>
            </a:prstGeom>
            <a:noFill/>
            <a:ln w="762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40" name="Text Box 8"/>
            <p:cNvSpPr txBox="1">
              <a:spLocks noChangeArrowheads="1"/>
            </p:cNvSpPr>
            <p:nvPr/>
          </p:nvSpPr>
          <p:spPr bwMode="auto">
            <a:xfrm>
              <a:off x="576" y="2252"/>
              <a:ext cx="1085"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Departmentally</a:t>
              </a:r>
              <a:br>
                <a:rPr lang="en-US" altLang="en-US" sz="1800">
                  <a:solidFill>
                    <a:schemeClr val="tx1"/>
                  </a:solidFill>
                  <a:latin typeface="Tahoma" panose="020B0604030504040204" pitchFamily="34" charset="0"/>
                </a:rPr>
              </a:br>
              <a:r>
                <a:rPr lang="en-US" altLang="en-US" sz="1800">
                  <a:solidFill>
                    <a:schemeClr val="tx1"/>
                  </a:solidFill>
                  <a:latin typeface="Tahoma" panose="020B0604030504040204" pitchFamily="34" charset="0"/>
                </a:rPr>
                <a:t>Structured</a:t>
              </a:r>
              <a:endParaRPr lang="en-US" altLang="en-US">
                <a:solidFill>
                  <a:schemeClr val="tx1"/>
                </a:solidFill>
                <a:latin typeface="Tahoma" panose="020B0604030504040204" pitchFamily="34" charset="0"/>
              </a:endParaRPr>
            </a:p>
          </p:txBody>
        </p:sp>
      </p:grpSp>
      <p:grpSp>
        <p:nvGrpSpPr>
          <p:cNvPr id="1119241" name="Group 9"/>
          <p:cNvGrpSpPr/>
          <p:nvPr/>
        </p:nvGrpSpPr>
        <p:grpSpPr bwMode="auto">
          <a:xfrm>
            <a:off x="685800" y="2508250"/>
            <a:ext cx="6096000" cy="996950"/>
            <a:chOff x="432" y="1580"/>
            <a:chExt cx="3840" cy="628"/>
          </a:xfrm>
        </p:grpSpPr>
        <p:sp>
          <p:nvSpPr>
            <p:cNvPr id="1119242" name="AutoShape 10"/>
            <p:cNvSpPr>
              <a:spLocks noChangeArrowheads="1"/>
            </p:cNvSpPr>
            <p:nvPr/>
          </p:nvSpPr>
          <p:spPr bwMode="auto">
            <a:xfrm>
              <a:off x="1248" y="1584"/>
              <a:ext cx="384" cy="288"/>
            </a:xfrm>
            <a:prstGeom prst="can">
              <a:avLst>
                <a:gd name="adj" fmla="val 25000"/>
              </a:avLst>
            </a:prstGeom>
            <a:gradFill rotWithShape="0">
              <a:gsLst>
                <a:gs pos="0">
                  <a:schemeClr val="folHlink">
                    <a:gamma/>
                    <a:shade val="46275"/>
                    <a:invGamma/>
                  </a:schemeClr>
                </a:gs>
                <a:gs pos="100000">
                  <a:schemeClr val="folHlink"/>
                </a:gs>
              </a:gsLst>
              <a:lin ang="5400000" scaled="1"/>
            </a:gradFill>
            <a:ln w="12700">
              <a:solidFill>
                <a:schemeClr val="bg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43" name="AutoShape 11"/>
            <p:cNvSpPr>
              <a:spLocks noChangeArrowheads="1"/>
            </p:cNvSpPr>
            <p:nvPr/>
          </p:nvSpPr>
          <p:spPr bwMode="auto">
            <a:xfrm>
              <a:off x="2112" y="1584"/>
              <a:ext cx="384" cy="288"/>
            </a:xfrm>
            <a:prstGeom prst="can">
              <a:avLst>
                <a:gd name="adj" fmla="val 25000"/>
              </a:avLst>
            </a:prstGeom>
            <a:gradFill rotWithShape="0">
              <a:gsLst>
                <a:gs pos="0">
                  <a:schemeClr val="folHlink">
                    <a:gamma/>
                    <a:shade val="46275"/>
                    <a:invGamma/>
                  </a:schemeClr>
                </a:gs>
                <a:gs pos="100000">
                  <a:schemeClr val="folHlink"/>
                </a:gs>
              </a:gsLst>
              <a:lin ang="5400000" scaled="1"/>
            </a:gradFill>
            <a:ln w="12700">
              <a:solidFill>
                <a:schemeClr val="bg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44" name="AutoShape 12"/>
            <p:cNvSpPr>
              <a:spLocks noChangeArrowheads="1"/>
            </p:cNvSpPr>
            <p:nvPr/>
          </p:nvSpPr>
          <p:spPr bwMode="auto">
            <a:xfrm>
              <a:off x="2880" y="1584"/>
              <a:ext cx="384" cy="288"/>
            </a:xfrm>
            <a:prstGeom prst="can">
              <a:avLst>
                <a:gd name="adj" fmla="val 25000"/>
              </a:avLst>
            </a:prstGeom>
            <a:gradFill rotWithShape="0">
              <a:gsLst>
                <a:gs pos="0">
                  <a:schemeClr val="folHlink">
                    <a:gamma/>
                    <a:shade val="46275"/>
                    <a:invGamma/>
                  </a:schemeClr>
                </a:gs>
                <a:gs pos="100000">
                  <a:schemeClr val="folHlink"/>
                </a:gs>
              </a:gsLst>
              <a:lin ang="5400000" scaled="1"/>
            </a:gradFill>
            <a:ln w="12700">
              <a:solidFill>
                <a:schemeClr val="bg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45" name="AutoShape 13"/>
            <p:cNvSpPr>
              <a:spLocks noChangeArrowheads="1"/>
            </p:cNvSpPr>
            <p:nvPr/>
          </p:nvSpPr>
          <p:spPr bwMode="auto">
            <a:xfrm>
              <a:off x="3888" y="1584"/>
              <a:ext cx="384" cy="288"/>
            </a:xfrm>
            <a:prstGeom prst="can">
              <a:avLst>
                <a:gd name="adj" fmla="val 25000"/>
              </a:avLst>
            </a:prstGeom>
            <a:gradFill rotWithShape="0">
              <a:gsLst>
                <a:gs pos="0">
                  <a:schemeClr val="folHlink">
                    <a:gamma/>
                    <a:shade val="46275"/>
                    <a:invGamma/>
                  </a:schemeClr>
                </a:gs>
                <a:gs pos="100000">
                  <a:schemeClr val="folHlink"/>
                </a:gs>
              </a:gsLst>
              <a:lin ang="5400000" scaled="1"/>
            </a:gradFill>
            <a:ln w="12700">
              <a:solidFill>
                <a:schemeClr val="bg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46" name="Line 14"/>
            <p:cNvSpPr>
              <a:spLocks noChangeShapeType="1"/>
            </p:cNvSpPr>
            <p:nvPr/>
          </p:nvSpPr>
          <p:spPr bwMode="auto">
            <a:xfrm flipV="1">
              <a:off x="2064" y="1872"/>
              <a:ext cx="288" cy="336"/>
            </a:xfrm>
            <a:prstGeom prst="line">
              <a:avLst/>
            </a:prstGeom>
            <a:noFill/>
            <a:ln w="762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47" name="Line 15"/>
            <p:cNvSpPr>
              <a:spLocks noChangeShapeType="1"/>
            </p:cNvSpPr>
            <p:nvPr/>
          </p:nvSpPr>
          <p:spPr bwMode="auto">
            <a:xfrm flipV="1">
              <a:off x="3648" y="1872"/>
              <a:ext cx="336" cy="336"/>
            </a:xfrm>
            <a:prstGeom prst="line">
              <a:avLst/>
            </a:prstGeom>
            <a:noFill/>
            <a:ln w="762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48" name="Line 16"/>
            <p:cNvSpPr>
              <a:spLocks noChangeShapeType="1"/>
            </p:cNvSpPr>
            <p:nvPr/>
          </p:nvSpPr>
          <p:spPr bwMode="auto">
            <a:xfrm flipH="1" flipV="1">
              <a:off x="1488" y="1872"/>
              <a:ext cx="288" cy="336"/>
            </a:xfrm>
            <a:prstGeom prst="line">
              <a:avLst/>
            </a:prstGeom>
            <a:noFill/>
            <a:ln w="762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49" name="Line 17"/>
            <p:cNvSpPr>
              <a:spLocks noChangeShapeType="1"/>
            </p:cNvSpPr>
            <p:nvPr/>
          </p:nvSpPr>
          <p:spPr bwMode="auto">
            <a:xfrm flipH="1" flipV="1">
              <a:off x="3024" y="1872"/>
              <a:ext cx="288" cy="336"/>
            </a:xfrm>
            <a:prstGeom prst="line">
              <a:avLst/>
            </a:prstGeom>
            <a:noFill/>
            <a:ln w="762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50" name="Text Box 18"/>
            <p:cNvSpPr txBox="1">
              <a:spLocks noChangeArrowheads="1"/>
            </p:cNvSpPr>
            <p:nvPr/>
          </p:nvSpPr>
          <p:spPr bwMode="auto">
            <a:xfrm>
              <a:off x="432" y="1580"/>
              <a:ext cx="84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Individually</a:t>
              </a:r>
              <a:br>
                <a:rPr lang="en-US" altLang="en-US" sz="1800">
                  <a:solidFill>
                    <a:schemeClr val="tx1"/>
                  </a:solidFill>
                  <a:latin typeface="Tahoma" panose="020B0604030504040204" pitchFamily="34" charset="0"/>
                </a:rPr>
              </a:br>
              <a:r>
                <a:rPr lang="en-US" altLang="en-US" sz="1800">
                  <a:solidFill>
                    <a:schemeClr val="tx1"/>
                  </a:solidFill>
                  <a:latin typeface="Tahoma" panose="020B0604030504040204" pitchFamily="34" charset="0"/>
                </a:rPr>
                <a:t>Structured</a:t>
              </a:r>
              <a:endParaRPr lang="en-US" altLang="en-US">
                <a:solidFill>
                  <a:schemeClr val="tx1"/>
                </a:solidFill>
                <a:latin typeface="Tahoma" panose="020B0604030504040204" pitchFamily="34" charset="0"/>
              </a:endParaRPr>
            </a:p>
          </p:txBody>
        </p:sp>
      </p:grpSp>
      <p:grpSp>
        <p:nvGrpSpPr>
          <p:cNvPr id="1119251" name="Group 19"/>
          <p:cNvGrpSpPr/>
          <p:nvPr/>
        </p:nvGrpSpPr>
        <p:grpSpPr bwMode="auto">
          <a:xfrm>
            <a:off x="1219200" y="4724400"/>
            <a:ext cx="4114800" cy="1447800"/>
            <a:chOff x="768" y="2976"/>
            <a:chExt cx="2592" cy="912"/>
          </a:xfrm>
        </p:grpSpPr>
        <p:sp>
          <p:nvSpPr>
            <p:cNvPr id="1119252" name="AutoShape 20"/>
            <p:cNvSpPr>
              <a:spLocks noChangeArrowheads="1"/>
            </p:cNvSpPr>
            <p:nvPr/>
          </p:nvSpPr>
          <p:spPr bwMode="auto">
            <a:xfrm>
              <a:off x="2016" y="2976"/>
              <a:ext cx="1344" cy="912"/>
            </a:xfrm>
            <a:prstGeom prst="can">
              <a:avLst>
                <a:gd name="adj" fmla="val 25000"/>
              </a:avLst>
            </a:prstGeom>
            <a:gradFill rotWithShape="0">
              <a:gsLst>
                <a:gs pos="0">
                  <a:schemeClr val="accent1">
                    <a:gamma/>
                    <a:shade val="46275"/>
                    <a:invGamma/>
                  </a:schemeClr>
                </a:gs>
                <a:gs pos="100000">
                  <a:schemeClr val="accent1"/>
                </a:gs>
              </a:gsLst>
              <a:lin ang="5400000" scaled="1"/>
            </a:gra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a:solidFill>
                    <a:schemeClr val="tx1"/>
                  </a:solidFill>
                  <a:latin typeface="Tahoma" panose="020B0604030504040204" pitchFamily="34" charset="0"/>
                </a:rPr>
                <a:t>Data Warehouse</a:t>
              </a:r>
              <a:endParaRPr lang="en-US" altLang="en-US">
                <a:solidFill>
                  <a:schemeClr val="tx1"/>
                </a:solidFill>
                <a:latin typeface="Tahoma" panose="020B0604030504040204" pitchFamily="34" charset="0"/>
              </a:endParaRPr>
            </a:p>
          </p:txBody>
        </p:sp>
        <p:sp>
          <p:nvSpPr>
            <p:cNvPr id="1119253" name="Text Box 21"/>
            <p:cNvSpPr txBox="1">
              <a:spLocks noChangeArrowheads="1"/>
            </p:cNvSpPr>
            <p:nvPr/>
          </p:nvSpPr>
          <p:spPr bwMode="auto">
            <a:xfrm>
              <a:off x="768" y="3260"/>
              <a:ext cx="113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Organizationally</a:t>
              </a:r>
              <a:br>
                <a:rPr lang="en-US" altLang="en-US" sz="1800">
                  <a:solidFill>
                    <a:schemeClr val="tx1"/>
                  </a:solidFill>
                  <a:latin typeface="Tahoma" panose="020B0604030504040204" pitchFamily="34" charset="0"/>
                </a:rPr>
              </a:br>
              <a:r>
                <a:rPr lang="en-US" altLang="en-US" sz="1800">
                  <a:solidFill>
                    <a:schemeClr val="tx1"/>
                  </a:solidFill>
                  <a:latin typeface="Tahoma" panose="020B0604030504040204" pitchFamily="34" charset="0"/>
                </a:rPr>
                <a:t>Structured</a:t>
              </a:r>
              <a:endParaRPr lang="en-US" altLang="en-US">
                <a:solidFill>
                  <a:schemeClr val="tx1"/>
                </a:solidFill>
                <a:latin typeface="Tahoma" panose="020B0604030504040204" pitchFamily="34" charset="0"/>
              </a:endParaRPr>
            </a:p>
          </p:txBody>
        </p:sp>
      </p:grpSp>
      <p:grpSp>
        <p:nvGrpSpPr>
          <p:cNvPr id="1119254" name="Group 22"/>
          <p:cNvGrpSpPr/>
          <p:nvPr/>
        </p:nvGrpSpPr>
        <p:grpSpPr bwMode="auto">
          <a:xfrm>
            <a:off x="6934200" y="2506663"/>
            <a:ext cx="1681163" cy="3132137"/>
            <a:chOff x="4368" y="1579"/>
            <a:chExt cx="1059" cy="1973"/>
          </a:xfrm>
        </p:grpSpPr>
        <p:sp>
          <p:nvSpPr>
            <p:cNvPr id="1119255" name="Text Box 23"/>
            <p:cNvSpPr txBox="1">
              <a:spLocks noChangeArrowheads="1"/>
            </p:cNvSpPr>
            <p:nvPr/>
          </p:nvSpPr>
          <p:spPr bwMode="auto">
            <a:xfrm>
              <a:off x="4512" y="1579"/>
              <a:ext cx="4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tx1"/>
                  </a:solidFill>
                  <a:latin typeface="Tahoma" panose="020B0604030504040204" pitchFamily="34" charset="0"/>
                </a:rPr>
                <a:t>Less</a:t>
              </a:r>
            </a:p>
          </p:txBody>
        </p:sp>
        <p:sp>
          <p:nvSpPr>
            <p:cNvPr id="1119256" name="Text Box 24"/>
            <p:cNvSpPr txBox="1">
              <a:spLocks noChangeArrowheads="1"/>
            </p:cNvSpPr>
            <p:nvPr/>
          </p:nvSpPr>
          <p:spPr bwMode="auto">
            <a:xfrm>
              <a:off x="4560" y="3264"/>
              <a:ext cx="5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tx1"/>
                  </a:solidFill>
                  <a:latin typeface="Tahoma" panose="020B0604030504040204" pitchFamily="34" charset="0"/>
                </a:rPr>
                <a:t>More</a:t>
              </a:r>
            </a:p>
          </p:txBody>
        </p:sp>
        <p:sp>
          <p:nvSpPr>
            <p:cNvPr id="1119257" name="AutoShape 25"/>
            <p:cNvSpPr>
              <a:spLocks noChangeArrowheads="1"/>
            </p:cNvSpPr>
            <p:nvPr/>
          </p:nvSpPr>
          <p:spPr bwMode="auto">
            <a:xfrm>
              <a:off x="4608" y="2981"/>
              <a:ext cx="432" cy="240"/>
            </a:xfrm>
            <a:prstGeom prst="downArrow">
              <a:avLst>
                <a:gd name="adj1" fmla="val 50000"/>
                <a:gd name="adj2" fmla="val 25000"/>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58" name="AutoShape 26"/>
            <p:cNvSpPr>
              <a:spLocks noChangeArrowheads="1"/>
            </p:cNvSpPr>
            <p:nvPr/>
          </p:nvSpPr>
          <p:spPr bwMode="auto">
            <a:xfrm>
              <a:off x="4560" y="1872"/>
              <a:ext cx="432" cy="240"/>
            </a:xfrm>
            <a:prstGeom prst="downArrow">
              <a:avLst>
                <a:gd name="adj1" fmla="val 50000"/>
                <a:gd name="adj2" fmla="val 25000"/>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259" name="Text Box 27"/>
            <p:cNvSpPr txBox="1">
              <a:spLocks noChangeArrowheads="1"/>
            </p:cNvSpPr>
            <p:nvPr/>
          </p:nvSpPr>
          <p:spPr bwMode="auto">
            <a:xfrm>
              <a:off x="4368" y="2160"/>
              <a:ext cx="1059"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tx1"/>
                  </a:solidFill>
                  <a:latin typeface="Tahoma" panose="020B0604030504040204" pitchFamily="34" charset="0"/>
                </a:rPr>
                <a:t>History</a:t>
              </a:r>
            </a:p>
            <a:p>
              <a:pPr algn="l"/>
              <a:r>
                <a:rPr lang="en-US" altLang="en-US">
                  <a:solidFill>
                    <a:schemeClr val="tx1"/>
                  </a:solidFill>
                  <a:latin typeface="Tahoma" panose="020B0604030504040204" pitchFamily="34" charset="0"/>
                </a:rPr>
                <a:t>Normalized</a:t>
              </a:r>
            </a:p>
            <a:p>
              <a:pPr algn="l"/>
              <a:r>
                <a:rPr lang="en-US" altLang="en-US">
                  <a:solidFill>
                    <a:schemeClr val="tx1"/>
                  </a:solidFill>
                  <a:latin typeface="Tahoma" panose="020B0604030504040204" pitchFamily="34" charset="0"/>
                </a:rPr>
                <a:t>Detailed</a:t>
              </a:r>
            </a:p>
          </p:txBody>
        </p:sp>
      </p:grpSp>
      <p:grpSp>
        <p:nvGrpSpPr>
          <p:cNvPr id="1119260" name="Group 28"/>
          <p:cNvGrpSpPr/>
          <p:nvPr/>
        </p:nvGrpSpPr>
        <p:grpSpPr bwMode="auto">
          <a:xfrm>
            <a:off x="304800" y="1744663"/>
            <a:ext cx="1762125" cy="4724400"/>
            <a:chOff x="192" y="1099"/>
            <a:chExt cx="1110" cy="2976"/>
          </a:xfrm>
        </p:grpSpPr>
        <p:sp>
          <p:nvSpPr>
            <p:cNvPr id="1119261" name="Text Box 29"/>
            <p:cNvSpPr txBox="1">
              <a:spLocks noChangeArrowheads="1"/>
            </p:cNvSpPr>
            <p:nvPr/>
          </p:nvSpPr>
          <p:spPr bwMode="auto">
            <a:xfrm>
              <a:off x="192" y="3787"/>
              <a:ext cx="5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tx1"/>
                  </a:solidFill>
                  <a:latin typeface="Tahoma" panose="020B0604030504040204" pitchFamily="34" charset="0"/>
                </a:rPr>
                <a:t>Data</a:t>
              </a:r>
            </a:p>
          </p:txBody>
        </p:sp>
        <p:sp>
          <p:nvSpPr>
            <p:cNvPr id="1119262" name="Text Box 30"/>
            <p:cNvSpPr txBox="1">
              <a:spLocks noChangeArrowheads="1"/>
            </p:cNvSpPr>
            <p:nvPr/>
          </p:nvSpPr>
          <p:spPr bwMode="auto">
            <a:xfrm>
              <a:off x="192" y="1099"/>
              <a:ext cx="11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tx1"/>
                  </a:solidFill>
                  <a:latin typeface="Tahoma" panose="020B0604030504040204" pitchFamily="34" charset="0"/>
                </a:rPr>
                <a:t>Information</a:t>
              </a:r>
            </a:p>
          </p:txBody>
        </p:sp>
        <p:sp>
          <p:nvSpPr>
            <p:cNvPr id="1119263" name="AutoShape 31"/>
            <p:cNvSpPr>
              <a:spLocks noChangeArrowheads="1"/>
            </p:cNvSpPr>
            <p:nvPr/>
          </p:nvSpPr>
          <p:spPr bwMode="auto">
            <a:xfrm>
              <a:off x="192" y="1392"/>
              <a:ext cx="192" cy="2352"/>
            </a:xfrm>
            <a:prstGeom prst="upArrow">
              <a:avLst>
                <a:gd name="adj1" fmla="val 50000"/>
                <a:gd name="adj2" fmla="val 306250"/>
              </a:avLst>
            </a:prstGeom>
            <a:gradFill rotWithShape="0">
              <a:gsLst>
                <a:gs pos="0">
                  <a:schemeClr val="hlink"/>
                </a:gs>
                <a:gs pos="100000">
                  <a:schemeClr val="hlink">
                    <a:gamma/>
                    <a:shade val="46275"/>
                    <a:invGamma/>
                  </a:schemeClr>
                </a:gs>
              </a:gsLst>
              <a:lin ang="5400000" scaled="1"/>
            </a:gra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192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1192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1192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1192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119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258" name="Rectangle 2"/>
          <p:cNvSpPr>
            <a:spLocks noGrp="1" noChangeArrowheads="1"/>
          </p:cNvSpPr>
          <p:nvPr>
            <p:ph type="title"/>
          </p:nvPr>
        </p:nvSpPr>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Data Warehouse and Data Marts</a:t>
            </a:r>
          </a:p>
        </p:txBody>
      </p:sp>
      <p:sp>
        <p:nvSpPr>
          <p:cNvPr id="9" name="Slide Number Placeholder 3"/>
          <p:cNvSpPr>
            <a:spLocks noGrp="1"/>
          </p:cNvSpPr>
          <p:nvPr>
            <p:ph type="sldNum" sz="quarter" idx="12"/>
          </p:nvPr>
        </p:nvSpPr>
        <p:spPr/>
        <p:txBody>
          <a:bodyPr/>
          <a:lstStyle/>
          <a:p>
            <a:fld id="{C76D455F-6F81-4CE7-B5D7-323670567401}" type="slidenum">
              <a:rPr lang="en-US" altLang="en-US"/>
              <a:t>56</a:t>
            </a:fld>
            <a:endParaRPr lang="en-US" altLang="en-US"/>
          </a:p>
        </p:txBody>
      </p:sp>
      <p:grpSp>
        <p:nvGrpSpPr>
          <p:cNvPr id="1120259" name="Group 3"/>
          <p:cNvGrpSpPr/>
          <p:nvPr/>
        </p:nvGrpSpPr>
        <p:grpSpPr bwMode="auto">
          <a:xfrm>
            <a:off x="990600" y="1828800"/>
            <a:ext cx="2438400" cy="4038600"/>
            <a:chOff x="1680" y="1056"/>
            <a:chExt cx="1536" cy="3024"/>
          </a:xfrm>
        </p:grpSpPr>
        <p:sp>
          <p:nvSpPr>
            <p:cNvPr id="1120260" name="AutoShape 4"/>
            <p:cNvSpPr>
              <a:spLocks noChangeArrowheads="1"/>
            </p:cNvSpPr>
            <p:nvPr/>
          </p:nvSpPr>
          <p:spPr bwMode="auto">
            <a:xfrm>
              <a:off x="1680" y="3024"/>
              <a:ext cx="1536" cy="105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0261" name="AutoShape 5"/>
            <p:cNvSpPr>
              <a:spLocks noChangeArrowheads="1"/>
            </p:cNvSpPr>
            <p:nvPr/>
          </p:nvSpPr>
          <p:spPr bwMode="auto">
            <a:xfrm>
              <a:off x="2016" y="1056"/>
              <a:ext cx="864" cy="57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0262" name="Line 6"/>
            <p:cNvSpPr>
              <a:spLocks noChangeShapeType="1"/>
            </p:cNvSpPr>
            <p:nvPr/>
          </p:nvSpPr>
          <p:spPr bwMode="auto">
            <a:xfrm flipV="1">
              <a:off x="2448" y="1632"/>
              <a:ext cx="0" cy="1488"/>
            </a:xfrm>
            <a:prstGeom prst="line">
              <a:avLst/>
            </a:prstGeom>
            <a:noFill/>
            <a:ln w="762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20263" name="Text Box 7"/>
          <p:cNvSpPr txBox="1">
            <a:spLocks noChangeArrowheads="1"/>
          </p:cNvSpPr>
          <p:nvPr/>
        </p:nvSpPr>
        <p:spPr bwMode="auto">
          <a:xfrm>
            <a:off x="3505200" y="1600200"/>
            <a:ext cx="3694113"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dirty="0">
                <a:solidFill>
                  <a:schemeClr val="tx1"/>
                </a:solidFill>
                <a:latin typeface="Tahoma" panose="020B0604030504040204" pitchFamily="34" charset="0"/>
              </a:rPr>
              <a:t>OLAP</a:t>
            </a:r>
          </a:p>
          <a:p>
            <a:pPr algn="l"/>
            <a:r>
              <a:rPr lang="en-US" altLang="en-US" dirty="0">
                <a:solidFill>
                  <a:schemeClr val="tx1"/>
                </a:solidFill>
                <a:latin typeface="Tahoma" panose="020B0604030504040204" pitchFamily="34" charset="0"/>
              </a:rPr>
              <a:t>Data Mart</a:t>
            </a:r>
          </a:p>
          <a:p>
            <a:pPr algn="l"/>
            <a:r>
              <a:rPr lang="en-US" altLang="en-US" dirty="0">
                <a:solidFill>
                  <a:schemeClr val="tx1"/>
                </a:solidFill>
                <a:latin typeface="Tahoma" panose="020B0604030504040204" pitchFamily="34" charset="0"/>
              </a:rPr>
              <a:t>Lightly summarized</a:t>
            </a:r>
          </a:p>
          <a:p>
            <a:pPr algn="l"/>
            <a:r>
              <a:rPr lang="en-US" altLang="en-US" dirty="0">
                <a:solidFill>
                  <a:schemeClr val="tx1"/>
                </a:solidFill>
                <a:latin typeface="Tahoma" panose="020B0604030504040204" pitchFamily="34" charset="0"/>
              </a:rPr>
              <a:t>Departmentally structured</a:t>
            </a:r>
          </a:p>
        </p:txBody>
      </p:sp>
      <p:sp>
        <p:nvSpPr>
          <p:cNvPr id="1120264" name="Text Box 8"/>
          <p:cNvSpPr txBox="1">
            <a:spLocks noChangeArrowheads="1"/>
          </p:cNvSpPr>
          <p:nvPr/>
        </p:nvSpPr>
        <p:spPr bwMode="auto">
          <a:xfrm>
            <a:off x="3962400" y="4800600"/>
            <a:ext cx="43307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tx1"/>
                </a:solidFill>
                <a:latin typeface="Tahoma" panose="020B0604030504040204" pitchFamily="34" charset="0"/>
              </a:rPr>
              <a:t>Organizationally structured</a:t>
            </a:r>
          </a:p>
          <a:p>
            <a:pPr algn="l"/>
            <a:r>
              <a:rPr lang="en-US" altLang="en-US">
                <a:solidFill>
                  <a:schemeClr val="tx1"/>
                </a:solidFill>
                <a:latin typeface="Tahoma" panose="020B0604030504040204" pitchFamily="34" charset="0"/>
              </a:rPr>
              <a:t>Atomic</a:t>
            </a:r>
          </a:p>
          <a:p>
            <a:pPr algn="l"/>
            <a:r>
              <a:rPr lang="en-US" altLang="en-US">
                <a:solidFill>
                  <a:schemeClr val="tx1"/>
                </a:solidFill>
                <a:latin typeface="Tahoma" panose="020B0604030504040204" pitchFamily="34" charset="0"/>
              </a:rPr>
              <a:t>Detailed Data Warehouse Data</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282" name="Rectangle 2"/>
          <p:cNvSpPr>
            <a:spLocks noGrp="1" noChangeArrowheads="1"/>
          </p:cNvSpPr>
          <p:nvPr>
            <p:ph type="title"/>
          </p:nvPr>
        </p:nvSpPr>
        <p:spPr>
          <a:xfrm>
            <a:off x="406400" y="228600"/>
            <a:ext cx="8486080" cy="1066800"/>
          </a:xfrm>
        </p:spPr>
        <p:txBody>
          <a:bodyPr>
            <a:normAutofit/>
          </a:bodyPr>
          <a:lstStyle/>
          <a:p>
            <a:r>
              <a:rPr lang="en-US" altLang="en-US" sz="2400" b="1" dirty="0">
                <a:latin typeface="Tahoma" panose="020B0604030504040204" pitchFamily="34" charset="0"/>
                <a:ea typeface="Tahoma" panose="020B0604030504040204" pitchFamily="34" charset="0"/>
                <a:cs typeface="Tahoma" panose="020B0604030504040204" pitchFamily="34" charset="0"/>
              </a:rPr>
              <a:t>Characteristics of the Departmental Data Mart</a:t>
            </a:r>
          </a:p>
        </p:txBody>
      </p:sp>
      <p:sp>
        <p:nvSpPr>
          <p:cNvPr id="1121287" name="Rectangle 7"/>
          <p:cNvSpPr>
            <a:spLocks noGrp="1" noChangeArrowheads="1"/>
          </p:cNvSpPr>
          <p:nvPr>
            <p:ph type="body" sz="half" idx="2"/>
          </p:nvPr>
        </p:nvSpPr>
        <p:spPr>
          <a:xfrm>
            <a:off x="3733800" y="1676400"/>
            <a:ext cx="4902200" cy="4419600"/>
          </a:xfrm>
        </p:spPr>
        <p:txBody>
          <a:bodyPr/>
          <a:lstStyle/>
          <a:p>
            <a:pPr algn="just">
              <a:lnSpc>
                <a:spcPct val="150000"/>
              </a:lnSpc>
            </a:pPr>
            <a:r>
              <a:rPr lang="en-US" altLang="en-US" sz="2800" dirty="0"/>
              <a:t>OLAP</a:t>
            </a:r>
          </a:p>
          <a:p>
            <a:pPr algn="just">
              <a:lnSpc>
                <a:spcPct val="150000"/>
              </a:lnSpc>
            </a:pPr>
            <a:r>
              <a:rPr lang="en-US" altLang="en-US" sz="2800" dirty="0"/>
              <a:t>Small</a:t>
            </a:r>
          </a:p>
          <a:p>
            <a:pPr algn="just">
              <a:lnSpc>
                <a:spcPct val="150000"/>
              </a:lnSpc>
            </a:pPr>
            <a:r>
              <a:rPr lang="en-US" altLang="en-US" sz="2800" dirty="0"/>
              <a:t>Flexible</a:t>
            </a:r>
          </a:p>
          <a:p>
            <a:pPr algn="just">
              <a:lnSpc>
                <a:spcPct val="150000"/>
              </a:lnSpc>
            </a:pPr>
            <a:r>
              <a:rPr lang="en-US" altLang="en-US" sz="2800" dirty="0"/>
              <a:t>Customized by Department</a:t>
            </a:r>
          </a:p>
          <a:p>
            <a:pPr algn="just">
              <a:lnSpc>
                <a:spcPct val="150000"/>
              </a:lnSpc>
            </a:pPr>
            <a:r>
              <a:rPr lang="en-US" altLang="en-US" sz="2800" dirty="0"/>
              <a:t>Source is departmentally structured data warehouse</a:t>
            </a:r>
          </a:p>
        </p:txBody>
      </p:sp>
      <p:sp>
        <p:nvSpPr>
          <p:cNvPr id="8" name="Slide Number Placeholder 5"/>
          <p:cNvSpPr>
            <a:spLocks noGrp="1"/>
          </p:cNvSpPr>
          <p:nvPr>
            <p:ph type="sldNum" sz="quarter" idx="11"/>
          </p:nvPr>
        </p:nvSpPr>
        <p:spPr/>
        <p:txBody>
          <a:bodyPr/>
          <a:lstStyle/>
          <a:p>
            <a:fld id="{C57E8FC9-F957-4538-9BAC-701878780589}" type="slidenum">
              <a:rPr lang="en-US" altLang="en-US"/>
              <a:t>57</a:t>
            </a:fld>
            <a:endParaRPr lang="en-US" altLang="en-US"/>
          </a:p>
        </p:txBody>
      </p:sp>
      <p:grpSp>
        <p:nvGrpSpPr>
          <p:cNvPr id="1121283" name="Group 3"/>
          <p:cNvGrpSpPr/>
          <p:nvPr/>
        </p:nvGrpSpPr>
        <p:grpSpPr bwMode="auto">
          <a:xfrm>
            <a:off x="533400" y="1676400"/>
            <a:ext cx="2438400" cy="4267200"/>
            <a:chOff x="336" y="1008"/>
            <a:chExt cx="1536" cy="3024"/>
          </a:xfrm>
        </p:grpSpPr>
        <p:sp>
          <p:nvSpPr>
            <p:cNvPr id="1121284" name="AutoShape 4"/>
            <p:cNvSpPr>
              <a:spLocks noChangeArrowheads="1"/>
            </p:cNvSpPr>
            <p:nvPr/>
          </p:nvSpPr>
          <p:spPr bwMode="auto">
            <a:xfrm>
              <a:off x="336" y="2976"/>
              <a:ext cx="1536" cy="105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1285" name="AutoShape 5"/>
            <p:cNvSpPr>
              <a:spLocks noChangeArrowheads="1"/>
            </p:cNvSpPr>
            <p:nvPr/>
          </p:nvSpPr>
          <p:spPr bwMode="auto">
            <a:xfrm>
              <a:off x="672" y="1008"/>
              <a:ext cx="864" cy="57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1286" name="Line 6"/>
            <p:cNvSpPr>
              <a:spLocks noChangeShapeType="1"/>
            </p:cNvSpPr>
            <p:nvPr/>
          </p:nvSpPr>
          <p:spPr bwMode="auto">
            <a:xfrm flipV="1">
              <a:off x="1104" y="1584"/>
              <a:ext cx="0" cy="1488"/>
            </a:xfrm>
            <a:prstGeom prst="line">
              <a:avLst/>
            </a:prstGeom>
            <a:noFill/>
            <a:ln w="762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2306" name="Rectangle 2"/>
          <p:cNvSpPr>
            <a:spLocks noGrp="1" noChangeArrowheads="1"/>
          </p:cNvSpPr>
          <p:nvPr>
            <p:ph type="title"/>
          </p:nvPr>
        </p:nvSpPr>
        <p:spPr>
          <a:xfrm>
            <a:off x="406400" y="228600"/>
            <a:ext cx="7772400" cy="914400"/>
          </a:xfrm>
        </p:spPr>
        <p:txBody>
          <a:bodyPr>
            <a:normAutofit/>
          </a:bodyPr>
          <a:lstStyle/>
          <a:p>
            <a:r>
              <a:rPr lang="en-US" altLang="en-US" sz="2400" b="1" dirty="0">
                <a:latin typeface="Tahoma" panose="020B0604030504040204" pitchFamily="34" charset="0"/>
                <a:ea typeface="Tahoma" panose="020B0604030504040204" pitchFamily="34" charset="0"/>
                <a:cs typeface="Tahoma" panose="020B0604030504040204" pitchFamily="34" charset="0"/>
              </a:rPr>
              <a:t>Techniques for Creating Departmental Data Mart</a:t>
            </a:r>
          </a:p>
        </p:txBody>
      </p:sp>
      <p:sp>
        <p:nvSpPr>
          <p:cNvPr id="1122307" name="Rectangle 3"/>
          <p:cNvSpPr>
            <a:spLocks noGrp="1" noChangeArrowheads="1"/>
          </p:cNvSpPr>
          <p:nvPr>
            <p:ph type="body" sz="half" idx="2"/>
          </p:nvPr>
        </p:nvSpPr>
        <p:spPr>
          <a:xfrm>
            <a:off x="4622800" y="1676400"/>
            <a:ext cx="2108200" cy="2971800"/>
          </a:xfrm>
        </p:spPr>
        <p:txBody>
          <a:bodyPr>
            <a:normAutofit/>
          </a:bodyPr>
          <a:lstStyle/>
          <a:p>
            <a:pPr>
              <a:lnSpc>
                <a:spcPct val="120000"/>
              </a:lnSpc>
            </a:pPr>
            <a:r>
              <a:rPr lang="en-US" altLang="en-US" sz="2000" dirty="0"/>
              <a:t>OLAP</a:t>
            </a:r>
          </a:p>
          <a:p>
            <a:pPr>
              <a:lnSpc>
                <a:spcPct val="120000"/>
              </a:lnSpc>
            </a:pPr>
            <a:r>
              <a:rPr lang="en-US" altLang="en-US" sz="2000" dirty="0"/>
              <a:t>Subset</a:t>
            </a:r>
          </a:p>
          <a:p>
            <a:pPr>
              <a:lnSpc>
                <a:spcPct val="120000"/>
              </a:lnSpc>
            </a:pPr>
            <a:r>
              <a:rPr lang="en-US" altLang="en-US" sz="2000" dirty="0"/>
              <a:t>Summarized</a:t>
            </a:r>
          </a:p>
          <a:p>
            <a:pPr>
              <a:lnSpc>
                <a:spcPct val="120000"/>
              </a:lnSpc>
            </a:pPr>
            <a:r>
              <a:rPr lang="en-US" altLang="en-US" sz="2000" dirty="0"/>
              <a:t>Superset</a:t>
            </a:r>
          </a:p>
          <a:p>
            <a:pPr>
              <a:lnSpc>
                <a:spcPct val="120000"/>
              </a:lnSpc>
            </a:pPr>
            <a:r>
              <a:rPr lang="en-US" altLang="en-US" sz="2000" dirty="0"/>
              <a:t>Indexed</a:t>
            </a:r>
          </a:p>
          <a:p>
            <a:pPr>
              <a:lnSpc>
                <a:spcPct val="120000"/>
              </a:lnSpc>
            </a:pPr>
            <a:r>
              <a:rPr lang="en-US" altLang="en-US" sz="2000" dirty="0"/>
              <a:t>Arrayed</a:t>
            </a:r>
          </a:p>
        </p:txBody>
      </p:sp>
      <p:sp>
        <p:nvSpPr>
          <p:cNvPr id="11" name="Slide Number Placeholder 5"/>
          <p:cNvSpPr>
            <a:spLocks noGrp="1"/>
          </p:cNvSpPr>
          <p:nvPr>
            <p:ph type="sldNum" sz="quarter" idx="11"/>
          </p:nvPr>
        </p:nvSpPr>
        <p:spPr/>
        <p:txBody>
          <a:bodyPr/>
          <a:lstStyle/>
          <a:p>
            <a:fld id="{FE7F4B8F-B9A4-4F58-A2C1-43EB0E2ACD73}" type="slidenum">
              <a:rPr lang="en-US" altLang="en-US"/>
              <a:t>58</a:t>
            </a:fld>
            <a:endParaRPr lang="en-US" altLang="en-US"/>
          </a:p>
        </p:txBody>
      </p:sp>
      <p:sp>
        <p:nvSpPr>
          <p:cNvPr id="1122308" name="AutoShape 4"/>
          <p:cNvSpPr>
            <a:spLocks noChangeArrowheads="1"/>
          </p:cNvSpPr>
          <p:nvPr/>
        </p:nvSpPr>
        <p:spPr bwMode="auto">
          <a:xfrm>
            <a:off x="1219200" y="4518025"/>
            <a:ext cx="2438400" cy="1196975"/>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2309" name="Line 5"/>
          <p:cNvSpPr>
            <a:spLocks noChangeShapeType="1"/>
          </p:cNvSpPr>
          <p:nvPr/>
        </p:nvSpPr>
        <p:spPr bwMode="auto">
          <a:xfrm flipV="1">
            <a:off x="2438400" y="2895600"/>
            <a:ext cx="0" cy="1687513"/>
          </a:xfrm>
          <a:prstGeom prst="line">
            <a:avLst/>
          </a:prstGeom>
          <a:noFill/>
          <a:ln w="762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2310" name="AutoShape 6"/>
          <p:cNvSpPr>
            <a:spLocks noChangeArrowheads="1"/>
          </p:cNvSpPr>
          <p:nvPr/>
        </p:nvSpPr>
        <p:spPr bwMode="auto">
          <a:xfrm>
            <a:off x="838200" y="2209800"/>
            <a:ext cx="838200" cy="652463"/>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dirty="0">
                <a:solidFill>
                  <a:schemeClr val="tx1"/>
                </a:solidFill>
                <a:latin typeface="Tahoma" panose="020B0604030504040204" pitchFamily="34" charset="0"/>
              </a:rPr>
              <a:t>Sales</a:t>
            </a:r>
            <a:endParaRPr lang="en-US" altLang="en-US" dirty="0">
              <a:solidFill>
                <a:schemeClr val="tx1"/>
              </a:solidFill>
              <a:latin typeface="Tahoma" panose="020B0604030504040204" pitchFamily="34" charset="0"/>
            </a:endParaRPr>
          </a:p>
        </p:txBody>
      </p:sp>
      <p:sp>
        <p:nvSpPr>
          <p:cNvPr id="1122311" name="AutoShape 7"/>
          <p:cNvSpPr>
            <a:spLocks noChangeArrowheads="1"/>
          </p:cNvSpPr>
          <p:nvPr/>
        </p:nvSpPr>
        <p:spPr bwMode="auto">
          <a:xfrm>
            <a:off x="3200400" y="2209800"/>
            <a:ext cx="838200" cy="652463"/>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2000" dirty="0">
                <a:solidFill>
                  <a:schemeClr val="tx1"/>
                </a:solidFill>
                <a:latin typeface="Tahoma" panose="020B0604030504040204" pitchFamily="34" charset="0"/>
              </a:rPr>
              <a:t>Mktg.</a:t>
            </a:r>
            <a:endParaRPr lang="en-US" altLang="en-US" dirty="0">
              <a:solidFill>
                <a:schemeClr val="tx1"/>
              </a:solidFill>
              <a:latin typeface="Tahoma" panose="020B0604030504040204" pitchFamily="34" charset="0"/>
            </a:endParaRPr>
          </a:p>
        </p:txBody>
      </p:sp>
      <p:sp>
        <p:nvSpPr>
          <p:cNvPr id="1122312" name="AutoShape 8"/>
          <p:cNvSpPr>
            <a:spLocks noChangeArrowheads="1"/>
          </p:cNvSpPr>
          <p:nvPr/>
        </p:nvSpPr>
        <p:spPr bwMode="auto">
          <a:xfrm>
            <a:off x="1981200" y="2209800"/>
            <a:ext cx="838200" cy="652463"/>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dirty="0">
                <a:solidFill>
                  <a:schemeClr val="tx1"/>
                </a:solidFill>
                <a:latin typeface="Tahoma" panose="020B0604030504040204" pitchFamily="34" charset="0"/>
              </a:rPr>
              <a:t>Finance</a:t>
            </a:r>
          </a:p>
        </p:txBody>
      </p:sp>
      <p:sp>
        <p:nvSpPr>
          <p:cNvPr id="1122313" name="Line 9"/>
          <p:cNvSpPr>
            <a:spLocks noChangeShapeType="1"/>
          </p:cNvSpPr>
          <p:nvPr/>
        </p:nvSpPr>
        <p:spPr bwMode="auto">
          <a:xfrm flipH="1" flipV="1">
            <a:off x="1219200" y="2895600"/>
            <a:ext cx="457200" cy="1763713"/>
          </a:xfrm>
          <a:prstGeom prst="line">
            <a:avLst/>
          </a:prstGeom>
          <a:noFill/>
          <a:ln w="762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2314" name="Line 10"/>
          <p:cNvSpPr>
            <a:spLocks noChangeShapeType="1"/>
          </p:cNvSpPr>
          <p:nvPr/>
        </p:nvSpPr>
        <p:spPr bwMode="auto">
          <a:xfrm flipV="1">
            <a:off x="3048000" y="2895600"/>
            <a:ext cx="685800" cy="1752600"/>
          </a:xfrm>
          <a:prstGeom prst="line">
            <a:avLst/>
          </a:prstGeom>
          <a:noFill/>
          <a:ln w="762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330" name="Rectangle 2"/>
          <p:cNvSpPr>
            <a:spLocks noGrp="1" noChangeArrowheads="1"/>
          </p:cNvSpPr>
          <p:nvPr>
            <p:ph type="title"/>
          </p:nvPr>
        </p:nvSpPr>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Data Mart Centric</a:t>
            </a:r>
          </a:p>
        </p:txBody>
      </p:sp>
      <p:sp>
        <p:nvSpPr>
          <p:cNvPr id="21" name="Slide Number Placeholder 3"/>
          <p:cNvSpPr>
            <a:spLocks noGrp="1"/>
          </p:cNvSpPr>
          <p:nvPr>
            <p:ph type="sldNum" sz="quarter" idx="12"/>
          </p:nvPr>
        </p:nvSpPr>
        <p:spPr/>
        <p:txBody>
          <a:bodyPr/>
          <a:lstStyle/>
          <a:p>
            <a:fld id="{D5B02B33-A011-43D0-A9BB-DC0B4D5A249C}" type="slidenum">
              <a:rPr lang="en-US" altLang="en-US"/>
              <a:t>59</a:t>
            </a:fld>
            <a:endParaRPr lang="en-US" altLang="en-US"/>
          </a:p>
        </p:txBody>
      </p:sp>
      <p:sp>
        <p:nvSpPr>
          <p:cNvPr id="1123331" name="AutoShape 3"/>
          <p:cNvSpPr>
            <a:spLocks noChangeArrowheads="1"/>
          </p:cNvSpPr>
          <p:nvPr/>
        </p:nvSpPr>
        <p:spPr bwMode="auto">
          <a:xfrm>
            <a:off x="990600" y="1905000"/>
            <a:ext cx="609600" cy="533400"/>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32" name="AutoShape 4"/>
          <p:cNvSpPr>
            <a:spLocks noChangeArrowheads="1"/>
          </p:cNvSpPr>
          <p:nvPr/>
        </p:nvSpPr>
        <p:spPr bwMode="auto">
          <a:xfrm>
            <a:off x="5181600" y="1905000"/>
            <a:ext cx="609600" cy="533400"/>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33" name="AutoShape 5"/>
          <p:cNvSpPr>
            <a:spLocks noChangeArrowheads="1"/>
          </p:cNvSpPr>
          <p:nvPr/>
        </p:nvSpPr>
        <p:spPr bwMode="auto">
          <a:xfrm>
            <a:off x="3810000" y="1905000"/>
            <a:ext cx="609600" cy="533400"/>
          </a:xfrm>
          <a:prstGeom prst="can">
            <a:avLst>
              <a:gd name="adj" fmla="val 25000"/>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34" name="AutoShape 6"/>
          <p:cNvSpPr>
            <a:spLocks noChangeArrowheads="1"/>
          </p:cNvSpPr>
          <p:nvPr/>
        </p:nvSpPr>
        <p:spPr bwMode="auto">
          <a:xfrm>
            <a:off x="2895600" y="1905000"/>
            <a:ext cx="609600" cy="533400"/>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35" name="AutoShape 7"/>
          <p:cNvSpPr>
            <a:spLocks noChangeArrowheads="1"/>
          </p:cNvSpPr>
          <p:nvPr/>
        </p:nvSpPr>
        <p:spPr bwMode="auto">
          <a:xfrm>
            <a:off x="1981200" y="1905000"/>
            <a:ext cx="609600" cy="533400"/>
          </a:xfrm>
          <a:prstGeom prst="can">
            <a:avLst>
              <a:gd name="adj" fmla="val 25000"/>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36" name="AutoShape 8"/>
          <p:cNvSpPr>
            <a:spLocks noChangeArrowheads="1"/>
          </p:cNvSpPr>
          <p:nvPr/>
        </p:nvSpPr>
        <p:spPr bwMode="auto">
          <a:xfrm>
            <a:off x="1676400" y="2971800"/>
            <a:ext cx="1143000" cy="990600"/>
          </a:xfrm>
          <a:prstGeom prst="can">
            <a:avLst>
              <a:gd name="adj" fmla="val 25000"/>
            </a:avLst>
          </a:prstGeom>
          <a:solidFill>
            <a:srgbClr val="FF99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37" name="AutoShape 9"/>
          <p:cNvSpPr>
            <a:spLocks noChangeArrowheads="1"/>
          </p:cNvSpPr>
          <p:nvPr/>
        </p:nvSpPr>
        <p:spPr bwMode="auto">
          <a:xfrm>
            <a:off x="4114800" y="3048000"/>
            <a:ext cx="1143000" cy="990600"/>
          </a:xfrm>
          <a:prstGeom prst="can">
            <a:avLst>
              <a:gd name="adj" fmla="val 25000"/>
            </a:avLst>
          </a:prstGeom>
          <a:solidFill>
            <a:srgbClr val="FF99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38" name="AutoShape 10"/>
          <p:cNvSpPr>
            <a:spLocks noChangeArrowheads="1"/>
          </p:cNvSpPr>
          <p:nvPr/>
        </p:nvSpPr>
        <p:spPr bwMode="auto">
          <a:xfrm>
            <a:off x="2362200" y="4724400"/>
            <a:ext cx="2286000" cy="990600"/>
          </a:xfrm>
          <a:prstGeom prst="can">
            <a:avLst>
              <a:gd name="adj" fmla="val 25000"/>
            </a:avLst>
          </a:prstGeom>
          <a:solidFill>
            <a:schemeClr val="hlink"/>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39" name="Text Box 11"/>
          <p:cNvSpPr txBox="1">
            <a:spLocks noChangeArrowheads="1"/>
          </p:cNvSpPr>
          <p:nvPr/>
        </p:nvSpPr>
        <p:spPr bwMode="auto">
          <a:xfrm>
            <a:off x="5927725" y="3233738"/>
            <a:ext cx="165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tx1"/>
                </a:solidFill>
                <a:latin typeface="Tahoma" panose="020B0604030504040204" pitchFamily="34" charset="0"/>
              </a:rPr>
              <a:t>Data Marts</a:t>
            </a:r>
            <a:endParaRPr lang="en-US" altLang="en-US">
              <a:solidFill>
                <a:schemeClr val="tx1"/>
              </a:solidFill>
            </a:endParaRPr>
          </a:p>
        </p:txBody>
      </p:sp>
      <p:sp>
        <p:nvSpPr>
          <p:cNvPr id="1123340" name="Text Box 12"/>
          <p:cNvSpPr txBox="1">
            <a:spLocks noChangeArrowheads="1"/>
          </p:cNvSpPr>
          <p:nvPr/>
        </p:nvSpPr>
        <p:spPr bwMode="auto">
          <a:xfrm>
            <a:off x="5927725" y="1897063"/>
            <a:ext cx="1960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tx1"/>
                </a:solidFill>
                <a:latin typeface="Tahoma" panose="020B0604030504040204" pitchFamily="34" charset="0"/>
              </a:rPr>
              <a:t>Data Sources</a:t>
            </a:r>
            <a:endParaRPr lang="en-US" altLang="en-US">
              <a:solidFill>
                <a:schemeClr val="tx1"/>
              </a:solidFill>
            </a:endParaRPr>
          </a:p>
        </p:txBody>
      </p:sp>
      <p:sp>
        <p:nvSpPr>
          <p:cNvPr id="1123341" name="Text Box 13"/>
          <p:cNvSpPr txBox="1">
            <a:spLocks noChangeArrowheads="1"/>
          </p:cNvSpPr>
          <p:nvPr/>
        </p:nvSpPr>
        <p:spPr bwMode="auto">
          <a:xfrm>
            <a:off x="5867400" y="4953000"/>
            <a:ext cx="2414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solidFill>
                  <a:schemeClr val="tx1"/>
                </a:solidFill>
                <a:latin typeface="Tahoma" panose="020B0604030504040204" pitchFamily="34" charset="0"/>
              </a:rPr>
              <a:t>Data Warehouse</a:t>
            </a:r>
          </a:p>
        </p:txBody>
      </p:sp>
      <p:sp>
        <p:nvSpPr>
          <p:cNvPr id="1123342" name="Line 14"/>
          <p:cNvSpPr>
            <a:spLocks noChangeShapeType="1"/>
          </p:cNvSpPr>
          <p:nvPr/>
        </p:nvSpPr>
        <p:spPr bwMode="auto">
          <a:xfrm>
            <a:off x="1371600" y="2362200"/>
            <a:ext cx="609600" cy="60960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43" name="Line 15"/>
          <p:cNvSpPr>
            <a:spLocks noChangeShapeType="1"/>
          </p:cNvSpPr>
          <p:nvPr/>
        </p:nvSpPr>
        <p:spPr bwMode="auto">
          <a:xfrm>
            <a:off x="2286000" y="2438400"/>
            <a:ext cx="0" cy="53340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44" name="Line 16"/>
          <p:cNvSpPr>
            <a:spLocks noChangeShapeType="1"/>
          </p:cNvSpPr>
          <p:nvPr/>
        </p:nvSpPr>
        <p:spPr bwMode="auto">
          <a:xfrm flipH="1">
            <a:off x="2590800" y="2438400"/>
            <a:ext cx="685800" cy="53340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45" name="Line 17"/>
          <p:cNvSpPr>
            <a:spLocks noChangeShapeType="1"/>
          </p:cNvSpPr>
          <p:nvPr/>
        </p:nvSpPr>
        <p:spPr bwMode="auto">
          <a:xfrm flipH="1">
            <a:off x="4953000" y="2438400"/>
            <a:ext cx="609600" cy="60960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46" name="Line 18"/>
          <p:cNvSpPr>
            <a:spLocks noChangeShapeType="1"/>
          </p:cNvSpPr>
          <p:nvPr/>
        </p:nvSpPr>
        <p:spPr bwMode="auto">
          <a:xfrm>
            <a:off x="4191000" y="2438400"/>
            <a:ext cx="381000" cy="60960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47" name="Line 19"/>
          <p:cNvSpPr>
            <a:spLocks noChangeShapeType="1"/>
          </p:cNvSpPr>
          <p:nvPr/>
        </p:nvSpPr>
        <p:spPr bwMode="auto">
          <a:xfrm>
            <a:off x="2209800" y="3962400"/>
            <a:ext cx="990600" cy="83820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348" name="Line 20"/>
          <p:cNvSpPr>
            <a:spLocks noChangeShapeType="1"/>
          </p:cNvSpPr>
          <p:nvPr/>
        </p:nvSpPr>
        <p:spPr bwMode="auto">
          <a:xfrm flipH="1">
            <a:off x="3810000" y="4038600"/>
            <a:ext cx="914400" cy="76200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4354" name="Rectangle 2"/>
          <p:cNvSpPr>
            <a:spLocks noGrp="1" noChangeArrowheads="1"/>
          </p:cNvSpPr>
          <p:nvPr>
            <p:ph type="title"/>
          </p:nvPr>
        </p:nvSpPr>
        <p:spPr>
          <a:xfrm>
            <a:off x="628650" y="365127"/>
            <a:ext cx="8058150" cy="1073530"/>
          </a:xfrm>
        </p:spPr>
        <p:txBody>
          <a:bodyPr>
            <a:normAutofit/>
          </a:bodyPr>
          <a:lstStyle/>
          <a:p>
            <a:r>
              <a:rPr lang="en-US" altLang="en-US" sz="2800" b="1" dirty="0">
                <a:latin typeface="Tahoma" panose="020B0604030504040204" pitchFamily="34" charset="0"/>
                <a:ea typeface="Tahoma" panose="020B0604030504040204" pitchFamily="34" charset="0"/>
                <a:cs typeface="Tahoma" panose="020B0604030504040204" pitchFamily="34" charset="0"/>
              </a:rPr>
              <a:t>Problems with Data Mart Centric Solution</a:t>
            </a:r>
          </a:p>
        </p:txBody>
      </p:sp>
      <p:sp>
        <p:nvSpPr>
          <p:cNvPr id="52" name="Slide Number Placeholder 3"/>
          <p:cNvSpPr>
            <a:spLocks noGrp="1"/>
          </p:cNvSpPr>
          <p:nvPr>
            <p:ph type="sldNum" sz="quarter" idx="12"/>
          </p:nvPr>
        </p:nvSpPr>
        <p:spPr/>
        <p:txBody>
          <a:bodyPr/>
          <a:lstStyle/>
          <a:p>
            <a:fld id="{E7BB0BC6-9CA9-4254-A60A-C6B4A71FF485}" type="slidenum">
              <a:rPr lang="en-US" altLang="en-US"/>
              <a:t>60</a:t>
            </a:fld>
            <a:endParaRPr lang="en-US" altLang="en-US"/>
          </a:p>
        </p:txBody>
      </p:sp>
      <p:grpSp>
        <p:nvGrpSpPr>
          <p:cNvPr id="1124355" name="Group 3"/>
          <p:cNvGrpSpPr/>
          <p:nvPr/>
        </p:nvGrpSpPr>
        <p:grpSpPr bwMode="auto">
          <a:xfrm>
            <a:off x="990600" y="1905000"/>
            <a:ext cx="2819400" cy="2590800"/>
            <a:chOff x="624" y="1200"/>
            <a:chExt cx="3024" cy="2400"/>
          </a:xfrm>
        </p:grpSpPr>
        <p:sp>
          <p:nvSpPr>
            <p:cNvPr id="1124356" name="AutoShape 4"/>
            <p:cNvSpPr>
              <a:spLocks noChangeArrowheads="1"/>
            </p:cNvSpPr>
            <p:nvPr/>
          </p:nvSpPr>
          <p:spPr bwMode="auto">
            <a:xfrm>
              <a:off x="624" y="1200"/>
              <a:ext cx="384" cy="33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57" name="AutoShape 5"/>
            <p:cNvSpPr>
              <a:spLocks noChangeArrowheads="1"/>
            </p:cNvSpPr>
            <p:nvPr/>
          </p:nvSpPr>
          <p:spPr bwMode="auto">
            <a:xfrm>
              <a:off x="3264" y="1200"/>
              <a:ext cx="384" cy="33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58" name="AutoShape 6"/>
            <p:cNvSpPr>
              <a:spLocks noChangeArrowheads="1"/>
            </p:cNvSpPr>
            <p:nvPr/>
          </p:nvSpPr>
          <p:spPr bwMode="auto">
            <a:xfrm>
              <a:off x="2400" y="1200"/>
              <a:ext cx="384" cy="336"/>
            </a:xfrm>
            <a:prstGeom prst="can">
              <a:avLst>
                <a:gd name="adj" fmla="val 25000"/>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59" name="AutoShape 7"/>
            <p:cNvSpPr>
              <a:spLocks noChangeArrowheads="1"/>
            </p:cNvSpPr>
            <p:nvPr/>
          </p:nvSpPr>
          <p:spPr bwMode="auto">
            <a:xfrm>
              <a:off x="1824" y="1200"/>
              <a:ext cx="384" cy="33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60" name="AutoShape 8"/>
            <p:cNvSpPr>
              <a:spLocks noChangeArrowheads="1"/>
            </p:cNvSpPr>
            <p:nvPr/>
          </p:nvSpPr>
          <p:spPr bwMode="auto">
            <a:xfrm>
              <a:off x="1248" y="1200"/>
              <a:ext cx="384" cy="336"/>
            </a:xfrm>
            <a:prstGeom prst="can">
              <a:avLst>
                <a:gd name="adj" fmla="val 25000"/>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61" name="AutoShape 9"/>
            <p:cNvSpPr>
              <a:spLocks noChangeArrowheads="1"/>
            </p:cNvSpPr>
            <p:nvPr/>
          </p:nvSpPr>
          <p:spPr bwMode="auto">
            <a:xfrm>
              <a:off x="1056" y="1872"/>
              <a:ext cx="720" cy="624"/>
            </a:xfrm>
            <a:prstGeom prst="can">
              <a:avLst>
                <a:gd name="adj" fmla="val 25000"/>
              </a:avLst>
            </a:prstGeom>
            <a:solidFill>
              <a:srgbClr val="FF99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62" name="AutoShape 10"/>
            <p:cNvSpPr>
              <a:spLocks noChangeArrowheads="1"/>
            </p:cNvSpPr>
            <p:nvPr/>
          </p:nvSpPr>
          <p:spPr bwMode="auto">
            <a:xfrm>
              <a:off x="2592" y="1920"/>
              <a:ext cx="720" cy="624"/>
            </a:xfrm>
            <a:prstGeom prst="can">
              <a:avLst>
                <a:gd name="adj" fmla="val 25000"/>
              </a:avLst>
            </a:prstGeom>
            <a:solidFill>
              <a:srgbClr val="FF99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63" name="AutoShape 11"/>
            <p:cNvSpPr>
              <a:spLocks noChangeArrowheads="1"/>
            </p:cNvSpPr>
            <p:nvPr/>
          </p:nvSpPr>
          <p:spPr bwMode="auto">
            <a:xfrm>
              <a:off x="1488" y="2976"/>
              <a:ext cx="1440" cy="624"/>
            </a:xfrm>
            <a:prstGeom prst="can">
              <a:avLst>
                <a:gd name="adj" fmla="val 25000"/>
              </a:avLst>
            </a:prstGeom>
            <a:solidFill>
              <a:schemeClr val="hlink"/>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64" name="Line 12"/>
            <p:cNvSpPr>
              <a:spLocks noChangeShapeType="1"/>
            </p:cNvSpPr>
            <p:nvPr/>
          </p:nvSpPr>
          <p:spPr bwMode="auto">
            <a:xfrm>
              <a:off x="864" y="1488"/>
              <a:ext cx="384"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65" name="Line 13"/>
            <p:cNvSpPr>
              <a:spLocks noChangeShapeType="1"/>
            </p:cNvSpPr>
            <p:nvPr/>
          </p:nvSpPr>
          <p:spPr bwMode="auto">
            <a:xfrm>
              <a:off x="1440" y="1536"/>
              <a:ext cx="0" cy="336"/>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66" name="Line 14"/>
            <p:cNvSpPr>
              <a:spLocks noChangeShapeType="1"/>
            </p:cNvSpPr>
            <p:nvPr/>
          </p:nvSpPr>
          <p:spPr bwMode="auto">
            <a:xfrm flipH="1">
              <a:off x="1632" y="1536"/>
              <a:ext cx="432" cy="336"/>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67" name="Line 15"/>
            <p:cNvSpPr>
              <a:spLocks noChangeShapeType="1"/>
            </p:cNvSpPr>
            <p:nvPr/>
          </p:nvSpPr>
          <p:spPr bwMode="auto">
            <a:xfrm flipH="1">
              <a:off x="3120" y="1536"/>
              <a:ext cx="384"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68" name="Line 16"/>
            <p:cNvSpPr>
              <a:spLocks noChangeShapeType="1"/>
            </p:cNvSpPr>
            <p:nvPr/>
          </p:nvSpPr>
          <p:spPr bwMode="auto">
            <a:xfrm>
              <a:off x="2640" y="1536"/>
              <a:ext cx="240"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69" name="Line 17"/>
            <p:cNvSpPr>
              <a:spLocks noChangeShapeType="1"/>
            </p:cNvSpPr>
            <p:nvPr/>
          </p:nvSpPr>
          <p:spPr bwMode="auto">
            <a:xfrm>
              <a:off x="1392" y="2496"/>
              <a:ext cx="624" cy="528"/>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70" name="Line 18"/>
            <p:cNvSpPr>
              <a:spLocks noChangeShapeType="1"/>
            </p:cNvSpPr>
            <p:nvPr/>
          </p:nvSpPr>
          <p:spPr bwMode="auto">
            <a:xfrm flipH="1">
              <a:off x="2400" y="2544"/>
              <a:ext cx="576" cy="48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124371" name="Group 19"/>
          <p:cNvGrpSpPr/>
          <p:nvPr/>
        </p:nvGrpSpPr>
        <p:grpSpPr bwMode="auto">
          <a:xfrm>
            <a:off x="3429000" y="1905000"/>
            <a:ext cx="2819400" cy="2590800"/>
            <a:chOff x="624" y="1200"/>
            <a:chExt cx="3024" cy="2400"/>
          </a:xfrm>
        </p:grpSpPr>
        <p:sp>
          <p:nvSpPr>
            <p:cNvPr id="1124372" name="AutoShape 20"/>
            <p:cNvSpPr>
              <a:spLocks noChangeArrowheads="1"/>
            </p:cNvSpPr>
            <p:nvPr/>
          </p:nvSpPr>
          <p:spPr bwMode="auto">
            <a:xfrm>
              <a:off x="624" y="1200"/>
              <a:ext cx="384" cy="33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73" name="AutoShape 21"/>
            <p:cNvSpPr>
              <a:spLocks noChangeArrowheads="1"/>
            </p:cNvSpPr>
            <p:nvPr/>
          </p:nvSpPr>
          <p:spPr bwMode="auto">
            <a:xfrm>
              <a:off x="3264" y="1200"/>
              <a:ext cx="384" cy="33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74" name="AutoShape 22"/>
            <p:cNvSpPr>
              <a:spLocks noChangeArrowheads="1"/>
            </p:cNvSpPr>
            <p:nvPr/>
          </p:nvSpPr>
          <p:spPr bwMode="auto">
            <a:xfrm>
              <a:off x="2400" y="1200"/>
              <a:ext cx="384" cy="336"/>
            </a:xfrm>
            <a:prstGeom prst="can">
              <a:avLst>
                <a:gd name="adj" fmla="val 25000"/>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75" name="AutoShape 23"/>
            <p:cNvSpPr>
              <a:spLocks noChangeArrowheads="1"/>
            </p:cNvSpPr>
            <p:nvPr/>
          </p:nvSpPr>
          <p:spPr bwMode="auto">
            <a:xfrm>
              <a:off x="1824" y="1200"/>
              <a:ext cx="384" cy="33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76" name="AutoShape 24"/>
            <p:cNvSpPr>
              <a:spLocks noChangeArrowheads="1"/>
            </p:cNvSpPr>
            <p:nvPr/>
          </p:nvSpPr>
          <p:spPr bwMode="auto">
            <a:xfrm>
              <a:off x="1248" y="1200"/>
              <a:ext cx="384" cy="336"/>
            </a:xfrm>
            <a:prstGeom prst="can">
              <a:avLst>
                <a:gd name="adj" fmla="val 25000"/>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77" name="AutoShape 25"/>
            <p:cNvSpPr>
              <a:spLocks noChangeArrowheads="1"/>
            </p:cNvSpPr>
            <p:nvPr/>
          </p:nvSpPr>
          <p:spPr bwMode="auto">
            <a:xfrm>
              <a:off x="1056" y="1872"/>
              <a:ext cx="720" cy="624"/>
            </a:xfrm>
            <a:prstGeom prst="can">
              <a:avLst>
                <a:gd name="adj" fmla="val 25000"/>
              </a:avLst>
            </a:prstGeom>
            <a:solidFill>
              <a:srgbClr val="FF99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78" name="AutoShape 26"/>
            <p:cNvSpPr>
              <a:spLocks noChangeArrowheads="1"/>
            </p:cNvSpPr>
            <p:nvPr/>
          </p:nvSpPr>
          <p:spPr bwMode="auto">
            <a:xfrm>
              <a:off x="2592" y="1920"/>
              <a:ext cx="720" cy="624"/>
            </a:xfrm>
            <a:prstGeom prst="can">
              <a:avLst>
                <a:gd name="adj" fmla="val 25000"/>
              </a:avLst>
            </a:prstGeom>
            <a:solidFill>
              <a:srgbClr val="FF99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79" name="AutoShape 27"/>
            <p:cNvSpPr>
              <a:spLocks noChangeArrowheads="1"/>
            </p:cNvSpPr>
            <p:nvPr/>
          </p:nvSpPr>
          <p:spPr bwMode="auto">
            <a:xfrm>
              <a:off x="1488" y="2976"/>
              <a:ext cx="1440" cy="624"/>
            </a:xfrm>
            <a:prstGeom prst="can">
              <a:avLst>
                <a:gd name="adj" fmla="val 25000"/>
              </a:avLst>
            </a:prstGeom>
            <a:solidFill>
              <a:schemeClr val="hlink"/>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80" name="Line 28"/>
            <p:cNvSpPr>
              <a:spLocks noChangeShapeType="1"/>
            </p:cNvSpPr>
            <p:nvPr/>
          </p:nvSpPr>
          <p:spPr bwMode="auto">
            <a:xfrm>
              <a:off x="864" y="1488"/>
              <a:ext cx="384"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81" name="Line 29"/>
            <p:cNvSpPr>
              <a:spLocks noChangeShapeType="1"/>
            </p:cNvSpPr>
            <p:nvPr/>
          </p:nvSpPr>
          <p:spPr bwMode="auto">
            <a:xfrm>
              <a:off x="1440" y="1536"/>
              <a:ext cx="0" cy="336"/>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82" name="Line 30"/>
            <p:cNvSpPr>
              <a:spLocks noChangeShapeType="1"/>
            </p:cNvSpPr>
            <p:nvPr/>
          </p:nvSpPr>
          <p:spPr bwMode="auto">
            <a:xfrm flipH="1">
              <a:off x="1632" y="1536"/>
              <a:ext cx="432" cy="336"/>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83" name="Line 31"/>
            <p:cNvSpPr>
              <a:spLocks noChangeShapeType="1"/>
            </p:cNvSpPr>
            <p:nvPr/>
          </p:nvSpPr>
          <p:spPr bwMode="auto">
            <a:xfrm flipH="1">
              <a:off x="3120" y="1536"/>
              <a:ext cx="384"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84" name="Line 32"/>
            <p:cNvSpPr>
              <a:spLocks noChangeShapeType="1"/>
            </p:cNvSpPr>
            <p:nvPr/>
          </p:nvSpPr>
          <p:spPr bwMode="auto">
            <a:xfrm>
              <a:off x="2640" y="1536"/>
              <a:ext cx="240"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85" name="Line 33"/>
            <p:cNvSpPr>
              <a:spLocks noChangeShapeType="1"/>
            </p:cNvSpPr>
            <p:nvPr/>
          </p:nvSpPr>
          <p:spPr bwMode="auto">
            <a:xfrm>
              <a:off x="1392" y="2496"/>
              <a:ext cx="624" cy="528"/>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86" name="Line 34"/>
            <p:cNvSpPr>
              <a:spLocks noChangeShapeType="1"/>
            </p:cNvSpPr>
            <p:nvPr/>
          </p:nvSpPr>
          <p:spPr bwMode="auto">
            <a:xfrm flipH="1">
              <a:off x="2400" y="2544"/>
              <a:ext cx="576" cy="48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124387" name="Group 35"/>
          <p:cNvGrpSpPr/>
          <p:nvPr/>
        </p:nvGrpSpPr>
        <p:grpSpPr bwMode="auto">
          <a:xfrm>
            <a:off x="5867400" y="1905000"/>
            <a:ext cx="2819400" cy="2590800"/>
            <a:chOff x="624" y="1200"/>
            <a:chExt cx="3024" cy="2400"/>
          </a:xfrm>
        </p:grpSpPr>
        <p:sp>
          <p:nvSpPr>
            <p:cNvPr id="1124388" name="AutoShape 36"/>
            <p:cNvSpPr>
              <a:spLocks noChangeArrowheads="1"/>
            </p:cNvSpPr>
            <p:nvPr/>
          </p:nvSpPr>
          <p:spPr bwMode="auto">
            <a:xfrm>
              <a:off x="624" y="1200"/>
              <a:ext cx="384" cy="33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89" name="AutoShape 37"/>
            <p:cNvSpPr>
              <a:spLocks noChangeArrowheads="1"/>
            </p:cNvSpPr>
            <p:nvPr/>
          </p:nvSpPr>
          <p:spPr bwMode="auto">
            <a:xfrm>
              <a:off x="3264" y="1200"/>
              <a:ext cx="384" cy="33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90" name="AutoShape 38"/>
            <p:cNvSpPr>
              <a:spLocks noChangeArrowheads="1"/>
            </p:cNvSpPr>
            <p:nvPr/>
          </p:nvSpPr>
          <p:spPr bwMode="auto">
            <a:xfrm>
              <a:off x="2400" y="1200"/>
              <a:ext cx="384" cy="336"/>
            </a:xfrm>
            <a:prstGeom prst="can">
              <a:avLst>
                <a:gd name="adj" fmla="val 25000"/>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91" name="AutoShape 39"/>
            <p:cNvSpPr>
              <a:spLocks noChangeArrowheads="1"/>
            </p:cNvSpPr>
            <p:nvPr/>
          </p:nvSpPr>
          <p:spPr bwMode="auto">
            <a:xfrm>
              <a:off x="1824" y="1200"/>
              <a:ext cx="384" cy="336"/>
            </a:xfrm>
            <a:prstGeom prst="can">
              <a:avLst>
                <a:gd name="adj" fmla="val 25000"/>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92" name="AutoShape 40"/>
            <p:cNvSpPr>
              <a:spLocks noChangeArrowheads="1"/>
            </p:cNvSpPr>
            <p:nvPr/>
          </p:nvSpPr>
          <p:spPr bwMode="auto">
            <a:xfrm>
              <a:off x="1248" y="1200"/>
              <a:ext cx="384" cy="336"/>
            </a:xfrm>
            <a:prstGeom prst="can">
              <a:avLst>
                <a:gd name="adj" fmla="val 25000"/>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93" name="AutoShape 41"/>
            <p:cNvSpPr>
              <a:spLocks noChangeArrowheads="1"/>
            </p:cNvSpPr>
            <p:nvPr/>
          </p:nvSpPr>
          <p:spPr bwMode="auto">
            <a:xfrm>
              <a:off x="1056" y="1872"/>
              <a:ext cx="720" cy="624"/>
            </a:xfrm>
            <a:prstGeom prst="can">
              <a:avLst>
                <a:gd name="adj" fmla="val 25000"/>
              </a:avLst>
            </a:prstGeom>
            <a:solidFill>
              <a:srgbClr val="FF99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94" name="AutoShape 42"/>
            <p:cNvSpPr>
              <a:spLocks noChangeArrowheads="1"/>
            </p:cNvSpPr>
            <p:nvPr/>
          </p:nvSpPr>
          <p:spPr bwMode="auto">
            <a:xfrm>
              <a:off x="2592" y="1920"/>
              <a:ext cx="720" cy="624"/>
            </a:xfrm>
            <a:prstGeom prst="can">
              <a:avLst>
                <a:gd name="adj" fmla="val 25000"/>
              </a:avLst>
            </a:prstGeom>
            <a:solidFill>
              <a:srgbClr val="FF99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95" name="AutoShape 43"/>
            <p:cNvSpPr>
              <a:spLocks noChangeArrowheads="1"/>
            </p:cNvSpPr>
            <p:nvPr/>
          </p:nvSpPr>
          <p:spPr bwMode="auto">
            <a:xfrm>
              <a:off x="1488" y="2976"/>
              <a:ext cx="1440" cy="624"/>
            </a:xfrm>
            <a:prstGeom prst="can">
              <a:avLst>
                <a:gd name="adj" fmla="val 25000"/>
              </a:avLst>
            </a:prstGeom>
            <a:solidFill>
              <a:schemeClr val="hlink"/>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96" name="Line 44"/>
            <p:cNvSpPr>
              <a:spLocks noChangeShapeType="1"/>
            </p:cNvSpPr>
            <p:nvPr/>
          </p:nvSpPr>
          <p:spPr bwMode="auto">
            <a:xfrm>
              <a:off x="864" y="1488"/>
              <a:ext cx="384"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97" name="Line 45"/>
            <p:cNvSpPr>
              <a:spLocks noChangeShapeType="1"/>
            </p:cNvSpPr>
            <p:nvPr/>
          </p:nvSpPr>
          <p:spPr bwMode="auto">
            <a:xfrm>
              <a:off x="1440" y="1536"/>
              <a:ext cx="0" cy="336"/>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98" name="Line 46"/>
            <p:cNvSpPr>
              <a:spLocks noChangeShapeType="1"/>
            </p:cNvSpPr>
            <p:nvPr/>
          </p:nvSpPr>
          <p:spPr bwMode="auto">
            <a:xfrm flipH="1">
              <a:off x="1632" y="1536"/>
              <a:ext cx="432" cy="336"/>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399" name="Line 47"/>
            <p:cNvSpPr>
              <a:spLocks noChangeShapeType="1"/>
            </p:cNvSpPr>
            <p:nvPr/>
          </p:nvSpPr>
          <p:spPr bwMode="auto">
            <a:xfrm flipH="1">
              <a:off x="3120" y="1536"/>
              <a:ext cx="384"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400" name="Line 48"/>
            <p:cNvSpPr>
              <a:spLocks noChangeShapeType="1"/>
            </p:cNvSpPr>
            <p:nvPr/>
          </p:nvSpPr>
          <p:spPr bwMode="auto">
            <a:xfrm>
              <a:off x="2640" y="1536"/>
              <a:ext cx="240" cy="384"/>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401" name="Line 49"/>
            <p:cNvSpPr>
              <a:spLocks noChangeShapeType="1"/>
            </p:cNvSpPr>
            <p:nvPr/>
          </p:nvSpPr>
          <p:spPr bwMode="auto">
            <a:xfrm>
              <a:off x="1392" y="2496"/>
              <a:ext cx="624" cy="528"/>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402" name="Line 50"/>
            <p:cNvSpPr>
              <a:spLocks noChangeShapeType="1"/>
            </p:cNvSpPr>
            <p:nvPr/>
          </p:nvSpPr>
          <p:spPr bwMode="auto">
            <a:xfrm flipH="1">
              <a:off x="2400" y="2544"/>
              <a:ext cx="576" cy="480"/>
            </a:xfrm>
            <a:prstGeom prst="line">
              <a:avLst/>
            </a:prstGeom>
            <a:noFill/>
            <a:ln w="571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24403" name="Text Box 51"/>
          <p:cNvSpPr txBox="1">
            <a:spLocks noChangeArrowheads="1"/>
          </p:cNvSpPr>
          <p:nvPr/>
        </p:nvSpPr>
        <p:spPr bwMode="auto">
          <a:xfrm>
            <a:off x="795246" y="5032947"/>
            <a:ext cx="7724958" cy="964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just">
              <a:lnSpc>
                <a:spcPct val="150000"/>
              </a:lnSpc>
              <a:buFont typeface="Wingdings" panose="05000000000000000000" pitchFamily="2" charset="2"/>
              <a:buChar char="Ø"/>
            </a:pPr>
            <a:r>
              <a:rPr lang="en-US" altLang="en-US" sz="2000" b="1" dirty="0">
                <a:solidFill>
                  <a:schemeClr val="tx1"/>
                </a:solidFill>
                <a:latin typeface="Tahoma" panose="020B0604030504040204" pitchFamily="34" charset="0"/>
              </a:rPr>
              <a:t>If you end up creating multiple warehouses, integrating them is a problem</a:t>
            </a:r>
            <a:endParaRPr lang="en-US" altLang="en-US" sz="2000" b="1" dirty="0">
              <a:solidFill>
                <a:schemeClr val="tx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7957" name="Rectangle 1029"/>
          <p:cNvSpPr>
            <a:spLocks noGrp="1" noChangeArrowheads="1"/>
          </p:cNvSpPr>
          <p:nvPr>
            <p:ph type="title"/>
          </p:nvPr>
        </p:nvSpPr>
        <p:spPr/>
        <p:txBody>
          <a:bodyPr/>
          <a:lstStyle/>
          <a:p>
            <a:r>
              <a:rPr lang="en-US" altLang="en-US" dirty="0"/>
              <a:t> </a:t>
            </a:r>
            <a:r>
              <a:rPr lang="en-US" altLang="en-US" b="1" dirty="0">
                <a:latin typeface="Tahoma" panose="020B0604030504040204" pitchFamily="34" charset="0"/>
                <a:ea typeface="Tahoma" panose="020B0604030504040204" pitchFamily="34" charset="0"/>
                <a:cs typeface="Tahoma" panose="020B0604030504040204" pitchFamily="34" charset="0"/>
              </a:rPr>
              <a:t>OLAP Is FASMI    </a:t>
            </a:r>
            <a:r>
              <a:rPr lang="en-US" altLang="en-US" b="1" dirty="0" err="1">
                <a:latin typeface="Tahoma" panose="020B0604030504040204" pitchFamily="34" charset="0"/>
                <a:ea typeface="Tahoma" panose="020B0604030504040204" pitchFamily="34" charset="0"/>
                <a:cs typeface="Tahoma" panose="020B0604030504040204" pitchFamily="34" charset="0"/>
              </a:rPr>
              <a:t>cont</a:t>
            </a:r>
            <a:r>
              <a:rPr lang="en-US" altLang="en-US" b="1" dirty="0">
                <a:latin typeface="Tahoma" panose="020B0604030504040204" pitchFamily="34" charset="0"/>
                <a:ea typeface="Tahoma" panose="020B0604030504040204" pitchFamily="34" charset="0"/>
                <a:cs typeface="Tahoma" panose="020B0604030504040204" pitchFamily="34" charset="0"/>
              </a:rPr>
              <a:t>’</a:t>
            </a:r>
          </a:p>
        </p:txBody>
      </p:sp>
      <p:sp>
        <p:nvSpPr>
          <p:cNvPr id="637958" name="Rectangle 1030"/>
          <p:cNvSpPr>
            <a:spLocks noGrp="1" noChangeArrowheads="1"/>
          </p:cNvSpPr>
          <p:nvPr>
            <p:ph idx="1"/>
          </p:nvPr>
        </p:nvSpPr>
        <p:spPr>
          <a:xfrm>
            <a:off x="683895" y="1484630"/>
            <a:ext cx="7929245" cy="4419600"/>
          </a:xfrm>
        </p:spPr>
        <p:txBody>
          <a:bodyPr>
            <a:normAutofit/>
          </a:bodyPr>
          <a:lstStyle/>
          <a:p>
            <a:pPr algn="just">
              <a:lnSpc>
                <a:spcPct val="150000"/>
              </a:lnSpc>
            </a:pPr>
            <a:r>
              <a:rPr lang="en-US" altLang="en-US" sz="2400" b="1" dirty="0">
                <a:solidFill>
                  <a:srgbClr val="FF0000"/>
                </a:solidFill>
              </a:rPr>
              <a:t>Fast</a:t>
            </a:r>
          </a:p>
          <a:p>
            <a:pPr algn="just">
              <a:lnSpc>
                <a:spcPct val="150000"/>
              </a:lnSpc>
            </a:pPr>
            <a:r>
              <a:rPr lang="en-US" altLang="en-US" sz="2400" b="1" dirty="0">
                <a:solidFill>
                  <a:srgbClr val="FF0000"/>
                </a:solidFill>
              </a:rPr>
              <a:t>Analysis</a:t>
            </a:r>
          </a:p>
          <a:p>
            <a:pPr algn="just">
              <a:lnSpc>
                <a:spcPct val="150000"/>
              </a:lnSpc>
            </a:pPr>
            <a:r>
              <a:rPr lang="en-US" altLang="en-US" sz="2400" b="1" dirty="0">
                <a:solidFill>
                  <a:srgbClr val="FF0000"/>
                </a:solidFill>
              </a:rPr>
              <a:t>Shared</a:t>
            </a:r>
          </a:p>
          <a:p>
            <a:pPr algn="just">
              <a:lnSpc>
                <a:spcPct val="150000"/>
              </a:lnSpc>
            </a:pPr>
            <a:r>
              <a:rPr lang="en-US" altLang="en-US" sz="2400" b="1" dirty="0">
                <a:solidFill>
                  <a:srgbClr val="FF0000"/>
                </a:solidFill>
              </a:rPr>
              <a:t>Multidimensional</a:t>
            </a:r>
          </a:p>
          <a:p>
            <a:pPr algn="just">
              <a:lnSpc>
                <a:spcPct val="150000"/>
              </a:lnSpc>
            </a:pPr>
            <a:r>
              <a:rPr lang="en-US" altLang="en-US" sz="2400" b="1" dirty="0">
                <a:solidFill>
                  <a:srgbClr val="FF0000"/>
                </a:solidFill>
              </a:rPr>
              <a:t>Information</a:t>
            </a:r>
          </a:p>
          <a:p>
            <a:pPr marL="0" indent="0" algn="just">
              <a:lnSpc>
                <a:spcPct val="150000"/>
              </a:lnSpc>
              <a:buNone/>
            </a:pPr>
            <a:r>
              <a:rPr lang="en-US" altLang="en-US" sz="2400" b="1" dirty="0">
                <a:solidFill>
                  <a:srgbClr val="FF0000"/>
                </a:solidFill>
              </a:rPr>
              <a:t>Fast Analysis of Shared Multidimentional Information is an alternative term of OLAP </a:t>
            </a:r>
          </a:p>
        </p:txBody>
      </p:sp>
      <p:sp>
        <p:nvSpPr>
          <p:cNvPr id="5" name="Slide Number Placeholder 4"/>
          <p:cNvSpPr>
            <a:spLocks noGrp="1"/>
          </p:cNvSpPr>
          <p:nvPr>
            <p:ph type="sldNum" sz="quarter" idx="12"/>
          </p:nvPr>
        </p:nvSpPr>
        <p:spPr/>
        <p:txBody>
          <a:bodyPr/>
          <a:lstStyle/>
          <a:p>
            <a:fld id="{9B63EBEA-456F-4744-90E6-2DA8A287E0D0}" type="slidenum">
              <a:rPr lang="en-US" altLang="en-US"/>
              <a:t>61</a:t>
            </a:fld>
            <a:endParaRPr lang="en-US" altLang="en-US"/>
          </a:p>
        </p:txBody>
      </p:sp>
      <p:sp>
        <p:nvSpPr>
          <p:cNvPr id="637954" name="Text Box 1026"/>
          <p:cNvSpPr txBox="1">
            <a:spLocks noChangeArrowheads="1"/>
          </p:cNvSpPr>
          <p:nvPr/>
        </p:nvSpPr>
        <p:spPr bwMode="auto">
          <a:xfrm>
            <a:off x="1538288" y="5867400"/>
            <a:ext cx="6081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000" b="1">
                <a:solidFill>
                  <a:schemeClr val="tx1"/>
                </a:solidFill>
                <a:effectLst>
                  <a:outerShdw blurRad="38100" dist="38100" dir="2700000" algn="tl">
                    <a:srgbClr val="000000"/>
                  </a:outerShdw>
                </a:effectLst>
                <a:latin typeface="Arial" panose="020B0604020202020204" pitchFamily="34" charset="0"/>
              </a:rPr>
              <a:t>Nigel Pendse, Richard Creath - The OLAP Report</a:t>
            </a:r>
            <a:endParaRPr lang="en-US" altLang="en-US" b="1">
              <a:solidFill>
                <a:schemeClr val="tx1"/>
              </a:solidFill>
              <a:effectLst>
                <a:outerShdw blurRad="38100" dist="38100" dir="2700000" algn="tl">
                  <a:srgbClr val="000000"/>
                </a:outerShdw>
              </a:effectLst>
              <a:latin typeface="Arial" panose="020B0604020202020204" pitchFamily="34" charset="0"/>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379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379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379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3795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3795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3795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58"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003" name="Rectangle 75"/>
          <p:cNvSpPr>
            <a:spLocks noGrp="1" noChangeArrowheads="1"/>
          </p:cNvSpPr>
          <p:nvPr>
            <p:ph type="title"/>
          </p:nvPr>
        </p:nvSpPr>
        <p:spPr>
          <a:xfrm>
            <a:off x="381000" y="228600"/>
            <a:ext cx="8172450" cy="1244600"/>
          </a:xfrm>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Multi-dimensional Data</a:t>
            </a:r>
          </a:p>
        </p:txBody>
      </p:sp>
      <p:sp>
        <p:nvSpPr>
          <p:cNvPr id="637004" name="Rectangle 76"/>
          <p:cNvSpPr>
            <a:spLocks noGrp="1" noChangeArrowheads="1"/>
          </p:cNvSpPr>
          <p:nvPr>
            <p:ph idx="1"/>
          </p:nvPr>
        </p:nvSpPr>
        <p:spPr>
          <a:xfrm>
            <a:off x="381000" y="1905000"/>
            <a:ext cx="8534400" cy="530225"/>
          </a:xfrm>
        </p:spPr>
        <p:txBody>
          <a:bodyPr/>
          <a:lstStyle/>
          <a:p>
            <a:r>
              <a:rPr lang="en-US" altLang="en-US"/>
              <a:t>“Hey…I sold $100M worth of goods”</a:t>
            </a:r>
          </a:p>
        </p:txBody>
      </p:sp>
      <p:sp>
        <p:nvSpPr>
          <p:cNvPr id="77" name="Slide Number Placeholder 4"/>
          <p:cNvSpPr>
            <a:spLocks noGrp="1"/>
          </p:cNvSpPr>
          <p:nvPr>
            <p:ph type="sldNum" sz="quarter" idx="12"/>
          </p:nvPr>
        </p:nvSpPr>
        <p:spPr/>
        <p:txBody>
          <a:bodyPr/>
          <a:lstStyle/>
          <a:p>
            <a:fld id="{C8FB7C5E-53A5-48C5-99D5-503FEA6880BB}" type="slidenum">
              <a:rPr lang="en-US" altLang="en-US"/>
              <a:t>62</a:t>
            </a:fld>
            <a:endParaRPr lang="en-US" altLang="en-US"/>
          </a:p>
        </p:txBody>
      </p:sp>
      <p:sp>
        <p:nvSpPr>
          <p:cNvPr id="636930" name="Rectangle 2"/>
          <p:cNvSpPr>
            <a:spLocks noChangeArrowheads="1"/>
          </p:cNvSpPr>
          <p:nvPr/>
        </p:nvSpPr>
        <p:spPr bwMode="auto">
          <a:xfrm>
            <a:off x="1066800" y="1905000"/>
            <a:ext cx="9144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565150" indent="-565150" algn="l">
              <a:defRPr sz="2400">
                <a:solidFill>
                  <a:schemeClr val="tx1"/>
                </a:solidFill>
                <a:latin typeface="Times New Roman" panose="02020603050405020304" pitchFamily="18" charset="0"/>
              </a:defRPr>
            </a:lvl1pPr>
            <a:lvl2pPr marL="970280" indent="-290830" algn="l">
              <a:defRPr sz="2400">
                <a:solidFill>
                  <a:schemeClr val="tx1"/>
                </a:solidFill>
                <a:latin typeface="Times New Roman" panose="02020603050405020304" pitchFamily="18" charset="0"/>
              </a:defRPr>
            </a:lvl2pPr>
            <a:lvl3pPr marL="1411605" indent="-327025" algn="l">
              <a:defRPr sz="2400">
                <a:solidFill>
                  <a:schemeClr val="tx1"/>
                </a:solidFill>
                <a:latin typeface="Times New Roman" panose="02020603050405020304" pitchFamily="18" charset="0"/>
              </a:defRPr>
            </a:lvl3pPr>
            <a:lvl4pPr marL="1870075" indent="-344805" algn="l">
              <a:defRPr sz="2400">
                <a:solidFill>
                  <a:schemeClr val="tx1"/>
                </a:solidFill>
                <a:latin typeface="Times New Roman" panose="02020603050405020304" pitchFamily="18" charset="0"/>
              </a:defRPr>
            </a:lvl4pPr>
            <a:lvl5pPr marL="2292350" indent="-307975" algn="l">
              <a:defRPr sz="2400">
                <a:solidFill>
                  <a:schemeClr val="tx1"/>
                </a:solidFill>
                <a:latin typeface="Times New Roman" panose="02020603050405020304" pitchFamily="18" charset="0"/>
              </a:defRPr>
            </a:lvl5pPr>
            <a:lvl6pPr marL="2749550" indent="-307975" eaLnBrk="0" fontAlgn="base" hangingPunct="0">
              <a:spcBef>
                <a:spcPct val="0"/>
              </a:spcBef>
              <a:spcAft>
                <a:spcPct val="0"/>
              </a:spcAft>
              <a:defRPr sz="2400">
                <a:solidFill>
                  <a:schemeClr val="tx1"/>
                </a:solidFill>
                <a:latin typeface="Times New Roman" panose="02020603050405020304" pitchFamily="18" charset="0"/>
              </a:defRPr>
            </a:lvl6pPr>
            <a:lvl7pPr marL="3206750" indent="-307975" eaLnBrk="0" fontAlgn="base" hangingPunct="0">
              <a:spcBef>
                <a:spcPct val="0"/>
              </a:spcBef>
              <a:spcAft>
                <a:spcPct val="0"/>
              </a:spcAft>
              <a:defRPr sz="2400">
                <a:solidFill>
                  <a:schemeClr val="tx1"/>
                </a:solidFill>
                <a:latin typeface="Times New Roman" panose="02020603050405020304" pitchFamily="18" charset="0"/>
              </a:defRPr>
            </a:lvl7pPr>
            <a:lvl8pPr marL="3663950" indent="-307975" eaLnBrk="0" fontAlgn="base" hangingPunct="0">
              <a:spcBef>
                <a:spcPct val="0"/>
              </a:spcBef>
              <a:spcAft>
                <a:spcPct val="0"/>
              </a:spcAft>
              <a:defRPr sz="2400">
                <a:solidFill>
                  <a:schemeClr val="tx1"/>
                </a:solidFill>
                <a:latin typeface="Times New Roman" panose="02020603050405020304" pitchFamily="18" charset="0"/>
              </a:defRPr>
            </a:lvl8pPr>
            <a:lvl9pPr marL="4121150" indent="-307975"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spcBef>
                <a:spcPct val="30000"/>
              </a:spcBef>
              <a:buClr>
                <a:schemeClr val="tx2"/>
              </a:buClr>
              <a:buSzPct val="75000"/>
              <a:buFont typeface="Wingdings" panose="05000000000000000000" pitchFamily="2" charset="2"/>
              <a:buChar char="u"/>
            </a:pPr>
            <a:endParaRPr lang="en-US" altLang="en-US" sz="3200" b="1">
              <a:effectLst>
                <a:outerShdw blurRad="38100" dist="38100" dir="2700000" algn="tl">
                  <a:srgbClr val="000000"/>
                </a:outerShdw>
              </a:effectLst>
              <a:latin typeface="Arial" panose="020B0604020202020204" pitchFamily="34" charset="0"/>
            </a:endParaRPr>
          </a:p>
        </p:txBody>
      </p:sp>
      <p:grpSp>
        <p:nvGrpSpPr>
          <p:cNvPr id="636931" name="Group 3"/>
          <p:cNvGrpSpPr/>
          <p:nvPr/>
        </p:nvGrpSpPr>
        <p:grpSpPr bwMode="auto">
          <a:xfrm>
            <a:off x="1714500" y="5638803"/>
            <a:ext cx="1898650" cy="750888"/>
            <a:chOff x="1190" y="3072"/>
            <a:chExt cx="1196" cy="473"/>
          </a:xfrm>
        </p:grpSpPr>
        <p:sp>
          <p:nvSpPr>
            <p:cNvPr id="636932" name="Rectangle 4"/>
            <p:cNvSpPr>
              <a:spLocks noChangeArrowheads="1"/>
            </p:cNvSpPr>
            <p:nvPr/>
          </p:nvSpPr>
          <p:spPr bwMode="auto">
            <a:xfrm>
              <a:off x="1392" y="3312"/>
              <a:ext cx="5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b="1" dirty="0">
                  <a:solidFill>
                    <a:srgbClr val="FF0000"/>
                  </a:solidFill>
                  <a:effectLst>
                    <a:outerShdw blurRad="38100" dist="38100" dir="2700000" algn="tl">
                      <a:srgbClr val="000000"/>
                    </a:outerShdw>
                  </a:effectLst>
                  <a:latin typeface="Arial" panose="020B0604020202020204" pitchFamily="34" charset="0"/>
                </a:rPr>
                <a:t>Month</a:t>
              </a:r>
            </a:p>
          </p:txBody>
        </p:sp>
        <p:sp>
          <p:nvSpPr>
            <p:cNvPr id="636933" name="Line 5"/>
            <p:cNvSpPr>
              <a:spLocks noChangeShapeType="1"/>
            </p:cNvSpPr>
            <p:nvPr/>
          </p:nvSpPr>
          <p:spPr bwMode="auto">
            <a:xfrm>
              <a:off x="1200" y="3072"/>
              <a:ext cx="115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34" name="Rectangle 6"/>
            <p:cNvSpPr>
              <a:spLocks noChangeArrowheads="1"/>
            </p:cNvSpPr>
            <p:nvPr/>
          </p:nvSpPr>
          <p:spPr bwMode="auto">
            <a:xfrm>
              <a:off x="1190" y="3120"/>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1 </a:t>
              </a:r>
            </a:p>
          </p:txBody>
        </p:sp>
        <p:sp>
          <p:nvSpPr>
            <p:cNvPr id="636935" name="Rectangle 7"/>
            <p:cNvSpPr>
              <a:spLocks noChangeArrowheads="1"/>
            </p:cNvSpPr>
            <p:nvPr/>
          </p:nvSpPr>
          <p:spPr bwMode="auto">
            <a:xfrm>
              <a:off x="1358" y="3120"/>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2</a:t>
              </a:r>
            </a:p>
          </p:txBody>
        </p:sp>
        <p:sp>
          <p:nvSpPr>
            <p:cNvPr id="636936" name="Rectangle 8"/>
            <p:cNvSpPr>
              <a:spLocks noChangeArrowheads="1"/>
            </p:cNvSpPr>
            <p:nvPr/>
          </p:nvSpPr>
          <p:spPr bwMode="auto">
            <a:xfrm>
              <a:off x="1536" y="3120"/>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3 </a:t>
              </a:r>
            </a:p>
          </p:txBody>
        </p:sp>
        <p:sp>
          <p:nvSpPr>
            <p:cNvPr id="636937" name="Rectangle 9"/>
            <p:cNvSpPr>
              <a:spLocks noChangeArrowheads="1"/>
            </p:cNvSpPr>
            <p:nvPr/>
          </p:nvSpPr>
          <p:spPr bwMode="auto">
            <a:xfrm>
              <a:off x="1657" y="3120"/>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4 </a:t>
              </a:r>
            </a:p>
          </p:txBody>
        </p:sp>
        <p:sp>
          <p:nvSpPr>
            <p:cNvPr id="636938" name="Rectangle 10"/>
            <p:cNvSpPr>
              <a:spLocks noChangeArrowheads="1"/>
            </p:cNvSpPr>
            <p:nvPr/>
          </p:nvSpPr>
          <p:spPr bwMode="auto">
            <a:xfrm>
              <a:off x="2160" y="3120"/>
              <a:ext cx="2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7</a:t>
              </a:r>
            </a:p>
          </p:txBody>
        </p:sp>
        <p:sp>
          <p:nvSpPr>
            <p:cNvPr id="636939" name="Rectangle 11"/>
            <p:cNvSpPr>
              <a:spLocks noChangeArrowheads="1"/>
            </p:cNvSpPr>
            <p:nvPr/>
          </p:nvSpPr>
          <p:spPr bwMode="auto">
            <a:xfrm>
              <a:off x="1993" y="3120"/>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6 </a:t>
              </a:r>
            </a:p>
          </p:txBody>
        </p:sp>
        <p:sp>
          <p:nvSpPr>
            <p:cNvPr id="636940" name="Rectangle 12"/>
            <p:cNvSpPr>
              <a:spLocks noChangeArrowheads="1"/>
            </p:cNvSpPr>
            <p:nvPr/>
          </p:nvSpPr>
          <p:spPr bwMode="auto">
            <a:xfrm>
              <a:off x="1825" y="3120"/>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5 </a:t>
              </a:r>
            </a:p>
          </p:txBody>
        </p:sp>
      </p:grpSp>
      <p:grpSp>
        <p:nvGrpSpPr>
          <p:cNvPr id="636941" name="Group 13"/>
          <p:cNvGrpSpPr/>
          <p:nvPr/>
        </p:nvGrpSpPr>
        <p:grpSpPr bwMode="auto">
          <a:xfrm>
            <a:off x="322263" y="3962400"/>
            <a:ext cx="1592262" cy="1814513"/>
            <a:chOff x="313" y="2016"/>
            <a:chExt cx="1003" cy="1143"/>
          </a:xfrm>
        </p:grpSpPr>
        <p:sp>
          <p:nvSpPr>
            <p:cNvPr id="636942" name="Rectangle 14"/>
            <p:cNvSpPr>
              <a:spLocks noChangeArrowheads="1"/>
            </p:cNvSpPr>
            <p:nvPr/>
          </p:nvSpPr>
          <p:spPr bwMode="auto">
            <a:xfrm rot="16200000">
              <a:off x="97" y="2234"/>
              <a:ext cx="66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b="1" dirty="0">
                  <a:solidFill>
                    <a:srgbClr val="FF0000"/>
                  </a:solidFill>
                  <a:effectLst>
                    <a:outerShdw blurRad="38100" dist="38100" dir="2700000" algn="tl">
                      <a:srgbClr val="000000"/>
                    </a:outerShdw>
                  </a:effectLst>
                  <a:latin typeface="Arial" panose="020B0604020202020204" pitchFamily="34" charset="0"/>
                </a:rPr>
                <a:t>Product</a:t>
              </a:r>
            </a:p>
          </p:txBody>
        </p:sp>
        <p:sp>
          <p:nvSpPr>
            <p:cNvPr id="636943" name="Rectangle 15"/>
            <p:cNvSpPr>
              <a:spLocks noChangeArrowheads="1"/>
            </p:cNvSpPr>
            <p:nvPr/>
          </p:nvSpPr>
          <p:spPr bwMode="auto">
            <a:xfrm>
              <a:off x="384" y="2736"/>
              <a:ext cx="9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Toothpaste </a:t>
              </a:r>
            </a:p>
          </p:txBody>
        </p:sp>
        <p:sp>
          <p:nvSpPr>
            <p:cNvPr id="636944" name="Line 16"/>
            <p:cNvSpPr>
              <a:spLocks noChangeShapeType="1"/>
            </p:cNvSpPr>
            <p:nvPr/>
          </p:nvSpPr>
          <p:spPr bwMode="auto">
            <a:xfrm>
              <a:off x="1200" y="2016"/>
              <a:ext cx="0" cy="105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45" name="Rectangle 17"/>
            <p:cNvSpPr>
              <a:spLocks noChangeArrowheads="1"/>
            </p:cNvSpPr>
            <p:nvPr/>
          </p:nvSpPr>
          <p:spPr bwMode="auto">
            <a:xfrm>
              <a:off x="672" y="2016"/>
              <a:ext cx="4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Juice</a:t>
              </a:r>
            </a:p>
          </p:txBody>
        </p:sp>
        <p:sp>
          <p:nvSpPr>
            <p:cNvPr id="636946" name="Rectangle 18"/>
            <p:cNvSpPr>
              <a:spLocks noChangeArrowheads="1"/>
            </p:cNvSpPr>
            <p:nvPr/>
          </p:nvSpPr>
          <p:spPr bwMode="auto">
            <a:xfrm>
              <a:off x="672" y="2160"/>
              <a:ext cx="4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Cola</a:t>
              </a:r>
            </a:p>
          </p:txBody>
        </p:sp>
        <p:sp>
          <p:nvSpPr>
            <p:cNvPr id="636947" name="Rectangle 19"/>
            <p:cNvSpPr>
              <a:spLocks noChangeArrowheads="1"/>
            </p:cNvSpPr>
            <p:nvPr/>
          </p:nvSpPr>
          <p:spPr bwMode="auto">
            <a:xfrm>
              <a:off x="720" y="2352"/>
              <a:ext cx="4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Milk </a:t>
              </a:r>
            </a:p>
          </p:txBody>
        </p:sp>
        <p:sp>
          <p:nvSpPr>
            <p:cNvPr id="636948" name="Rectangle 20"/>
            <p:cNvSpPr>
              <a:spLocks noChangeArrowheads="1"/>
            </p:cNvSpPr>
            <p:nvPr/>
          </p:nvSpPr>
          <p:spPr bwMode="auto">
            <a:xfrm>
              <a:off x="624" y="2544"/>
              <a:ext cx="5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Cream</a:t>
              </a:r>
            </a:p>
          </p:txBody>
        </p:sp>
        <p:sp>
          <p:nvSpPr>
            <p:cNvPr id="636949" name="Rectangle 21"/>
            <p:cNvSpPr>
              <a:spLocks noChangeArrowheads="1"/>
            </p:cNvSpPr>
            <p:nvPr/>
          </p:nvSpPr>
          <p:spPr bwMode="auto">
            <a:xfrm>
              <a:off x="672" y="2928"/>
              <a:ext cx="5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Soap </a:t>
              </a:r>
            </a:p>
          </p:txBody>
        </p:sp>
      </p:grpSp>
      <p:grpSp>
        <p:nvGrpSpPr>
          <p:cNvPr id="636950" name="Group 22"/>
          <p:cNvGrpSpPr/>
          <p:nvPr/>
        </p:nvGrpSpPr>
        <p:grpSpPr bwMode="auto">
          <a:xfrm>
            <a:off x="1958975" y="3962400"/>
            <a:ext cx="1600200" cy="1687513"/>
            <a:chOff x="2112" y="1392"/>
            <a:chExt cx="1008" cy="1063"/>
          </a:xfrm>
        </p:grpSpPr>
        <p:sp>
          <p:nvSpPr>
            <p:cNvPr id="636951" name="Line 23"/>
            <p:cNvSpPr>
              <a:spLocks noChangeShapeType="1"/>
            </p:cNvSpPr>
            <p:nvPr/>
          </p:nvSpPr>
          <p:spPr bwMode="auto">
            <a:xfrm>
              <a:off x="2112" y="1392"/>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52" name="Line 24"/>
            <p:cNvSpPr>
              <a:spLocks noChangeShapeType="1"/>
            </p:cNvSpPr>
            <p:nvPr/>
          </p:nvSpPr>
          <p:spPr bwMode="auto">
            <a:xfrm>
              <a:off x="2448" y="1392"/>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53" name="Line 25"/>
            <p:cNvSpPr>
              <a:spLocks noChangeShapeType="1"/>
            </p:cNvSpPr>
            <p:nvPr/>
          </p:nvSpPr>
          <p:spPr bwMode="auto">
            <a:xfrm>
              <a:off x="2616" y="1392"/>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54" name="Line 26"/>
            <p:cNvSpPr>
              <a:spLocks noChangeShapeType="1"/>
            </p:cNvSpPr>
            <p:nvPr/>
          </p:nvSpPr>
          <p:spPr bwMode="auto">
            <a:xfrm>
              <a:off x="2784" y="1392"/>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55" name="Line 27"/>
            <p:cNvSpPr>
              <a:spLocks noChangeShapeType="1"/>
            </p:cNvSpPr>
            <p:nvPr/>
          </p:nvSpPr>
          <p:spPr bwMode="auto">
            <a:xfrm>
              <a:off x="2952" y="1392"/>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56" name="Line 28"/>
            <p:cNvSpPr>
              <a:spLocks noChangeShapeType="1"/>
            </p:cNvSpPr>
            <p:nvPr/>
          </p:nvSpPr>
          <p:spPr bwMode="auto">
            <a:xfrm>
              <a:off x="2280" y="1392"/>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57" name="Line 29"/>
            <p:cNvSpPr>
              <a:spLocks noChangeShapeType="1"/>
            </p:cNvSpPr>
            <p:nvPr/>
          </p:nvSpPr>
          <p:spPr bwMode="auto">
            <a:xfrm>
              <a:off x="3120" y="1392"/>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6958" name="Group 30"/>
          <p:cNvGrpSpPr/>
          <p:nvPr/>
        </p:nvGrpSpPr>
        <p:grpSpPr bwMode="auto">
          <a:xfrm>
            <a:off x="1728788" y="3960813"/>
            <a:ext cx="1830387" cy="1333500"/>
            <a:chOff x="1199" y="2015"/>
            <a:chExt cx="1064" cy="840"/>
          </a:xfrm>
        </p:grpSpPr>
        <p:sp>
          <p:nvSpPr>
            <p:cNvPr id="636959" name="Line 31"/>
            <p:cNvSpPr>
              <a:spLocks noChangeShapeType="1"/>
            </p:cNvSpPr>
            <p:nvPr/>
          </p:nvSpPr>
          <p:spPr bwMode="auto">
            <a:xfrm rot="-5400000">
              <a:off x="1731" y="2155"/>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60" name="Line 32"/>
            <p:cNvSpPr>
              <a:spLocks noChangeShapeType="1"/>
            </p:cNvSpPr>
            <p:nvPr/>
          </p:nvSpPr>
          <p:spPr bwMode="auto">
            <a:xfrm rot="-5400000">
              <a:off x="1732" y="1988"/>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61" name="Line 33"/>
            <p:cNvSpPr>
              <a:spLocks noChangeShapeType="1"/>
            </p:cNvSpPr>
            <p:nvPr/>
          </p:nvSpPr>
          <p:spPr bwMode="auto">
            <a:xfrm rot="-5400000">
              <a:off x="1731" y="1819"/>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62" name="Line 34"/>
            <p:cNvSpPr>
              <a:spLocks noChangeShapeType="1"/>
            </p:cNvSpPr>
            <p:nvPr/>
          </p:nvSpPr>
          <p:spPr bwMode="auto">
            <a:xfrm rot="-5400000">
              <a:off x="1731" y="1651"/>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63" name="Line 35"/>
            <p:cNvSpPr>
              <a:spLocks noChangeShapeType="1"/>
            </p:cNvSpPr>
            <p:nvPr/>
          </p:nvSpPr>
          <p:spPr bwMode="auto">
            <a:xfrm rot="-5400000">
              <a:off x="1731" y="2323"/>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64" name="Line 36"/>
            <p:cNvSpPr>
              <a:spLocks noChangeShapeType="1"/>
            </p:cNvSpPr>
            <p:nvPr/>
          </p:nvSpPr>
          <p:spPr bwMode="auto">
            <a:xfrm rot="-5400000">
              <a:off x="1731" y="1483"/>
              <a:ext cx="0" cy="106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6965" name="Group 37"/>
          <p:cNvGrpSpPr/>
          <p:nvPr/>
        </p:nvGrpSpPr>
        <p:grpSpPr bwMode="auto">
          <a:xfrm>
            <a:off x="1125537" y="2838450"/>
            <a:ext cx="2997200" cy="1185863"/>
            <a:chOff x="819" y="1308"/>
            <a:chExt cx="1888" cy="747"/>
          </a:xfrm>
        </p:grpSpPr>
        <p:sp>
          <p:nvSpPr>
            <p:cNvPr id="636966" name="Rectangle 38"/>
            <p:cNvSpPr>
              <a:spLocks noChangeArrowheads="1"/>
            </p:cNvSpPr>
            <p:nvPr/>
          </p:nvSpPr>
          <p:spPr bwMode="auto">
            <a:xfrm rot="18720000">
              <a:off x="631" y="1496"/>
              <a:ext cx="6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b="1" dirty="0">
                  <a:solidFill>
                    <a:srgbClr val="FF0000"/>
                  </a:solidFill>
                  <a:effectLst>
                    <a:outerShdw blurRad="38100" dist="38100" dir="2700000" algn="tl">
                      <a:srgbClr val="000000"/>
                    </a:outerShdw>
                  </a:effectLst>
                  <a:latin typeface="Arial" panose="020B0604020202020204" pitchFamily="34" charset="0"/>
                </a:rPr>
                <a:t>Region</a:t>
              </a:r>
            </a:p>
          </p:txBody>
        </p:sp>
        <p:sp>
          <p:nvSpPr>
            <p:cNvPr id="636967" name="Line 39"/>
            <p:cNvSpPr>
              <a:spLocks noChangeShapeType="1"/>
            </p:cNvSpPr>
            <p:nvPr/>
          </p:nvSpPr>
          <p:spPr bwMode="auto">
            <a:xfrm flipV="1">
              <a:off x="1353" y="1632"/>
              <a:ext cx="356" cy="37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68" name="Line 40"/>
            <p:cNvSpPr>
              <a:spLocks noChangeShapeType="1"/>
            </p:cNvSpPr>
            <p:nvPr/>
          </p:nvSpPr>
          <p:spPr bwMode="auto">
            <a:xfrm flipV="1">
              <a:off x="1536" y="1632"/>
              <a:ext cx="354" cy="37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69" name="Line 41"/>
            <p:cNvSpPr>
              <a:spLocks noChangeShapeType="1"/>
            </p:cNvSpPr>
            <p:nvPr/>
          </p:nvSpPr>
          <p:spPr bwMode="auto">
            <a:xfrm flipV="1">
              <a:off x="1680" y="1632"/>
              <a:ext cx="355" cy="37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70" name="Line 42"/>
            <p:cNvSpPr>
              <a:spLocks noChangeShapeType="1"/>
            </p:cNvSpPr>
            <p:nvPr/>
          </p:nvSpPr>
          <p:spPr bwMode="auto">
            <a:xfrm flipV="1">
              <a:off x="1872" y="1632"/>
              <a:ext cx="356" cy="37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71" name="Line 43"/>
            <p:cNvSpPr>
              <a:spLocks noChangeShapeType="1"/>
            </p:cNvSpPr>
            <p:nvPr/>
          </p:nvSpPr>
          <p:spPr bwMode="auto">
            <a:xfrm flipV="1">
              <a:off x="2186" y="1632"/>
              <a:ext cx="355" cy="37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72" name="Line 44"/>
            <p:cNvSpPr>
              <a:spLocks noChangeShapeType="1"/>
            </p:cNvSpPr>
            <p:nvPr/>
          </p:nvSpPr>
          <p:spPr bwMode="auto">
            <a:xfrm flipV="1">
              <a:off x="2016" y="1632"/>
              <a:ext cx="355" cy="37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73" name="Freeform 45"/>
            <p:cNvSpPr>
              <a:spLocks noChangeArrowheads="1"/>
            </p:cNvSpPr>
            <p:nvPr/>
          </p:nvSpPr>
          <p:spPr bwMode="auto">
            <a:xfrm>
              <a:off x="1314" y="1869"/>
              <a:ext cx="1164" cy="6"/>
            </a:xfrm>
            <a:custGeom>
              <a:avLst/>
              <a:gdLst>
                <a:gd name="T0" fmla="*/ 0 w 1164"/>
                <a:gd name="T1" fmla="*/ 6 h 6"/>
                <a:gd name="T2" fmla="*/ 1164 w 1164"/>
                <a:gd name="T3" fmla="*/ 0 h 6"/>
              </a:gdLst>
              <a:ahLst/>
              <a:cxnLst>
                <a:cxn ang="0">
                  <a:pos x="T0" y="T1"/>
                </a:cxn>
                <a:cxn ang="0">
                  <a:pos x="T2" y="T3"/>
                </a:cxn>
              </a:cxnLst>
              <a:rect l="0" t="0" r="r" b="b"/>
              <a:pathLst>
                <a:path w="1164" h="6">
                  <a:moveTo>
                    <a:pt x="0" y="6"/>
                  </a:moveTo>
                  <a:lnTo>
                    <a:pt x="1164" y="0"/>
                  </a:lnTo>
                </a:path>
              </a:pathLst>
            </a:custGeom>
            <a:noFill/>
            <a:ln w="12700">
              <a:solidFill>
                <a:schemeClr val="tx1"/>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74" name="Freeform 46"/>
            <p:cNvSpPr>
              <a:spLocks noChangeArrowheads="1"/>
            </p:cNvSpPr>
            <p:nvPr/>
          </p:nvSpPr>
          <p:spPr bwMode="auto">
            <a:xfrm>
              <a:off x="1440" y="1752"/>
              <a:ext cx="1155" cy="3"/>
            </a:xfrm>
            <a:custGeom>
              <a:avLst/>
              <a:gdLst>
                <a:gd name="T0" fmla="*/ 0 w 1155"/>
                <a:gd name="T1" fmla="*/ 0 h 3"/>
                <a:gd name="T2" fmla="*/ 1155 w 1155"/>
                <a:gd name="T3" fmla="*/ 3 h 3"/>
              </a:gdLst>
              <a:ahLst/>
              <a:cxnLst>
                <a:cxn ang="0">
                  <a:pos x="T0" y="T1"/>
                </a:cxn>
                <a:cxn ang="0">
                  <a:pos x="T2" y="T3"/>
                </a:cxn>
              </a:cxnLst>
              <a:rect l="0" t="0" r="r" b="b"/>
              <a:pathLst>
                <a:path w="1155" h="3">
                  <a:moveTo>
                    <a:pt x="0" y="0"/>
                  </a:moveTo>
                  <a:lnTo>
                    <a:pt x="1155" y="3"/>
                  </a:lnTo>
                </a:path>
              </a:pathLst>
            </a:custGeom>
            <a:noFill/>
            <a:ln w="12700">
              <a:solidFill>
                <a:schemeClr val="tx1"/>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75" name="Rectangle 47"/>
            <p:cNvSpPr>
              <a:spLocks noChangeArrowheads="1"/>
            </p:cNvSpPr>
            <p:nvPr/>
          </p:nvSpPr>
          <p:spPr bwMode="auto">
            <a:xfrm>
              <a:off x="1104" y="1569"/>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W</a:t>
              </a:r>
            </a:p>
          </p:txBody>
        </p:sp>
        <p:sp>
          <p:nvSpPr>
            <p:cNvPr id="636976" name="Rectangle 48"/>
            <p:cNvSpPr>
              <a:spLocks noChangeArrowheads="1"/>
            </p:cNvSpPr>
            <p:nvPr/>
          </p:nvSpPr>
          <p:spPr bwMode="auto">
            <a:xfrm>
              <a:off x="1008" y="1680"/>
              <a:ext cx="2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S </a:t>
              </a:r>
            </a:p>
          </p:txBody>
        </p:sp>
        <p:sp>
          <p:nvSpPr>
            <p:cNvPr id="636977" name="Rectangle 49"/>
            <p:cNvSpPr>
              <a:spLocks noChangeArrowheads="1"/>
            </p:cNvSpPr>
            <p:nvPr/>
          </p:nvSpPr>
          <p:spPr bwMode="auto">
            <a:xfrm>
              <a:off x="912" y="1824"/>
              <a:ext cx="2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altLang="en-US" sz="1800" b="1">
                  <a:solidFill>
                    <a:schemeClr val="accent2"/>
                  </a:solidFill>
                  <a:effectLst>
                    <a:outerShdw blurRad="38100" dist="38100" dir="2700000" algn="tl">
                      <a:srgbClr val="000000"/>
                    </a:outerShdw>
                  </a:effectLst>
                  <a:latin typeface="Arial" panose="020B0604020202020204" pitchFamily="34" charset="0"/>
                </a:rPr>
                <a:t>N </a:t>
              </a:r>
            </a:p>
          </p:txBody>
        </p:sp>
        <p:sp>
          <p:nvSpPr>
            <p:cNvPr id="636978" name="Line 50"/>
            <p:cNvSpPr>
              <a:spLocks noChangeShapeType="1"/>
            </p:cNvSpPr>
            <p:nvPr/>
          </p:nvSpPr>
          <p:spPr bwMode="auto">
            <a:xfrm flipV="1">
              <a:off x="2352" y="1632"/>
              <a:ext cx="355" cy="37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79" name="Line 51"/>
            <p:cNvSpPr>
              <a:spLocks noChangeShapeType="1"/>
            </p:cNvSpPr>
            <p:nvPr/>
          </p:nvSpPr>
          <p:spPr bwMode="auto">
            <a:xfrm flipV="1">
              <a:off x="1200" y="1632"/>
              <a:ext cx="355" cy="37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80" name="Line 52"/>
            <p:cNvSpPr>
              <a:spLocks noChangeShapeType="1"/>
            </p:cNvSpPr>
            <p:nvPr/>
          </p:nvSpPr>
          <p:spPr bwMode="auto">
            <a:xfrm>
              <a:off x="1536" y="1632"/>
              <a:ext cx="115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36981" name="Group 53"/>
          <p:cNvGrpSpPr/>
          <p:nvPr/>
        </p:nvGrpSpPr>
        <p:grpSpPr bwMode="auto">
          <a:xfrm>
            <a:off x="3559175" y="3352800"/>
            <a:ext cx="565150" cy="2271713"/>
            <a:chOff x="2352" y="1632"/>
            <a:chExt cx="356" cy="1431"/>
          </a:xfrm>
        </p:grpSpPr>
        <p:sp>
          <p:nvSpPr>
            <p:cNvPr id="636982" name="Freeform 54"/>
            <p:cNvSpPr>
              <a:spLocks noChangeArrowheads="1"/>
            </p:cNvSpPr>
            <p:nvPr/>
          </p:nvSpPr>
          <p:spPr bwMode="auto">
            <a:xfrm>
              <a:off x="2478" y="1881"/>
              <a:ext cx="1" cy="1041"/>
            </a:xfrm>
            <a:custGeom>
              <a:avLst/>
              <a:gdLst>
                <a:gd name="T0" fmla="*/ 0 w 1"/>
                <a:gd name="T1" fmla="*/ 0 h 1041"/>
                <a:gd name="T2" fmla="*/ 0 w 1"/>
                <a:gd name="T3" fmla="*/ 1041 h 1041"/>
              </a:gdLst>
              <a:ahLst/>
              <a:cxnLst>
                <a:cxn ang="0">
                  <a:pos x="T0" y="T1"/>
                </a:cxn>
                <a:cxn ang="0">
                  <a:pos x="T2" y="T3"/>
                </a:cxn>
              </a:cxnLst>
              <a:rect l="0" t="0" r="r" b="b"/>
              <a:pathLst>
                <a:path w="1" h="1041">
                  <a:moveTo>
                    <a:pt x="0" y="0"/>
                  </a:moveTo>
                  <a:lnTo>
                    <a:pt x="0" y="1041"/>
                  </a:lnTo>
                </a:path>
              </a:pathLst>
            </a:custGeom>
            <a:noFill/>
            <a:ln w="12700">
              <a:solidFill>
                <a:schemeClr val="tx1"/>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83" name="Freeform 55"/>
            <p:cNvSpPr>
              <a:spLocks noChangeArrowheads="1"/>
            </p:cNvSpPr>
            <p:nvPr/>
          </p:nvSpPr>
          <p:spPr bwMode="auto">
            <a:xfrm>
              <a:off x="2589" y="1764"/>
              <a:ext cx="1" cy="1053"/>
            </a:xfrm>
            <a:custGeom>
              <a:avLst/>
              <a:gdLst>
                <a:gd name="T0" fmla="*/ 0 w 1"/>
                <a:gd name="T1" fmla="*/ 0 h 1053"/>
                <a:gd name="T2" fmla="*/ 0 w 1"/>
                <a:gd name="T3" fmla="*/ 1053 h 1053"/>
              </a:gdLst>
              <a:ahLst/>
              <a:cxnLst>
                <a:cxn ang="0">
                  <a:pos x="T0" y="T1"/>
                </a:cxn>
                <a:cxn ang="0">
                  <a:pos x="T2" y="T3"/>
                </a:cxn>
              </a:cxnLst>
              <a:rect l="0" t="0" r="r" b="b"/>
              <a:pathLst>
                <a:path w="1" h="1053">
                  <a:moveTo>
                    <a:pt x="0" y="0"/>
                  </a:moveTo>
                  <a:lnTo>
                    <a:pt x="0" y="1053"/>
                  </a:lnTo>
                </a:path>
              </a:pathLst>
            </a:custGeom>
            <a:noFill/>
            <a:ln w="12700">
              <a:solidFill>
                <a:schemeClr val="tx1"/>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84" name="Line 56"/>
            <p:cNvSpPr>
              <a:spLocks noChangeShapeType="1"/>
            </p:cNvSpPr>
            <p:nvPr/>
          </p:nvSpPr>
          <p:spPr bwMode="auto">
            <a:xfrm flipV="1">
              <a:off x="2352" y="2496"/>
              <a:ext cx="356" cy="3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85" name="Line 57"/>
            <p:cNvSpPr>
              <a:spLocks noChangeShapeType="1"/>
            </p:cNvSpPr>
            <p:nvPr/>
          </p:nvSpPr>
          <p:spPr bwMode="auto">
            <a:xfrm flipV="1">
              <a:off x="2352" y="2304"/>
              <a:ext cx="356" cy="37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86" name="Line 58"/>
            <p:cNvSpPr>
              <a:spLocks noChangeShapeType="1"/>
            </p:cNvSpPr>
            <p:nvPr/>
          </p:nvSpPr>
          <p:spPr bwMode="auto">
            <a:xfrm flipV="1">
              <a:off x="2352" y="1824"/>
              <a:ext cx="356" cy="37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87" name="Line 59"/>
            <p:cNvSpPr>
              <a:spLocks noChangeShapeType="1"/>
            </p:cNvSpPr>
            <p:nvPr/>
          </p:nvSpPr>
          <p:spPr bwMode="auto">
            <a:xfrm flipV="1">
              <a:off x="2352" y="1968"/>
              <a:ext cx="356" cy="37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88" name="Line 60"/>
            <p:cNvSpPr>
              <a:spLocks noChangeShapeType="1"/>
            </p:cNvSpPr>
            <p:nvPr/>
          </p:nvSpPr>
          <p:spPr bwMode="auto">
            <a:xfrm flipV="1">
              <a:off x="2352" y="2160"/>
              <a:ext cx="356" cy="373"/>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89" name="Line 61"/>
            <p:cNvSpPr>
              <a:spLocks noChangeShapeType="1"/>
            </p:cNvSpPr>
            <p:nvPr/>
          </p:nvSpPr>
          <p:spPr bwMode="auto">
            <a:xfrm flipV="1">
              <a:off x="2352" y="2688"/>
              <a:ext cx="356" cy="3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90" name="Freeform 62"/>
            <p:cNvSpPr>
              <a:spLocks noChangeArrowheads="1"/>
            </p:cNvSpPr>
            <p:nvPr/>
          </p:nvSpPr>
          <p:spPr bwMode="auto">
            <a:xfrm>
              <a:off x="2700" y="1632"/>
              <a:ext cx="3" cy="1068"/>
            </a:xfrm>
            <a:custGeom>
              <a:avLst/>
              <a:gdLst>
                <a:gd name="T0" fmla="*/ 0 w 3"/>
                <a:gd name="T1" fmla="*/ 0 h 1068"/>
                <a:gd name="T2" fmla="*/ 3 w 3"/>
                <a:gd name="T3" fmla="*/ 1068 h 1068"/>
              </a:gdLst>
              <a:ahLst/>
              <a:cxnLst>
                <a:cxn ang="0">
                  <a:pos x="T0" y="T1"/>
                </a:cxn>
                <a:cxn ang="0">
                  <a:pos x="T2" y="T3"/>
                </a:cxn>
              </a:cxnLst>
              <a:rect l="0" t="0" r="r" b="b"/>
              <a:pathLst>
                <a:path w="3" h="1068">
                  <a:moveTo>
                    <a:pt x="0" y="0"/>
                  </a:moveTo>
                  <a:lnTo>
                    <a:pt x="3" y="1068"/>
                  </a:lnTo>
                </a:path>
              </a:pathLst>
            </a:custGeom>
            <a:noFill/>
            <a:ln w="12700">
              <a:solidFill>
                <a:schemeClr val="tx1"/>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36991" name="Rectangle 63"/>
          <p:cNvSpPr>
            <a:spLocks noChangeArrowheads="1"/>
          </p:cNvSpPr>
          <p:nvPr/>
        </p:nvSpPr>
        <p:spPr bwMode="auto">
          <a:xfrm>
            <a:off x="4714875" y="2646363"/>
            <a:ext cx="4572000" cy="414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altLang="en-US" sz="2000" b="1" dirty="0">
                <a:solidFill>
                  <a:schemeClr val="tx1"/>
                </a:solidFill>
                <a:effectLst>
                  <a:outerShdw blurRad="38100" dist="38100" dir="2700000" algn="tl">
                    <a:srgbClr val="000000"/>
                  </a:outerShdw>
                </a:effectLst>
                <a:latin typeface="Arial" panose="020B0604020202020204" pitchFamily="34" charset="0"/>
              </a:rPr>
              <a:t>Dimensions:  </a:t>
            </a:r>
            <a:r>
              <a:rPr lang="en-US" altLang="en-US" sz="1800" b="1" dirty="0">
                <a:solidFill>
                  <a:schemeClr val="tx1"/>
                </a:solidFill>
                <a:effectLst>
                  <a:outerShdw blurRad="38100" dist="38100" dir="2700000" algn="tl">
                    <a:srgbClr val="000000"/>
                  </a:outerShdw>
                </a:effectLst>
                <a:latin typeface="Arial" panose="020B0604020202020204" pitchFamily="34" charset="0"/>
              </a:rPr>
              <a:t>Product, Region, Time</a:t>
            </a:r>
            <a:endParaRPr lang="en-US" altLang="en-US" sz="2000" b="1" dirty="0">
              <a:solidFill>
                <a:schemeClr val="tx1"/>
              </a:solidFill>
              <a:effectLst>
                <a:outerShdw blurRad="38100" dist="38100" dir="2700000" algn="tl">
                  <a:srgbClr val="000000"/>
                </a:outerShdw>
              </a:effectLst>
              <a:latin typeface="Arial" panose="020B0604020202020204" pitchFamily="34" charset="0"/>
            </a:endParaRPr>
          </a:p>
          <a:p>
            <a:pPr algn="l"/>
            <a:r>
              <a:rPr lang="en-US" altLang="en-US" sz="2000" b="1" dirty="0">
                <a:solidFill>
                  <a:schemeClr val="tx1"/>
                </a:solidFill>
                <a:effectLst>
                  <a:outerShdw blurRad="38100" dist="38100" dir="2700000" algn="tl">
                    <a:srgbClr val="000000"/>
                  </a:outerShdw>
                </a:effectLst>
                <a:latin typeface="Arial" panose="020B0604020202020204" pitchFamily="34" charset="0"/>
              </a:rPr>
              <a:t>Hierarchical summarization paths</a:t>
            </a:r>
            <a:endParaRPr lang="en-US" altLang="en-US" b="1" dirty="0">
              <a:effectLst>
                <a:outerShdw blurRad="38100" dist="38100" dir="2700000" algn="tl">
                  <a:srgbClr val="000000"/>
                </a:outerShdw>
              </a:effectLst>
              <a:latin typeface="Arial" panose="020B0604020202020204" pitchFamily="34" charset="0"/>
            </a:endParaRPr>
          </a:p>
          <a:p>
            <a:pPr algn="l"/>
            <a:endParaRPr lang="en-US" altLang="en-US" b="1" dirty="0">
              <a:effectLst>
                <a:outerShdw blurRad="38100" dist="38100" dir="2700000" algn="tl">
                  <a:srgbClr val="000000"/>
                </a:outerShdw>
              </a:effectLst>
              <a:latin typeface="Arial" panose="020B0604020202020204" pitchFamily="34" charset="0"/>
            </a:endParaRPr>
          </a:p>
          <a:p>
            <a:pPr algn="l"/>
            <a:r>
              <a:rPr lang="en-US" altLang="en-US" sz="1800" b="1" u="sng" dirty="0">
                <a:solidFill>
                  <a:schemeClr val="accent2"/>
                </a:solidFill>
                <a:effectLst>
                  <a:outerShdw blurRad="38100" dist="38100" dir="2700000" algn="tl">
                    <a:srgbClr val="000000"/>
                  </a:outerShdw>
                </a:effectLst>
                <a:latin typeface="Arial" panose="020B0604020202020204" pitchFamily="34" charset="0"/>
              </a:rPr>
              <a:t>Product </a:t>
            </a:r>
            <a:r>
              <a:rPr lang="en-US" altLang="en-US" sz="1800" b="1" dirty="0">
                <a:solidFill>
                  <a:schemeClr val="accent2"/>
                </a:solidFill>
                <a:effectLst>
                  <a:outerShdw blurRad="38100" dist="38100" dir="2700000" algn="tl">
                    <a:srgbClr val="000000"/>
                  </a:outerShdw>
                </a:effectLst>
                <a:latin typeface="Arial" panose="020B0604020202020204" pitchFamily="34" charset="0"/>
              </a:rPr>
              <a:t>        </a:t>
            </a:r>
            <a:r>
              <a:rPr lang="en-US" altLang="en-US" sz="1800" b="1" u="sng" dirty="0">
                <a:solidFill>
                  <a:schemeClr val="accent2"/>
                </a:solidFill>
                <a:effectLst>
                  <a:outerShdw blurRad="38100" dist="38100" dir="2700000" algn="tl">
                    <a:srgbClr val="000000"/>
                  </a:outerShdw>
                </a:effectLst>
                <a:latin typeface="Arial" panose="020B0604020202020204" pitchFamily="34" charset="0"/>
              </a:rPr>
              <a:t>Region </a:t>
            </a:r>
            <a:r>
              <a:rPr lang="en-US" altLang="en-US" sz="1800" b="1" dirty="0">
                <a:solidFill>
                  <a:schemeClr val="accent2"/>
                </a:solidFill>
                <a:effectLst>
                  <a:outerShdw blurRad="38100" dist="38100" dir="2700000" algn="tl">
                    <a:srgbClr val="000000"/>
                  </a:outerShdw>
                </a:effectLst>
                <a:latin typeface="Arial" panose="020B0604020202020204" pitchFamily="34" charset="0"/>
              </a:rPr>
              <a:t>            </a:t>
            </a:r>
            <a:r>
              <a:rPr lang="en-US" altLang="en-US" sz="1800" b="1" u="sng" dirty="0">
                <a:solidFill>
                  <a:schemeClr val="accent2"/>
                </a:solidFill>
                <a:effectLst>
                  <a:outerShdw blurRad="38100" dist="38100" dir="2700000" algn="tl">
                    <a:srgbClr val="000000"/>
                  </a:outerShdw>
                </a:effectLst>
                <a:latin typeface="Arial" panose="020B0604020202020204" pitchFamily="34" charset="0"/>
              </a:rPr>
              <a:t>Time</a:t>
            </a:r>
            <a:endParaRPr lang="en-US" altLang="en-US" b="1" dirty="0">
              <a:effectLst>
                <a:outerShdw blurRad="38100" dist="38100" dir="2700000" algn="tl">
                  <a:srgbClr val="000000"/>
                </a:outerShdw>
              </a:effectLst>
              <a:latin typeface="Arial" panose="020B0604020202020204" pitchFamily="34" charset="0"/>
            </a:endParaRPr>
          </a:p>
          <a:p>
            <a:pPr algn="l"/>
            <a:r>
              <a:rPr lang="en-US" altLang="en-US" sz="1800" b="1" dirty="0">
                <a:solidFill>
                  <a:schemeClr val="tx1"/>
                </a:solidFill>
                <a:effectLst>
                  <a:outerShdw blurRad="38100" dist="38100" dir="2700000" algn="tl">
                    <a:srgbClr val="000000"/>
                  </a:outerShdw>
                </a:effectLst>
                <a:latin typeface="Arial" panose="020B0604020202020204" pitchFamily="34" charset="0"/>
              </a:rPr>
              <a:t>Industry        Country            Year</a:t>
            </a:r>
            <a:endParaRPr lang="en-US" altLang="en-US" sz="2000" b="1" dirty="0">
              <a:solidFill>
                <a:schemeClr val="tx1"/>
              </a:solidFill>
              <a:effectLst>
                <a:outerShdw blurRad="38100" dist="38100" dir="2700000" algn="tl">
                  <a:srgbClr val="000000"/>
                </a:outerShdw>
              </a:effectLst>
              <a:latin typeface="Arial" panose="020B0604020202020204" pitchFamily="34" charset="0"/>
            </a:endParaRPr>
          </a:p>
          <a:p>
            <a:pPr algn="l"/>
            <a:endParaRPr lang="en-US" altLang="en-US" sz="2000" b="1" dirty="0">
              <a:solidFill>
                <a:schemeClr val="tx1"/>
              </a:solidFill>
              <a:effectLst>
                <a:outerShdw blurRad="38100" dist="38100" dir="2700000" algn="tl">
                  <a:srgbClr val="000000"/>
                </a:outerShdw>
              </a:effectLst>
              <a:latin typeface="Arial" panose="020B0604020202020204" pitchFamily="34" charset="0"/>
            </a:endParaRPr>
          </a:p>
          <a:p>
            <a:pPr algn="l"/>
            <a:endParaRPr lang="en-US" altLang="en-US" sz="1800" b="1" dirty="0">
              <a:solidFill>
                <a:schemeClr val="tx1"/>
              </a:solidFill>
              <a:effectLst>
                <a:outerShdw blurRad="38100" dist="38100" dir="2700000" algn="tl">
                  <a:srgbClr val="000000"/>
                </a:outerShdw>
              </a:effectLst>
              <a:latin typeface="Arial" panose="020B0604020202020204" pitchFamily="34" charset="0"/>
            </a:endParaRPr>
          </a:p>
          <a:p>
            <a:pPr algn="l"/>
            <a:r>
              <a:rPr lang="en-US" altLang="en-US" sz="1800" b="1" dirty="0">
                <a:solidFill>
                  <a:schemeClr val="tx1"/>
                </a:solidFill>
                <a:effectLst>
                  <a:outerShdw blurRad="38100" dist="38100" dir="2700000" algn="tl">
                    <a:srgbClr val="000000"/>
                  </a:outerShdw>
                </a:effectLst>
                <a:latin typeface="Arial" panose="020B0604020202020204" pitchFamily="34" charset="0"/>
              </a:rPr>
              <a:t>Category       Region           Quarter    </a:t>
            </a:r>
            <a:endParaRPr lang="en-US" altLang="en-US" sz="2000" b="1" dirty="0">
              <a:solidFill>
                <a:schemeClr val="tx1"/>
              </a:solidFill>
              <a:effectLst>
                <a:outerShdw blurRad="38100" dist="38100" dir="2700000" algn="tl">
                  <a:srgbClr val="000000"/>
                </a:outerShdw>
              </a:effectLst>
              <a:latin typeface="Arial" panose="020B0604020202020204" pitchFamily="34" charset="0"/>
            </a:endParaRPr>
          </a:p>
          <a:p>
            <a:pPr algn="l"/>
            <a:r>
              <a:rPr lang="en-US" altLang="en-US" sz="2000" b="1" dirty="0">
                <a:solidFill>
                  <a:schemeClr val="tx1"/>
                </a:solidFill>
                <a:effectLst>
                  <a:outerShdw blurRad="38100" dist="38100" dir="2700000" algn="tl">
                    <a:srgbClr val="000000"/>
                  </a:outerShdw>
                </a:effectLst>
                <a:latin typeface="Arial" panose="020B0604020202020204" pitchFamily="34" charset="0"/>
              </a:rPr>
              <a:t>    </a:t>
            </a:r>
          </a:p>
          <a:p>
            <a:pPr algn="l"/>
            <a:endParaRPr lang="en-US" altLang="en-US" sz="1800" b="1" dirty="0">
              <a:solidFill>
                <a:schemeClr val="tx1"/>
              </a:solidFill>
              <a:effectLst>
                <a:outerShdw blurRad="38100" dist="38100" dir="2700000" algn="tl">
                  <a:srgbClr val="000000"/>
                </a:outerShdw>
              </a:effectLst>
              <a:latin typeface="Arial" panose="020B0604020202020204" pitchFamily="34" charset="0"/>
            </a:endParaRPr>
          </a:p>
          <a:p>
            <a:pPr algn="l"/>
            <a:r>
              <a:rPr lang="en-US" altLang="en-US" sz="1800" b="1" dirty="0">
                <a:solidFill>
                  <a:schemeClr val="tx1"/>
                </a:solidFill>
                <a:effectLst>
                  <a:outerShdw blurRad="38100" dist="38100" dir="2700000" algn="tl">
                    <a:srgbClr val="000000"/>
                  </a:outerShdw>
                </a:effectLst>
                <a:latin typeface="Arial" panose="020B0604020202020204" pitchFamily="34" charset="0"/>
              </a:rPr>
              <a:t>Product         City           Month     Week</a:t>
            </a:r>
          </a:p>
          <a:p>
            <a:pPr algn="l"/>
            <a:r>
              <a:rPr lang="en-US" altLang="en-US" sz="1800" b="1" dirty="0">
                <a:solidFill>
                  <a:schemeClr val="tx1"/>
                </a:solidFill>
                <a:effectLst>
                  <a:outerShdw blurRad="38100" dist="38100" dir="2700000" algn="tl">
                    <a:srgbClr val="000000"/>
                  </a:outerShdw>
                </a:effectLst>
                <a:latin typeface="Arial" panose="020B0604020202020204" pitchFamily="34" charset="0"/>
              </a:rPr>
              <a:t>  </a:t>
            </a:r>
          </a:p>
          <a:p>
            <a:pPr algn="l"/>
            <a:r>
              <a:rPr lang="en-US" altLang="en-US" sz="1800" b="1" dirty="0">
                <a:solidFill>
                  <a:schemeClr val="tx1"/>
                </a:solidFill>
                <a:effectLst>
                  <a:outerShdw blurRad="38100" dist="38100" dir="2700000" algn="tl">
                    <a:srgbClr val="000000"/>
                  </a:outerShdw>
                </a:effectLst>
                <a:latin typeface="Arial" panose="020B0604020202020204" pitchFamily="34" charset="0"/>
              </a:rPr>
              <a:t>                    </a:t>
            </a:r>
          </a:p>
          <a:p>
            <a:pPr algn="l"/>
            <a:r>
              <a:rPr lang="en-US" altLang="en-US" sz="1800" b="1" dirty="0">
                <a:solidFill>
                  <a:schemeClr val="tx1"/>
                </a:solidFill>
                <a:effectLst>
                  <a:outerShdw blurRad="38100" dist="38100" dir="2700000" algn="tl">
                    <a:srgbClr val="000000"/>
                  </a:outerShdw>
                </a:effectLst>
                <a:latin typeface="Arial" panose="020B0604020202020204" pitchFamily="34" charset="0"/>
              </a:rPr>
              <a:t>	        Office               Day</a:t>
            </a:r>
          </a:p>
        </p:txBody>
      </p:sp>
      <p:grpSp>
        <p:nvGrpSpPr>
          <p:cNvPr id="636992" name="Group 64"/>
          <p:cNvGrpSpPr/>
          <p:nvPr/>
        </p:nvGrpSpPr>
        <p:grpSpPr bwMode="auto">
          <a:xfrm>
            <a:off x="5284788" y="4260850"/>
            <a:ext cx="3465512" cy="2141538"/>
            <a:chOff x="3239" y="2404"/>
            <a:chExt cx="2183" cy="1349"/>
          </a:xfrm>
        </p:grpSpPr>
        <p:sp>
          <p:nvSpPr>
            <p:cNvPr id="636993" name="Line 65"/>
            <p:cNvSpPr>
              <a:spLocks noChangeShapeType="1"/>
            </p:cNvSpPr>
            <p:nvPr/>
          </p:nvSpPr>
          <p:spPr bwMode="auto">
            <a:xfrm>
              <a:off x="3252" y="2404"/>
              <a:ext cx="0" cy="28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94" name="Line 66"/>
            <p:cNvSpPr>
              <a:spLocks noChangeShapeType="1"/>
            </p:cNvSpPr>
            <p:nvPr/>
          </p:nvSpPr>
          <p:spPr bwMode="auto">
            <a:xfrm>
              <a:off x="4062" y="3515"/>
              <a:ext cx="0" cy="23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95" name="Line 67"/>
            <p:cNvSpPr>
              <a:spLocks noChangeShapeType="1"/>
            </p:cNvSpPr>
            <p:nvPr/>
          </p:nvSpPr>
          <p:spPr bwMode="auto">
            <a:xfrm>
              <a:off x="4069" y="2424"/>
              <a:ext cx="0" cy="28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96" name="Line 68"/>
            <p:cNvSpPr>
              <a:spLocks noChangeShapeType="1"/>
            </p:cNvSpPr>
            <p:nvPr/>
          </p:nvSpPr>
          <p:spPr bwMode="auto">
            <a:xfrm>
              <a:off x="3239" y="2949"/>
              <a:ext cx="0" cy="28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97" name="Line 69"/>
            <p:cNvSpPr>
              <a:spLocks noChangeShapeType="1"/>
            </p:cNvSpPr>
            <p:nvPr/>
          </p:nvSpPr>
          <p:spPr bwMode="auto">
            <a:xfrm>
              <a:off x="5023" y="2415"/>
              <a:ext cx="0" cy="28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98" name="Line 70"/>
            <p:cNvSpPr>
              <a:spLocks noChangeShapeType="1"/>
            </p:cNvSpPr>
            <p:nvPr/>
          </p:nvSpPr>
          <p:spPr bwMode="auto">
            <a:xfrm flipH="1">
              <a:off x="4619" y="2977"/>
              <a:ext cx="314" cy="28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6999" name="Line 71"/>
            <p:cNvSpPr>
              <a:spLocks noChangeShapeType="1"/>
            </p:cNvSpPr>
            <p:nvPr/>
          </p:nvSpPr>
          <p:spPr bwMode="auto">
            <a:xfrm>
              <a:off x="5055" y="2987"/>
              <a:ext cx="367" cy="23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7000" name="Line 72"/>
            <p:cNvSpPr>
              <a:spLocks noChangeShapeType="1"/>
            </p:cNvSpPr>
            <p:nvPr/>
          </p:nvSpPr>
          <p:spPr bwMode="auto">
            <a:xfrm>
              <a:off x="4672" y="3499"/>
              <a:ext cx="261" cy="23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7001" name="Line 73"/>
            <p:cNvSpPr>
              <a:spLocks noChangeShapeType="1"/>
            </p:cNvSpPr>
            <p:nvPr/>
          </p:nvSpPr>
          <p:spPr bwMode="auto">
            <a:xfrm flipH="1">
              <a:off x="4998" y="3509"/>
              <a:ext cx="314" cy="23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7002" name="Line 74"/>
            <p:cNvSpPr>
              <a:spLocks noChangeShapeType="1"/>
            </p:cNvSpPr>
            <p:nvPr/>
          </p:nvSpPr>
          <p:spPr bwMode="auto">
            <a:xfrm>
              <a:off x="4055" y="2985"/>
              <a:ext cx="0" cy="28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636930">
                                            <p:txEl>
                                              <p:pRg st="0" end="0"/>
                                            </p:txEl>
                                          </p:spTgt>
                                        </p:tgtEl>
                                        <p:attrNameLst>
                                          <p:attrName>style.visibility</p:attrName>
                                        </p:attrNameLst>
                                      </p:cBhvr>
                                      <p:to>
                                        <p:strVal val="visible"/>
                                      </p:to>
                                    </p:set>
                                    <p:anim calcmode="lin" valueType="num">
                                      <p:cBhvr additive="base">
                                        <p:cTn id="7" dur="500" fill="hold"/>
                                        <p:tgtEl>
                                          <p:spTgt spid="6369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3693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8" fill="hold" nodeType="clickEffect">
                                  <p:stCondLst>
                                    <p:cond delay="0"/>
                                  </p:stCondLst>
                                  <p:childTnLst>
                                    <p:set>
                                      <p:cBhvr>
                                        <p:cTn id="12" dur="1" fill="hold">
                                          <p:stCondLst>
                                            <p:cond delay="0"/>
                                          </p:stCondLst>
                                        </p:cTn>
                                        <p:tgtEl>
                                          <p:spTgt spid="636931"/>
                                        </p:tgtEl>
                                        <p:attrNameLst>
                                          <p:attrName>style.visibility</p:attrName>
                                        </p:attrNameLst>
                                      </p:cBhvr>
                                      <p:to>
                                        <p:strVal val="visible"/>
                                      </p:to>
                                    </p:set>
                                    <p:anim calcmode="lin" valueType="num">
                                      <p:cBhvr>
                                        <p:cTn id="13" dur="500" fill="hold"/>
                                        <p:tgtEl>
                                          <p:spTgt spid="636931"/>
                                        </p:tgtEl>
                                        <p:attrNameLst>
                                          <p:attrName>ppt_x</p:attrName>
                                        </p:attrNameLst>
                                      </p:cBhvr>
                                      <p:tavLst>
                                        <p:tav tm="0">
                                          <p:val>
                                            <p:strVal val="#ppt_x-#ppt_w/2"/>
                                          </p:val>
                                        </p:tav>
                                        <p:tav tm="100000">
                                          <p:val>
                                            <p:strVal val="#ppt_x"/>
                                          </p:val>
                                        </p:tav>
                                      </p:tavLst>
                                    </p:anim>
                                    <p:anim calcmode="lin" valueType="num">
                                      <p:cBhvr>
                                        <p:cTn id="14" dur="500" fill="hold"/>
                                        <p:tgtEl>
                                          <p:spTgt spid="636931"/>
                                        </p:tgtEl>
                                        <p:attrNameLst>
                                          <p:attrName>ppt_y</p:attrName>
                                        </p:attrNameLst>
                                      </p:cBhvr>
                                      <p:tavLst>
                                        <p:tav tm="0">
                                          <p:val>
                                            <p:strVal val="#ppt_y"/>
                                          </p:val>
                                        </p:tav>
                                        <p:tav tm="100000">
                                          <p:val>
                                            <p:strVal val="#ppt_y"/>
                                          </p:val>
                                        </p:tav>
                                      </p:tavLst>
                                    </p:anim>
                                    <p:anim calcmode="lin" valueType="num">
                                      <p:cBhvr>
                                        <p:cTn id="15" dur="500" fill="hold"/>
                                        <p:tgtEl>
                                          <p:spTgt spid="636931"/>
                                        </p:tgtEl>
                                        <p:attrNameLst>
                                          <p:attrName>ppt_w</p:attrName>
                                        </p:attrNameLst>
                                      </p:cBhvr>
                                      <p:tavLst>
                                        <p:tav tm="0">
                                          <p:val>
                                            <p:fltVal val="0"/>
                                          </p:val>
                                        </p:tav>
                                        <p:tav tm="100000">
                                          <p:val>
                                            <p:strVal val="#ppt_w"/>
                                          </p:val>
                                        </p:tav>
                                      </p:tavLst>
                                    </p:anim>
                                    <p:anim calcmode="lin" valueType="num">
                                      <p:cBhvr>
                                        <p:cTn id="16" dur="500" fill="hold"/>
                                        <p:tgtEl>
                                          <p:spTgt spid="636931"/>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4" fill="hold" nodeType="clickEffect">
                                  <p:stCondLst>
                                    <p:cond delay="0"/>
                                  </p:stCondLst>
                                  <p:childTnLst>
                                    <p:set>
                                      <p:cBhvr>
                                        <p:cTn id="20" dur="1" fill="hold">
                                          <p:stCondLst>
                                            <p:cond delay="0"/>
                                          </p:stCondLst>
                                        </p:cTn>
                                        <p:tgtEl>
                                          <p:spTgt spid="636941"/>
                                        </p:tgtEl>
                                        <p:attrNameLst>
                                          <p:attrName>style.visibility</p:attrName>
                                        </p:attrNameLst>
                                      </p:cBhvr>
                                      <p:to>
                                        <p:strVal val="visible"/>
                                      </p:to>
                                    </p:set>
                                    <p:anim calcmode="lin" valueType="num">
                                      <p:cBhvr>
                                        <p:cTn id="21" dur="500" fill="hold"/>
                                        <p:tgtEl>
                                          <p:spTgt spid="636941"/>
                                        </p:tgtEl>
                                        <p:attrNameLst>
                                          <p:attrName>ppt_x</p:attrName>
                                        </p:attrNameLst>
                                      </p:cBhvr>
                                      <p:tavLst>
                                        <p:tav tm="0">
                                          <p:val>
                                            <p:strVal val="#ppt_x"/>
                                          </p:val>
                                        </p:tav>
                                        <p:tav tm="100000">
                                          <p:val>
                                            <p:strVal val="#ppt_x"/>
                                          </p:val>
                                        </p:tav>
                                      </p:tavLst>
                                    </p:anim>
                                    <p:anim calcmode="lin" valueType="num">
                                      <p:cBhvr>
                                        <p:cTn id="22" dur="500" fill="hold"/>
                                        <p:tgtEl>
                                          <p:spTgt spid="636941"/>
                                        </p:tgtEl>
                                        <p:attrNameLst>
                                          <p:attrName>ppt_y</p:attrName>
                                        </p:attrNameLst>
                                      </p:cBhvr>
                                      <p:tavLst>
                                        <p:tav tm="0">
                                          <p:val>
                                            <p:strVal val="#ppt_y+#ppt_h/2"/>
                                          </p:val>
                                        </p:tav>
                                        <p:tav tm="100000">
                                          <p:val>
                                            <p:strVal val="#ppt_y"/>
                                          </p:val>
                                        </p:tav>
                                      </p:tavLst>
                                    </p:anim>
                                    <p:anim calcmode="lin" valueType="num">
                                      <p:cBhvr>
                                        <p:cTn id="23" dur="500" fill="hold"/>
                                        <p:tgtEl>
                                          <p:spTgt spid="636941"/>
                                        </p:tgtEl>
                                        <p:attrNameLst>
                                          <p:attrName>ppt_w</p:attrName>
                                        </p:attrNameLst>
                                      </p:cBhvr>
                                      <p:tavLst>
                                        <p:tav tm="0">
                                          <p:val>
                                            <p:strVal val="#ppt_w"/>
                                          </p:val>
                                        </p:tav>
                                        <p:tav tm="100000">
                                          <p:val>
                                            <p:strVal val="#ppt_w"/>
                                          </p:val>
                                        </p:tav>
                                      </p:tavLst>
                                    </p:anim>
                                    <p:anim calcmode="lin" valueType="num">
                                      <p:cBhvr>
                                        <p:cTn id="24" dur="500" fill="hold"/>
                                        <p:tgtEl>
                                          <p:spTgt spid="636941"/>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8" fill="hold" nodeType="clickEffect">
                                  <p:stCondLst>
                                    <p:cond delay="0"/>
                                  </p:stCondLst>
                                  <p:childTnLst>
                                    <p:set>
                                      <p:cBhvr>
                                        <p:cTn id="28" dur="1" fill="hold">
                                          <p:stCondLst>
                                            <p:cond delay="0"/>
                                          </p:stCondLst>
                                        </p:cTn>
                                        <p:tgtEl>
                                          <p:spTgt spid="636950"/>
                                        </p:tgtEl>
                                        <p:attrNameLst>
                                          <p:attrName>style.visibility</p:attrName>
                                        </p:attrNameLst>
                                      </p:cBhvr>
                                      <p:to>
                                        <p:strVal val="visible"/>
                                      </p:to>
                                    </p:set>
                                    <p:anim calcmode="lin" valueType="num">
                                      <p:cBhvr>
                                        <p:cTn id="29" dur="500" fill="hold"/>
                                        <p:tgtEl>
                                          <p:spTgt spid="636950"/>
                                        </p:tgtEl>
                                        <p:attrNameLst>
                                          <p:attrName>ppt_x</p:attrName>
                                        </p:attrNameLst>
                                      </p:cBhvr>
                                      <p:tavLst>
                                        <p:tav tm="0">
                                          <p:val>
                                            <p:strVal val="#ppt_x-#ppt_w/2"/>
                                          </p:val>
                                        </p:tav>
                                        <p:tav tm="100000">
                                          <p:val>
                                            <p:strVal val="#ppt_x"/>
                                          </p:val>
                                        </p:tav>
                                      </p:tavLst>
                                    </p:anim>
                                    <p:anim calcmode="lin" valueType="num">
                                      <p:cBhvr>
                                        <p:cTn id="30" dur="500" fill="hold"/>
                                        <p:tgtEl>
                                          <p:spTgt spid="636950"/>
                                        </p:tgtEl>
                                        <p:attrNameLst>
                                          <p:attrName>ppt_y</p:attrName>
                                        </p:attrNameLst>
                                      </p:cBhvr>
                                      <p:tavLst>
                                        <p:tav tm="0">
                                          <p:val>
                                            <p:strVal val="#ppt_y"/>
                                          </p:val>
                                        </p:tav>
                                        <p:tav tm="100000">
                                          <p:val>
                                            <p:strVal val="#ppt_y"/>
                                          </p:val>
                                        </p:tav>
                                      </p:tavLst>
                                    </p:anim>
                                    <p:anim calcmode="lin" valueType="num">
                                      <p:cBhvr>
                                        <p:cTn id="31" dur="500" fill="hold"/>
                                        <p:tgtEl>
                                          <p:spTgt spid="636950"/>
                                        </p:tgtEl>
                                        <p:attrNameLst>
                                          <p:attrName>ppt_w</p:attrName>
                                        </p:attrNameLst>
                                      </p:cBhvr>
                                      <p:tavLst>
                                        <p:tav tm="0">
                                          <p:val>
                                            <p:fltVal val="0"/>
                                          </p:val>
                                        </p:tav>
                                        <p:tav tm="100000">
                                          <p:val>
                                            <p:strVal val="#ppt_w"/>
                                          </p:val>
                                        </p:tav>
                                      </p:tavLst>
                                    </p:anim>
                                    <p:anim calcmode="lin" valueType="num">
                                      <p:cBhvr>
                                        <p:cTn id="32" dur="500" fill="hold"/>
                                        <p:tgtEl>
                                          <p:spTgt spid="636950"/>
                                        </p:tgtEl>
                                        <p:attrNameLst>
                                          <p:attrName>ppt_h</p:attrName>
                                        </p:attrNameLst>
                                      </p:cBhvr>
                                      <p:tavLst>
                                        <p:tav tm="0">
                                          <p:val>
                                            <p:strVal val="#ppt_h"/>
                                          </p:val>
                                        </p:tav>
                                        <p:tav tm="100000">
                                          <p:val>
                                            <p:strVal val="#ppt_h"/>
                                          </p:val>
                                        </p:tav>
                                      </p:tavLst>
                                    </p:anim>
                                  </p:childTnLst>
                                </p:cTn>
                              </p:par>
                            </p:childTnLst>
                          </p:cTn>
                        </p:par>
                        <p:par>
                          <p:cTn id="33" fill="hold">
                            <p:stCondLst>
                              <p:cond delay="500"/>
                            </p:stCondLst>
                            <p:childTnLst>
                              <p:par>
                                <p:cTn id="34" presetID="17" presetClass="entr" presetSubtype="1" fill="hold" nodeType="afterEffect">
                                  <p:stCondLst>
                                    <p:cond delay="0"/>
                                  </p:stCondLst>
                                  <p:childTnLst>
                                    <p:set>
                                      <p:cBhvr>
                                        <p:cTn id="35" dur="1" fill="hold">
                                          <p:stCondLst>
                                            <p:cond delay="0"/>
                                          </p:stCondLst>
                                        </p:cTn>
                                        <p:tgtEl>
                                          <p:spTgt spid="636958"/>
                                        </p:tgtEl>
                                        <p:attrNameLst>
                                          <p:attrName>style.visibility</p:attrName>
                                        </p:attrNameLst>
                                      </p:cBhvr>
                                      <p:to>
                                        <p:strVal val="visible"/>
                                      </p:to>
                                    </p:set>
                                    <p:anim calcmode="lin" valueType="num">
                                      <p:cBhvr>
                                        <p:cTn id="36" dur="500" fill="hold"/>
                                        <p:tgtEl>
                                          <p:spTgt spid="636958"/>
                                        </p:tgtEl>
                                        <p:attrNameLst>
                                          <p:attrName>ppt_x</p:attrName>
                                        </p:attrNameLst>
                                      </p:cBhvr>
                                      <p:tavLst>
                                        <p:tav tm="0">
                                          <p:val>
                                            <p:strVal val="#ppt_x"/>
                                          </p:val>
                                        </p:tav>
                                        <p:tav tm="100000">
                                          <p:val>
                                            <p:strVal val="#ppt_x"/>
                                          </p:val>
                                        </p:tav>
                                      </p:tavLst>
                                    </p:anim>
                                    <p:anim calcmode="lin" valueType="num">
                                      <p:cBhvr>
                                        <p:cTn id="37" dur="500" fill="hold"/>
                                        <p:tgtEl>
                                          <p:spTgt spid="636958"/>
                                        </p:tgtEl>
                                        <p:attrNameLst>
                                          <p:attrName>ppt_y</p:attrName>
                                        </p:attrNameLst>
                                      </p:cBhvr>
                                      <p:tavLst>
                                        <p:tav tm="0">
                                          <p:val>
                                            <p:strVal val="#ppt_y-#ppt_h/2"/>
                                          </p:val>
                                        </p:tav>
                                        <p:tav tm="100000">
                                          <p:val>
                                            <p:strVal val="#ppt_y"/>
                                          </p:val>
                                        </p:tav>
                                      </p:tavLst>
                                    </p:anim>
                                    <p:anim calcmode="lin" valueType="num">
                                      <p:cBhvr>
                                        <p:cTn id="38" dur="500" fill="hold"/>
                                        <p:tgtEl>
                                          <p:spTgt spid="636958"/>
                                        </p:tgtEl>
                                        <p:attrNameLst>
                                          <p:attrName>ppt_w</p:attrName>
                                        </p:attrNameLst>
                                      </p:cBhvr>
                                      <p:tavLst>
                                        <p:tav tm="0">
                                          <p:val>
                                            <p:strVal val="#ppt_w"/>
                                          </p:val>
                                        </p:tav>
                                        <p:tav tm="100000">
                                          <p:val>
                                            <p:strVal val="#ppt_w"/>
                                          </p:val>
                                        </p:tav>
                                      </p:tavLst>
                                    </p:anim>
                                    <p:anim calcmode="lin" valueType="num">
                                      <p:cBhvr>
                                        <p:cTn id="39" dur="500" fill="hold"/>
                                        <p:tgtEl>
                                          <p:spTgt spid="636958"/>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7" presetClass="entr" presetSubtype="8" fill="hold" nodeType="clickEffect">
                                  <p:stCondLst>
                                    <p:cond delay="0"/>
                                  </p:stCondLst>
                                  <p:childTnLst>
                                    <p:set>
                                      <p:cBhvr>
                                        <p:cTn id="43" dur="1" fill="hold">
                                          <p:stCondLst>
                                            <p:cond delay="0"/>
                                          </p:stCondLst>
                                        </p:cTn>
                                        <p:tgtEl>
                                          <p:spTgt spid="636965"/>
                                        </p:tgtEl>
                                        <p:attrNameLst>
                                          <p:attrName>style.visibility</p:attrName>
                                        </p:attrNameLst>
                                      </p:cBhvr>
                                      <p:to>
                                        <p:strVal val="visible"/>
                                      </p:to>
                                    </p:set>
                                    <p:anim calcmode="lin" valueType="num">
                                      <p:cBhvr>
                                        <p:cTn id="44" dur="500" fill="hold"/>
                                        <p:tgtEl>
                                          <p:spTgt spid="636965"/>
                                        </p:tgtEl>
                                        <p:attrNameLst>
                                          <p:attrName>ppt_x</p:attrName>
                                        </p:attrNameLst>
                                      </p:cBhvr>
                                      <p:tavLst>
                                        <p:tav tm="0">
                                          <p:val>
                                            <p:strVal val="#ppt_x-#ppt_w/2"/>
                                          </p:val>
                                        </p:tav>
                                        <p:tav tm="100000">
                                          <p:val>
                                            <p:strVal val="#ppt_x"/>
                                          </p:val>
                                        </p:tav>
                                      </p:tavLst>
                                    </p:anim>
                                    <p:anim calcmode="lin" valueType="num">
                                      <p:cBhvr>
                                        <p:cTn id="45" dur="500" fill="hold"/>
                                        <p:tgtEl>
                                          <p:spTgt spid="636965"/>
                                        </p:tgtEl>
                                        <p:attrNameLst>
                                          <p:attrName>ppt_y</p:attrName>
                                        </p:attrNameLst>
                                      </p:cBhvr>
                                      <p:tavLst>
                                        <p:tav tm="0">
                                          <p:val>
                                            <p:strVal val="#ppt_y"/>
                                          </p:val>
                                        </p:tav>
                                        <p:tav tm="100000">
                                          <p:val>
                                            <p:strVal val="#ppt_y"/>
                                          </p:val>
                                        </p:tav>
                                      </p:tavLst>
                                    </p:anim>
                                    <p:anim calcmode="lin" valueType="num">
                                      <p:cBhvr>
                                        <p:cTn id="46" dur="500" fill="hold"/>
                                        <p:tgtEl>
                                          <p:spTgt spid="636965"/>
                                        </p:tgtEl>
                                        <p:attrNameLst>
                                          <p:attrName>ppt_w</p:attrName>
                                        </p:attrNameLst>
                                      </p:cBhvr>
                                      <p:tavLst>
                                        <p:tav tm="0">
                                          <p:val>
                                            <p:fltVal val="0"/>
                                          </p:val>
                                        </p:tav>
                                        <p:tav tm="100000">
                                          <p:val>
                                            <p:strVal val="#ppt_w"/>
                                          </p:val>
                                        </p:tav>
                                      </p:tavLst>
                                    </p:anim>
                                    <p:anim calcmode="lin" valueType="num">
                                      <p:cBhvr>
                                        <p:cTn id="47" dur="500" fill="hold"/>
                                        <p:tgtEl>
                                          <p:spTgt spid="636965"/>
                                        </p:tgtEl>
                                        <p:attrNameLst>
                                          <p:attrName>ppt_h</p:attrName>
                                        </p:attrNameLst>
                                      </p:cBhvr>
                                      <p:tavLst>
                                        <p:tav tm="0">
                                          <p:val>
                                            <p:strVal val="#ppt_h"/>
                                          </p:val>
                                        </p:tav>
                                        <p:tav tm="100000">
                                          <p:val>
                                            <p:strVal val="#ppt_h"/>
                                          </p:val>
                                        </p:tav>
                                      </p:tavLst>
                                    </p:anim>
                                  </p:childTnLst>
                                </p:cTn>
                              </p:par>
                            </p:childTnLst>
                          </p:cTn>
                        </p:par>
                        <p:par>
                          <p:cTn id="48" fill="hold">
                            <p:stCondLst>
                              <p:cond delay="500"/>
                            </p:stCondLst>
                            <p:childTnLst>
                              <p:par>
                                <p:cTn id="49" presetID="17" presetClass="entr" presetSubtype="1" fill="hold" nodeType="afterEffect">
                                  <p:stCondLst>
                                    <p:cond delay="0"/>
                                  </p:stCondLst>
                                  <p:childTnLst>
                                    <p:set>
                                      <p:cBhvr>
                                        <p:cTn id="50" dur="1" fill="hold">
                                          <p:stCondLst>
                                            <p:cond delay="0"/>
                                          </p:stCondLst>
                                        </p:cTn>
                                        <p:tgtEl>
                                          <p:spTgt spid="636981"/>
                                        </p:tgtEl>
                                        <p:attrNameLst>
                                          <p:attrName>style.visibility</p:attrName>
                                        </p:attrNameLst>
                                      </p:cBhvr>
                                      <p:to>
                                        <p:strVal val="visible"/>
                                      </p:to>
                                    </p:set>
                                    <p:anim calcmode="lin" valueType="num">
                                      <p:cBhvr>
                                        <p:cTn id="51" dur="500" fill="hold"/>
                                        <p:tgtEl>
                                          <p:spTgt spid="636981"/>
                                        </p:tgtEl>
                                        <p:attrNameLst>
                                          <p:attrName>ppt_x</p:attrName>
                                        </p:attrNameLst>
                                      </p:cBhvr>
                                      <p:tavLst>
                                        <p:tav tm="0">
                                          <p:val>
                                            <p:strVal val="#ppt_x"/>
                                          </p:val>
                                        </p:tav>
                                        <p:tav tm="100000">
                                          <p:val>
                                            <p:strVal val="#ppt_x"/>
                                          </p:val>
                                        </p:tav>
                                      </p:tavLst>
                                    </p:anim>
                                    <p:anim calcmode="lin" valueType="num">
                                      <p:cBhvr>
                                        <p:cTn id="52" dur="500" fill="hold"/>
                                        <p:tgtEl>
                                          <p:spTgt spid="636981"/>
                                        </p:tgtEl>
                                        <p:attrNameLst>
                                          <p:attrName>ppt_y</p:attrName>
                                        </p:attrNameLst>
                                      </p:cBhvr>
                                      <p:tavLst>
                                        <p:tav tm="0">
                                          <p:val>
                                            <p:strVal val="#ppt_y-#ppt_h/2"/>
                                          </p:val>
                                        </p:tav>
                                        <p:tav tm="100000">
                                          <p:val>
                                            <p:strVal val="#ppt_y"/>
                                          </p:val>
                                        </p:tav>
                                      </p:tavLst>
                                    </p:anim>
                                    <p:anim calcmode="lin" valueType="num">
                                      <p:cBhvr>
                                        <p:cTn id="53" dur="500" fill="hold"/>
                                        <p:tgtEl>
                                          <p:spTgt spid="636981"/>
                                        </p:tgtEl>
                                        <p:attrNameLst>
                                          <p:attrName>ppt_w</p:attrName>
                                        </p:attrNameLst>
                                      </p:cBhvr>
                                      <p:tavLst>
                                        <p:tav tm="0">
                                          <p:val>
                                            <p:strVal val="#ppt_w"/>
                                          </p:val>
                                        </p:tav>
                                        <p:tav tm="100000">
                                          <p:val>
                                            <p:strVal val="#ppt_w"/>
                                          </p:val>
                                        </p:tav>
                                      </p:tavLst>
                                    </p:anim>
                                    <p:anim calcmode="lin" valueType="num">
                                      <p:cBhvr>
                                        <p:cTn id="54" dur="500" fill="hold"/>
                                        <p:tgtEl>
                                          <p:spTgt spid="636981"/>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636991"/>
                                        </p:tgtEl>
                                        <p:attrNameLst>
                                          <p:attrName>style.visibility</p:attrName>
                                        </p:attrNameLst>
                                      </p:cBhvr>
                                      <p:to>
                                        <p:strVal val="visible"/>
                                      </p:to>
                                    </p:set>
                                    <p:animEffect transition="in" filter="dissolve">
                                      <p:cBhvr>
                                        <p:cTn id="59" dur="500"/>
                                        <p:tgtEl>
                                          <p:spTgt spid="636991"/>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636992"/>
                                        </p:tgtEl>
                                        <p:attrNameLst>
                                          <p:attrName>style.visibility</p:attrName>
                                        </p:attrNameLst>
                                      </p:cBhvr>
                                      <p:to>
                                        <p:strVal val="visible"/>
                                      </p:to>
                                    </p:set>
                                    <p:animEffect transition="in" filter="dissolve">
                                      <p:cBhvr>
                                        <p:cTn id="64" dur="500"/>
                                        <p:tgtEl>
                                          <p:spTgt spid="636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0" grpId="0" build="p" autoUpdateAnimBg="0"/>
      <p:bldP spid="636991"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42" name="Rectangle 2"/>
          <p:cNvSpPr>
            <a:spLocks noGrp="1" noChangeArrowheads="1"/>
          </p:cNvSpPr>
          <p:nvPr>
            <p:ph type="title"/>
          </p:nvPr>
        </p:nvSpPr>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A Visual Operation:  Pivot (Rotate)</a:t>
            </a:r>
          </a:p>
        </p:txBody>
      </p:sp>
      <p:sp>
        <p:nvSpPr>
          <p:cNvPr id="42" name="Slide Number Placeholder 4"/>
          <p:cNvSpPr>
            <a:spLocks noGrp="1"/>
          </p:cNvSpPr>
          <p:nvPr>
            <p:ph type="sldNum" sz="quarter" idx="12"/>
          </p:nvPr>
        </p:nvSpPr>
        <p:spPr/>
        <p:txBody>
          <a:bodyPr/>
          <a:lstStyle/>
          <a:p>
            <a:fld id="{B538989A-BC3B-4C54-AA1B-FB9B2C8BCD6C}" type="slidenum">
              <a:rPr lang="en-US" altLang="en-US"/>
              <a:t>63</a:t>
            </a:fld>
            <a:endParaRPr lang="en-US" altLang="en-US"/>
          </a:p>
        </p:txBody>
      </p:sp>
      <p:sp>
        <p:nvSpPr>
          <p:cNvPr id="1085443" name="Rectangle 3"/>
          <p:cNvSpPr>
            <a:spLocks noChangeArrowheads="1"/>
          </p:cNvSpPr>
          <p:nvPr/>
        </p:nvSpPr>
        <p:spPr bwMode="auto">
          <a:xfrm>
            <a:off x="3429000" y="3886200"/>
            <a:ext cx="19812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44" name="Rectangle 4"/>
          <p:cNvSpPr>
            <a:spLocks noChangeArrowheads="1"/>
          </p:cNvSpPr>
          <p:nvPr/>
        </p:nvSpPr>
        <p:spPr bwMode="auto">
          <a:xfrm>
            <a:off x="3505200" y="2971800"/>
            <a:ext cx="15240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45" name="Rectangle 5"/>
          <p:cNvSpPr>
            <a:spLocks noChangeArrowheads="1"/>
          </p:cNvSpPr>
          <p:nvPr/>
        </p:nvSpPr>
        <p:spPr bwMode="auto">
          <a:xfrm>
            <a:off x="1524000" y="3124200"/>
            <a:ext cx="2590800" cy="2286000"/>
          </a:xfrm>
          <a:prstGeom prst="rect">
            <a:avLst/>
          </a:pr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46" name="Line 6"/>
          <p:cNvSpPr>
            <a:spLocks noChangeShapeType="1"/>
          </p:cNvSpPr>
          <p:nvPr/>
        </p:nvSpPr>
        <p:spPr bwMode="auto">
          <a:xfrm flipH="1">
            <a:off x="4114800" y="2438400"/>
            <a:ext cx="762000" cy="68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47" name="Line 7"/>
          <p:cNvSpPr>
            <a:spLocks noChangeShapeType="1"/>
          </p:cNvSpPr>
          <p:nvPr/>
        </p:nvSpPr>
        <p:spPr bwMode="auto">
          <a:xfrm flipH="1">
            <a:off x="1524000" y="2438400"/>
            <a:ext cx="762000" cy="68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48" name="Line 8"/>
          <p:cNvSpPr>
            <a:spLocks noChangeShapeType="1"/>
          </p:cNvSpPr>
          <p:nvPr/>
        </p:nvSpPr>
        <p:spPr bwMode="auto">
          <a:xfrm flipH="1">
            <a:off x="4114800" y="4724400"/>
            <a:ext cx="762000" cy="68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49" name="Line 9"/>
          <p:cNvSpPr>
            <a:spLocks noChangeShapeType="1"/>
          </p:cNvSpPr>
          <p:nvPr/>
        </p:nvSpPr>
        <p:spPr bwMode="auto">
          <a:xfrm>
            <a:off x="3276600" y="2667000"/>
            <a:ext cx="1588" cy="762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50" name="Line 10"/>
          <p:cNvSpPr>
            <a:spLocks noChangeShapeType="1"/>
          </p:cNvSpPr>
          <p:nvPr/>
        </p:nvSpPr>
        <p:spPr bwMode="auto">
          <a:xfrm flipH="1">
            <a:off x="3352800" y="2438400"/>
            <a:ext cx="609600" cy="68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51" name="Rectangle 11"/>
          <p:cNvSpPr>
            <a:spLocks noChangeArrowheads="1"/>
          </p:cNvSpPr>
          <p:nvPr/>
        </p:nvSpPr>
        <p:spPr bwMode="auto">
          <a:xfrm>
            <a:off x="2057400" y="3124200"/>
            <a:ext cx="1295400" cy="2286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52" name="Rectangle 12"/>
          <p:cNvSpPr>
            <a:spLocks noChangeArrowheads="1"/>
          </p:cNvSpPr>
          <p:nvPr/>
        </p:nvSpPr>
        <p:spPr bwMode="auto">
          <a:xfrm>
            <a:off x="1524000" y="3124200"/>
            <a:ext cx="2590800" cy="12192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53" name="Line 13"/>
          <p:cNvSpPr>
            <a:spLocks noChangeShapeType="1"/>
          </p:cNvSpPr>
          <p:nvPr/>
        </p:nvSpPr>
        <p:spPr bwMode="auto">
          <a:xfrm>
            <a:off x="2743200" y="3124200"/>
            <a:ext cx="1588" cy="2286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54" name="Line 14"/>
          <p:cNvSpPr>
            <a:spLocks noChangeShapeType="1"/>
          </p:cNvSpPr>
          <p:nvPr/>
        </p:nvSpPr>
        <p:spPr bwMode="auto">
          <a:xfrm>
            <a:off x="2286000" y="2438400"/>
            <a:ext cx="2590800" cy="15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55" name="Line 15"/>
          <p:cNvSpPr>
            <a:spLocks noChangeShapeType="1"/>
          </p:cNvSpPr>
          <p:nvPr/>
        </p:nvSpPr>
        <p:spPr bwMode="auto">
          <a:xfrm>
            <a:off x="4876800" y="2438400"/>
            <a:ext cx="1588" cy="2286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56" name="Rectangle 16"/>
          <p:cNvSpPr>
            <a:spLocks noChangeArrowheads="1"/>
          </p:cNvSpPr>
          <p:nvPr/>
        </p:nvSpPr>
        <p:spPr bwMode="auto">
          <a:xfrm>
            <a:off x="2590800" y="3810000"/>
            <a:ext cx="2590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57" name="Rectangle 17"/>
          <p:cNvSpPr>
            <a:spLocks noChangeArrowheads="1"/>
          </p:cNvSpPr>
          <p:nvPr/>
        </p:nvSpPr>
        <p:spPr bwMode="auto">
          <a:xfrm>
            <a:off x="1524000" y="3733800"/>
            <a:ext cx="2590800" cy="11430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58" name="Text Box 18"/>
          <p:cNvSpPr txBox="1">
            <a:spLocks noChangeArrowheads="1"/>
          </p:cNvSpPr>
          <p:nvPr/>
        </p:nvSpPr>
        <p:spPr bwMode="auto">
          <a:xfrm>
            <a:off x="1600200" y="32766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spAutoFit/>
          </a:bodyPr>
          <a:lstStyle/>
          <a:p>
            <a:pPr algn="l">
              <a:spcBef>
                <a:spcPct val="50000"/>
              </a:spcBef>
            </a:pPr>
            <a:r>
              <a:rPr kumimoji="1" lang="en-US" altLang="en-US" sz="2000">
                <a:effectLst>
                  <a:outerShdw blurRad="38100" dist="38100" dir="2700000" algn="tl">
                    <a:srgbClr val="000000"/>
                  </a:outerShdw>
                </a:effectLst>
                <a:latin typeface="Impact" panose="020B0806030902050204" pitchFamily="34" charset="0"/>
              </a:rPr>
              <a:t>10</a:t>
            </a:r>
          </a:p>
        </p:txBody>
      </p:sp>
      <p:sp>
        <p:nvSpPr>
          <p:cNvPr id="1085459" name="Text Box 19"/>
          <p:cNvSpPr txBox="1">
            <a:spLocks noChangeArrowheads="1"/>
          </p:cNvSpPr>
          <p:nvPr/>
        </p:nvSpPr>
        <p:spPr bwMode="auto">
          <a:xfrm>
            <a:off x="1600200" y="38100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spAutoFit/>
          </a:bodyPr>
          <a:lstStyle/>
          <a:p>
            <a:pPr algn="l">
              <a:spcBef>
                <a:spcPct val="50000"/>
              </a:spcBef>
            </a:pPr>
            <a:r>
              <a:rPr kumimoji="1" lang="en-US" altLang="en-US" sz="2000">
                <a:effectLst>
                  <a:outerShdw blurRad="38100" dist="38100" dir="2700000" algn="tl">
                    <a:srgbClr val="000000"/>
                  </a:outerShdw>
                </a:effectLst>
                <a:latin typeface="Impact" panose="020B0806030902050204" pitchFamily="34" charset="0"/>
              </a:rPr>
              <a:t>47</a:t>
            </a:r>
          </a:p>
        </p:txBody>
      </p:sp>
      <p:sp>
        <p:nvSpPr>
          <p:cNvPr id="1085460" name="Text Box 20"/>
          <p:cNvSpPr txBox="1">
            <a:spLocks noChangeArrowheads="1"/>
          </p:cNvSpPr>
          <p:nvPr/>
        </p:nvSpPr>
        <p:spPr bwMode="auto">
          <a:xfrm>
            <a:off x="1600200" y="44196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spAutoFit/>
          </a:bodyPr>
          <a:lstStyle/>
          <a:p>
            <a:pPr algn="l">
              <a:spcBef>
                <a:spcPct val="50000"/>
              </a:spcBef>
            </a:pPr>
            <a:r>
              <a:rPr kumimoji="1" lang="en-US" altLang="en-US" sz="2000">
                <a:effectLst>
                  <a:outerShdw blurRad="38100" dist="38100" dir="2700000" algn="tl">
                    <a:srgbClr val="000000"/>
                  </a:outerShdw>
                </a:effectLst>
                <a:latin typeface="Impact" panose="020B0806030902050204" pitchFamily="34" charset="0"/>
              </a:rPr>
              <a:t>30</a:t>
            </a:r>
          </a:p>
        </p:txBody>
      </p:sp>
      <p:sp>
        <p:nvSpPr>
          <p:cNvPr id="1085461" name="Text Box 21"/>
          <p:cNvSpPr txBox="1">
            <a:spLocks noChangeArrowheads="1"/>
          </p:cNvSpPr>
          <p:nvPr/>
        </p:nvSpPr>
        <p:spPr bwMode="auto">
          <a:xfrm>
            <a:off x="1524000" y="48768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spAutoFit/>
          </a:bodyPr>
          <a:lstStyle/>
          <a:p>
            <a:pPr algn="l">
              <a:spcBef>
                <a:spcPct val="50000"/>
              </a:spcBef>
            </a:pPr>
            <a:r>
              <a:rPr kumimoji="1" lang="en-US" altLang="en-US" sz="2000">
                <a:effectLst>
                  <a:outerShdw blurRad="38100" dist="38100" dir="2700000" algn="tl">
                    <a:srgbClr val="000000"/>
                  </a:outerShdw>
                </a:effectLst>
                <a:latin typeface="Impact" panose="020B0806030902050204" pitchFamily="34" charset="0"/>
              </a:rPr>
              <a:t>12</a:t>
            </a:r>
          </a:p>
        </p:txBody>
      </p:sp>
      <p:sp>
        <p:nvSpPr>
          <p:cNvPr id="1085462" name="Text Box 22"/>
          <p:cNvSpPr txBox="1">
            <a:spLocks noChangeArrowheads="1"/>
          </p:cNvSpPr>
          <p:nvPr/>
        </p:nvSpPr>
        <p:spPr bwMode="auto">
          <a:xfrm>
            <a:off x="609600" y="3200400"/>
            <a:ext cx="1066800"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spAutoFit/>
          </a:bodyPr>
          <a:lstStyle/>
          <a:p>
            <a:pPr algn="l">
              <a:spcBef>
                <a:spcPct val="50000"/>
              </a:spcBef>
            </a:pPr>
            <a:r>
              <a:rPr kumimoji="1" lang="en-US" altLang="en-US" dirty="0">
                <a:effectLst>
                  <a:outerShdw blurRad="38100" dist="38100" dir="2700000" algn="tl">
                    <a:srgbClr val="000000"/>
                  </a:outerShdw>
                </a:effectLst>
                <a:latin typeface="Impact" panose="020B0806030902050204" pitchFamily="34" charset="0"/>
              </a:rPr>
              <a:t>Juice</a:t>
            </a:r>
          </a:p>
          <a:p>
            <a:pPr algn="l">
              <a:spcBef>
                <a:spcPct val="50000"/>
              </a:spcBef>
            </a:pPr>
            <a:r>
              <a:rPr kumimoji="1" lang="en-US" altLang="en-US" dirty="0">
                <a:effectLst>
                  <a:outerShdw blurRad="38100" dist="38100" dir="2700000" algn="tl">
                    <a:srgbClr val="000000"/>
                  </a:outerShdw>
                </a:effectLst>
                <a:latin typeface="Impact" panose="020B0806030902050204" pitchFamily="34" charset="0"/>
              </a:rPr>
              <a:t>Cola</a:t>
            </a:r>
          </a:p>
          <a:p>
            <a:pPr algn="l">
              <a:spcBef>
                <a:spcPct val="50000"/>
              </a:spcBef>
            </a:pPr>
            <a:r>
              <a:rPr kumimoji="1" lang="en-US" altLang="en-US" dirty="0">
                <a:effectLst>
                  <a:outerShdw blurRad="38100" dist="38100" dir="2700000" algn="tl">
                    <a:srgbClr val="000000"/>
                  </a:outerShdw>
                </a:effectLst>
                <a:latin typeface="Impact" panose="020B0806030902050204" pitchFamily="34" charset="0"/>
              </a:rPr>
              <a:t>Milk </a:t>
            </a:r>
          </a:p>
          <a:p>
            <a:pPr algn="l">
              <a:spcBef>
                <a:spcPct val="50000"/>
              </a:spcBef>
            </a:pPr>
            <a:r>
              <a:rPr kumimoji="1" lang="en-US" altLang="en-US" dirty="0">
                <a:effectLst>
                  <a:outerShdw blurRad="38100" dist="38100" dir="2700000" algn="tl">
                    <a:srgbClr val="000000"/>
                  </a:outerShdw>
                </a:effectLst>
                <a:latin typeface="Impact" panose="020B0806030902050204" pitchFamily="34" charset="0"/>
              </a:rPr>
              <a:t>Cream</a:t>
            </a:r>
          </a:p>
        </p:txBody>
      </p:sp>
      <p:sp>
        <p:nvSpPr>
          <p:cNvPr id="1085463" name="Line 23"/>
          <p:cNvSpPr>
            <a:spLocks noChangeShapeType="1"/>
          </p:cNvSpPr>
          <p:nvPr/>
        </p:nvSpPr>
        <p:spPr bwMode="auto">
          <a:xfrm>
            <a:off x="1828800" y="2895600"/>
            <a:ext cx="2514600" cy="15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64" name="Line 24"/>
          <p:cNvSpPr>
            <a:spLocks noChangeShapeType="1"/>
          </p:cNvSpPr>
          <p:nvPr/>
        </p:nvSpPr>
        <p:spPr bwMode="auto">
          <a:xfrm>
            <a:off x="2057400" y="2667000"/>
            <a:ext cx="2667000" cy="15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65" name="Line 25"/>
          <p:cNvSpPr>
            <a:spLocks noChangeShapeType="1"/>
          </p:cNvSpPr>
          <p:nvPr/>
        </p:nvSpPr>
        <p:spPr bwMode="auto">
          <a:xfrm flipV="1">
            <a:off x="2743200" y="2438400"/>
            <a:ext cx="685800" cy="68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66" name="Line 26"/>
          <p:cNvSpPr>
            <a:spLocks noChangeShapeType="1"/>
          </p:cNvSpPr>
          <p:nvPr/>
        </p:nvSpPr>
        <p:spPr bwMode="auto">
          <a:xfrm flipV="1">
            <a:off x="2057400" y="2438400"/>
            <a:ext cx="762000" cy="68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67" name="Text Box 27"/>
          <p:cNvSpPr txBox="1">
            <a:spLocks noChangeArrowheads="1"/>
          </p:cNvSpPr>
          <p:nvPr/>
        </p:nvSpPr>
        <p:spPr bwMode="auto">
          <a:xfrm rot="2891953">
            <a:off x="1314450" y="2190750"/>
            <a:ext cx="1425575"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spAutoFit/>
          </a:bodyPr>
          <a:lstStyle/>
          <a:p>
            <a:pPr algn="l">
              <a:spcBef>
                <a:spcPct val="50000"/>
              </a:spcBef>
            </a:pPr>
            <a:r>
              <a:rPr kumimoji="1" lang="en-US" altLang="en-US" sz="2000">
                <a:effectLst>
                  <a:outerShdw blurRad="38100" dist="38100" dir="2700000" algn="tl">
                    <a:srgbClr val="000000"/>
                  </a:outerShdw>
                </a:effectLst>
                <a:latin typeface="Impact" panose="020B0806030902050204" pitchFamily="34" charset="0"/>
              </a:rPr>
              <a:t>NY</a:t>
            </a:r>
          </a:p>
          <a:p>
            <a:pPr algn="l">
              <a:spcBef>
                <a:spcPct val="50000"/>
              </a:spcBef>
            </a:pPr>
            <a:r>
              <a:rPr kumimoji="1" lang="en-US" altLang="en-US" sz="2000">
                <a:effectLst>
                  <a:outerShdw blurRad="38100" dist="38100" dir="2700000" algn="tl">
                    <a:srgbClr val="000000"/>
                  </a:outerShdw>
                </a:effectLst>
                <a:latin typeface="Impact" panose="020B0806030902050204" pitchFamily="34" charset="0"/>
              </a:rPr>
              <a:t>LA</a:t>
            </a:r>
          </a:p>
          <a:p>
            <a:pPr algn="l">
              <a:spcBef>
                <a:spcPct val="50000"/>
              </a:spcBef>
            </a:pPr>
            <a:r>
              <a:rPr kumimoji="1" lang="en-US" altLang="en-US" sz="2000">
                <a:effectLst>
                  <a:outerShdw blurRad="38100" dist="38100" dir="2700000" algn="tl">
                    <a:srgbClr val="000000"/>
                  </a:outerShdw>
                </a:effectLst>
                <a:latin typeface="Impact" panose="020B0806030902050204" pitchFamily="34" charset="0"/>
              </a:rPr>
              <a:t>SF</a:t>
            </a:r>
          </a:p>
          <a:p>
            <a:pPr algn="l">
              <a:spcBef>
                <a:spcPct val="50000"/>
              </a:spcBef>
            </a:pPr>
            <a:endParaRPr kumimoji="1" lang="en-US" altLang="en-US" sz="2000">
              <a:effectLst>
                <a:outerShdw blurRad="38100" dist="38100" dir="2700000" algn="tl">
                  <a:srgbClr val="000000"/>
                </a:outerShdw>
              </a:effectLst>
              <a:latin typeface="Impact" panose="020B0806030902050204" pitchFamily="34" charset="0"/>
            </a:endParaRPr>
          </a:p>
        </p:txBody>
      </p:sp>
      <p:sp>
        <p:nvSpPr>
          <p:cNvPr id="1085468" name="Text Box 28"/>
          <p:cNvSpPr txBox="1">
            <a:spLocks noChangeArrowheads="1"/>
          </p:cNvSpPr>
          <p:nvPr/>
        </p:nvSpPr>
        <p:spPr bwMode="auto">
          <a:xfrm>
            <a:off x="1371600" y="5486400"/>
            <a:ext cx="2514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spAutoFit/>
          </a:bodyPr>
          <a:lstStyle/>
          <a:p>
            <a:pPr algn="l">
              <a:spcBef>
                <a:spcPct val="50000"/>
              </a:spcBef>
            </a:pPr>
            <a:r>
              <a:rPr kumimoji="1" lang="en-US" altLang="en-US" sz="2800">
                <a:effectLst>
                  <a:outerShdw blurRad="38100" dist="38100" dir="2700000" algn="tl">
                    <a:srgbClr val="000000"/>
                  </a:outerShdw>
                </a:effectLst>
                <a:latin typeface="Impact" panose="020B0806030902050204" pitchFamily="34" charset="0"/>
              </a:rPr>
              <a:t>3/1  3/2  3/3 3/4</a:t>
            </a:r>
          </a:p>
        </p:txBody>
      </p:sp>
      <p:sp>
        <p:nvSpPr>
          <p:cNvPr id="1085469" name="Text Box 29"/>
          <p:cNvSpPr txBox="1">
            <a:spLocks noChangeArrowheads="1"/>
          </p:cNvSpPr>
          <p:nvPr/>
        </p:nvSpPr>
        <p:spPr bwMode="auto">
          <a:xfrm>
            <a:off x="1828800" y="5867400"/>
            <a:ext cx="1752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spAutoFit/>
          </a:bodyPr>
          <a:lstStyle/>
          <a:p>
            <a:pPr algn="l">
              <a:spcBef>
                <a:spcPct val="50000"/>
              </a:spcBef>
            </a:pPr>
            <a:r>
              <a:rPr kumimoji="1" lang="en-US" altLang="en-US" sz="4400" dirty="0">
                <a:effectLst>
                  <a:outerShdw blurRad="38100" dist="38100" dir="2700000" algn="tl">
                    <a:srgbClr val="000000"/>
                  </a:outerShdw>
                </a:effectLst>
                <a:latin typeface="Impact" panose="020B0806030902050204" pitchFamily="34" charset="0"/>
              </a:rPr>
              <a:t>Date</a:t>
            </a:r>
          </a:p>
        </p:txBody>
      </p:sp>
      <p:sp>
        <p:nvSpPr>
          <p:cNvPr id="1085470" name="Rectangle 30"/>
          <p:cNvSpPr>
            <a:spLocks noChangeArrowheads="1"/>
          </p:cNvSpPr>
          <p:nvPr/>
        </p:nvSpPr>
        <p:spPr bwMode="auto">
          <a:xfrm>
            <a:off x="6400800" y="2590800"/>
            <a:ext cx="2209800" cy="1371600"/>
          </a:xfrm>
          <a:prstGeom prst="rect">
            <a:avLst/>
          </a:pr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71" name="Rectangle 31"/>
          <p:cNvSpPr>
            <a:spLocks noChangeArrowheads="1"/>
          </p:cNvSpPr>
          <p:nvPr/>
        </p:nvSpPr>
        <p:spPr bwMode="auto">
          <a:xfrm>
            <a:off x="6019800" y="2819400"/>
            <a:ext cx="2209800" cy="1371600"/>
          </a:xfrm>
          <a:prstGeom prst="rect">
            <a:avLst/>
          </a:pr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72" name="Rectangle 32"/>
          <p:cNvSpPr>
            <a:spLocks noChangeArrowheads="1"/>
          </p:cNvSpPr>
          <p:nvPr/>
        </p:nvSpPr>
        <p:spPr bwMode="auto">
          <a:xfrm>
            <a:off x="5715000" y="3048000"/>
            <a:ext cx="2209800" cy="1371600"/>
          </a:xfrm>
          <a:prstGeom prst="rect">
            <a:avLst/>
          </a:pr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73" name="Rectangle 33"/>
          <p:cNvSpPr>
            <a:spLocks noChangeArrowheads="1"/>
          </p:cNvSpPr>
          <p:nvPr/>
        </p:nvSpPr>
        <p:spPr bwMode="auto">
          <a:xfrm>
            <a:off x="5410200" y="3276600"/>
            <a:ext cx="2209800" cy="1371600"/>
          </a:xfrm>
          <a:prstGeom prst="rect">
            <a:avLst/>
          </a:pr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74" name="Rectangle 34"/>
          <p:cNvSpPr>
            <a:spLocks noChangeArrowheads="1"/>
          </p:cNvSpPr>
          <p:nvPr/>
        </p:nvSpPr>
        <p:spPr bwMode="auto">
          <a:xfrm>
            <a:off x="5029200" y="3505200"/>
            <a:ext cx="2209800" cy="1371600"/>
          </a:xfrm>
          <a:prstGeom prst="rect">
            <a:avLst/>
          </a:pr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75" name="Text Box 35"/>
          <p:cNvSpPr txBox="1">
            <a:spLocks noChangeArrowheads="1"/>
          </p:cNvSpPr>
          <p:nvPr/>
        </p:nvSpPr>
        <p:spPr bwMode="auto">
          <a:xfrm rot="-2240496">
            <a:off x="5029200" y="2590800"/>
            <a:ext cx="1425575"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spAutoFit/>
          </a:bodyPr>
          <a:lstStyle/>
          <a:p>
            <a:pPr algn="l">
              <a:spcBef>
                <a:spcPct val="50000"/>
              </a:spcBef>
            </a:pPr>
            <a:r>
              <a:rPr kumimoji="1" lang="en-US" altLang="en-US" sz="2000">
                <a:effectLst>
                  <a:outerShdw blurRad="38100" dist="38100" dir="2700000" algn="tl">
                    <a:srgbClr val="000000"/>
                  </a:outerShdw>
                </a:effectLst>
                <a:latin typeface="Impact" panose="020B0806030902050204" pitchFamily="34" charset="0"/>
              </a:rPr>
              <a:t>Month</a:t>
            </a:r>
          </a:p>
          <a:p>
            <a:pPr algn="l">
              <a:spcBef>
                <a:spcPct val="50000"/>
              </a:spcBef>
            </a:pPr>
            <a:endParaRPr kumimoji="1" lang="en-US" altLang="en-US" sz="2000">
              <a:effectLst>
                <a:outerShdw blurRad="38100" dist="38100" dir="2700000" algn="tl">
                  <a:srgbClr val="000000"/>
                </a:outerShdw>
              </a:effectLst>
              <a:latin typeface="Impact" panose="020B0806030902050204" pitchFamily="34" charset="0"/>
            </a:endParaRPr>
          </a:p>
        </p:txBody>
      </p:sp>
      <p:sp>
        <p:nvSpPr>
          <p:cNvPr id="1085476" name="Text Box 36"/>
          <p:cNvSpPr txBox="1">
            <a:spLocks noChangeArrowheads="1"/>
          </p:cNvSpPr>
          <p:nvPr/>
        </p:nvSpPr>
        <p:spPr bwMode="auto">
          <a:xfrm rot="-5401421">
            <a:off x="4287044" y="3637756"/>
            <a:ext cx="1423988"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spAutoFit/>
          </a:bodyPr>
          <a:lstStyle/>
          <a:p>
            <a:pPr algn="l">
              <a:spcBef>
                <a:spcPct val="50000"/>
              </a:spcBef>
            </a:pPr>
            <a:r>
              <a:rPr kumimoji="1" lang="en-US" altLang="en-US" sz="2000">
                <a:effectLst>
                  <a:outerShdw blurRad="38100" dist="38100" dir="2700000" algn="tl">
                    <a:srgbClr val="000000"/>
                  </a:outerShdw>
                </a:effectLst>
                <a:latin typeface="Impact" panose="020B0806030902050204" pitchFamily="34" charset="0"/>
              </a:rPr>
              <a:t>Region</a:t>
            </a:r>
          </a:p>
          <a:p>
            <a:pPr algn="l">
              <a:spcBef>
                <a:spcPct val="50000"/>
              </a:spcBef>
            </a:pPr>
            <a:endParaRPr kumimoji="1" lang="en-US" altLang="en-US" sz="2000">
              <a:effectLst>
                <a:outerShdw blurRad="38100" dist="38100" dir="2700000" algn="tl">
                  <a:srgbClr val="000000"/>
                </a:outerShdw>
              </a:effectLst>
              <a:latin typeface="Impact" panose="020B0806030902050204" pitchFamily="34" charset="0"/>
            </a:endParaRPr>
          </a:p>
        </p:txBody>
      </p:sp>
      <p:sp>
        <p:nvSpPr>
          <p:cNvPr id="1085477" name="Text Box 37"/>
          <p:cNvSpPr txBox="1">
            <a:spLocks noChangeArrowheads="1"/>
          </p:cNvSpPr>
          <p:nvPr/>
        </p:nvSpPr>
        <p:spPr bwMode="auto">
          <a:xfrm>
            <a:off x="5105400" y="4937125"/>
            <a:ext cx="2057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spAutoFit/>
          </a:bodyPr>
          <a:lstStyle/>
          <a:p>
            <a:pPr algn="l">
              <a:spcBef>
                <a:spcPct val="50000"/>
              </a:spcBef>
            </a:pPr>
            <a:r>
              <a:rPr kumimoji="1" lang="en-US" altLang="en-US" sz="2000">
                <a:effectLst>
                  <a:outerShdw blurRad="38100" dist="38100" dir="2700000" algn="tl">
                    <a:srgbClr val="000000"/>
                  </a:outerShdw>
                </a:effectLst>
                <a:latin typeface="Impact" panose="020B0806030902050204" pitchFamily="34" charset="0"/>
              </a:rPr>
              <a:t>Product</a:t>
            </a:r>
          </a:p>
        </p:txBody>
      </p:sp>
      <p:sp>
        <p:nvSpPr>
          <p:cNvPr id="1085478" name="Rectangle 38"/>
          <p:cNvSpPr>
            <a:spLocks noChangeArrowheads="1"/>
          </p:cNvSpPr>
          <p:nvPr/>
        </p:nvSpPr>
        <p:spPr bwMode="auto">
          <a:xfrm>
            <a:off x="5029200" y="3962400"/>
            <a:ext cx="2209800" cy="4572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79" name="Rectangle 39"/>
          <p:cNvSpPr>
            <a:spLocks noChangeArrowheads="1"/>
          </p:cNvSpPr>
          <p:nvPr/>
        </p:nvSpPr>
        <p:spPr bwMode="auto">
          <a:xfrm>
            <a:off x="5943600" y="3962400"/>
            <a:ext cx="914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80" name="Rectangle 40"/>
          <p:cNvSpPr>
            <a:spLocks noChangeArrowheads="1"/>
          </p:cNvSpPr>
          <p:nvPr/>
        </p:nvSpPr>
        <p:spPr bwMode="auto">
          <a:xfrm>
            <a:off x="5486400" y="3505200"/>
            <a:ext cx="457200" cy="13716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85481" name="Rectangle 41"/>
          <p:cNvSpPr>
            <a:spLocks noChangeArrowheads="1"/>
          </p:cNvSpPr>
          <p:nvPr/>
        </p:nvSpPr>
        <p:spPr bwMode="auto">
          <a:xfrm>
            <a:off x="6400800" y="3505200"/>
            <a:ext cx="381000" cy="13716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2" name="Rectangle 2"/>
          <p:cNvSpPr>
            <a:spLocks noGrp="1" noChangeArrowheads="1"/>
          </p:cNvSpPr>
          <p:nvPr>
            <p:ph type="title"/>
          </p:nvPr>
        </p:nvSpPr>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“Slicing and Dicing”</a:t>
            </a:r>
          </a:p>
        </p:txBody>
      </p:sp>
      <p:sp>
        <p:nvSpPr>
          <p:cNvPr id="35" name="Slide Number Placeholder 3"/>
          <p:cNvSpPr>
            <a:spLocks noGrp="1"/>
          </p:cNvSpPr>
          <p:nvPr>
            <p:ph type="sldNum" sz="quarter" idx="12"/>
          </p:nvPr>
        </p:nvSpPr>
        <p:spPr/>
        <p:txBody>
          <a:bodyPr/>
          <a:lstStyle/>
          <a:p>
            <a:fld id="{77AE3074-B107-42F8-85E1-33E34EDAEDC5}" type="slidenum">
              <a:rPr lang="en-US" altLang="en-US"/>
              <a:t>64</a:t>
            </a:fld>
            <a:endParaRPr lang="en-US" altLang="en-US"/>
          </a:p>
        </p:txBody>
      </p:sp>
      <p:sp>
        <p:nvSpPr>
          <p:cNvPr id="640005" name="AutoShape 5"/>
          <p:cNvSpPr>
            <a:spLocks noChangeArrowheads="1"/>
          </p:cNvSpPr>
          <p:nvPr/>
        </p:nvSpPr>
        <p:spPr bwMode="auto">
          <a:xfrm>
            <a:off x="1600200" y="2667000"/>
            <a:ext cx="3505200" cy="3124200"/>
          </a:xfrm>
          <a:prstGeom prst="cube">
            <a:avLst>
              <a:gd name="adj" fmla="val 25000"/>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06" name="Line 6"/>
          <p:cNvSpPr>
            <a:spLocks noChangeShapeType="1"/>
          </p:cNvSpPr>
          <p:nvPr/>
        </p:nvSpPr>
        <p:spPr bwMode="auto">
          <a:xfrm>
            <a:off x="1600200" y="5791200"/>
            <a:ext cx="4876800" cy="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07" name="Line 7"/>
          <p:cNvSpPr>
            <a:spLocks noChangeShapeType="1"/>
          </p:cNvSpPr>
          <p:nvPr/>
        </p:nvSpPr>
        <p:spPr bwMode="auto">
          <a:xfrm flipV="1">
            <a:off x="1600200" y="4038600"/>
            <a:ext cx="1828800" cy="17526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08" name="Text Box 8"/>
          <p:cNvSpPr txBox="1">
            <a:spLocks noChangeArrowheads="1"/>
          </p:cNvSpPr>
          <p:nvPr/>
        </p:nvSpPr>
        <p:spPr bwMode="auto">
          <a:xfrm>
            <a:off x="152400" y="2152650"/>
            <a:ext cx="1379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1">
                <a:solidFill>
                  <a:schemeClr val="tx1"/>
                </a:solidFill>
                <a:latin typeface="Tahoma" panose="020B0604030504040204" pitchFamily="34" charset="0"/>
              </a:rPr>
              <a:t>Product</a:t>
            </a:r>
            <a:endParaRPr lang="en-US" altLang="en-US">
              <a:solidFill>
                <a:schemeClr val="tx1"/>
              </a:solidFill>
              <a:latin typeface="Tahoma" panose="020B0604030504040204" pitchFamily="34" charset="0"/>
            </a:endParaRPr>
          </a:p>
        </p:txBody>
      </p:sp>
      <p:sp>
        <p:nvSpPr>
          <p:cNvPr id="640009" name="Text Box 9"/>
          <p:cNvSpPr txBox="1">
            <a:spLocks noChangeArrowheads="1"/>
          </p:cNvSpPr>
          <p:nvPr/>
        </p:nvSpPr>
        <p:spPr bwMode="auto">
          <a:xfrm>
            <a:off x="5257800" y="5886450"/>
            <a:ext cx="2324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1">
                <a:solidFill>
                  <a:schemeClr val="tx1"/>
                </a:solidFill>
                <a:latin typeface="Tahoma" panose="020B0604030504040204" pitchFamily="34" charset="0"/>
              </a:rPr>
              <a:t>Sales Channel</a:t>
            </a:r>
            <a:endParaRPr lang="en-US" altLang="en-US">
              <a:solidFill>
                <a:schemeClr val="tx1"/>
              </a:solidFill>
              <a:latin typeface="Tahoma" panose="020B0604030504040204" pitchFamily="34" charset="0"/>
            </a:endParaRPr>
          </a:p>
        </p:txBody>
      </p:sp>
      <p:sp>
        <p:nvSpPr>
          <p:cNvPr id="640010" name="Text Box 10"/>
          <p:cNvSpPr txBox="1">
            <a:spLocks noChangeArrowheads="1"/>
          </p:cNvSpPr>
          <p:nvPr/>
        </p:nvSpPr>
        <p:spPr bwMode="auto">
          <a:xfrm rot="-2637025">
            <a:off x="1752600" y="4191000"/>
            <a:ext cx="1411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1">
                <a:solidFill>
                  <a:schemeClr val="tx1"/>
                </a:solidFill>
                <a:latin typeface="Tahoma" panose="020B0604030504040204" pitchFamily="34" charset="0"/>
              </a:rPr>
              <a:t>Regions</a:t>
            </a:r>
            <a:endParaRPr lang="en-US" altLang="en-US">
              <a:solidFill>
                <a:schemeClr val="tx1"/>
              </a:solidFill>
              <a:latin typeface="Tahoma" panose="020B0604030504040204" pitchFamily="34" charset="0"/>
            </a:endParaRPr>
          </a:p>
        </p:txBody>
      </p:sp>
      <p:sp>
        <p:nvSpPr>
          <p:cNvPr id="640011" name="Line 11"/>
          <p:cNvSpPr>
            <a:spLocks noChangeShapeType="1"/>
          </p:cNvSpPr>
          <p:nvPr/>
        </p:nvSpPr>
        <p:spPr bwMode="auto">
          <a:xfrm>
            <a:off x="1981200" y="5410200"/>
            <a:ext cx="2286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12" name="Line 12"/>
          <p:cNvSpPr>
            <a:spLocks noChangeShapeType="1"/>
          </p:cNvSpPr>
          <p:nvPr/>
        </p:nvSpPr>
        <p:spPr bwMode="auto">
          <a:xfrm>
            <a:off x="2667000" y="4800600"/>
            <a:ext cx="2286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13" name="Line 13"/>
          <p:cNvSpPr>
            <a:spLocks noChangeShapeType="1"/>
          </p:cNvSpPr>
          <p:nvPr/>
        </p:nvSpPr>
        <p:spPr bwMode="auto">
          <a:xfrm>
            <a:off x="2286000" y="5105400"/>
            <a:ext cx="2286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14" name="Line 14"/>
          <p:cNvSpPr>
            <a:spLocks noChangeShapeType="1"/>
          </p:cNvSpPr>
          <p:nvPr/>
        </p:nvSpPr>
        <p:spPr bwMode="auto">
          <a:xfrm>
            <a:off x="2362200" y="5791200"/>
            <a:ext cx="0" cy="2286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15" name="Line 15"/>
          <p:cNvSpPr>
            <a:spLocks noChangeShapeType="1"/>
          </p:cNvSpPr>
          <p:nvPr/>
        </p:nvSpPr>
        <p:spPr bwMode="auto">
          <a:xfrm>
            <a:off x="3048000" y="5791200"/>
            <a:ext cx="0" cy="2286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16" name="Line 16"/>
          <p:cNvSpPr>
            <a:spLocks noChangeShapeType="1"/>
          </p:cNvSpPr>
          <p:nvPr/>
        </p:nvSpPr>
        <p:spPr bwMode="auto">
          <a:xfrm>
            <a:off x="3886200" y="5791200"/>
            <a:ext cx="0" cy="2286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17" name="Text Box 17"/>
          <p:cNvSpPr txBox="1">
            <a:spLocks noChangeArrowheads="1"/>
          </p:cNvSpPr>
          <p:nvPr/>
        </p:nvSpPr>
        <p:spPr bwMode="auto">
          <a:xfrm>
            <a:off x="1889125" y="5899150"/>
            <a:ext cx="7477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Retail</a:t>
            </a:r>
            <a:endParaRPr lang="en-US" altLang="en-US">
              <a:solidFill>
                <a:schemeClr val="tx1"/>
              </a:solidFill>
              <a:latin typeface="Tahoma" panose="020B0604030504040204" pitchFamily="34" charset="0"/>
            </a:endParaRPr>
          </a:p>
        </p:txBody>
      </p:sp>
      <p:sp>
        <p:nvSpPr>
          <p:cNvPr id="640018" name="Text Box 18"/>
          <p:cNvSpPr txBox="1">
            <a:spLocks noChangeArrowheads="1"/>
          </p:cNvSpPr>
          <p:nvPr/>
        </p:nvSpPr>
        <p:spPr bwMode="auto">
          <a:xfrm>
            <a:off x="2590800" y="5899150"/>
            <a:ext cx="7762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Direct</a:t>
            </a:r>
            <a:endParaRPr lang="en-US" altLang="en-US">
              <a:solidFill>
                <a:schemeClr val="tx1"/>
              </a:solidFill>
              <a:latin typeface="Tahoma" panose="020B0604030504040204" pitchFamily="34" charset="0"/>
            </a:endParaRPr>
          </a:p>
        </p:txBody>
      </p:sp>
      <p:sp>
        <p:nvSpPr>
          <p:cNvPr id="640019" name="Text Box 19"/>
          <p:cNvSpPr txBox="1">
            <a:spLocks noChangeArrowheads="1"/>
          </p:cNvSpPr>
          <p:nvPr/>
        </p:nvSpPr>
        <p:spPr bwMode="auto">
          <a:xfrm>
            <a:off x="3429000" y="5899150"/>
            <a:ext cx="889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Special</a:t>
            </a:r>
            <a:endParaRPr lang="en-US" altLang="en-US">
              <a:solidFill>
                <a:schemeClr val="tx1"/>
              </a:solidFill>
              <a:latin typeface="Tahoma" panose="020B0604030504040204" pitchFamily="34" charset="0"/>
            </a:endParaRPr>
          </a:p>
        </p:txBody>
      </p:sp>
      <p:sp>
        <p:nvSpPr>
          <p:cNvPr id="640020" name="Line 20"/>
          <p:cNvSpPr>
            <a:spLocks noChangeShapeType="1"/>
          </p:cNvSpPr>
          <p:nvPr/>
        </p:nvSpPr>
        <p:spPr bwMode="auto">
          <a:xfrm>
            <a:off x="1752600" y="5791200"/>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40021" name="Group 21"/>
          <p:cNvGrpSpPr/>
          <p:nvPr/>
        </p:nvGrpSpPr>
        <p:grpSpPr bwMode="auto">
          <a:xfrm>
            <a:off x="1447800" y="1676400"/>
            <a:ext cx="152400" cy="4114800"/>
            <a:chOff x="1248" y="1056"/>
            <a:chExt cx="96" cy="2592"/>
          </a:xfrm>
        </p:grpSpPr>
        <p:sp>
          <p:nvSpPr>
            <p:cNvPr id="640022" name="Line 22"/>
            <p:cNvSpPr>
              <a:spLocks noChangeShapeType="1"/>
            </p:cNvSpPr>
            <p:nvPr/>
          </p:nvSpPr>
          <p:spPr bwMode="auto">
            <a:xfrm flipV="1">
              <a:off x="1344" y="1056"/>
              <a:ext cx="0" cy="2592"/>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23" name="Line 23"/>
            <p:cNvSpPr>
              <a:spLocks noChangeShapeType="1"/>
            </p:cNvSpPr>
            <p:nvPr/>
          </p:nvSpPr>
          <p:spPr bwMode="auto">
            <a:xfrm>
              <a:off x="1248" y="3456"/>
              <a:ext cx="9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24" name="Line 24"/>
            <p:cNvSpPr>
              <a:spLocks noChangeShapeType="1"/>
            </p:cNvSpPr>
            <p:nvPr/>
          </p:nvSpPr>
          <p:spPr bwMode="auto">
            <a:xfrm>
              <a:off x="1248" y="3120"/>
              <a:ext cx="9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25" name="Line 25"/>
            <p:cNvSpPr>
              <a:spLocks noChangeShapeType="1"/>
            </p:cNvSpPr>
            <p:nvPr/>
          </p:nvSpPr>
          <p:spPr bwMode="auto">
            <a:xfrm>
              <a:off x="1248" y="2640"/>
              <a:ext cx="9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26" name="Line 26"/>
            <p:cNvSpPr>
              <a:spLocks noChangeShapeType="1"/>
            </p:cNvSpPr>
            <p:nvPr/>
          </p:nvSpPr>
          <p:spPr bwMode="auto">
            <a:xfrm>
              <a:off x="1248" y="2304"/>
              <a:ext cx="9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40027" name="Text Box 27"/>
          <p:cNvSpPr txBox="1">
            <a:spLocks noChangeArrowheads="1"/>
          </p:cNvSpPr>
          <p:nvPr/>
        </p:nvSpPr>
        <p:spPr bwMode="auto">
          <a:xfrm>
            <a:off x="304800" y="3422650"/>
            <a:ext cx="1241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Household</a:t>
            </a:r>
            <a:endParaRPr lang="en-US" altLang="en-US">
              <a:solidFill>
                <a:schemeClr val="tx1"/>
              </a:solidFill>
              <a:latin typeface="Tahoma" panose="020B0604030504040204" pitchFamily="34" charset="0"/>
            </a:endParaRPr>
          </a:p>
        </p:txBody>
      </p:sp>
      <p:sp>
        <p:nvSpPr>
          <p:cNvPr id="640028" name="Text Box 28"/>
          <p:cNvSpPr txBox="1">
            <a:spLocks noChangeArrowheads="1"/>
          </p:cNvSpPr>
          <p:nvPr/>
        </p:nvSpPr>
        <p:spPr bwMode="auto">
          <a:xfrm>
            <a:off x="304800" y="4032250"/>
            <a:ext cx="12239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Telecomm</a:t>
            </a:r>
            <a:endParaRPr lang="en-US" altLang="en-US">
              <a:solidFill>
                <a:schemeClr val="tx1"/>
              </a:solidFill>
              <a:latin typeface="Tahoma" panose="020B0604030504040204" pitchFamily="34" charset="0"/>
            </a:endParaRPr>
          </a:p>
        </p:txBody>
      </p:sp>
      <p:sp>
        <p:nvSpPr>
          <p:cNvPr id="640029" name="Text Box 29"/>
          <p:cNvSpPr txBox="1">
            <a:spLocks noChangeArrowheads="1"/>
          </p:cNvSpPr>
          <p:nvPr/>
        </p:nvSpPr>
        <p:spPr bwMode="auto">
          <a:xfrm>
            <a:off x="685800" y="4718050"/>
            <a:ext cx="7445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Video</a:t>
            </a:r>
            <a:endParaRPr lang="en-US" altLang="en-US">
              <a:solidFill>
                <a:schemeClr val="tx1"/>
              </a:solidFill>
              <a:latin typeface="Tahoma" panose="020B0604030504040204" pitchFamily="34" charset="0"/>
            </a:endParaRPr>
          </a:p>
        </p:txBody>
      </p:sp>
      <p:sp>
        <p:nvSpPr>
          <p:cNvPr id="640030" name="Text Box 30"/>
          <p:cNvSpPr txBox="1">
            <a:spLocks noChangeArrowheads="1"/>
          </p:cNvSpPr>
          <p:nvPr/>
        </p:nvSpPr>
        <p:spPr bwMode="auto">
          <a:xfrm>
            <a:off x="708025" y="5327650"/>
            <a:ext cx="7508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Audio</a:t>
            </a:r>
            <a:endParaRPr lang="en-US" altLang="en-US">
              <a:solidFill>
                <a:schemeClr val="tx1"/>
              </a:solidFill>
              <a:latin typeface="Tahoma" panose="020B0604030504040204" pitchFamily="34" charset="0"/>
            </a:endParaRPr>
          </a:p>
        </p:txBody>
      </p:sp>
      <p:sp>
        <p:nvSpPr>
          <p:cNvPr id="640031" name="Text Box 31"/>
          <p:cNvSpPr txBox="1">
            <a:spLocks noChangeArrowheads="1"/>
          </p:cNvSpPr>
          <p:nvPr/>
        </p:nvSpPr>
        <p:spPr bwMode="auto">
          <a:xfrm>
            <a:off x="2346325" y="5289550"/>
            <a:ext cx="696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India</a:t>
            </a:r>
            <a:endParaRPr lang="en-US" altLang="en-US">
              <a:solidFill>
                <a:schemeClr val="tx1"/>
              </a:solidFill>
              <a:latin typeface="Tahoma" panose="020B0604030504040204" pitchFamily="34" charset="0"/>
            </a:endParaRPr>
          </a:p>
        </p:txBody>
      </p:sp>
      <p:sp>
        <p:nvSpPr>
          <p:cNvPr id="640032" name="Text Box 32"/>
          <p:cNvSpPr txBox="1">
            <a:spLocks noChangeArrowheads="1"/>
          </p:cNvSpPr>
          <p:nvPr/>
        </p:nvSpPr>
        <p:spPr bwMode="auto">
          <a:xfrm>
            <a:off x="2590800" y="5022850"/>
            <a:ext cx="10048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Far East</a:t>
            </a:r>
            <a:endParaRPr lang="en-US" altLang="en-US">
              <a:solidFill>
                <a:schemeClr val="tx1"/>
              </a:solidFill>
              <a:latin typeface="Tahoma" panose="020B0604030504040204" pitchFamily="34" charset="0"/>
            </a:endParaRPr>
          </a:p>
        </p:txBody>
      </p:sp>
      <p:sp>
        <p:nvSpPr>
          <p:cNvPr id="640033" name="Text Box 33"/>
          <p:cNvSpPr txBox="1">
            <a:spLocks noChangeArrowheads="1"/>
          </p:cNvSpPr>
          <p:nvPr/>
        </p:nvSpPr>
        <p:spPr bwMode="auto">
          <a:xfrm>
            <a:off x="2895600" y="4641850"/>
            <a:ext cx="8937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solidFill>
                  <a:schemeClr val="tx1"/>
                </a:solidFill>
                <a:latin typeface="Tahoma" panose="020B0604030504040204" pitchFamily="34" charset="0"/>
              </a:rPr>
              <a:t>Europe</a:t>
            </a:r>
            <a:endParaRPr lang="en-US" altLang="en-US">
              <a:solidFill>
                <a:schemeClr val="tx1"/>
              </a:solidFill>
              <a:latin typeface="Tahoma" panose="020B0604030504040204" pitchFamily="34" charset="0"/>
            </a:endParaRPr>
          </a:p>
        </p:txBody>
      </p:sp>
      <p:sp>
        <p:nvSpPr>
          <p:cNvPr id="640034" name="AutoShape 34"/>
          <p:cNvSpPr>
            <a:spLocks noChangeArrowheads="1"/>
          </p:cNvSpPr>
          <p:nvPr/>
        </p:nvSpPr>
        <p:spPr bwMode="auto">
          <a:xfrm>
            <a:off x="1600200" y="3352800"/>
            <a:ext cx="4572000" cy="838200"/>
          </a:xfrm>
          <a:prstGeom prst="parallelogram">
            <a:avLst>
              <a:gd name="adj" fmla="val 93005"/>
            </a:avLst>
          </a:prstGeom>
          <a:solidFill>
            <a:schemeClr val="accent1">
              <a:alpha val="50000"/>
            </a:schemeClr>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0035" name="Text Box 35"/>
          <p:cNvSpPr txBox="1">
            <a:spLocks noChangeArrowheads="1"/>
          </p:cNvSpPr>
          <p:nvPr/>
        </p:nvSpPr>
        <p:spPr bwMode="auto">
          <a:xfrm>
            <a:off x="2806601" y="1987279"/>
            <a:ext cx="2879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dirty="0">
                <a:solidFill>
                  <a:schemeClr val="tx1"/>
                </a:solidFill>
                <a:latin typeface="Tahoma" panose="020B0604030504040204" pitchFamily="34" charset="0"/>
              </a:rPr>
              <a:t>The Telecomm Slice</a:t>
            </a:r>
          </a:p>
        </p:txBody>
      </p:sp>
      <p:sp>
        <p:nvSpPr>
          <p:cNvPr id="37" name="TextBox 36"/>
          <p:cNvSpPr txBox="1"/>
          <p:nvPr/>
        </p:nvSpPr>
        <p:spPr>
          <a:xfrm>
            <a:off x="5705347" y="139005"/>
            <a:ext cx="3417613" cy="2708434"/>
          </a:xfrm>
          <a:prstGeom prst="rect">
            <a:avLst/>
          </a:prstGeom>
          <a:noFill/>
        </p:spPr>
        <p:txBody>
          <a:bodyPr wrap="square">
            <a:spAutoFit/>
          </a:bodyPr>
          <a:lstStyle/>
          <a:p>
            <a:r>
              <a:rPr lang="en-US" sz="1700" b="1" i="0" dirty="0">
                <a:solidFill>
                  <a:srgbClr val="222222"/>
                </a:solidFill>
                <a:effectLst/>
                <a:latin typeface="Source Sans Pro" panose="020B0503030403020204" pitchFamily="34" charset="0"/>
              </a:rPr>
              <a:t>Slicing</a:t>
            </a:r>
            <a:r>
              <a:rPr lang="en-US" sz="1700" b="0" i="0" dirty="0">
                <a:solidFill>
                  <a:srgbClr val="222222"/>
                </a:solidFill>
                <a:effectLst/>
                <a:latin typeface="Source Sans Pro" panose="020B0503030403020204" pitchFamily="34" charset="0"/>
              </a:rPr>
              <a:t>: Here, one dimension is selected, and a new sub-cube is created.</a:t>
            </a:r>
          </a:p>
          <a:p>
            <a:r>
              <a:rPr lang="en-US" sz="1700" b="1" i="0" dirty="0">
                <a:solidFill>
                  <a:srgbClr val="222222"/>
                </a:solidFill>
                <a:effectLst/>
                <a:latin typeface="Source Sans Pro" panose="020B0503030403020204" pitchFamily="34" charset="0"/>
              </a:rPr>
              <a:t>Dicing: </a:t>
            </a:r>
          </a:p>
          <a:p>
            <a:pPr marL="285750" indent="-285750">
              <a:buFont typeface="Wingdings" panose="05000000000000000000" pitchFamily="2" charset="2"/>
              <a:buChar char="§"/>
            </a:pPr>
            <a:r>
              <a:rPr lang="en-US" sz="1700" b="0" i="0" dirty="0">
                <a:solidFill>
                  <a:srgbClr val="222222"/>
                </a:solidFill>
                <a:effectLst/>
                <a:latin typeface="Source Sans Pro" panose="020B0503030403020204" pitchFamily="34" charset="0"/>
              </a:rPr>
              <a:t>This operation is similar to a slice. </a:t>
            </a:r>
          </a:p>
          <a:p>
            <a:pPr marL="285750" indent="-285750">
              <a:buFont typeface="Wingdings" panose="05000000000000000000" pitchFamily="2" charset="2"/>
              <a:buChar char="§"/>
            </a:pPr>
            <a:r>
              <a:rPr lang="en-US" sz="1700" b="0" i="0" dirty="0">
                <a:solidFill>
                  <a:srgbClr val="222222"/>
                </a:solidFill>
                <a:effectLst/>
                <a:latin typeface="Source Sans Pro" panose="020B0503030403020204" pitchFamily="34" charset="0"/>
              </a:rPr>
              <a:t>The difference in dice is you select </a:t>
            </a:r>
            <a:r>
              <a:rPr lang="en-US" sz="1700" b="1" i="0" dirty="0">
                <a:solidFill>
                  <a:srgbClr val="FF0000"/>
                </a:solidFill>
                <a:effectLst/>
                <a:latin typeface="Source Sans Pro" panose="020B0503030403020204" pitchFamily="34" charset="0"/>
              </a:rPr>
              <a:t>2 or more dimensions</a:t>
            </a:r>
            <a:r>
              <a:rPr lang="en-US" sz="1700" b="0" i="0" dirty="0">
                <a:solidFill>
                  <a:srgbClr val="222222"/>
                </a:solidFill>
                <a:effectLst/>
                <a:latin typeface="Source Sans Pro" panose="020B0503030403020204" pitchFamily="34" charset="0"/>
              </a:rPr>
              <a:t> that result in the creation of a sub-cube.</a:t>
            </a:r>
            <a:endParaRPr lang="en-US" sz="1700" dirty="0"/>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0035"/>
                                        </p:tgtEl>
                                        <p:attrNameLst>
                                          <p:attrName>style.visibility</p:attrName>
                                        </p:attrNameLst>
                                      </p:cBhvr>
                                      <p:to>
                                        <p:strVal val="visible"/>
                                      </p:to>
                                    </p:set>
                                    <p:anim calcmode="lin" valueType="num">
                                      <p:cBhvr additive="base">
                                        <p:cTn id="7" dur="500" fill="hold"/>
                                        <p:tgtEl>
                                          <p:spTgt spid="640035"/>
                                        </p:tgtEl>
                                        <p:attrNameLst>
                                          <p:attrName>ppt_x</p:attrName>
                                        </p:attrNameLst>
                                      </p:cBhvr>
                                      <p:tavLst>
                                        <p:tav tm="0">
                                          <p:val>
                                            <p:strVal val="0-#ppt_w/2"/>
                                          </p:val>
                                        </p:tav>
                                        <p:tav tm="100000">
                                          <p:val>
                                            <p:strVal val="#ppt_x"/>
                                          </p:val>
                                        </p:tav>
                                      </p:tavLst>
                                    </p:anim>
                                    <p:anim calcmode="lin" valueType="num">
                                      <p:cBhvr additive="base">
                                        <p:cTn id="8" dur="500" fill="hold"/>
                                        <p:tgtEl>
                                          <p:spTgt spid="64003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40034"/>
                                        </p:tgtEl>
                                        <p:attrNameLst>
                                          <p:attrName>style.visibility</p:attrName>
                                        </p:attrNameLst>
                                      </p:cBhvr>
                                      <p:to>
                                        <p:strVal val="visible"/>
                                      </p:to>
                                    </p:set>
                                    <p:anim calcmode="lin" valueType="num">
                                      <p:cBhvr additive="base">
                                        <p:cTn id="13" dur="500" fill="hold"/>
                                        <p:tgtEl>
                                          <p:spTgt spid="640034"/>
                                        </p:tgtEl>
                                        <p:attrNameLst>
                                          <p:attrName>ppt_x</p:attrName>
                                        </p:attrNameLst>
                                      </p:cBhvr>
                                      <p:tavLst>
                                        <p:tav tm="0">
                                          <p:val>
                                            <p:strVal val="0-#ppt_w/2"/>
                                          </p:val>
                                        </p:tav>
                                        <p:tav tm="100000">
                                          <p:val>
                                            <p:strVal val="#ppt_x"/>
                                          </p:val>
                                        </p:tav>
                                      </p:tavLst>
                                    </p:anim>
                                    <p:anim calcmode="lin" valueType="num">
                                      <p:cBhvr additive="base">
                                        <p:cTn id="14" dur="500" fill="hold"/>
                                        <p:tgtEl>
                                          <p:spTgt spid="6400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0035"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1026"/>
          <p:cNvSpPr>
            <a:spLocks noGrp="1" noChangeArrowheads="1"/>
          </p:cNvSpPr>
          <p:nvPr>
            <p:ph type="title"/>
          </p:nvPr>
        </p:nvSpPr>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Roll-up and Drill Down</a:t>
            </a:r>
          </a:p>
        </p:txBody>
      </p:sp>
      <p:sp>
        <p:nvSpPr>
          <p:cNvPr id="641027" name="Rectangle 1027"/>
          <p:cNvSpPr>
            <a:spLocks noGrp="1" noChangeArrowheads="1"/>
          </p:cNvSpPr>
          <p:nvPr>
            <p:ph type="body" sz="half" idx="2"/>
          </p:nvPr>
        </p:nvSpPr>
        <p:spPr>
          <a:xfrm>
            <a:off x="2371090" y="1838325"/>
            <a:ext cx="3642995" cy="4622800"/>
          </a:xfrm>
        </p:spPr>
        <p:txBody>
          <a:bodyPr>
            <a:normAutofit fontScale="97500" lnSpcReduction="10000"/>
          </a:bodyPr>
          <a:lstStyle/>
          <a:p>
            <a:endParaRPr lang="en-US" altLang="en-US" sz="2800" dirty="0"/>
          </a:p>
          <a:p>
            <a:pPr algn="just">
              <a:lnSpc>
                <a:spcPct val="150000"/>
              </a:lnSpc>
            </a:pPr>
            <a:r>
              <a:rPr lang="en-US" altLang="en-US" sz="2800" dirty="0"/>
              <a:t>Sales Channel</a:t>
            </a:r>
          </a:p>
          <a:p>
            <a:pPr algn="just">
              <a:lnSpc>
                <a:spcPct val="150000"/>
              </a:lnSpc>
            </a:pPr>
            <a:r>
              <a:rPr lang="en-US" altLang="en-US" sz="2800" dirty="0"/>
              <a:t>Region</a:t>
            </a:r>
          </a:p>
          <a:p>
            <a:pPr algn="just">
              <a:lnSpc>
                <a:spcPct val="150000"/>
              </a:lnSpc>
            </a:pPr>
            <a:r>
              <a:rPr lang="en-US" altLang="en-US" sz="2800" dirty="0"/>
              <a:t>Country</a:t>
            </a:r>
          </a:p>
          <a:p>
            <a:pPr algn="just">
              <a:lnSpc>
                <a:spcPct val="150000"/>
              </a:lnSpc>
            </a:pPr>
            <a:r>
              <a:rPr lang="en-US" altLang="en-US" sz="2800" dirty="0"/>
              <a:t>State </a:t>
            </a:r>
          </a:p>
          <a:p>
            <a:pPr algn="just">
              <a:lnSpc>
                <a:spcPct val="150000"/>
              </a:lnSpc>
            </a:pPr>
            <a:r>
              <a:rPr lang="en-US" altLang="en-US" sz="2800" dirty="0"/>
              <a:t>Location Address</a:t>
            </a:r>
          </a:p>
          <a:p>
            <a:pPr algn="just">
              <a:lnSpc>
                <a:spcPct val="150000"/>
              </a:lnSpc>
            </a:pPr>
            <a:r>
              <a:rPr lang="en-US" altLang="en-US" sz="2800" dirty="0"/>
              <a:t>Sales Representative</a:t>
            </a:r>
          </a:p>
        </p:txBody>
      </p:sp>
      <p:sp>
        <p:nvSpPr>
          <p:cNvPr id="13" name="Slide Number Placeholder 5"/>
          <p:cNvSpPr>
            <a:spLocks noGrp="1"/>
          </p:cNvSpPr>
          <p:nvPr>
            <p:ph type="sldNum" sz="quarter" idx="11"/>
          </p:nvPr>
        </p:nvSpPr>
        <p:spPr/>
        <p:txBody>
          <a:bodyPr/>
          <a:lstStyle/>
          <a:p>
            <a:fld id="{C3D72582-62C8-480F-A64B-E5CEDFBB352B}" type="slidenum">
              <a:rPr lang="en-US" altLang="en-US"/>
              <a:t>65</a:t>
            </a:fld>
            <a:endParaRPr lang="en-US" altLang="en-US"/>
          </a:p>
        </p:txBody>
      </p:sp>
      <p:grpSp>
        <p:nvGrpSpPr>
          <p:cNvPr id="641036" name="Group 1036"/>
          <p:cNvGrpSpPr/>
          <p:nvPr/>
        </p:nvGrpSpPr>
        <p:grpSpPr bwMode="auto">
          <a:xfrm>
            <a:off x="822325" y="1481138"/>
            <a:ext cx="1935163" cy="4233862"/>
            <a:chOff x="518" y="933"/>
            <a:chExt cx="1219" cy="2667"/>
          </a:xfrm>
        </p:grpSpPr>
        <p:grpSp>
          <p:nvGrpSpPr>
            <p:cNvPr id="641034" name="Group 1034"/>
            <p:cNvGrpSpPr/>
            <p:nvPr/>
          </p:nvGrpSpPr>
          <p:grpSpPr bwMode="auto">
            <a:xfrm>
              <a:off x="691" y="1536"/>
              <a:ext cx="413" cy="2064"/>
              <a:chOff x="691" y="1536"/>
              <a:chExt cx="413" cy="2064"/>
            </a:xfrm>
          </p:grpSpPr>
          <p:sp>
            <p:nvSpPr>
              <p:cNvPr id="641028" name="Line 1028"/>
              <p:cNvSpPr>
                <a:spLocks noChangeShapeType="1"/>
              </p:cNvSpPr>
              <p:nvPr/>
            </p:nvSpPr>
            <p:spPr bwMode="auto">
              <a:xfrm flipV="1">
                <a:off x="1104" y="1536"/>
                <a:ext cx="0" cy="2064"/>
              </a:xfrm>
              <a:prstGeom prst="line">
                <a:avLst/>
              </a:prstGeom>
              <a:noFill/>
              <a:ln w="76200">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1030" name="Text Box 1030"/>
              <p:cNvSpPr txBox="1">
                <a:spLocks noChangeArrowheads="1"/>
              </p:cNvSpPr>
              <p:nvPr/>
            </p:nvSpPr>
            <p:spPr bwMode="auto">
              <a:xfrm rot="16172549">
                <a:off x="488" y="2404"/>
                <a:ext cx="6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1" dirty="0">
                    <a:solidFill>
                      <a:srgbClr val="FF0000"/>
                    </a:solidFill>
                    <a:latin typeface="Tahoma" panose="020B0604030504040204" pitchFamily="34" charset="0"/>
                  </a:rPr>
                  <a:t>Roll Up</a:t>
                </a:r>
              </a:p>
            </p:txBody>
          </p:sp>
        </p:grpSp>
        <p:sp>
          <p:nvSpPr>
            <p:cNvPr id="641031" name="Text Box 1031"/>
            <p:cNvSpPr txBox="1">
              <a:spLocks noChangeArrowheads="1"/>
            </p:cNvSpPr>
            <p:nvPr/>
          </p:nvSpPr>
          <p:spPr bwMode="auto">
            <a:xfrm>
              <a:off x="518" y="933"/>
              <a:ext cx="1219"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1" dirty="0">
                  <a:solidFill>
                    <a:schemeClr val="tx1"/>
                  </a:solidFill>
                  <a:latin typeface="Tahoma" panose="020B0604030504040204" pitchFamily="34" charset="0"/>
                </a:rPr>
                <a:t>Higher Level of</a:t>
              </a:r>
            </a:p>
            <a:p>
              <a:pPr algn="l"/>
              <a:r>
                <a:rPr lang="en-US" altLang="en-US" b="1" dirty="0">
                  <a:solidFill>
                    <a:schemeClr val="tx1"/>
                  </a:solidFill>
                  <a:latin typeface="Tahoma" panose="020B0604030504040204" pitchFamily="34" charset="0"/>
                </a:rPr>
                <a:t>Aggregation</a:t>
              </a:r>
            </a:p>
          </p:txBody>
        </p:sp>
      </p:grpSp>
      <p:grpSp>
        <p:nvGrpSpPr>
          <p:cNvPr id="641035" name="Group 1035"/>
          <p:cNvGrpSpPr/>
          <p:nvPr/>
        </p:nvGrpSpPr>
        <p:grpSpPr bwMode="auto">
          <a:xfrm>
            <a:off x="6248400" y="2438400"/>
            <a:ext cx="1309688" cy="3846513"/>
            <a:chOff x="3936" y="1536"/>
            <a:chExt cx="825" cy="2423"/>
          </a:xfrm>
        </p:grpSpPr>
        <p:sp>
          <p:nvSpPr>
            <p:cNvPr id="641029" name="Line 1029"/>
            <p:cNvSpPr>
              <a:spLocks noChangeShapeType="1"/>
            </p:cNvSpPr>
            <p:nvPr/>
          </p:nvSpPr>
          <p:spPr bwMode="auto">
            <a:xfrm>
              <a:off x="4176" y="1536"/>
              <a:ext cx="0" cy="1968"/>
            </a:xfrm>
            <a:prstGeom prst="line">
              <a:avLst/>
            </a:prstGeom>
            <a:noFill/>
            <a:ln w="76200">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1032" name="Text Box 1032"/>
            <p:cNvSpPr txBox="1">
              <a:spLocks noChangeArrowheads="1"/>
            </p:cNvSpPr>
            <p:nvPr/>
          </p:nvSpPr>
          <p:spPr bwMode="auto">
            <a:xfrm>
              <a:off x="3936" y="3552"/>
              <a:ext cx="82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1" dirty="0">
                  <a:solidFill>
                    <a:schemeClr val="tx1"/>
                  </a:solidFill>
                  <a:latin typeface="Tahoma" panose="020B0604030504040204" pitchFamily="34" charset="0"/>
                </a:rPr>
                <a:t>Low-level</a:t>
              </a:r>
            </a:p>
            <a:p>
              <a:pPr algn="l"/>
              <a:r>
                <a:rPr lang="en-US" altLang="en-US" b="1" dirty="0">
                  <a:solidFill>
                    <a:schemeClr val="tx1"/>
                  </a:solidFill>
                  <a:latin typeface="Tahoma" panose="020B0604030504040204" pitchFamily="34" charset="0"/>
                </a:rPr>
                <a:t>Details</a:t>
              </a:r>
            </a:p>
          </p:txBody>
        </p:sp>
        <p:sp>
          <p:nvSpPr>
            <p:cNvPr id="641033" name="Text Box 1033"/>
            <p:cNvSpPr txBox="1">
              <a:spLocks noChangeArrowheads="1"/>
            </p:cNvSpPr>
            <p:nvPr/>
          </p:nvSpPr>
          <p:spPr bwMode="auto">
            <a:xfrm rot="5372549">
              <a:off x="4012" y="2065"/>
              <a:ext cx="9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b="1" dirty="0">
                  <a:solidFill>
                    <a:srgbClr val="FF0000"/>
                  </a:solidFill>
                  <a:latin typeface="Tahoma" panose="020B0604030504040204" pitchFamily="34" charset="0"/>
                </a:rPr>
                <a:t>Drill-Down</a:t>
              </a:r>
            </a:p>
          </p:txBody>
        </p:sp>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41036"/>
                                        </p:tgtEl>
                                        <p:attrNameLst>
                                          <p:attrName>style.visibility</p:attrName>
                                        </p:attrNameLst>
                                      </p:cBhvr>
                                      <p:to>
                                        <p:strVal val="visible"/>
                                      </p:to>
                                    </p:set>
                                    <p:anim calcmode="lin" valueType="num">
                                      <p:cBhvr additive="base">
                                        <p:cTn id="7" dur="500" fill="hold"/>
                                        <p:tgtEl>
                                          <p:spTgt spid="641036"/>
                                        </p:tgtEl>
                                        <p:attrNameLst>
                                          <p:attrName>ppt_x</p:attrName>
                                        </p:attrNameLst>
                                      </p:cBhvr>
                                      <p:tavLst>
                                        <p:tav tm="0">
                                          <p:val>
                                            <p:strVal val="#ppt_x"/>
                                          </p:val>
                                        </p:tav>
                                        <p:tav tm="100000">
                                          <p:val>
                                            <p:strVal val="#ppt_x"/>
                                          </p:val>
                                        </p:tav>
                                      </p:tavLst>
                                    </p:anim>
                                    <p:anim calcmode="lin" valueType="num">
                                      <p:cBhvr additive="base">
                                        <p:cTn id="8" dur="500" fill="hold"/>
                                        <p:tgtEl>
                                          <p:spTgt spid="6410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641035"/>
                                        </p:tgtEl>
                                        <p:attrNameLst>
                                          <p:attrName>style.visibility</p:attrName>
                                        </p:attrNameLst>
                                      </p:cBhvr>
                                      <p:to>
                                        <p:strVal val="visible"/>
                                      </p:to>
                                    </p:set>
                                    <p:anim calcmode="lin" valueType="num">
                                      <p:cBhvr additive="base">
                                        <p:cTn id="13" dur="500" fill="hold"/>
                                        <p:tgtEl>
                                          <p:spTgt spid="641035"/>
                                        </p:tgtEl>
                                        <p:attrNameLst>
                                          <p:attrName>ppt_x</p:attrName>
                                        </p:attrNameLst>
                                      </p:cBhvr>
                                      <p:tavLst>
                                        <p:tav tm="0">
                                          <p:val>
                                            <p:strVal val="#ppt_x"/>
                                          </p:val>
                                        </p:tav>
                                        <p:tav tm="100000">
                                          <p:val>
                                            <p:strVal val="#ppt_x"/>
                                          </p:val>
                                        </p:tav>
                                      </p:tavLst>
                                    </p:anim>
                                    <p:anim calcmode="lin" valueType="num">
                                      <p:cBhvr additive="base">
                                        <p:cTn id="14" dur="500" fill="hold"/>
                                        <p:tgtEl>
                                          <p:spTgt spid="64103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2914" name="Rectangle 2"/>
          <p:cNvSpPr>
            <a:spLocks noGrp="1" noChangeArrowheads="1"/>
          </p:cNvSpPr>
          <p:nvPr>
            <p:ph type="title"/>
          </p:nvPr>
        </p:nvSpPr>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Data Warehouse Pitfalls</a:t>
            </a:r>
          </a:p>
        </p:txBody>
      </p:sp>
      <p:sp>
        <p:nvSpPr>
          <p:cNvPr id="1062915" name="Rectangle 3"/>
          <p:cNvSpPr>
            <a:spLocks noGrp="1" noChangeArrowheads="1"/>
          </p:cNvSpPr>
          <p:nvPr>
            <p:ph idx="1"/>
          </p:nvPr>
        </p:nvSpPr>
        <p:spPr>
          <a:xfrm>
            <a:off x="395536" y="1751942"/>
            <a:ext cx="8208912" cy="4740931"/>
          </a:xfrm>
        </p:spPr>
        <p:txBody>
          <a:bodyPr>
            <a:normAutofit lnSpcReduction="10000"/>
          </a:bodyPr>
          <a:lstStyle/>
          <a:p>
            <a:pPr>
              <a:lnSpc>
                <a:spcPct val="150000"/>
              </a:lnSpc>
              <a:spcBef>
                <a:spcPts val="500"/>
              </a:spcBef>
              <a:spcAft>
                <a:spcPts val="500"/>
              </a:spcAft>
            </a:pPr>
            <a:r>
              <a:rPr kumimoji="0" lang="en-US" altLang="en-US" sz="2400" dirty="0">
                <a:highlight>
                  <a:srgbClr val="FFFF00"/>
                </a:highlight>
                <a:latin typeface="Tahoma" panose="020B0604030504040204" pitchFamily="34" charset="0"/>
                <a:ea typeface="Tahoma" panose="020B0604030504040204" pitchFamily="34" charset="0"/>
                <a:cs typeface="Tahoma" panose="020B0604030504040204" pitchFamily="34" charset="0"/>
              </a:rPr>
              <a:t>You are going to spend much time extracting, cleaning, and loading data</a:t>
            </a:r>
          </a:p>
          <a:p>
            <a:pPr>
              <a:lnSpc>
                <a:spcPct val="150000"/>
              </a:lnSpc>
              <a:spcBef>
                <a:spcPts val="500"/>
              </a:spcBef>
              <a:spcAft>
                <a:spcPts val="500"/>
              </a:spcAft>
            </a:pPr>
            <a:r>
              <a:rPr kumimoji="0" lang="en-US" altLang="en-US" sz="2400" dirty="0">
                <a:highlight>
                  <a:srgbClr val="FFFF00"/>
                </a:highlight>
                <a:latin typeface="Tahoma" panose="020B0604030504040204" pitchFamily="34" charset="0"/>
                <a:ea typeface="Tahoma" panose="020B0604030504040204" pitchFamily="34" charset="0"/>
                <a:cs typeface="Tahoma" panose="020B0604030504040204" pitchFamily="34" charset="0"/>
              </a:rPr>
              <a:t>You are going to find problems with systems feeding the data warehouse</a:t>
            </a:r>
          </a:p>
          <a:p>
            <a:pPr>
              <a:lnSpc>
                <a:spcPct val="150000"/>
              </a:lnSpc>
              <a:spcBef>
                <a:spcPts val="500"/>
              </a:spcBef>
              <a:spcAft>
                <a:spcPts val="500"/>
              </a:spcAft>
            </a:pPr>
            <a:r>
              <a:rPr kumimoji="0" lang="en-US" altLang="en-US" sz="2400" dirty="0">
                <a:highlight>
                  <a:srgbClr val="FFFF00"/>
                </a:highlight>
                <a:latin typeface="Tahoma" panose="020B0604030504040204" pitchFamily="34" charset="0"/>
                <a:ea typeface="Tahoma" panose="020B0604030504040204" pitchFamily="34" charset="0"/>
                <a:cs typeface="Tahoma" panose="020B0604030504040204" pitchFamily="34" charset="0"/>
              </a:rPr>
              <a:t>You will find the need to store data not being captured by any existing system</a:t>
            </a:r>
          </a:p>
          <a:p>
            <a:pPr>
              <a:lnSpc>
                <a:spcPct val="150000"/>
              </a:lnSpc>
              <a:spcBef>
                <a:spcPts val="500"/>
              </a:spcBef>
              <a:spcAft>
                <a:spcPts val="500"/>
              </a:spcAft>
            </a:pPr>
            <a:r>
              <a:rPr kumimoji="0" lang="en-US" altLang="en-US" sz="2400" dirty="0">
                <a:highlight>
                  <a:srgbClr val="FFFF00"/>
                </a:highlight>
                <a:latin typeface="Tahoma" panose="020B0604030504040204" pitchFamily="34" charset="0"/>
                <a:ea typeface="Tahoma" panose="020B0604030504040204" pitchFamily="34" charset="0"/>
                <a:cs typeface="Tahoma" panose="020B0604030504040204" pitchFamily="34" charset="0"/>
              </a:rPr>
              <a:t>You will need to validate data not being validated by transaction processing systems</a:t>
            </a:r>
            <a:endParaRPr kumimoji="0" lang="en-US" altLang="en-US" sz="28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4"/>
          <p:cNvSpPr>
            <a:spLocks noGrp="1"/>
          </p:cNvSpPr>
          <p:nvPr>
            <p:ph type="sldNum" sz="quarter" idx="12"/>
          </p:nvPr>
        </p:nvSpPr>
        <p:spPr/>
        <p:txBody>
          <a:bodyPr/>
          <a:lstStyle/>
          <a:p>
            <a:fld id="{7003CD35-B4F0-4BE6-AC0B-129B964D00A1}" type="slidenum">
              <a:rPr lang="en-US" altLang="en-US"/>
              <a:t>66</a:t>
            </a:fld>
            <a:endParaRPr lang="en-US"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3939" name="Rectangle 3"/>
          <p:cNvSpPr>
            <a:spLocks noGrp="1" noChangeArrowheads="1"/>
          </p:cNvSpPr>
          <p:nvPr>
            <p:ph idx="1"/>
          </p:nvPr>
        </p:nvSpPr>
        <p:spPr>
          <a:xfrm>
            <a:off x="628650" y="1825624"/>
            <a:ext cx="7886700" cy="4895852"/>
          </a:xfrm>
        </p:spPr>
        <p:txBody>
          <a:bodyPr>
            <a:normAutofit/>
          </a:bodyPr>
          <a:lstStyle/>
          <a:p>
            <a:pPr algn="just">
              <a:lnSpc>
                <a:spcPct val="150000"/>
              </a:lnSpc>
              <a:spcBef>
                <a:spcPts val="500"/>
              </a:spcBef>
              <a:spcAft>
                <a:spcPts val="500"/>
              </a:spcAft>
            </a:pPr>
            <a:r>
              <a:rPr kumimoji="0" lang="en-US" altLang="en-US" sz="2400" dirty="0">
                <a:highlight>
                  <a:srgbClr val="FFFF00"/>
                </a:highlight>
              </a:rPr>
              <a:t>Some transaction processing systems feeding the warehousing system will not contain detail</a:t>
            </a:r>
          </a:p>
          <a:p>
            <a:pPr algn="just">
              <a:lnSpc>
                <a:spcPct val="150000"/>
              </a:lnSpc>
              <a:spcBef>
                <a:spcPts val="500"/>
              </a:spcBef>
              <a:spcAft>
                <a:spcPts val="500"/>
              </a:spcAft>
            </a:pPr>
            <a:r>
              <a:rPr kumimoji="0" lang="en-US" altLang="en-US" sz="2400" dirty="0">
                <a:highlight>
                  <a:srgbClr val="FFFF00"/>
                </a:highlight>
              </a:rPr>
              <a:t>Many warehouse end users will be trained and never or seldom apply their training</a:t>
            </a:r>
          </a:p>
          <a:p>
            <a:pPr algn="just">
              <a:lnSpc>
                <a:spcPct val="150000"/>
              </a:lnSpc>
              <a:spcBef>
                <a:spcPts val="500"/>
              </a:spcBef>
              <a:spcAft>
                <a:spcPts val="500"/>
              </a:spcAft>
            </a:pPr>
            <a:r>
              <a:rPr kumimoji="0" lang="en-US" altLang="en-US" sz="2400" dirty="0">
                <a:highlight>
                  <a:srgbClr val="FFFF00"/>
                </a:highlight>
              </a:rPr>
              <a:t>Your warehouse users will develop conflicting business rules</a:t>
            </a:r>
          </a:p>
          <a:p>
            <a:pPr>
              <a:spcBef>
                <a:spcPts val="500"/>
              </a:spcBef>
              <a:spcAft>
                <a:spcPts val="500"/>
              </a:spcAft>
            </a:pPr>
            <a:endParaRPr kumimoji="0" lang="en-US" altLang="en-US" sz="2800" b="1" dirty="0"/>
          </a:p>
        </p:txBody>
      </p:sp>
      <p:sp>
        <p:nvSpPr>
          <p:cNvPr id="4" name="Slide Number Placeholder 4"/>
          <p:cNvSpPr>
            <a:spLocks noGrp="1"/>
          </p:cNvSpPr>
          <p:nvPr>
            <p:ph type="sldNum" sz="quarter" idx="12"/>
          </p:nvPr>
        </p:nvSpPr>
        <p:spPr/>
        <p:txBody>
          <a:bodyPr/>
          <a:lstStyle/>
          <a:p>
            <a:fld id="{2087EF08-282A-4974-A1B9-A7DD94629B63}" type="slidenum">
              <a:rPr lang="en-US" altLang="en-US"/>
              <a:t>67</a:t>
            </a:fld>
            <a:endParaRPr lang="en-US" altLang="en-US"/>
          </a:p>
        </p:txBody>
      </p:sp>
      <p:sp>
        <p:nvSpPr>
          <p:cNvPr id="7" name="Rectangle 2"/>
          <p:cNvSpPr>
            <a:spLocks noGrp="1" noChangeArrowheads="1"/>
          </p:cNvSpPr>
          <p:nvPr>
            <p:ph type="title"/>
          </p:nvPr>
        </p:nvSpPr>
        <p:spPr>
          <a:xfrm>
            <a:off x="628650" y="365126"/>
            <a:ext cx="7886700" cy="1325563"/>
          </a:xfrm>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Data Warehouse Pitfalls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63" name="Rectangle 3"/>
          <p:cNvSpPr>
            <a:spLocks noGrp="1" noChangeArrowheads="1"/>
          </p:cNvSpPr>
          <p:nvPr>
            <p:ph idx="1"/>
          </p:nvPr>
        </p:nvSpPr>
        <p:spPr>
          <a:xfrm>
            <a:off x="628650" y="1441710"/>
            <a:ext cx="7886700" cy="4895851"/>
          </a:xfrm>
        </p:spPr>
        <p:txBody>
          <a:bodyPr>
            <a:normAutofit fontScale="92500" lnSpcReduction="10000"/>
          </a:bodyPr>
          <a:lstStyle/>
          <a:p>
            <a:pPr algn="just">
              <a:lnSpc>
                <a:spcPct val="150000"/>
              </a:lnSpc>
              <a:spcBef>
                <a:spcPts val="500"/>
              </a:spcBef>
              <a:spcAft>
                <a:spcPts val="500"/>
              </a:spcAft>
            </a:pPr>
            <a:r>
              <a:rPr kumimoji="0" lang="en-US" altLang="en-US" sz="2400" dirty="0">
                <a:highlight>
                  <a:srgbClr val="FFFF00"/>
                </a:highlight>
              </a:rPr>
              <a:t>'Overhead' can eat up great amounts of disk space</a:t>
            </a:r>
          </a:p>
          <a:p>
            <a:pPr algn="just">
              <a:lnSpc>
                <a:spcPct val="150000"/>
              </a:lnSpc>
              <a:spcBef>
                <a:spcPts val="500"/>
              </a:spcBef>
              <a:spcAft>
                <a:spcPts val="500"/>
              </a:spcAft>
            </a:pPr>
            <a:r>
              <a:rPr kumimoji="0" lang="en-US" altLang="en-US" sz="2400" dirty="0">
                <a:highlight>
                  <a:srgbClr val="FFFF00"/>
                </a:highlight>
              </a:rPr>
              <a:t>The time it takes to load the warehouse will expand to the amount of the time in the available window..</a:t>
            </a:r>
          </a:p>
          <a:p>
            <a:pPr algn="just">
              <a:lnSpc>
                <a:spcPct val="150000"/>
              </a:lnSpc>
              <a:spcBef>
                <a:spcPts val="500"/>
              </a:spcBef>
              <a:spcAft>
                <a:spcPts val="500"/>
              </a:spcAft>
            </a:pPr>
            <a:r>
              <a:rPr kumimoji="0" lang="en-US" altLang="en-US" sz="2400" dirty="0"/>
              <a:t>Assigning security cannot be done with a transaction processing system mindset.</a:t>
            </a:r>
          </a:p>
          <a:p>
            <a:pPr algn="just">
              <a:lnSpc>
                <a:spcPct val="150000"/>
              </a:lnSpc>
              <a:spcBef>
                <a:spcPts val="500"/>
              </a:spcBef>
              <a:spcAft>
                <a:spcPts val="500"/>
              </a:spcAft>
            </a:pPr>
            <a:r>
              <a:rPr kumimoji="0" lang="en-US" altLang="en-US" sz="2400" dirty="0">
                <a:highlight>
                  <a:srgbClr val="FFFF00"/>
                </a:highlight>
              </a:rPr>
              <a:t>You are building a HIGH maintenance system.</a:t>
            </a:r>
          </a:p>
          <a:p>
            <a:pPr algn="just">
              <a:lnSpc>
                <a:spcPct val="150000"/>
              </a:lnSpc>
              <a:spcBef>
                <a:spcPts val="500"/>
              </a:spcBef>
              <a:spcAft>
                <a:spcPts val="500"/>
              </a:spcAft>
            </a:pPr>
            <a:r>
              <a:rPr kumimoji="0" lang="en-US" altLang="en-US" sz="2400" dirty="0">
                <a:highlight>
                  <a:srgbClr val="FFFF00"/>
                </a:highlight>
              </a:rPr>
              <a:t>You will fail if you concentrate on resource optimization to the neglect of project, data, and customer management issues and an understanding of what adds value to the customer</a:t>
            </a:r>
            <a:endParaRPr kumimoji="0" lang="en-US" altLang="en-US" sz="2400" b="1" dirty="0">
              <a:highlight>
                <a:srgbClr val="FFFF00"/>
              </a:highlight>
            </a:endParaRPr>
          </a:p>
        </p:txBody>
      </p:sp>
      <p:sp>
        <p:nvSpPr>
          <p:cNvPr id="4" name="Slide Number Placeholder 4"/>
          <p:cNvSpPr>
            <a:spLocks noGrp="1"/>
          </p:cNvSpPr>
          <p:nvPr>
            <p:ph type="sldNum" sz="quarter" idx="12"/>
          </p:nvPr>
        </p:nvSpPr>
        <p:spPr/>
        <p:txBody>
          <a:bodyPr/>
          <a:lstStyle/>
          <a:p>
            <a:fld id="{B99E12A6-F0D8-468E-BEBC-D73F16E3E136}" type="slidenum">
              <a:rPr lang="en-US" altLang="en-US"/>
              <a:t>68</a:t>
            </a:fld>
            <a:endParaRPr lang="en-US" altLang="en-US"/>
          </a:p>
        </p:txBody>
      </p:sp>
      <p:sp>
        <p:nvSpPr>
          <p:cNvPr id="7" name="Rectangle 2"/>
          <p:cNvSpPr>
            <a:spLocks noGrp="1" noChangeArrowheads="1"/>
          </p:cNvSpPr>
          <p:nvPr>
            <p:ph type="title"/>
          </p:nvPr>
        </p:nvSpPr>
        <p:spPr>
          <a:xfrm>
            <a:off x="628650" y="365126"/>
            <a:ext cx="7886700" cy="960439"/>
          </a:xfrm>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Data Warehouse Pitfalls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6466" name="Rectangle 2"/>
          <p:cNvSpPr>
            <a:spLocks noGrp="1" noChangeArrowheads="1"/>
          </p:cNvSpPr>
          <p:nvPr>
            <p:ph type="title"/>
          </p:nvPr>
        </p:nvSpPr>
        <p:spPr>
          <a:xfrm>
            <a:off x="1187624" y="404664"/>
            <a:ext cx="6679654" cy="759618"/>
          </a:xfrm>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DW and OLAP Research Issues</a:t>
            </a:r>
          </a:p>
        </p:txBody>
      </p:sp>
      <p:sp>
        <p:nvSpPr>
          <p:cNvPr id="1086467" name="Rectangle 3"/>
          <p:cNvSpPr>
            <a:spLocks noGrp="1" noChangeArrowheads="1"/>
          </p:cNvSpPr>
          <p:nvPr>
            <p:ph idx="1"/>
          </p:nvPr>
        </p:nvSpPr>
        <p:spPr>
          <a:xfrm>
            <a:off x="628650" y="1331654"/>
            <a:ext cx="8263830" cy="5032373"/>
          </a:xfrm>
        </p:spPr>
        <p:txBody>
          <a:bodyPr>
            <a:normAutofit fontScale="92500" lnSpcReduction="20000"/>
          </a:bodyPr>
          <a:lstStyle/>
          <a:p>
            <a:pPr algn="just">
              <a:lnSpc>
                <a:spcPct val="150000"/>
              </a:lnSpc>
            </a:pPr>
            <a:r>
              <a:rPr lang="en-US" altLang="en-US" sz="2000" b="1" dirty="0"/>
              <a:t>Data cleaning</a:t>
            </a:r>
          </a:p>
          <a:p>
            <a:pPr lvl="1" algn="just">
              <a:lnSpc>
                <a:spcPct val="150000"/>
              </a:lnSpc>
              <a:buFont typeface="Wingdings" panose="05000000000000000000" pitchFamily="2" charset="2"/>
              <a:buChar char="ü"/>
            </a:pPr>
            <a:r>
              <a:rPr lang="en-US" altLang="en-US" sz="1800" dirty="0"/>
              <a:t>focus on data inconsistencies, not schema differences</a:t>
            </a:r>
          </a:p>
          <a:p>
            <a:pPr lvl="1" algn="just">
              <a:lnSpc>
                <a:spcPct val="150000"/>
              </a:lnSpc>
              <a:buFont typeface="Wingdings" panose="05000000000000000000" pitchFamily="2" charset="2"/>
              <a:buChar char="ü"/>
            </a:pPr>
            <a:r>
              <a:rPr lang="en-US" altLang="en-US" sz="1800" dirty="0"/>
              <a:t>data mining techniques</a:t>
            </a:r>
          </a:p>
          <a:p>
            <a:pPr algn="just">
              <a:lnSpc>
                <a:spcPct val="150000"/>
              </a:lnSpc>
            </a:pPr>
            <a:r>
              <a:rPr lang="en-US" altLang="en-US" sz="2000" b="1" dirty="0"/>
              <a:t>Physical Design</a:t>
            </a:r>
          </a:p>
          <a:p>
            <a:pPr lvl="1" algn="just">
              <a:lnSpc>
                <a:spcPct val="150000"/>
              </a:lnSpc>
              <a:buFont typeface="Wingdings" panose="05000000000000000000" pitchFamily="2" charset="2"/>
              <a:buChar char="ü"/>
            </a:pPr>
            <a:r>
              <a:rPr lang="en-US" altLang="en-US" sz="1800" dirty="0"/>
              <a:t>design of summary tables, partitions, indexes</a:t>
            </a:r>
          </a:p>
          <a:p>
            <a:pPr lvl="1" algn="just">
              <a:lnSpc>
                <a:spcPct val="150000"/>
              </a:lnSpc>
              <a:buFont typeface="Wingdings" panose="05000000000000000000" pitchFamily="2" charset="2"/>
              <a:buChar char="ü"/>
            </a:pPr>
            <a:r>
              <a:rPr lang="en-US" altLang="en-US" sz="1800" dirty="0"/>
              <a:t>tradeoffs in use of different indexes</a:t>
            </a:r>
          </a:p>
          <a:p>
            <a:pPr algn="just">
              <a:lnSpc>
                <a:spcPct val="150000"/>
              </a:lnSpc>
            </a:pPr>
            <a:r>
              <a:rPr lang="en-US" altLang="en-US" sz="2000" b="1" dirty="0"/>
              <a:t>Query processing</a:t>
            </a:r>
          </a:p>
          <a:p>
            <a:pPr lvl="1" algn="just">
              <a:lnSpc>
                <a:spcPct val="150000"/>
              </a:lnSpc>
              <a:buFont typeface="Wingdings" panose="05000000000000000000" pitchFamily="2" charset="2"/>
              <a:buChar char="ü"/>
            </a:pPr>
            <a:r>
              <a:rPr lang="en-US" altLang="en-US" sz="1800" dirty="0"/>
              <a:t>selecting appropriate summary tables</a:t>
            </a:r>
          </a:p>
          <a:p>
            <a:pPr lvl="1" algn="just">
              <a:lnSpc>
                <a:spcPct val="150000"/>
              </a:lnSpc>
              <a:buFont typeface="Wingdings" panose="05000000000000000000" pitchFamily="2" charset="2"/>
              <a:buChar char="ü"/>
            </a:pPr>
            <a:r>
              <a:rPr lang="en-US" altLang="en-US" sz="1800" dirty="0"/>
              <a:t>dynamic optimization with feedback</a:t>
            </a:r>
          </a:p>
          <a:p>
            <a:pPr lvl="1" algn="just">
              <a:lnSpc>
                <a:spcPct val="150000"/>
              </a:lnSpc>
              <a:buFont typeface="Wingdings" panose="05000000000000000000" pitchFamily="2" charset="2"/>
              <a:buChar char="ü"/>
            </a:pPr>
            <a:r>
              <a:rPr lang="en-US" altLang="en-US" sz="1800" dirty="0"/>
              <a:t>acid test for query optimization: cost estimation, use of transformations, search strategies</a:t>
            </a:r>
          </a:p>
          <a:p>
            <a:pPr lvl="1" algn="just">
              <a:lnSpc>
                <a:spcPct val="150000"/>
              </a:lnSpc>
              <a:buFont typeface="Wingdings" panose="05000000000000000000" pitchFamily="2" charset="2"/>
              <a:buChar char="ü"/>
            </a:pPr>
            <a:r>
              <a:rPr lang="en-US" altLang="en-US" sz="1800" dirty="0"/>
              <a:t>partitioning query processing between OLAP server and backend server.</a:t>
            </a:r>
          </a:p>
        </p:txBody>
      </p:sp>
      <p:sp>
        <p:nvSpPr>
          <p:cNvPr id="4" name="Slide Number Placeholder 4"/>
          <p:cNvSpPr>
            <a:spLocks noGrp="1"/>
          </p:cNvSpPr>
          <p:nvPr>
            <p:ph type="sldNum" sz="quarter" idx="12"/>
          </p:nvPr>
        </p:nvSpPr>
        <p:spPr/>
        <p:txBody>
          <a:bodyPr/>
          <a:lstStyle/>
          <a:p>
            <a:fld id="{B7459E22-9E39-4622-8EEB-11609D3E01D8}" type="slidenum">
              <a:rPr lang="en-US" altLang="en-US"/>
              <a:t>69</a:t>
            </a:fld>
            <a:endParaRPr lang="en-US"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7490" name="Rectangle 2"/>
          <p:cNvSpPr>
            <a:spLocks noGrp="1" noChangeArrowheads="1"/>
          </p:cNvSpPr>
          <p:nvPr>
            <p:ph type="title"/>
          </p:nvPr>
        </p:nvSpPr>
        <p:spPr>
          <a:xfrm>
            <a:off x="628650" y="365127"/>
            <a:ext cx="7886700" cy="759618"/>
          </a:xfrm>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DW and OLAP Research Issues .. 2</a:t>
            </a:r>
          </a:p>
        </p:txBody>
      </p:sp>
      <p:sp>
        <p:nvSpPr>
          <p:cNvPr id="1087491" name="Rectangle 3"/>
          <p:cNvSpPr>
            <a:spLocks noGrp="1" noChangeArrowheads="1"/>
          </p:cNvSpPr>
          <p:nvPr>
            <p:ph idx="1"/>
          </p:nvPr>
        </p:nvSpPr>
        <p:spPr>
          <a:xfrm>
            <a:off x="755576" y="1276254"/>
            <a:ext cx="8119814" cy="5080097"/>
          </a:xfrm>
        </p:spPr>
        <p:txBody>
          <a:bodyPr>
            <a:normAutofit/>
          </a:bodyPr>
          <a:lstStyle/>
          <a:p>
            <a:r>
              <a:rPr lang="en-US" altLang="en-US" sz="2300" b="1" dirty="0"/>
              <a:t>Warehouse Management</a:t>
            </a:r>
          </a:p>
          <a:p>
            <a:pPr lvl="1" algn="just">
              <a:lnSpc>
                <a:spcPct val="150000"/>
              </a:lnSpc>
              <a:buFont typeface="Wingdings" panose="05000000000000000000" pitchFamily="2" charset="2"/>
              <a:buChar char="ü"/>
            </a:pPr>
            <a:r>
              <a:rPr lang="en-US" altLang="en-US" sz="2300" dirty="0"/>
              <a:t>detecting runaway queries</a:t>
            </a:r>
          </a:p>
          <a:p>
            <a:pPr lvl="1" algn="just">
              <a:lnSpc>
                <a:spcPct val="150000"/>
              </a:lnSpc>
              <a:buFont typeface="Wingdings" panose="05000000000000000000" pitchFamily="2" charset="2"/>
              <a:buChar char="ü"/>
            </a:pPr>
            <a:r>
              <a:rPr lang="en-US" altLang="en-US" sz="2300" dirty="0"/>
              <a:t>resource management</a:t>
            </a:r>
          </a:p>
          <a:p>
            <a:pPr lvl="1" algn="just">
              <a:lnSpc>
                <a:spcPct val="150000"/>
              </a:lnSpc>
              <a:buFont typeface="Wingdings" panose="05000000000000000000" pitchFamily="2" charset="2"/>
              <a:buChar char="ü"/>
            </a:pPr>
            <a:r>
              <a:rPr lang="en-US" altLang="en-US" sz="2300" dirty="0"/>
              <a:t>incremental refresh techniques</a:t>
            </a:r>
          </a:p>
          <a:p>
            <a:pPr lvl="1" algn="just">
              <a:lnSpc>
                <a:spcPct val="150000"/>
              </a:lnSpc>
              <a:buFont typeface="Wingdings" panose="05000000000000000000" pitchFamily="2" charset="2"/>
              <a:buChar char="ü"/>
            </a:pPr>
            <a:r>
              <a:rPr lang="en-US" altLang="en-US" sz="2300" dirty="0"/>
              <a:t>computing summary tables during load</a:t>
            </a:r>
          </a:p>
          <a:p>
            <a:pPr lvl="1" algn="just">
              <a:lnSpc>
                <a:spcPct val="150000"/>
              </a:lnSpc>
              <a:buFont typeface="Wingdings" panose="05000000000000000000" pitchFamily="2" charset="2"/>
              <a:buChar char="ü"/>
            </a:pPr>
            <a:r>
              <a:rPr lang="en-US" altLang="en-US" sz="2300" dirty="0"/>
              <a:t>failure recovery during load and refresh</a:t>
            </a:r>
          </a:p>
          <a:p>
            <a:pPr lvl="1" algn="just">
              <a:lnSpc>
                <a:spcPct val="150000"/>
              </a:lnSpc>
              <a:buFont typeface="Wingdings" panose="05000000000000000000" pitchFamily="2" charset="2"/>
              <a:buChar char="ü"/>
            </a:pPr>
            <a:r>
              <a:rPr lang="en-US" altLang="en-US" sz="2300" dirty="0"/>
              <a:t>process management:  scheduling queries, load and refresh</a:t>
            </a:r>
          </a:p>
          <a:p>
            <a:pPr lvl="1" algn="just">
              <a:lnSpc>
                <a:spcPct val="150000"/>
              </a:lnSpc>
              <a:buFont typeface="Wingdings" panose="05000000000000000000" pitchFamily="2" charset="2"/>
              <a:buChar char="ü"/>
            </a:pPr>
            <a:r>
              <a:rPr lang="en-US" altLang="en-US" sz="2300" dirty="0"/>
              <a:t>Query processing, caching</a:t>
            </a:r>
          </a:p>
          <a:p>
            <a:pPr lvl="1" algn="just">
              <a:lnSpc>
                <a:spcPct val="150000"/>
              </a:lnSpc>
              <a:buFont typeface="Wingdings" panose="05000000000000000000" pitchFamily="2" charset="2"/>
              <a:buChar char="ü"/>
            </a:pPr>
            <a:r>
              <a:rPr lang="en-US" altLang="en-US" sz="2300" dirty="0"/>
              <a:t>use of workflow technology for process management</a:t>
            </a:r>
          </a:p>
          <a:p>
            <a:pPr lvl="1"/>
            <a:endParaRPr lang="en-US" altLang="en-US" sz="2400" dirty="0"/>
          </a:p>
        </p:txBody>
      </p:sp>
      <p:sp>
        <p:nvSpPr>
          <p:cNvPr id="4" name="Slide Number Placeholder 4"/>
          <p:cNvSpPr>
            <a:spLocks noGrp="1"/>
          </p:cNvSpPr>
          <p:nvPr>
            <p:ph type="sldNum" sz="quarter" idx="12"/>
          </p:nvPr>
        </p:nvSpPr>
        <p:spPr/>
        <p:txBody>
          <a:bodyPr/>
          <a:lstStyle/>
          <a:p>
            <a:fld id="{CE600725-356E-4BF0-908A-9D2514AB81FA}" type="slidenum">
              <a:rPr lang="en-US" altLang="en-US"/>
              <a:t>70</a:t>
            </a:fld>
            <a:endParaRPr lang="en-US"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3074"/>
          <p:cNvSpPr>
            <a:spLocks noGrp="1" noChangeArrowheads="1"/>
          </p:cNvSpPr>
          <p:nvPr>
            <p:ph type="title"/>
          </p:nvPr>
        </p:nvSpPr>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Data Warehouse (References)</a:t>
            </a:r>
          </a:p>
        </p:txBody>
      </p:sp>
      <p:sp>
        <p:nvSpPr>
          <p:cNvPr id="778243" name="Rectangle 3075"/>
          <p:cNvSpPr>
            <a:spLocks noGrp="1" noChangeArrowheads="1"/>
          </p:cNvSpPr>
          <p:nvPr>
            <p:ph idx="1"/>
          </p:nvPr>
        </p:nvSpPr>
        <p:spPr>
          <a:xfrm>
            <a:off x="628650" y="1766011"/>
            <a:ext cx="8335838" cy="4351338"/>
          </a:xfrm>
        </p:spPr>
        <p:txBody>
          <a:bodyPr>
            <a:normAutofit fontScale="92500"/>
          </a:bodyPr>
          <a:lstStyle/>
          <a:p>
            <a:pPr algn="just">
              <a:lnSpc>
                <a:spcPct val="150000"/>
              </a:lnSpc>
            </a:pPr>
            <a:r>
              <a:rPr lang="en-US" altLang="en-US" sz="2800" dirty="0"/>
              <a:t>W.H. </a:t>
            </a:r>
            <a:r>
              <a:rPr lang="en-US" altLang="en-US" sz="2800" dirty="0" err="1"/>
              <a:t>Inmon</a:t>
            </a:r>
            <a:r>
              <a:rPr lang="en-US" altLang="en-US" sz="2800" dirty="0"/>
              <a:t>, Building the Data Warehouse, Second Edition, John Wiley and Sons, 1996</a:t>
            </a:r>
          </a:p>
          <a:p>
            <a:pPr algn="just">
              <a:lnSpc>
                <a:spcPct val="150000"/>
              </a:lnSpc>
            </a:pPr>
            <a:r>
              <a:rPr lang="en-US" altLang="en-US" sz="2800" dirty="0"/>
              <a:t>W.H. </a:t>
            </a:r>
            <a:r>
              <a:rPr lang="en-US" altLang="en-US" sz="2800" dirty="0" err="1"/>
              <a:t>Inmon</a:t>
            </a:r>
            <a:r>
              <a:rPr lang="en-US" altLang="en-US" sz="2800" dirty="0"/>
              <a:t>, J. D. Welch, Katherine L. Glassey, Managing the Data Warehouse, John Wiley and Sons, 1997</a:t>
            </a:r>
          </a:p>
          <a:p>
            <a:pPr algn="just">
              <a:lnSpc>
                <a:spcPct val="150000"/>
              </a:lnSpc>
            </a:pPr>
            <a:r>
              <a:rPr lang="en-US" altLang="en-US" sz="2800" dirty="0"/>
              <a:t>Barry Devlin, Data Warehouse from Architecture to Implementation, Addison Wesley Longman, Inc 1997</a:t>
            </a:r>
          </a:p>
          <a:p>
            <a:endParaRPr lang="en-US" altLang="en-US" sz="2800" dirty="0"/>
          </a:p>
        </p:txBody>
      </p:sp>
      <p:sp>
        <p:nvSpPr>
          <p:cNvPr id="4" name="Slide Number Placeholder 4"/>
          <p:cNvSpPr>
            <a:spLocks noGrp="1"/>
          </p:cNvSpPr>
          <p:nvPr>
            <p:ph type="sldNum" sz="quarter" idx="12"/>
          </p:nvPr>
        </p:nvSpPr>
        <p:spPr/>
        <p:txBody>
          <a:bodyPr/>
          <a:lstStyle/>
          <a:p>
            <a:fld id="{61D775F6-A957-4900-B3F0-D6C280714E6D}" type="slidenum">
              <a:rPr lang="en-US" altLang="en-US"/>
              <a:t>71</a:t>
            </a:fld>
            <a:endParaRPr lang="en-US" altLang="en-US"/>
          </a:p>
        </p:txBody>
      </p:sp>
    </p:spTree>
  </p:cSld>
  <p:clrMapOvr>
    <a:masterClrMapping/>
  </p:clrMapOvr>
  <p:transition>
    <p:strips dir="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219" name="Rectangle 3"/>
          <p:cNvSpPr>
            <a:spLocks noGrp="1" noChangeArrowheads="1"/>
          </p:cNvSpPr>
          <p:nvPr>
            <p:ph idx="1"/>
          </p:nvPr>
        </p:nvSpPr>
        <p:spPr/>
        <p:txBody>
          <a:bodyPr/>
          <a:lstStyle/>
          <a:p>
            <a:pPr algn="just">
              <a:lnSpc>
                <a:spcPct val="150000"/>
              </a:lnSpc>
            </a:pPr>
            <a:r>
              <a:rPr lang="en-US" altLang="en-US" sz="2800" dirty="0"/>
              <a:t>W.H. </a:t>
            </a:r>
            <a:r>
              <a:rPr lang="en-US" altLang="en-US" sz="2800" dirty="0" err="1"/>
              <a:t>Inmon</a:t>
            </a:r>
            <a:r>
              <a:rPr lang="en-US" altLang="en-US" sz="2800" dirty="0"/>
              <a:t>, John A. Zachman, Jonathan G. Geiger, Data Stores Data Warehousing and the Zachman Framework, McGraw Hill Series on Data Warehousing and Data Management, 1997</a:t>
            </a:r>
          </a:p>
          <a:p>
            <a:pPr algn="just">
              <a:lnSpc>
                <a:spcPct val="150000"/>
              </a:lnSpc>
            </a:pPr>
            <a:r>
              <a:rPr lang="en-US" altLang="en-US" sz="2800" dirty="0"/>
              <a:t>Ralph Kimball, The Data Warehouse Toolkit, John Wiley and Sons, 1996</a:t>
            </a:r>
            <a:endParaRPr lang="en-US" altLang="en-US" dirty="0"/>
          </a:p>
          <a:p>
            <a:endParaRPr lang="en-US" altLang="en-US" dirty="0"/>
          </a:p>
        </p:txBody>
      </p:sp>
      <p:sp>
        <p:nvSpPr>
          <p:cNvPr id="4" name="Slide Number Placeholder 4"/>
          <p:cNvSpPr>
            <a:spLocks noGrp="1"/>
          </p:cNvSpPr>
          <p:nvPr>
            <p:ph type="sldNum" sz="quarter" idx="12"/>
          </p:nvPr>
        </p:nvSpPr>
        <p:spPr/>
        <p:txBody>
          <a:bodyPr/>
          <a:lstStyle/>
          <a:p>
            <a:fld id="{7F989A43-C46B-4870-9CA3-C8BEE3B57D22}" type="slidenum">
              <a:rPr lang="en-US" altLang="en-US"/>
              <a:t>72</a:t>
            </a:fld>
            <a:endParaRPr lang="en-US" altLang="en-US"/>
          </a:p>
        </p:txBody>
      </p:sp>
      <p:sp>
        <p:nvSpPr>
          <p:cNvPr id="7" name="Rectangle 3074"/>
          <p:cNvSpPr>
            <a:spLocks noGrp="1" noChangeArrowheads="1"/>
          </p:cNvSpPr>
          <p:nvPr>
            <p:ph type="title"/>
          </p:nvPr>
        </p:nvSpPr>
        <p:spPr>
          <a:xfrm>
            <a:off x="628650" y="365126"/>
            <a:ext cx="7886700" cy="1325563"/>
          </a:xfrm>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Data Warehouse (References)</a:t>
            </a:r>
          </a:p>
        </p:txBody>
      </p:sp>
    </p:spTree>
  </p:cSld>
  <p:clrMapOvr>
    <a:masterClrMapping/>
  </p:clrMapOvr>
  <p:transition>
    <p:strips dir="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ChangeArrowheads="1"/>
          </p:cNvSpPr>
          <p:nvPr>
            <p:ph type="title"/>
          </p:nvPr>
        </p:nvSpPr>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OLAP and DSS</a:t>
            </a:r>
          </a:p>
        </p:txBody>
      </p:sp>
      <p:sp>
        <p:nvSpPr>
          <p:cNvPr id="776195" name="Rectangle 3"/>
          <p:cNvSpPr>
            <a:spLocks noGrp="1" noChangeArrowheads="1"/>
          </p:cNvSpPr>
          <p:nvPr>
            <p:ph idx="1"/>
          </p:nvPr>
        </p:nvSpPr>
        <p:spPr>
          <a:xfrm>
            <a:off x="628650" y="1916832"/>
            <a:ext cx="7886700" cy="3384376"/>
          </a:xfrm>
        </p:spPr>
        <p:txBody>
          <a:bodyPr>
            <a:normAutofit/>
          </a:bodyPr>
          <a:lstStyle/>
          <a:p>
            <a:pPr algn="just">
              <a:lnSpc>
                <a:spcPct val="150000"/>
              </a:lnSpc>
            </a:pPr>
            <a:r>
              <a:rPr lang="en-US" altLang="en-US" sz="2800" dirty="0"/>
              <a:t>Erik Thomsen, OLAP Solutions, John Wiley and Sons 1997</a:t>
            </a:r>
          </a:p>
          <a:p>
            <a:pPr algn="just">
              <a:lnSpc>
                <a:spcPct val="150000"/>
              </a:lnSpc>
            </a:pPr>
            <a:r>
              <a:rPr lang="en-US" altLang="en-US" sz="2800" dirty="0"/>
              <a:t>Microsoft TechEd Transparencies from Microsoft TechEd 98</a:t>
            </a:r>
          </a:p>
        </p:txBody>
      </p:sp>
      <p:sp>
        <p:nvSpPr>
          <p:cNvPr id="4" name="Slide Number Placeholder 4"/>
          <p:cNvSpPr>
            <a:spLocks noGrp="1"/>
          </p:cNvSpPr>
          <p:nvPr>
            <p:ph type="sldNum" sz="quarter" idx="12"/>
          </p:nvPr>
        </p:nvSpPr>
        <p:spPr/>
        <p:txBody>
          <a:bodyPr/>
          <a:lstStyle/>
          <a:p>
            <a:fld id="{500C27CC-6104-4542-9CA6-07661ADF6454}" type="slidenum">
              <a:rPr lang="en-US" altLang="en-US"/>
              <a:t>73</a:t>
            </a:fld>
            <a:endParaRPr lang="en-US" altLang="en-US"/>
          </a:p>
        </p:txBody>
      </p:sp>
    </p:spTree>
  </p:cSld>
  <p:clrMapOvr>
    <a:masterClrMapping/>
  </p:clrMapOvr>
  <p:transition>
    <p:strips dir="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Data Mining</a:t>
            </a:r>
          </a:p>
        </p:txBody>
      </p:sp>
      <p:sp>
        <p:nvSpPr>
          <p:cNvPr id="775171" name="Rectangle 3"/>
          <p:cNvSpPr>
            <a:spLocks noGrp="1" noChangeArrowheads="1"/>
          </p:cNvSpPr>
          <p:nvPr>
            <p:ph idx="1"/>
          </p:nvPr>
        </p:nvSpPr>
        <p:spPr>
          <a:xfrm>
            <a:off x="628650" y="1825625"/>
            <a:ext cx="7886700" cy="3331567"/>
          </a:xfrm>
        </p:spPr>
        <p:txBody>
          <a:bodyPr/>
          <a:lstStyle/>
          <a:p>
            <a:pPr algn="just">
              <a:lnSpc>
                <a:spcPct val="150000"/>
              </a:lnSpc>
            </a:pPr>
            <a:r>
              <a:rPr lang="en-US" altLang="en-US" sz="2800" dirty="0"/>
              <a:t>Michael J.A. Berry and Gordon </a:t>
            </a:r>
            <a:r>
              <a:rPr lang="en-US" altLang="en-US" sz="2800" dirty="0" err="1"/>
              <a:t>Linoff</a:t>
            </a:r>
            <a:r>
              <a:rPr lang="en-US" altLang="en-US" sz="2800" dirty="0"/>
              <a:t>, Data Mining Techniques, John Wiley and Sons 1997</a:t>
            </a:r>
          </a:p>
          <a:p>
            <a:pPr algn="just">
              <a:lnSpc>
                <a:spcPct val="150000"/>
              </a:lnSpc>
            </a:pPr>
            <a:r>
              <a:rPr lang="en-US" altLang="en-US" sz="2800" dirty="0"/>
              <a:t>Peter </a:t>
            </a:r>
            <a:r>
              <a:rPr lang="en-US" altLang="en-US" sz="2800" dirty="0" err="1"/>
              <a:t>Adriaans</a:t>
            </a:r>
            <a:r>
              <a:rPr lang="en-US" altLang="en-US" sz="2800" dirty="0"/>
              <a:t> and </a:t>
            </a:r>
            <a:r>
              <a:rPr lang="en-US" altLang="en-US" sz="2800" dirty="0" err="1"/>
              <a:t>Dolf</a:t>
            </a:r>
            <a:r>
              <a:rPr lang="en-US" altLang="en-US" sz="2800" dirty="0"/>
              <a:t> </a:t>
            </a:r>
            <a:r>
              <a:rPr lang="en-US" altLang="en-US" sz="2800" dirty="0" err="1"/>
              <a:t>Zantinge</a:t>
            </a:r>
            <a:r>
              <a:rPr lang="en-US" altLang="en-US" sz="2800" dirty="0"/>
              <a:t>, Data Mining, Addison Wesley Longman Ltd. 1996</a:t>
            </a:r>
          </a:p>
        </p:txBody>
      </p:sp>
      <p:sp>
        <p:nvSpPr>
          <p:cNvPr id="4" name="Slide Number Placeholder 4"/>
          <p:cNvSpPr>
            <a:spLocks noGrp="1"/>
          </p:cNvSpPr>
          <p:nvPr>
            <p:ph type="sldNum" sz="quarter" idx="12"/>
          </p:nvPr>
        </p:nvSpPr>
        <p:spPr/>
        <p:txBody>
          <a:bodyPr/>
          <a:lstStyle/>
          <a:p>
            <a:fld id="{5B915979-DB53-4DB1-83DF-2F8EF3F2A50C}" type="slidenum">
              <a:rPr lang="en-US" altLang="en-US"/>
              <a:t>74</a:t>
            </a:fld>
            <a:endParaRPr lang="en-US" altLang="en-US"/>
          </a:p>
        </p:txBody>
      </p:sp>
    </p:spTree>
  </p:cSld>
  <p:clrMapOvr>
    <a:masterClrMapping/>
  </p:clrMapOvr>
  <p:transition>
    <p:strips dir="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146" name="Rectangle 2"/>
          <p:cNvSpPr>
            <a:spLocks noGrp="1" noChangeArrowheads="1"/>
          </p:cNvSpPr>
          <p:nvPr>
            <p:ph type="title"/>
          </p:nvPr>
        </p:nvSpPr>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Other Tutorials</a:t>
            </a:r>
          </a:p>
        </p:txBody>
      </p:sp>
      <p:sp>
        <p:nvSpPr>
          <p:cNvPr id="774147" name="Rectangle 3"/>
          <p:cNvSpPr>
            <a:spLocks noGrp="1" noChangeArrowheads="1"/>
          </p:cNvSpPr>
          <p:nvPr>
            <p:ph idx="1"/>
          </p:nvPr>
        </p:nvSpPr>
        <p:spPr>
          <a:xfrm>
            <a:off x="628650" y="1690689"/>
            <a:ext cx="7886700" cy="4351338"/>
          </a:xfrm>
        </p:spPr>
        <p:txBody>
          <a:bodyPr>
            <a:normAutofit fontScale="92500"/>
          </a:bodyPr>
          <a:lstStyle/>
          <a:p>
            <a:pPr algn="just">
              <a:lnSpc>
                <a:spcPct val="150000"/>
              </a:lnSpc>
            </a:pPr>
            <a:r>
              <a:rPr lang="en-US" altLang="en-US" sz="2400" dirty="0"/>
              <a:t>Donovan Schneider, Data Warehousing Tutorial, Tutorial at International Conference for Management of Data (SIGMOD 1996) and International Conference on Very Large Data Bases 97</a:t>
            </a:r>
          </a:p>
          <a:p>
            <a:pPr algn="just">
              <a:lnSpc>
                <a:spcPct val="150000"/>
              </a:lnSpc>
            </a:pPr>
            <a:r>
              <a:rPr lang="en-US" altLang="en-US" sz="2400" dirty="0" err="1"/>
              <a:t>Umeshwar</a:t>
            </a:r>
            <a:r>
              <a:rPr lang="en-US" altLang="en-US" sz="2400" dirty="0"/>
              <a:t> </a:t>
            </a:r>
            <a:r>
              <a:rPr lang="en-US" altLang="en-US" sz="2400" dirty="0" err="1"/>
              <a:t>Dayal</a:t>
            </a:r>
            <a:r>
              <a:rPr lang="en-US" altLang="en-US" sz="2400" dirty="0"/>
              <a:t> and </a:t>
            </a:r>
            <a:r>
              <a:rPr lang="en-US" altLang="en-US" sz="2400" dirty="0" err="1"/>
              <a:t>Surajit</a:t>
            </a:r>
            <a:r>
              <a:rPr lang="en-US" altLang="en-US" sz="2400" dirty="0"/>
              <a:t> Chaudhuri, Data Warehousing Tutorial at International Conference on Very Large Data Bases 1996</a:t>
            </a:r>
          </a:p>
          <a:p>
            <a:pPr algn="just">
              <a:lnSpc>
                <a:spcPct val="150000"/>
              </a:lnSpc>
            </a:pPr>
            <a:r>
              <a:rPr lang="en-US" altLang="en-US" sz="2400" dirty="0"/>
              <a:t>Anand Deshpande and S. Seshadri, Tutorial on </a:t>
            </a:r>
            <a:r>
              <a:rPr lang="en-US" altLang="en-US" sz="2400" dirty="0" err="1"/>
              <a:t>Datawarehousing</a:t>
            </a:r>
            <a:r>
              <a:rPr lang="en-US" altLang="en-US" sz="2400" dirty="0"/>
              <a:t> and Data Mining, CSI-97</a:t>
            </a:r>
            <a:endParaRPr lang="en-US" altLang="en-US" dirty="0"/>
          </a:p>
          <a:p>
            <a:endParaRPr lang="en-US" altLang="en-US" dirty="0"/>
          </a:p>
        </p:txBody>
      </p:sp>
      <p:sp>
        <p:nvSpPr>
          <p:cNvPr id="4" name="Slide Number Placeholder 4"/>
          <p:cNvSpPr>
            <a:spLocks noGrp="1"/>
          </p:cNvSpPr>
          <p:nvPr>
            <p:ph type="sldNum" sz="quarter" idx="12"/>
          </p:nvPr>
        </p:nvSpPr>
        <p:spPr/>
        <p:txBody>
          <a:bodyPr/>
          <a:lstStyle/>
          <a:p>
            <a:fld id="{49ECF027-CC09-4890-870A-467F5C5A97F0}" type="slidenum">
              <a:rPr lang="en-US" altLang="en-US"/>
              <a:t>75</a:t>
            </a:fld>
            <a:endParaRPr lang="en-US" altLang="en-US"/>
          </a:p>
        </p:txBody>
      </p:sp>
    </p:spTree>
  </p:cSld>
  <p:clrMapOvr>
    <a:masterClrMapping/>
  </p:clrMapOvr>
  <p:transition>
    <p:strips dir="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122" name="Rectangle 2"/>
          <p:cNvSpPr>
            <a:spLocks noGrp="1" noChangeArrowheads="1"/>
          </p:cNvSpPr>
          <p:nvPr>
            <p:ph type="title"/>
          </p:nvPr>
        </p:nvSpPr>
        <p:spPr/>
        <p:txBody>
          <a:bodyPr/>
          <a:lstStyle/>
          <a:p>
            <a:r>
              <a:rPr lang="en-US" altLang="en-US" b="1" dirty="0">
                <a:latin typeface="Tahoma" panose="020B0604030504040204" pitchFamily="34" charset="0"/>
                <a:ea typeface="Tahoma" panose="020B0604030504040204" pitchFamily="34" charset="0"/>
                <a:cs typeface="Tahoma" panose="020B0604030504040204" pitchFamily="34" charset="0"/>
              </a:rPr>
              <a:t>Useful URLs</a:t>
            </a:r>
          </a:p>
        </p:txBody>
      </p:sp>
      <p:sp>
        <p:nvSpPr>
          <p:cNvPr id="773123" name="Rectangle 3"/>
          <p:cNvSpPr>
            <a:spLocks noGrp="1" noChangeArrowheads="1"/>
          </p:cNvSpPr>
          <p:nvPr>
            <p:ph idx="1"/>
          </p:nvPr>
        </p:nvSpPr>
        <p:spPr>
          <a:xfrm>
            <a:off x="628650" y="1825624"/>
            <a:ext cx="7886700" cy="4411687"/>
          </a:xfrm>
        </p:spPr>
        <p:txBody>
          <a:bodyPr>
            <a:normAutofit/>
          </a:bodyPr>
          <a:lstStyle/>
          <a:p>
            <a:pPr algn="just">
              <a:lnSpc>
                <a:spcPct val="150000"/>
              </a:lnSpc>
            </a:pPr>
            <a:r>
              <a:rPr lang="en-US" altLang="en-US" sz="2800" dirty="0"/>
              <a:t>Data Warehousing</a:t>
            </a:r>
          </a:p>
          <a:p>
            <a:pPr lvl="1" algn="just">
              <a:lnSpc>
                <a:spcPct val="150000"/>
              </a:lnSpc>
            </a:pPr>
            <a:r>
              <a:rPr lang="en-US" altLang="en-US" sz="2400" dirty="0">
                <a:hlinkClick r:id="rId2"/>
              </a:rPr>
              <a:t>https://www.tutorialspoint.com/dwh/index.htm</a:t>
            </a:r>
          </a:p>
          <a:p>
            <a:pPr lvl="1" algn="just">
              <a:lnSpc>
                <a:spcPct val="150000"/>
              </a:lnSpc>
            </a:pPr>
            <a:r>
              <a:rPr lang="en-US" altLang="en-US" sz="2800" dirty="0"/>
              <a:t>OLAP </a:t>
            </a:r>
          </a:p>
          <a:p>
            <a:pPr lvl="1" algn="just">
              <a:lnSpc>
                <a:spcPct val="150000"/>
              </a:lnSpc>
            </a:pPr>
            <a:r>
              <a:rPr lang="en-US" altLang="en-US" sz="2400" dirty="0">
                <a:hlinkClick r:id="rId2"/>
              </a:rPr>
              <a:t>https://www.tutorialspoint.com/dwh/index.htm</a:t>
            </a:r>
          </a:p>
        </p:txBody>
      </p:sp>
      <p:sp>
        <p:nvSpPr>
          <p:cNvPr id="4" name="Slide Number Placeholder 4"/>
          <p:cNvSpPr>
            <a:spLocks noGrp="1"/>
          </p:cNvSpPr>
          <p:nvPr>
            <p:ph type="sldNum" sz="quarter" idx="12"/>
          </p:nvPr>
        </p:nvSpPr>
        <p:spPr/>
        <p:txBody>
          <a:bodyPr/>
          <a:lstStyle/>
          <a:p>
            <a:fld id="{C273A37A-61D4-44FF-A754-0CFBDAFB10ED}" type="slidenum">
              <a:rPr lang="en-US" altLang="en-US"/>
              <a:t>76</a:t>
            </a:fld>
            <a:endParaRPr lang="en-US" altLang="en-US"/>
          </a:p>
        </p:txBody>
      </p:sp>
    </p:spTree>
  </p:cSld>
  <p:clrMapOvr>
    <a:masterClrMapping/>
  </p:clrMapOvr>
  <p:transition>
    <p:strips dir="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TotalTime>
  <Pages>43</Pages>
  <Words>3826</Words>
  <Application>Microsoft Macintosh PowerPoint</Application>
  <PresentationFormat>On-screen Show (4:3)</PresentationFormat>
  <Paragraphs>615</Paragraphs>
  <Slides>76</Slides>
  <Notes>0</Notes>
  <HiddenSlides>3</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76</vt:i4>
      </vt:variant>
    </vt:vector>
  </HeadingPairs>
  <TitlesOfParts>
    <vt:vector size="91" baseType="lpstr">
      <vt:lpstr>Arial</vt:lpstr>
      <vt:lpstr>Calibri</vt:lpstr>
      <vt:lpstr>Calibri Light</vt:lpstr>
      <vt:lpstr>Heebo</vt:lpstr>
      <vt:lpstr>Impact</vt:lpstr>
      <vt:lpstr>Nunito</vt:lpstr>
      <vt:lpstr>proxima_novaregular</vt:lpstr>
      <vt:lpstr>Source Sans Pro</vt:lpstr>
      <vt:lpstr>Symbol</vt:lpstr>
      <vt:lpstr>Tahoma</vt:lpstr>
      <vt:lpstr>Times New Roman</vt:lpstr>
      <vt:lpstr>Univers LT 47 CondensedLt</vt:lpstr>
      <vt:lpstr>Wingdings</vt:lpstr>
      <vt:lpstr>Office Theme</vt:lpstr>
      <vt:lpstr>Clip</vt:lpstr>
      <vt:lpstr>PowerPoint Presentation</vt:lpstr>
      <vt:lpstr>PowerPoint Presentation</vt:lpstr>
      <vt:lpstr>Data Warehouse Architectures: Conceptual View</vt:lpstr>
      <vt:lpstr>Three-layer Architecture: Conceptual View</vt:lpstr>
      <vt:lpstr>Data Quality - The Reality</vt:lpstr>
      <vt:lpstr>Data Integration Across Sources</vt:lpstr>
      <vt:lpstr>Data Integrity Problems</vt:lpstr>
      <vt:lpstr>Data Transformation Example</vt:lpstr>
      <vt:lpstr>Data Transformation Terms</vt:lpstr>
      <vt:lpstr>Data Transformation Terms</vt:lpstr>
      <vt:lpstr>Data Transformation Terms cont’</vt:lpstr>
      <vt:lpstr>Data Transformation Terms</vt:lpstr>
      <vt:lpstr>Loads</vt:lpstr>
      <vt:lpstr>PowerPoint Presentation</vt:lpstr>
      <vt:lpstr>When to Refresh?</vt:lpstr>
      <vt:lpstr>Data Extraction and Cleansing</vt:lpstr>
      <vt:lpstr>Granularity in Warehouse</vt:lpstr>
      <vt:lpstr>Derived Data</vt:lpstr>
      <vt:lpstr>Data Warehousing: Two Distinct Issues</vt:lpstr>
      <vt:lpstr>Issues in Data Warehousing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Roll-up</vt:lpstr>
      <vt:lpstr>Drill-down</vt:lpstr>
      <vt:lpstr>Slice</vt:lpstr>
      <vt:lpstr>Dice</vt:lpstr>
      <vt:lpstr>Pivot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Characteristics of OLTP</vt:lpstr>
      <vt:lpstr>Architecture of OLTP</vt:lpstr>
      <vt:lpstr>ETL Processes</vt:lpstr>
      <vt:lpstr>PowerPoint Presentation</vt:lpstr>
      <vt:lpstr>PowerPoint Presentation</vt:lpstr>
      <vt:lpstr>Example of OLTP Transaction</vt:lpstr>
      <vt:lpstr>PowerPoint Presentation</vt:lpstr>
      <vt:lpstr>Data Warehouse vs. Data Marts</vt:lpstr>
      <vt:lpstr>From the Data Warehouse to Data Marts</vt:lpstr>
      <vt:lpstr>Data Warehouse and Data Marts</vt:lpstr>
      <vt:lpstr>Characteristics of the Departmental Data Mart</vt:lpstr>
      <vt:lpstr>Techniques for Creating Departmental Data Mart</vt:lpstr>
      <vt:lpstr>Data Mart Centric</vt:lpstr>
      <vt:lpstr>Problems with Data Mart Centric Solution</vt:lpstr>
      <vt:lpstr> OLAP Is FASMI    cont’</vt:lpstr>
      <vt:lpstr>Multi-dimensional Data</vt:lpstr>
      <vt:lpstr>A Visual Operation:  Pivot (Rotate)</vt:lpstr>
      <vt:lpstr>“Slicing and Dicing”</vt:lpstr>
      <vt:lpstr>Roll-up and Drill Down</vt:lpstr>
      <vt:lpstr>Data Warehouse Pitfalls</vt:lpstr>
      <vt:lpstr>Data Warehouse Pitfalls</vt:lpstr>
      <vt:lpstr>Data Warehouse Pitfalls</vt:lpstr>
      <vt:lpstr>DW and OLAP Research Issues</vt:lpstr>
      <vt:lpstr>DW and OLAP Research Issues .. 2</vt:lpstr>
      <vt:lpstr>Data Warehouse (References)</vt:lpstr>
      <vt:lpstr>Data Warehouse (References)</vt:lpstr>
      <vt:lpstr>OLAP and DSS</vt:lpstr>
      <vt:lpstr>Data Mining</vt:lpstr>
      <vt:lpstr>Other Tutorials</vt:lpstr>
      <vt:lpstr>Useful URLs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WAREHOUSING AND DATA MINING</dc:title>
  <dc:subject>data warehousing and data mining</dc:subject>
  <dc:creator>DR S SESHADRI</dc:creator>
  <cp:lastModifiedBy>James RWIGEMA</cp:lastModifiedBy>
  <cp:revision>148</cp:revision>
  <cp:lastPrinted>2023-06-14T14:02:53Z</cp:lastPrinted>
  <dcterms:created xsi:type="dcterms:W3CDTF">2023-06-14T14:02:53Z</dcterms:created>
  <dcterms:modified xsi:type="dcterms:W3CDTF">2025-10-21T07:10:33Z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1033-5.2.1.7924</vt:lpwstr>
  </property>
</Properties>
</file>