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632AF6B-D3F4-DBCF-77DA-693026987F0C}">
          <p14:sldIdLst>
            <p14:sldId id="256"/>
            <p14:sldId id="257"/>
          </p14:sldIdLst>
        </p14:section>
        <p14:section name="Key Terminology" id="{4E8FC971-CFF2-E007-9DD5-3CC692A83E9E}">
          <p14:sldIdLst>
            <p14:sldId id="258"/>
            <p14:sldId id="259"/>
            <p14:sldId id="260"/>
            <p14:sldId id="261"/>
          </p14:sldIdLst>
        </p14:section>
        <p14:section name="Cloud Basics" id="{E0CCD43C-4339-FC17-1202-F39E8ECB5E90}">
          <p14:sldIdLst>
            <p14:sldId id="262"/>
            <p14:sldId id="263"/>
            <p14:sldId id="264"/>
            <p14:sldId id="265"/>
            <p14:sldId id="266"/>
            <p14:sldId id="267"/>
          </p14:sldIdLst>
        </p14:section>
        <p14:section name="Deployment Models" id="{89521549-48BB-ABD7-FD1D-D8B68749557F}">
          <p14:sldIdLst>
            <p14:sldId id="268"/>
            <p14:sldId id="269"/>
            <p14:sldId id="270"/>
            <p14:sldId id="271"/>
            <p14:sldId id="272"/>
            <p14:sldId id="273"/>
          </p14:sldIdLst>
        </p14:section>
        <p14:section name="Service Models" id="{E8B6156B-5116-8E03-582F-206B30378BAE}">
          <p14:sldIdLst>
            <p14:sldId id="274"/>
            <p14:sldId id="275"/>
            <p14:sldId id="276"/>
            <p14:sldId id="277"/>
            <p14:sldId id="278"/>
            <p14:sldId id="279"/>
            <p14:sldId id="280"/>
          </p14:sldIdLst>
        </p14:section>
        <p14:section name="Business Drivers" id="{959F73E3-2D25-1EBA-6EC0-8B0A324ED5F2}">
          <p14:sldIdLst>
            <p14:sldId id="281"/>
            <p14:sldId id="282"/>
            <p14:sldId id="283"/>
            <p14:sldId id="284"/>
          </p14:sldIdLst>
        </p14:section>
        <p14:section name="Adoption Considerations" id="{E4D1D1B7-E548-32D5-AE67-D8025817EEC8}">
          <p14:sldIdLst>
            <p14:sldId id="285"/>
            <p14:sldId id="286"/>
            <p14:sldId id="287"/>
            <p14:sldId id="288"/>
            <p14:sldId id="289"/>
            <p14:sldId id="290"/>
            <p14:sldId id="291"/>
            <p14:sldId id="292"/>
            <p14:sldId id="293"/>
          </p14:sldIdLst>
        </p14:section>
        <p14:section name="Amazon Web Services" id="{55E07E69-A7CE-EE1D-8FD1-1DC88269184C}">
          <p14:sldIdLst>
            <p14:sldId id="294"/>
            <p14:sldId id="295"/>
            <p14:sldId id="296"/>
            <p14:sldId id="297"/>
            <p14:sldId id="29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30"/>
    <p:restoredTop sz="94610"/>
  </p:normalViewPr>
  <p:slideViewPr>
    <p:cSldViewPr snapToGrid="0" snapToObjects="1">
      <p:cViewPr varScale="1">
        <p:scale>
          <a:sx n="154" d="100"/>
          <a:sy n="154" d="100"/>
        </p:scale>
        <p:origin x="208" y="2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E1B4B"/>
                </a:solidFill>
                <a:latin typeface="+mn-lt"/>
              </a:defRPr>
            </a:pPr>
            <a:r>
              <a:rPr lang="en-US" sz="1200" b="0" i="0" u="none" strike="noStrike">
                <a:solidFill>
                  <a:srgbClr val="1E1B4B"/>
                </a:solidFill>
                <a:latin typeface="+mn-lt"/>
              </a:rPr>
              <a:t>Demand vs. capacity (illustrative)</a:t>
            </a:r>
          </a:p>
        </c:rich>
      </c:tx>
      <c:overlay val="0"/>
    </c:title>
    <c:autoTitleDeleted val="0"/>
    <c:plotArea>
      <c:layout/>
      <c:lineChart>
        <c:grouping val="standard"/>
        <c:varyColors val="0"/>
        <c:ser>
          <c:idx val="0"/>
          <c:order val="0"/>
          <c:tx>
            <c:strRef>
              <c:f>Sheet1!$B$1</c:f>
              <c:strCache>
                <c:ptCount val="1"/>
                <c:pt idx="0">
                  <c:v>Demand</c:v>
                </c:pt>
              </c:strCache>
            </c:strRef>
          </c:tx>
          <c:spPr>
            <a:ln w="38100" cap="flat">
              <a:solidFill>
                <a:srgbClr val="FF7A59"/>
              </a:solidFill>
              <a:prstDash val="solid"/>
              <a:round/>
            </a:ln>
            <a:effectLst/>
          </c:spPr>
          <c:marker>
            <c:symbol val="none"/>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45</c:v>
                </c:pt>
                <c:pt idx="1">
                  <c:v>80</c:v>
                </c:pt>
                <c:pt idx="2">
                  <c:v>115</c:v>
                </c:pt>
                <c:pt idx="3">
                  <c:v>120</c:v>
                </c:pt>
                <c:pt idx="4">
                  <c:v>55</c:v>
                </c:pt>
                <c:pt idx="5">
                  <c:v>40</c:v>
                </c:pt>
                <c:pt idx="6">
                  <c:v>40</c:v>
                </c:pt>
                <c:pt idx="7">
                  <c:v>40</c:v>
                </c:pt>
                <c:pt idx="8">
                  <c:v>40</c:v>
                </c:pt>
                <c:pt idx="9">
                  <c:v>45</c:v>
                </c:pt>
                <c:pt idx="10">
                  <c:v>40</c:v>
                </c:pt>
                <c:pt idx="11">
                  <c:v>40</c:v>
                </c:pt>
              </c:numCache>
            </c:numRef>
          </c:val>
          <c:smooth val="0"/>
          <c:extLst>
            <c:ext xmlns:c16="http://schemas.microsoft.com/office/drawing/2014/chart" uri="{C3380CC4-5D6E-409C-BE32-E72D297353CC}">
              <c16:uniqueId val="{00000000-0DB7-0E49-938E-8037A8D85A72}"/>
            </c:ext>
          </c:extLst>
        </c:ser>
        <c:ser>
          <c:idx val="1"/>
          <c:order val="1"/>
          <c:tx>
            <c:strRef>
              <c:f>Sheet1!$C$1</c:f>
              <c:strCache>
                <c:ptCount val="1"/>
                <c:pt idx="0">
                  <c:v>On-premise capacity</c:v>
                </c:pt>
              </c:strCache>
            </c:strRef>
          </c:tx>
          <c:spPr>
            <a:ln w="38100" cap="flat">
              <a:solidFill>
                <a:srgbClr val="6C5CE7"/>
              </a:solidFill>
              <a:prstDash val="solid"/>
              <a:round/>
            </a:ln>
            <a:effectLst/>
          </c:spPr>
          <c:marker>
            <c:symbol val="none"/>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General</c:formatCode>
                <c:ptCount val="12"/>
                <c:pt idx="0">
                  <c:v>50</c:v>
                </c:pt>
                <c:pt idx="1">
                  <c:v>50</c:v>
                </c:pt>
                <c:pt idx="2">
                  <c:v>50</c:v>
                </c:pt>
                <c:pt idx="3">
                  <c:v>50</c:v>
                </c:pt>
                <c:pt idx="4">
                  <c:v>50</c:v>
                </c:pt>
                <c:pt idx="5">
                  <c:v>50</c:v>
                </c:pt>
                <c:pt idx="6">
                  <c:v>50</c:v>
                </c:pt>
                <c:pt idx="7">
                  <c:v>50</c:v>
                </c:pt>
                <c:pt idx="8">
                  <c:v>50</c:v>
                </c:pt>
                <c:pt idx="9">
                  <c:v>50</c:v>
                </c:pt>
                <c:pt idx="10">
                  <c:v>50</c:v>
                </c:pt>
                <c:pt idx="11">
                  <c:v>50</c:v>
                </c:pt>
              </c:numCache>
            </c:numRef>
          </c:val>
          <c:smooth val="0"/>
          <c:extLst>
            <c:ext xmlns:c16="http://schemas.microsoft.com/office/drawing/2014/chart" uri="{C3380CC4-5D6E-409C-BE32-E72D297353CC}">
              <c16:uniqueId val="{00000001-0DB7-0E49-938E-8037A8D85A72}"/>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5A7E"/>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majorGridlines>
          <c:spPr>
            <a:ln w="9525" cap="flat">
              <a:solidFill>
                <a:srgbClr val="E3E0F5"/>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100">
              <a:solidFill>
                <a:srgbClr val="5B5A7E"/>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26241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with electric and gas utilities.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with electric and gas utilities.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of pooling is the idea of abstraction that hides the location of the resources such as the virtual machines, processing memory, storage and network bandwidth.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use case scenario for a private cloud would be when an organization has data that cannot be put in the public cloud, perhaps for legal reasons. For e.g., they may have medical data that cannot be exposed publicly.
Another scenario may be where government policy requires specific data to be kept in-country or privately.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Salesforce has developed a CRM Community cloud solution for Higher Education.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Leaders in the PaaS space are trying to future-proof their offerings by supporting programming using standardized and open-source languages.
Google App Engine’s PaaS application development can be conducted using standardized Java and Python as well as its own Go open-source language.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SaaS providers must ensure that one customer cannot access information from another customer.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physical distance between the AZs guarantees that if an issue such as a power outage or a natural disaster such as an earthquake, tornado, etc., were to impact an AZ, the others AZs will remain unaffected.</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txBody>
          <a:bodyPr/>
          <a:lstStyle/>
          <a:p>
            <a:endParaRPr lang="en-RW"/>
          </a:p>
        </p:txBody>
      </p:sp>
      <p:sp>
        <p:nvSpPr>
          <p:cNvPr id="3" name="Text 1"/>
          <p:cNvSpPr>
            <a:spLocks noGrp="1"/>
          </p:cNvSpPr>
          <p:nvPr>
            <p:ph type="title" idx="101" hasCustomPrompt="1"/>
          </p:nvPr>
        </p:nvSpPr>
        <p:spPr>
          <a:xfrm>
            <a:off x="640080" y="1417320"/>
            <a:ext cx="4937760" cy="1828800"/>
          </a:xfrm>
          <a:prstGeom prst="rect">
            <a:avLst/>
          </a:prstGeom>
          <a:noFill/>
          <a:ln/>
        </p:spPr>
        <p:txBody>
          <a:bodyPr wrap="square" rtlCol="0"/>
          <a:lstStyle>
            <a:lvl1pPr marL="0" indent="0" algn="l">
              <a:buNone/>
              <a:defRPr lang="en-US" sz="4600" b="1" dirty="0">
                <a:solidFill>
                  <a:schemeClr val="bg1"/>
                </a:solidFill>
              </a:defRPr>
            </a:lvl1pPr>
          </a:lstStyle>
          <a:p>
            <a:pPr marL="0" indent="0" algn="l">
              <a:buNone/>
            </a:pPr>
            <a:endParaRPr lang="en-US" sz="4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Text 1"/>
          <p:cNvSpPr>
            <a:spLocks noGrp="1"/>
          </p:cNvSpPr>
          <p:nvPr>
            <p:ph type="title" idx="101" hasCustomPrompt="1"/>
          </p:nvPr>
        </p:nvSpPr>
        <p:spPr>
          <a:xfrm>
            <a:off x="457200" y="548640"/>
            <a:ext cx="8229600" cy="64008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bg2"/>
          </a:solidFill>
          <a:ln/>
        </p:spPr>
      </p:sp>
      <p:sp>
        <p:nvSpPr>
          <p:cNvPr id="3" name="Text 1"/>
          <p:cNvSpPr>
            <a:spLocks noGrp="1"/>
          </p:cNvSpPr>
          <p:nvPr>
            <p:ph type="title" idx="101" hasCustomPrompt="1"/>
          </p:nvPr>
        </p:nvSpPr>
        <p:spPr>
          <a:xfrm>
            <a:off x="457200" y="548640"/>
            <a:ext cx="8229600" cy="640080"/>
          </a:xfrm>
          <a:prstGeom prst="rect">
            <a:avLst/>
          </a:prstGeom>
          <a:noFill/>
          <a:ln/>
        </p:spPr>
        <p:txBody>
          <a:bodyPr wrap="square" rtlCol="0"/>
          <a:lstStyle>
            <a:lvl1pPr marL="0" indent="0" algn="l">
              <a:buNone/>
              <a:defRPr lang="en-US" sz="3400" b="1" dirty="0">
                <a:solidFill>
                  <a:schemeClr val="tx1"/>
                </a:solidFill>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5A7E"/>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5A7E"/>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20.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4.png"/><Relationship Id="rId7"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29.png"/><Relationship Id="rId5" Type="http://schemas.openxmlformats.org/officeDocument/2006/relationships/image" Target="../media/image19.png"/><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image" Target="../media/image1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image" Target="../media/image19.png"/><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4.xml"/><Relationship Id="rId5" Type="http://schemas.openxmlformats.org/officeDocument/2006/relationships/image" Target="../media/image15.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37.png"/></Relationships>
</file>

<file path=ppt/slides/_rels/slide1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40.png"/><Relationship Id="rId4" Type="http://schemas.openxmlformats.org/officeDocument/2006/relationships/image" Target="../media/image39.png"/></Relationships>
</file>

<file path=ppt/slides/_rels/slide21.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3.png"/><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42.png"/><Relationship Id="rId5" Type="http://schemas.openxmlformats.org/officeDocument/2006/relationships/image" Target="../media/image28.png"/><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45.png"/></Relationships>
</file>

<file path=ppt/slides/_rels/slide2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47.png"/><Relationship Id="rId7" Type="http://schemas.openxmlformats.org/officeDocument/2006/relationships/image" Target="../media/image50.png"/><Relationship Id="rId2" Type="http://schemas.openxmlformats.org/officeDocument/2006/relationships/notesSlide" Target="../notesSlides/notesSlide24.xml"/><Relationship Id="rId1" Type="http://schemas.openxmlformats.org/officeDocument/2006/relationships/slideLayout" Target="../slideLayouts/slideLayout4.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6.xml"/><Relationship Id="rId1" Type="http://schemas.openxmlformats.org/officeDocument/2006/relationships/slideLayout" Target="../slideLayouts/slideLayout4.xml"/><Relationship Id="rId5" Type="http://schemas.openxmlformats.org/officeDocument/2006/relationships/image" Target="../media/image53.png"/><Relationship Id="rId4" Type="http://schemas.openxmlformats.org/officeDocument/2006/relationships/image" Target="../media/image52.png"/></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4.xml"/><Relationship Id="rId5" Type="http://schemas.openxmlformats.org/officeDocument/2006/relationships/image" Target="../media/image54.png"/><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55.png"/><Relationship Id="rId4" Type="http://schemas.openxmlformats.org/officeDocument/2006/relationships/image" Target="../media/image53.png"/></Relationships>
</file>

<file path=ppt/slides/_rels/slide2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57.png"/></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4.xml"/><Relationship Id="rId5" Type="http://schemas.openxmlformats.org/officeDocument/2006/relationships/image" Target="../media/image59.png"/><Relationship Id="rId4" Type="http://schemas.openxmlformats.org/officeDocument/2006/relationships/image" Target="../media/image58.png"/></Relationships>
</file>

<file path=ppt/slides/_rels/slide3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1.xml"/><Relationship Id="rId1" Type="http://schemas.openxmlformats.org/officeDocument/2006/relationships/slideLayout" Target="../slideLayouts/slideLayout4.xml"/><Relationship Id="rId5" Type="http://schemas.openxmlformats.org/officeDocument/2006/relationships/image" Target="../media/image62.png"/><Relationship Id="rId4" Type="http://schemas.openxmlformats.org/officeDocument/2006/relationships/image" Target="../media/image61.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3.xml"/><Relationship Id="rId1" Type="http://schemas.openxmlformats.org/officeDocument/2006/relationships/slideLayout" Target="../slideLayouts/slideLayout4.xml"/><Relationship Id="rId4" Type="http://schemas.openxmlformats.org/officeDocument/2006/relationships/hyperlink" Target="https://calculator.aws/#/" TargetMode="External"/></Relationships>
</file>

<file path=ppt/slides/_rels/slide3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4.xml"/><Relationship Id="rId1" Type="http://schemas.openxmlformats.org/officeDocument/2006/relationships/slideLayout" Target="../slideLayouts/slideLayout4.xml"/><Relationship Id="rId4" Type="http://schemas.openxmlformats.org/officeDocument/2006/relationships/image" Target="../media/image64.png"/></Relationships>
</file>

<file path=ppt/slides/_rels/slide3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5.xml"/><Relationship Id="rId1" Type="http://schemas.openxmlformats.org/officeDocument/2006/relationships/slideLayout" Target="../slideLayouts/slideLayout4.xml"/><Relationship Id="rId4" Type="http://schemas.openxmlformats.org/officeDocument/2006/relationships/image" Target="../media/image66.png"/></Relationships>
</file>

<file path=ppt/slides/_rels/slide36.xml.rels><?xml version="1.0" encoding="UTF-8" standalone="yes"?>
<Relationships xmlns="http://schemas.openxmlformats.org/package/2006/relationships"><Relationship Id="rId3" Type="http://schemas.openxmlformats.org/officeDocument/2006/relationships/image" Target="../media/image67.png"/><Relationship Id="rId7" Type="http://schemas.openxmlformats.org/officeDocument/2006/relationships/image" Target="../media/image69.png"/><Relationship Id="rId2" Type="http://schemas.openxmlformats.org/officeDocument/2006/relationships/notesSlide" Target="../notesSlides/notesSlide36.xml"/><Relationship Id="rId1" Type="http://schemas.openxmlformats.org/officeDocument/2006/relationships/slideLayout" Target="../slideLayouts/slideLayout4.xml"/><Relationship Id="rId6" Type="http://schemas.openxmlformats.org/officeDocument/2006/relationships/image" Target="../media/image38.png"/><Relationship Id="rId5" Type="http://schemas.openxmlformats.org/officeDocument/2006/relationships/image" Target="../media/image14.png"/><Relationship Id="rId4" Type="http://schemas.openxmlformats.org/officeDocument/2006/relationships/image" Target="../media/image68.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8.xml"/><Relationship Id="rId1" Type="http://schemas.openxmlformats.org/officeDocument/2006/relationships/slideLayout" Target="../slideLayouts/slideLayout4.xml"/><Relationship Id="rId6" Type="http://schemas.openxmlformats.org/officeDocument/2006/relationships/image" Target="../media/image43.png"/><Relationship Id="rId5" Type="http://schemas.openxmlformats.org/officeDocument/2006/relationships/image" Target="../media/image70.png"/><Relationship Id="rId4" Type="http://schemas.openxmlformats.org/officeDocument/2006/relationships/image" Target="../media/image29.png"/></Relationships>
</file>

<file path=ppt/slides/_rels/slide3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39.xml"/><Relationship Id="rId1" Type="http://schemas.openxmlformats.org/officeDocument/2006/relationships/slideLayout" Target="../slideLayouts/slideLayout4.xml"/><Relationship Id="rId5" Type="http://schemas.openxmlformats.org/officeDocument/2006/relationships/image" Target="../media/image41.png"/><Relationship Id="rId4" Type="http://schemas.openxmlformats.org/officeDocument/2006/relationships/image" Target="../media/image72.png"/></Relationships>
</file>

<file path=ppt/slides/_rels/slide4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40.xml"/><Relationship Id="rId1" Type="http://schemas.openxmlformats.org/officeDocument/2006/relationships/slideLayout" Target="../slideLayouts/slideLayout4.xml"/><Relationship Id="rId4" Type="http://schemas.openxmlformats.org/officeDocument/2006/relationships/image" Target="../media/image74.png"/></Relationships>
</file>

<file path=ppt/slides/_rels/slide41.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41.xml"/><Relationship Id="rId1" Type="http://schemas.openxmlformats.org/officeDocument/2006/relationships/slideLayout" Target="../slideLayouts/slideLayout4.xml"/><Relationship Id="rId6" Type="http://schemas.openxmlformats.org/officeDocument/2006/relationships/hyperlink" Target="https://aws.amazon.com/about-aws/global-infrastructure/regions_az/" TargetMode="External"/><Relationship Id="rId5" Type="http://schemas.openxmlformats.org/officeDocument/2006/relationships/image" Target="../media/image8.png"/><Relationship Id="rId4" Type="http://schemas.openxmlformats.org/officeDocument/2006/relationships/image" Target="../media/image11.png"/></Relationships>
</file>

<file path=ppt/slides/_rels/slide42.xml.rels><?xml version="1.0" encoding="UTF-8" standalone="yes"?>
<Relationships xmlns="http://schemas.openxmlformats.org/package/2006/relationships"><Relationship Id="rId3" Type="http://schemas.openxmlformats.org/officeDocument/2006/relationships/image" Target="../media/image76.png"/><Relationship Id="rId7" Type="http://schemas.openxmlformats.org/officeDocument/2006/relationships/image" Target="../media/image79.png"/><Relationship Id="rId2" Type="http://schemas.openxmlformats.org/officeDocument/2006/relationships/notesSlide" Target="../notesSlides/notesSlide42.xml"/><Relationship Id="rId1" Type="http://schemas.openxmlformats.org/officeDocument/2006/relationships/slideLayout" Target="../slideLayouts/slideLayout4.xml"/><Relationship Id="rId6" Type="http://schemas.openxmlformats.org/officeDocument/2006/relationships/image" Target="../media/image78.png"/><Relationship Id="rId5" Type="http://schemas.openxmlformats.org/officeDocument/2006/relationships/image" Target="../media/image25.png"/><Relationship Id="rId4" Type="http://schemas.openxmlformats.org/officeDocument/2006/relationships/image" Target="../media/image77.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ecor circle large"/>
          <p:cNvSpPr/>
          <p:nvPr/>
        </p:nvSpPr>
        <p:spPr>
          <a:xfrm>
            <a:off x="5394960" y="-731520"/>
            <a:ext cx="5120640" cy="5120640"/>
          </a:xfrm>
          <a:prstGeom prst="ellipse">
            <a:avLst/>
          </a:prstGeom>
          <a:solidFill>
            <a:schemeClr val="accent1">
              <a:alpha val="45000"/>
            </a:schemeClr>
          </a:solidFill>
          <a:ln/>
        </p:spPr>
        <p:txBody>
          <a:bodyPr/>
          <a:lstStyle/>
          <a:p>
            <a:endParaRPr lang="en-RW"/>
          </a:p>
        </p:txBody>
      </p:sp>
      <p:sp>
        <p:nvSpPr>
          <p:cNvPr id="3" name="Decor circle mint"/>
          <p:cNvSpPr/>
          <p:nvPr/>
        </p:nvSpPr>
        <p:spPr>
          <a:xfrm>
            <a:off x="6583680" y="2194560"/>
            <a:ext cx="3291840" cy="3291840"/>
          </a:xfrm>
          <a:prstGeom prst="ellipse">
            <a:avLst/>
          </a:prstGeom>
          <a:solidFill>
            <a:schemeClr val="accent2">
              <a:alpha val="30000"/>
            </a:schemeClr>
          </a:solidFill>
          <a:ln/>
        </p:spPr>
        <p:txBody>
          <a:bodyPr/>
          <a:lstStyle/>
          <a:p>
            <a:endParaRPr lang="en-RW"/>
          </a:p>
        </p:txBody>
      </p:sp>
      <p:sp>
        <p:nvSpPr>
          <p:cNvPr id="4" name="Decor circle sun"/>
          <p:cNvSpPr/>
          <p:nvPr/>
        </p:nvSpPr>
        <p:spPr>
          <a:xfrm>
            <a:off x="4846320" y="3383280"/>
            <a:ext cx="1463040" cy="1463040"/>
          </a:xfrm>
          <a:prstGeom prst="ellipse">
            <a:avLst/>
          </a:prstGeom>
          <a:solidFill>
            <a:schemeClr val="accent4">
              <a:alpha val="75000"/>
            </a:schemeClr>
          </a:solidFill>
          <a:ln/>
        </p:spPr>
        <p:txBody>
          <a:bodyPr/>
          <a:lstStyle/>
          <a:p>
            <a:endParaRPr lang="en-RW"/>
          </a:p>
        </p:txBody>
      </p:sp>
      <p:pic>
        <p:nvPicPr>
          <p:cNvPr id="5" name="Hero cloud" descr="Cloud icon"/>
          <p:cNvPicPr>
            <a:picLocks noChangeAspect="1"/>
          </p:cNvPicPr>
          <p:nvPr/>
        </p:nvPicPr>
        <p:blipFill>
          <a:blip r:embed="rId3"/>
          <a:stretch>
            <a:fillRect/>
          </a:stretch>
        </p:blipFill>
        <p:spPr>
          <a:xfrm>
            <a:off x="5852160" y="914400"/>
            <a:ext cx="2743200" cy="2743200"/>
          </a:xfrm>
          <a:prstGeom prst="rect">
            <a:avLst/>
          </a:prstGeom>
        </p:spPr>
      </p:pic>
      <p:sp>
        <p:nvSpPr>
          <p:cNvPr id="6" name="FaServer circle"/>
          <p:cNvSpPr/>
          <p:nvPr/>
        </p:nvSpPr>
        <p:spPr>
          <a:xfrm>
            <a:off x="7955280" y="640080"/>
            <a:ext cx="640080" cy="640080"/>
          </a:xfrm>
          <a:prstGeom prst="ellipse">
            <a:avLst/>
          </a:prstGeom>
          <a:solidFill>
            <a:schemeClr val="accent4"/>
          </a:solidFill>
          <a:ln/>
        </p:spPr>
        <p:txBody>
          <a:bodyPr/>
          <a:lstStyle/>
          <a:p>
            <a:endParaRPr lang="en-RW"/>
          </a:p>
        </p:txBody>
      </p:sp>
      <p:pic>
        <p:nvPicPr>
          <p:cNvPr id="7" name="FaServer icon" descr="preencoded.png"/>
          <p:cNvPicPr>
            <a:picLocks noChangeAspect="1"/>
          </p:cNvPicPr>
          <p:nvPr/>
        </p:nvPicPr>
        <p:blipFill>
          <a:blip r:embed="rId4"/>
          <a:stretch>
            <a:fillRect/>
          </a:stretch>
        </p:blipFill>
        <p:spPr>
          <a:xfrm>
            <a:off x="8115300" y="800100"/>
            <a:ext cx="320040" cy="320040"/>
          </a:xfrm>
          <a:prstGeom prst="rect">
            <a:avLst/>
          </a:prstGeom>
        </p:spPr>
      </p:pic>
      <p:sp>
        <p:nvSpPr>
          <p:cNvPr id="8" name="FaDatabase circle"/>
          <p:cNvSpPr/>
          <p:nvPr/>
        </p:nvSpPr>
        <p:spPr>
          <a:xfrm>
            <a:off x="5394960" y="502920"/>
            <a:ext cx="502920" cy="502920"/>
          </a:xfrm>
          <a:prstGeom prst="ellipse">
            <a:avLst/>
          </a:prstGeom>
          <a:solidFill>
            <a:schemeClr val="accent2"/>
          </a:solidFill>
          <a:ln/>
        </p:spPr>
        <p:txBody>
          <a:bodyPr/>
          <a:lstStyle/>
          <a:p>
            <a:endParaRPr lang="en-RW"/>
          </a:p>
        </p:txBody>
      </p:sp>
      <p:pic>
        <p:nvPicPr>
          <p:cNvPr id="9" name="FaDatabase icon" descr="preencoded.png"/>
          <p:cNvPicPr>
            <a:picLocks noChangeAspect="1"/>
          </p:cNvPicPr>
          <p:nvPr/>
        </p:nvPicPr>
        <p:blipFill>
          <a:blip r:embed="rId5"/>
          <a:stretch>
            <a:fillRect/>
          </a:stretch>
        </p:blipFill>
        <p:spPr>
          <a:xfrm>
            <a:off x="5520690" y="628650"/>
            <a:ext cx="251460" cy="251460"/>
          </a:xfrm>
          <a:prstGeom prst="rect">
            <a:avLst/>
          </a:prstGeom>
        </p:spPr>
      </p:pic>
      <p:sp>
        <p:nvSpPr>
          <p:cNvPr id="10" name="FaMobileAlt circle"/>
          <p:cNvSpPr/>
          <p:nvPr/>
        </p:nvSpPr>
        <p:spPr>
          <a:xfrm>
            <a:off x="8092440" y="3291840"/>
            <a:ext cx="548640" cy="548640"/>
          </a:xfrm>
          <a:prstGeom prst="ellipse">
            <a:avLst/>
          </a:prstGeom>
          <a:solidFill>
            <a:schemeClr val="accent3"/>
          </a:solidFill>
          <a:ln/>
        </p:spPr>
        <p:txBody>
          <a:bodyPr/>
          <a:lstStyle/>
          <a:p>
            <a:endParaRPr lang="en-RW"/>
          </a:p>
        </p:txBody>
      </p:sp>
      <p:pic>
        <p:nvPicPr>
          <p:cNvPr id="11" name="FaMobileAlt icon" descr="preencoded.png"/>
          <p:cNvPicPr>
            <a:picLocks noChangeAspect="1"/>
          </p:cNvPicPr>
          <p:nvPr/>
        </p:nvPicPr>
        <p:blipFill>
          <a:blip r:embed="rId6"/>
          <a:stretch>
            <a:fillRect/>
          </a:stretch>
        </p:blipFill>
        <p:spPr>
          <a:xfrm>
            <a:off x="8229600" y="3429000"/>
            <a:ext cx="274320" cy="274320"/>
          </a:xfrm>
          <a:prstGeom prst="rect">
            <a:avLst/>
          </a:prstGeom>
        </p:spPr>
      </p:pic>
      <p:sp>
        <p:nvSpPr>
          <p:cNvPr id="12" name="Section chip"/>
          <p:cNvSpPr txBox="1"/>
          <p:nvPr/>
        </p:nvSpPr>
        <p:spPr>
          <a:xfrm>
            <a:off x="1123554" y="0"/>
            <a:ext cx="3448445" cy="604476"/>
          </a:xfrm>
          <a:prstGeom prst="roundRect">
            <a:avLst>
              <a:gd name="adj" fmla="val 48148"/>
            </a:avLst>
          </a:prstGeom>
          <a:solidFill>
            <a:schemeClr val="accent4"/>
          </a:solidFill>
          <a:ln/>
        </p:spPr>
        <p:txBody>
          <a:bodyPr wrap="square" lIns="0" tIns="0" rIns="0" bIns="0" rtlCol="0" anchor="ctr"/>
          <a:lstStyle/>
          <a:p>
            <a:pPr marL="0" indent="0" algn="ctr">
              <a:buNone/>
            </a:pPr>
            <a:r>
              <a:rPr lang="en-US" sz="2000" b="1" kern="0" spc="150" dirty="0">
                <a:solidFill>
                  <a:schemeClr val="tx1"/>
                </a:solidFill>
              </a:rPr>
              <a:t>CHAPTER 3</a:t>
            </a:r>
            <a:endParaRPr lang="en-US" sz="2000" dirty="0"/>
          </a:p>
        </p:txBody>
      </p:sp>
      <p:sp>
        <p:nvSpPr>
          <p:cNvPr id="13" name="Text 1"/>
          <p:cNvSpPr>
            <a:spLocks noGrp="1"/>
          </p:cNvSpPr>
          <p:nvPr>
            <p:ph type="title" idx="101" hasCustomPrompt="1"/>
          </p:nvPr>
        </p:nvSpPr>
        <p:spPr>
          <a:xfrm>
            <a:off x="640080" y="1417320"/>
            <a:ext cx="4937760" cy="1828800"/>
          </a:xfrm>
          <a:prstGeom prst="rect">
            <a:avLst/>
          </a:prstGeom>
          <a:noFill/>
          <a:ln/>
        </p:spPr>
        <p:txBody>
          <a:bodyPr wrap="square" lIns="0" tIns="0" rIns="0" bIns="0" rtlCol="0" anchor="t"/>
          <a:lstStyle/>
          <a:p>
            <a:pPr marL="0" indent="0" algn="l">
              <a:buNone/>
            </a:pPr>
            <a:r>
              <a:rPr lang="en-US" sz="4600" b="1" dirty="0">
                <a:solidFill>
                  <a:schemeClr val="bg1"/>
                </a:solidFill>
              </a:rPr>
              <a:t>What is Cloud Computing?</a:t>
            </a:r>
            <a:endParaRPr lang="en-US" sz="4600" dirty="0"/>
          </a:p>
        </p:txBody>
      </p:sp>
      <p:sp>
        <p:nvSpPr>
          <p:cNvPr id="14" name="Section chip">
            <a:extLst>
              <a:ext uri="{FF2B5EF4-FFF2-40B4-BE49-F238E27FC236}">
                <a16:creationId xmlns:a16="http://schemas.microsoft.com/office/drawing/2014/main" id="{8C3BBDF9-DA67-5F31-9DB7-25C00A9F6F89}"/>
              </a:ext>
            </a:extLst>
          </p:cNvPr>
          <p:cNvSpPr txBox="1"/>
          <p:nvPr/>
        </p:nvSpPr>
        <p:spPr>
          <a:xfrm>
            <a:off x="157656" y="4389120"/>
            <a:ext cx="4805330" cy="604476"/>
          </a:xfrm>
          <a:prstGeom prst="roundRect">
            <a:avLst>
              <a:gd name="adj" fmla="val 48148"/>
            </a:avLst>
          </a:prstGeom>
          <a:solidFill>
            <a:schemeClr val="accent4"/>
          </a:solidFill>
          <a:ln/>
        </p:spPr>
        <p:txBody>
          <a:bodyPr wrap="square" lIns="0" tIns="0" rIns="0" bIns="0" rtlCol="0" anchor="ctr"/>
          <a:lstStyle/>
          <a:p>
            <a:pPr marL="0" indent="0" algn="ctr">
              <a:buNone/>
            </a:pPr>
            <a:r>
              <a:rPr lang="en-US" sz="1000" b="1" kern="0" spc="150" dirty="0"/>
              <a:t>Prepared BY </a:t>
            </a:r>
            <a:r>
              <a:rPr lang="en-US" sz="1000" b="1" kern="0" spc="150" dirty="0" err="1"/>
              <a:t>Assoc.Prof</a:t>
            </a:r>
            <a:r>
              <a:rPr lang="en-US" sz="1000" b="1" kern="0" spc="150" dirty="0"/>
              <a:t>. James Rwigema Through “Claude AI”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48640"/>
            <a:ext cx="8229600" cy="640080"/>
          </a:xfrm>
          <a:prstGeom prst="rect">
            <a:avLst/>
          </a:prstGeom>
          <a:noFill/>
          <a:ln/>
        </p:spPr>
        <p:txBody>
          <a:bodyPr wrap="square" lIns="0" tIns="0" rIns="0" bIns="0" rtlCol="0" anchor="ctr"/>
          <a:lstStyle/>
          <a:p>
            <a:pPr marL="0" indent="0" algn="l">
              <a:buNone/>
            </a:pPr>
            <a:r>
              <a:rPr lang="en-US" sz="3400" b="1" dirty="0">
                <a:solidFill>
                  <a:schemeClr val="tx1"/>
                </a:solidFill>
              </a:rPr>
              <a:t>What We'll Cover</a:t>
            </a:r>
            <a:endParaRPr lang="en-US" sz="3400" dirty="0"/>
          </a:p>
        </p:txBody>
      </p:sp>
      <p:sp>
        <p:nvSpPr>
          <p:cNvPr id="3" name="Section chip"/>
          <p:cNvSpPr txBox="1"/>
          <p:nvPr/>
        </p:nvSpPr>
        <p:spPr>
          <a:xfrm>
            <a:off x="457200" y="274320"/>
            <a:ext cx="994867" cy="246888"/>
          </a:xfrm>
          <a:prstGeom prst="roundRect">
            <a:avLst>
              <a:gd name="adj" fmla="val 48148"/>
            </a:avLst>
          </a:prstGeom>
          <a:solidFill>
            <a:schemeClr val="accent1"/>
          </a:solidFill>
          <a:ln/>
        </p:spPr>
        <p:txBody>
          <a:bodyPr wrap="square" lIns="0" tIns="0" rIns="0" bIns="0" rtlCol="0" anchor="ctr"/>
          <a:lstStyle/>
          <a:p>
            <a:pPr marL="0" indent="0" algn="ctr">
              <a:buNone/>
            </a:pPr>
            <a:r>
              <a:rPr lang="en-US" sz="1000" b="1" kern="0" spc="150" dirty="0">
                <a:solidFill>
                  <a:schemeClr val="bg1"/>
                </a:solidFill>
              </a:rPr>
              <a:t>OVERVIEW</a:t>
            </a:r>
            <a:endParaRPr lang="en-US" sz="1000" dirty="0"/>
          </a:p>
        </p:txBody>
      </p:sp>
      <p:sp>
        <p:nvSpPr>
          <p:cNvPr id="4" name="Card"/>
          <p:cNvSpPr/>
          <p:nvPr/>
        </p:nvSpPr>
        <p:spPr>
          <a:xfrm>
            <a:off x="457200" y="1417320"/>
            <a:ext cx="1920240" cy="1463040"/>
          </a:xfrm>
          <a:prstGeom prst="roundRect">
            <a:avLst>
              <a:gd name="adj" fmla="val 7500"/>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5" name="FaCloud circle"/>
          <p:cNvSpPr/>
          <p:nvPr/>
        </p:nvSpPr>
        <p:spPr>
          <a:xfrm>
            <a:off x="621792" y="1581912"/>
            <a:ext cx="502920" cy="502920"/>
          </a:xfrm>
          <a:prstGeom prst="ellipse">
            <a:avLst/>
          </a:prstGeom>
          <a:solidFill>
            <a:schemeClr val="accent1"/>
          </a:solidFill>
          <a:ln/>
        </p:spPr>
        <p:txBody>
          <a:bodyPr/>
          <a:lstStyle/>
          <a:p>
            <a:endParaRPr lang="en-RW"/>
          </a:p>
        </p:txBody>
      </p:sp>
      <p:pic>
        <p:nvPicPr>
          <p:cNvPr id="6" name="FaCloud icon" descr="preencoded.png"/>
          <p:cNvPicPr>
            <a:picLocks noChangeAspect="1"/>
          </p:cNvPicPr>
          <p:nvPr/>
        </p:nvPicPr>
        <p:blipFill>
          <a:blip r:embed="rId3"/>
          <a:stretch>
            <a:fillRect/>
          </a:stretch>
        </p:blipFill>
        <p:spPr>
          <a:xfrm>
            <a:off x="747522" y="1707642"/>
            <a:ext cx="251460" cy="251460"/>
          </a:xfrm>
          <a:prstGeom prst="rect">
            <a:avLst/>
          </a:prstGeom>
        </p:spPr>
      </p:pic>
      <p:sp>
        <p:nvSpPr>
          <p:cNvPr id="7" name="Text 4"/>
          <p:cNvSpPr txBox="1"/>
          <p:nvPr/>
        </p:nvSpPr>
        <p:spPr>
          <a:xfrm>
            <a:off x="1645920" y="1600200"/>
            <a:ext cx="548640" cy="365760"/>
          </a:xfrm>
          <a:prstGeom prst="rect">
            <a:avLst/>
          </a:prstGeom>
          <a:noFill/>
          <a:ln/>
        </p:spPr>
        <p:txBody>
          <a:bodyPr wrap="square" lIns="0" tIns="0" rIns="0" bIns="0" rtlCol="0" anchor="t"/>
          <a:lstStyle/>
          <a:p>
            <a:pPr marL="0" indent="0" algn="r">
              <a:buNone/>
            </a:pPr>
            <a:r>
              <a:rPr lang="en-US" sz="1800" b="1" dirty="0">
                <a:solidFill>
                  <a:schemeClr val="tx2"/>
                </a:solidFill>
              </a:rPr>
              <a:t>01</a:t>
            </a:r>
            <a:endParaRPr lang="en-US" sz="1800" dirty="0"/>
          </a:p>
        </p:txBody>
      </p:sp>
      <p:sp>
        <p:nvSpPr>
          <p:cNvPr id="8" name="Text 5"/>
          <p:cNvSpPr txBox="1"/>
          <p:nvPr/>
        </p:nvSpPr>
        <p:spPr>
          <a:xfrm>
            <a:off x="621792" y="2194560"/>
            <a:ext cx="1627632" cy="621792"/>
          </a:xfrm>
          <a:prstGeom prst="rect">
            <a:avLst/>
          </a:prstGeom>
          <a:noFill/>
          <a:ln/>
        </p:spPr>
        <p:txBody>
          <a:bodyPr wrap="square" lIns="0" tIns="0" rIns="0" bIns="0" rtlCol="0" anchor="t"/>
          <a:lstStyle/>
          <a:p>
            <a:pPr marL="0" indent="0">
              <a:buNone/>
            </a:pPr>
            <a:r>
              <a:rPr lang="en-US" sz="1400" b="1" dirty="0">
                <a:solidFill>
                  <a:schemeClr val="tx1"/>
                </a:solidFill>
              </a:rPr>
              <a:t>What is Cloud Computing?</a:t>
            </a:r>
            <a:endParaRPr lang="en-US" sz="1400" dirty="0"/>
          </a:p>
        </p:txBody>
      </p:sp>
      <p:sp>
        <p:nvSpPr>
          <p:cNvPr id="9" name="Card"/>
          <p:cNvSpPr/>
          <p:nvPr/>
        </p:nvSpPr>
        <p:spPr>
          <a:xfrm>
            <a:off x="2560320" y="1417320"/>
            <a:ext cx="1920240" cy="1463040"/>
          </a:xfrm>
          <a:prstGeom prst="roundRect">
            <a:avLst>
              <a:gd name="adj" fmla="val 7500"/>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10" name="FaFileContract circle"/>
          <p:cNvSpPr/>
          <p:nvPr/>
        </p:nvSpPr>
        <p:spPr>
          <a:xfrm>
            <a:off x="2724912" y="1581912"/>
            <a:ext cx="502920" cy="502920"/>
          </a:xfrm>
          <a:prstGeom prst="ellipse">
            <a:avLst/>
          </a:prstGeom>
          <a:solidFill>
            <a:schemeClr val="accent5"/>
          </a:solidFill>
          <a:ln/>
        </p:spPr>
        <p:txBody>
          <a:bodyPr/>
          <a:lstStyle/>
          <a:p>
            <a:endParaRPr lang="en-RW"/>
          </a:p>
        </p:txBody>
      </p:sp>
      <p:pic>
        <p:nvPicPr>
          <p:cNvPr id="11" name="FaFileContract icon" descr="preencoded.png"/>
          <p:cNvPicPr>
            <a:picLocks noChangeAspect="1"/>
          </p:cNvPicPr>
          <p:nvPr/>
        </p:nvPicPr>
        <p:blipFill>
          <a:blip r:embed="rId4"/>
          <a:stretch>
            <a:fillRect/>
          </a:stretch>
        </p:blipFill>
        <p:spPr>
          <a:xfrm>
            <a:off x="2850642" y="1707642"/>
            <a:ext cx="251460" cy="251460"/>
          </a:xfrm>
          <a:prstGeom prst="rect">
            <a:avLst/>
          </a:prstGeom>
        </p:spPr>
      </p:pic>
      <p:sp>
        <p:nvSpPr>
          <p:cNvPr id="12" name="Text 8"/>
          <p:cNvSpPr txBox="1"/>
          <p:nvPr/>
        </p:nvSpPr>
        <p:spPr>
          <a:xfrm>
            <a:off x="3749040" y="1600200"/>
            <a:ext cx="548640" cy="365760"/>
          </a:xfrm>
          <a:prstGeom prst="rect">
            <a:avLst/>
          </a:prstGeom>
          <a:noFill/>
          <a:ln/>
        </p:spPr>
        <p:txBody>
          <a:bodyPr wrap="square" lIns="0" tIns="0" rIns="0" bIns="0" rtlCol="0" anchor="t"/>
          <a:lstStyle/>
          <a:p>
            <a:pPr marL="0" indent="0" algn="r">
              <a:buNone/>
            </a:pPr>
            <a:r>
              <a:rPr lang="en-US" sz="1800" b="1" dirty="0">
                <a:solidFill>
                  <a:schemeClr val="tx2"/>
                </a:solidFill>
              </a:rPr>
              <a:t>02</a:t>
            </a:r>
            <a:endParaRPr lang="en-US" sz="1800" dirty="0"/>
          </a:p>
        </p:txBody>
      </p:sp>
      <p:sp>
        <p:nvSpPr>
          <p:cNvPr id="13" name="Text 9"/>
          <p:cNvSpPr txBox="1"/>
          <p:nvPr/>
        </p:nvSpPr>
        <p:spPr>
          <a:xfrm>
            <a:off x="2724912" y="2194560"/>
            <a:ext cx="1627632" cy="621792"/>
          </a:xfrm>
          <a:prstGeom prst="rect">
            <a:avLst/>
          </a:prstGeom>
          <a:noFill/>
          <a:ln/>
        </p:spPr>
        <p:txBody>
          <a:bodyPr wrap="square" lIns="0" tIns="0" rIns="0" bIns="0" rtlCol="0" anchor="t"/>
          <a:lstStyle/>
          <a:p>
            <a:pPr marL="0" indent="0">
              <a:buNone/>
            </a:pPr>
            <a:r>
              <a:rPr lang="en-US" sz="1400" b="1" dirty="0">
                <a:solidFill>
                  <a:schemeClr val="tx1"/>
                </a:solidFill>
              </a:rPr>
              <a:t>NIST Definition of Cloud Computing</a:t>
            </a:r>
            <a:endParaRPr lang="en-US" sz="1400" dirty="0"/>
          </a:p>
        </p:txBody>
      </p:sp>
      <p:sp>
        <p:nvSpPr>
          <p:cNvPr id="14" name="Card"/>
          <p:cNvSpPr/>
          <p:nvPr/>
        </p:nvSpPr>
        <p:spPr>
          <a:xfrm>
            <a:off x="4663440" y="1417320"/>
            <a:ext cx="1920240" cy="1463040"/>
          </a:xfrm>
          <a:prstGeom prst="roundRect">
            <a:avLst>
              <a:gd name="adj" fmla="val 7500"/>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15" name="FaListUl circle"/>
          <p:cNvSpPr/>
          <p:nvPr/>
        </p:nvSpPr>
        <p:spPr>
          <a:xfrm>
            <a:off x="4828032" y="1581912"/>
            <a:ext cx="502920" cy="502920"/>
          </a:xfrm>
          <a:prstGeom prst="ellipse">
            <a:avLst/>
          </a:prstGeom>
          <a:solidFill>
            <a:schemeClr val="accent2"/>
          </a:solidFill>
          <a:ln/>
        </p:spPr>
        <p:txBody>
          <a:bodyPr/>
          <a:lstStyle/>
          <a:p>
            <a:endParaRPr lang="en-RW"/>
          </a:p>
        </p:txBody>
      </p:sp>
      <p:pic>
        <p:nvPicPr>
          <p:cNvPr id="16" name="FaListUl icon" descr="preencoded.png"/>
          <p:cNvPicPr>
            <a:picLocks noChangeAspect="1"/>
          </p:cNvPicPr>
          <p:nvPr/>
        </p:nvPicPr>
        <p:blipFill>
          <a:blip r:embed="rId5"/>
          <a:stretch>
            <a:fillRect/>
          </a:stretch>
        </p:blipFill>
        <p:spPr>
          <a:xfrm>
            <a:off x="4953762" y="1707642"/>
            <a:ext cx="251460" cy="251460"/>
          </a:xfrm>
          <a:prstGeom prst="rect">
            <a:avLst/>
          </a:prstGeom>
        </p:spPr>
      </p:pic>
      <p:sp>
        <p:nvSpPr>
          <p:cNvPr id="17" name="Text 12"/>
          <p:cNvSpPr txBox="1"/>
          <p:nvPr/>
        </p:nvSpPr>
        <p:spPr>
          <a:xfrm>
            <a:off x="5852160" y="1600200"/>
            <a:ext cx="548640" cy="365760"/>
          </a:xfrm>
          <a:prstGeom prst="rect">
            <a:avLst/>
          </a:prstGeom>
          <a:noFill/>
          <a:ln/>
        </p:spPr>
        <p:txBody>
          <a:bodyPr wrap="square" lIns="0" tIns="0" rIns="0" bIns="0" rtlCol="0" anchor="t"/>
          <a:lstStyle/>
          <a:p>
            <a:pPr marL="0" indent="0" algn="r">
              <a:buNone/>
            </a:pPr>
            <a:r>
              <a:rPr lang="en-US" sz="1800" b="1" dirty="0">
                <a:solidFill>
                  <a:schemeClr val="tx2"/>
                </a:solidFill>
              </a:rPr>
              <a:t>03</a:t>
            </a:r>
            <a:endParaRPr lang="en-US" sz="1800" dirty="0"/>
          </a:p>
        </p:txBody>
      </p:sp>
      <p:sp>
        <p:nvSpPr>
          <p:cNvPr id="18" name="Text 13"/>
          <p:cNvSpPr txBox="1"/>
          <p:nvPr/>
        </p:nvSpPr>
        <p:spPr>
          <a:xfrm>
            <a:off x="4828032" y="2194560"/>
            <a:ext cx="1627632" cy="621792"/>
          </a:xfrm>
          <a:prstGeom prst="rect">
            <a:avLst/>
          </a:prstGeom>
          <a:noFill/>
          <a:ln/>
        </p:spPr>
        <p:txBody>
          <a:bodyPr wrap="square" lIns="0" tIns="0" rIns="0" bIns="0" rtlCol="0" anchor="t"/>
          <a:lstStyle/>
          <a:p>
            <a:pPr marL="0" indent="0">
              <a:buNone/>
            </a:pPr>
            <a:r>
              <a:rPr lang="en-US" sz="1400" b="1" dirty="0">
                <a:solidFill>
                  <a:schemeClr val="tx1"/>
                </a:solidFill>
              </a:rPr>
              <a:t>Essential Characteristics of Cloud Computing</a:t>
            </a:r>
            <a:endParaRPr lang="en-US" sz="1400" dirty="0"/>
          </a:p>
        </p:txBody>
      </p:sp>
      <p:sp>
        <p:nvSpPr>
          <p:cNvPr id="19" name="Card"/>
          <p:cNvSpPr/>
          <p:nvPr/>
        </p:nvSpPr>
        <p:spPr>
          <a:xfrm>
            <a:off x="6766560" y="1417320"/>
            <a:ext cx="1920240" cy="1463040"/>
          </a:xfrm>
          <a:prstGeom prst="roundRect">
            <a:avLst>
              <a:gd name="adj" fmla="val 7500"/>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20" name="FaProjectDiagram circle"/>
          <p:cNvSpPr/>
          <p:nvPr/>
        </p:nvSpPr>
        <p:spPr>
          <a:xfrm>
            <a:off x="6931152" y="1581912"/>
            <a:ext cx="502920" cy="502920"/>
          </a:xfrm>
          <a:prstGeom prst="ellipse">
            <a:avLst/>
          </a:prstGeom>
          <a:solidFill>
            <a:schemeClr val="accent3"/>
          </a:solidFill>
          <a:ln/>
        </p:spPr>
        <p:txBody>
          <a:bodyPr/>
          <a:lstStyle/>
          <a:p>
            <a:endParaRPr lang="en-RW"/>
          </a:p>
        </p:txBody>
      </p:sp>
      <p:pic>
        <p:nvPicPr>
          <p:cNvPr id="21" name="FaProjectDiagram icon" descr="preencoded.png"/>
          <p:cNvPicPr>
            <a:picLocks noChangeAspect="1"/>
          </p:cNvPicPr>
          <p:nvPr/>
        </p:nvPicPr>
        <p:blipFill>
          <a:blip r:embed="rId6"/>
          <a:stretch>
            <a:fillRect/>
          </a:stretch>
        </p:blipFill>
        <p:spPr>
          <a:xfrm>
            <a:off x="7056882" y="1707642"/>
            <a:ext cx="251460" cy="251460"/>
          </a:xfrm>
          <a:prstGeom prst="rect">
            <a:avLst/>
          </a:prstGeom>
        </p:spPr>
      </p:pic>
      <p:sp>
        <p:nvSpPr>
          <p:cNvPr id="22" name="Text 16"/>
          <p:cNvSpPr txBox="1"/>
          <p:nvPr/>
        </p:nvSpPr>
        <p:spPr>
          <a:xfrm>
            <a:off x="7955280" y="1600200"/>
            <a:ext cx="548640" cy="365760"/>
          </a:xfrm>
          <a:prstGeom prst="rect">
            <a:avLst/>
          </a:prstGeom>
          <a:noFill/>
          <a:ln/>
        </p:spPr>
        <p:txBody>
          <a:bodyPr wrap="square" lIns="0" tIns="0" rIns="0" bIns="0" rtlCol="0" anchor="t"/>
          <a:lstStyle/>
          <a:p>
            <a:pPr marL="0" indent="0" algn="r">
              <a:buNone/>
            </a:pPr>
            <a:r>
              <a:rPr lang="en-US" sz="1800" b="1" dirty="0">
                <a:solidFill>
                  <a:schemeClr val="tx2"/>
                </a:solidFill>
              </a:rPr>
              <a:t>04</a:t>
            </a:r>
            <a:endParaRPr lang="en-US" sz="1800" dirty="0"/>
          </a:p>
        </p:txBody>
      </p:sp>
      <p:sp>
        <p:nvSpPr>
          <p:cNvPr id="23" name="Text 17"/>
          <p:cNvSpPr txBox="1"/>
          <p:nvPr/>
        </p:nvSpPr>
        <p:spPr>
          <a:xfrm>
            <a:off x="6931152" y="2194560"/>
            <a:ext cx="1627632" cy="621792"/>
          </a:xfrm>
          <a:prstGeom prst="rect">
            <a:avLst/>
          </a:prstGeom>
          <a:noFill/>
          <a:ln/>
        </p:spPr>
        <p:txBody>
          <a:bodyPr wrap="square" lIns="0" tIns="0" rIns="0" bIns="0" rtlCol="0" anchor="t"/>
          <a:lstStyle/>
          <a:p>
            <a:pPr marL="0" indent="0">
              <a:buNone/>
            </a:pPr>
            <a:r>
              <a:rPr lang="en-US" sz="1400" b="1" dirty="0">
                <a:solidFill>
                  <a:schemeClr val="tx1"/>
                </a:solidFill>
              </a:rPr>
              <a:t>Cloud Deployment Models</a:t>
            </a:r>
            <a:endParaRPr lang="en-US" sz="1400" dirty="0"/>
          </a:p>
        </p:txBody>
      </p:sp>
      <p:sp>
        <p:nvSpPr>
          <p:cNvPr id="24" name="Card"/>
          <p:cNvSpPr/>
          <p:nvPr/>
        </p:nvSpPr>
        <p:spPr>
          <a:xfrm>
            <a:off x="457200" y="3063240"/>
            <a:ext cx="1920240" cy="1463040"/>
          </a:xfrm>
          <a:prstGeom prst="roundRect">
            <a:avLst>
              <a:gd name="adj" fmla="val 7500"/>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25" name="FaLayerGroup circle"/>
          <p:cNvSpPr/>
          <p:nvPr/>
        </p:nvSpPr>
        <p:spPr>
          <a:xfrm>
            <a:off x="621792" y="3227832"/>
            <a:ext cx="502920" cy="502920"/>
          </a:xfrm>
          <a:prstGeom prst="ellipse">
            <a:avLst/>
          </a:prstGeom>
          <a:solidFill>
            <a:schemeClr val="accent6"/>
          </a:solidFill>
          <a:ln/>
        </p:spPr>
        <p:txBody>
          <a:bodyPr/>
          <a:lstStyle/>
          <a:p>
            <a:endParaRPr lang="en-RW"/>
          </a:p>
        </p:txBody>
      </p:sp>
      <p:pic>
        <p:nvPicPr>
          <p:cNvPr id="26" name="FaLayerGroup icon" descr="preencoded.png"/>
          <p:cNvPicPr>
            <a:picLocks noChangeAspect="1"/>
          </p:cNvPicPr>
          <p:nvPr/>
        </p:nvPicPr>
        <p:blipFill>
          <a:blip r:embed="rId7"/>
          <a:stretch>
            <a:fillRect/>
          </a:stretch>
        </p:blipFill>
        <p:spPr>
          <a:xfrm>
            <a:off x="747522" y="3353562"/>
            <a:ext cx="251460" cy="251460"/>
          </a:xfrm>
          <a:prstGeom prst="rect">
            <a:avLst/>
          </a:prstGeom>
        </p:spPr>
      </p:pic>
      <p:sp>
        <p:nvSpPr>
          <p:cNvPr id="27" name="Text 20"/>
          <p:cNvSpPr txBox="1"/>
          <p:nvPr/>
        </p:nvSpPr>
        <p:spPr>
          <a:xfrm>
            <a:off x="1645920" y="3246120"/>
            <a:ext cx="548640" cy="365760"/>
          </a:xfrm>
          <a:prstGeom prst="rect">
            <a:avLst/>
          </a:prstGeom>
          <a:noFill/>
          <a:ln/>
        </p:spPr>
        <p:txBody>
          <a:bodyPr wrap="square" lIns="0" tIns="0" rIns="0" bIns="0" rtlCol="0" anchor="t"/>
          <a:lstStyle/>
          <a:p>
            <a:pPr marL="0" indent="0" algn="r">
              <a:buNone/>
            </a:pPr>
            <a:r>
              <a:rPr lang="en-US" sz="1800" b="1" dirty="0">
                <a:solidFill>
                  <a:schemeClr val="tx2"/>
                </a:solidFill>
              </a:rPr>
              <a:t>05</a:t>
            </a:r>
            <a:endParaRPr lang="en-US" sz="1800" dirty="0"/>
          </a:p>
        </p:txBody>
      </p:sp>
      <p:sp>
        <p:nvSpPr>
          <p:cNvPr id="28" name="Text 21"/>
          <p:cNvSpPr txBox="1"/>
          <p:nvPr/>
        </p:nvSpPr>
        <p:spPr>
          <a:xfrm>
            <a:off x="621792" y="3840480"/>
            <a:ext cx="1627632" cy="621792"/>
          </a:xfrm>
          <a:prstGeom prst="rect">
            <a:avLst/>
          </a:prstGeom>
          <a:noFill/>
          <a:ln/>
        </p:spPr>
        <p:txBody>
          <a:bodyPr wrap="square" lIns="0" tIns="0" rIns="0" bIns="0" rtlCol="0" anchor="t"/>
          <a:lstStyle/>
          <a:p>
            <a:pPr marL="0" indent="0">
              <a:buNone/>
            </a:pPr>
            <a:r>
              <a:rPr lang="en-US" sz="1400" b="1" dirty="0">
                <a:solidFill>
                  <a:schemeClr val="tx1"/>
                </a:solidFill>
              </a:rPr>
              <a:t>Cloud Service Models</a:t>
            </a:r>
            <a:endParaRPr lang="en-US" sz="1400" dirty="0"/>
          </a:p>
        </p:txBody>
      </p:sp>
      <p:sp>
        <p:nvSpPr>
          <p:cNvPr id="29" name="Card"/>
          <p:cNvSpPr/>
          <p:nvPr/>
        </p:nvSpPr>
        <p:spPr>
          <a:xfrm>
            <a:off x="2560320" y="3063240"/>
            <a:ext cx="1920240" cy="1463040"/>
          </a:xfrm>
          <a:prstGeom prst="roundRect">
            <a:avLst>
              <a:gd name="adj" fmla="val 7500"/>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30" name="FaChartLine circle"/>
          <p:cNvSpPr/>
          <p:nvPr/>
        </p:nvSpPr>
        <p:spPr>
          <a:xfrm>
            <a:off x="2724912" y="3227832"/>
            <a:ext cx="502920" cy="502920"/>
          </a:xfrm>
          <a:prstGeom prst="ellipse">
            <a:avLst/>
          </a:prstGeom>
          <a:solidFill>
            <a:schemeClr val="accent4"/>
          </a:solidFill>
          <a:ln/>
        </p:spPr>
        <p:txBody>
          <a:bodyPr/>
          <a:lstStyle/>
          <a:p>
            <a:endParaRPr lang="en-RW"/>
          </a:p>
        </p:txBody>
      </p:sp>
      <p:pic>
        <p:nvPicPr>
          <p:cNvPr id="31" name="FaChartLine icon" descr="preencoded.png"/>
          <p:cNvPicPr>
            <a:picLocks noChangeAspect="1"/>
          </p:cNvPicPr>
          <p:nvPr/>
        </p:nvPicPr>
        <p:blipFill>
          <a:blip r:embed="rId8"/>
          <a:stretch>
            <a:fillRect/>
          </a:stretch>
        </p:blipFill>
        <p:spPr>
          <a:xfrm>
            <a:off x="2850642" y="3353562"/>
            <a:ext cx="251460" cy="251460"/>
          </a:xfrm>
          <a:prstGeom prst="rect">
            <a:avLst/>
          </a:prstGeom>
        </p:spPr>
      </p:pic>
      <p:sp>
        <p:nvSpPr>
          <p:cNvPr id="32" name="Text 24"/>
          <p:cNvSpPr txBox="1"/>
          <p:nvPr/>
        </p:nvSpPr>
        <p:spPr>
          <a:xfrm>
            <a:off x="3749040" y="3246120"/>
            <a:ext cx="548640" cy="365760"/>
          </a:xfrm>
          <a:prstGeom prst="rect">
            <a:avLst/>
          </a:prstGeom>
          <a:noFill/>
          <a:ln/>
        </p:spPr>
        <p:txBody>
          <a:bodyPr wrap="square" lIns="0" tIns="0" rIns="0" bIns="0" rtlCol="0" anchor="t"/>
          <a:lstStyle/>
          <a:p>
            <a:pPr marL="0" indent="0" algn="r">
              <a:buNone/>
            </a:pPr>
            <a:r>
              <a:rPr lang="en-US" sz="1800" b="1" dirty="0">
                <a:solidFill>
                  <a:schemeClr val="tx2"/>
                </a:solidFill>
              </a:rPr>
              <a:t>06</a:t>
            </a:r>
            <a:endParaRPr lang="en-US" sz="1800" dirty="0"/>
          </a:p>
        </p:txBody>
      </p:sp>
      <p:sp>
        <p:nvSpPr>
          <p:cNvPr id="33" name="Text 25"/>
          <p:cNvSpPr txBox="1"/>
          <p:nvPr/>
        </p:nvSpPr>
        <p:spPr>
          <a:xfrm>
            <a:off x="2724912" y="3840480"/>
            <a:ext cx="1627632" cy="621792"/>
          </a:xfrm>
          <a:prstGeom prst="rect">
            <a:avLst/>
          </a:prstGeom>
          <a:noFill/>
          <a:ln/>
        </p:spPr>
        <p:txBody>
          <a:bodyPr wrap="square" lIns="0" tIns="0" rIns="0" bIns="0" rtlCol="0" anchor="t"/>
          <a:lstStyle/>
          <a:p>
            <a:pPr marL="0" indent="0">
              <a:buNone/>
            </a:pPr>
            <a:r>
              <a:rPr lang="en-US" sz="1400" b="1" dirty="0">
                <a:solidFill>
                  <a:schemeClr val="tx1"/>
                </a:solidFill>
              </a:rPr>
              <a:t>Business Drivers for Cloud Computing</a:t>
            </a:r>
            <a:endParaRPr lang="en-US" sz="1400" dirty="0"/>
          </a:p>
        </p:txBody>
      </p:sp>
      <p:sp>
        <p:nvSpPr>
          <p:cNvPr id="34" name="Card"/>
          <p:cNvSpPr/>
          <p:nvPr/>
        </p:nvSpPr>
        <p:spPr>
          <a:xfrm>
            <a:off x="4663440" y="3063240"/>
            <a:ext cx="1920240" cy="1463040"/>
          </a:xfrm>
          <a:prstGeom prst="roundRect">
            <a:avLst>
              <a:gd name="adj" fmla="val 7500"/>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35" name="FaBalanceScale circle"/>
          <p:cNvSpPr/>
          <p:nvPr/>
        </p:nvSpPr>
        <p:spPr>
          <a:xfrm>
            <a:off x="4828032" y="3227832"/>
            <a:ext cx="502920" cy="502920"/>
          </a:xfrm>
          <a:prstGeom prst="ellipse">
            <a:avLst/>
          </a:prstGeom>
          <a:solidFill>
            <a:schemeClr val="accent1"/>
          </a:solidFill>
          <a:ln/>
        </p:spPr>
        <p:txBody>
          <a:bodyPr/>
          <a:lstStyle/>
          <a:p>
            <a:endParaRPr lang="en-RW"/>
          </a:p>
        </p:txBody>
      </p:sp>
      <p:pic>
        <p:nvPicPr>
          <p:cNvPr id="36" name="FaBalanceScale icon" descr="preencoded.png"/>
          <p:cNvPicPr>
            <a:picLocks noChangeAspect="1"/>
          </p:cNvPicPr>
          <p:nvPr/>
        </p:nvPicPr>
        <p:blipFill>
          <a:blip r:embed="rId9"/>
          <a:stretch>
            <a:fillRect/>
          </a:stretch>
        </p:blipFill>
        <p:spPr>
          <a:xfrm>
            <a:off x="4953762" y="3353562"/>
            <a:ext cx="251460" cy="251460"/>
          </a:xfrm>
          <a:prstGeom prst="rect">
            <a:avLst/>
          </a:prstGeom>
        </p:spPr>
      </p:pic>
      <p:sp>
        <p:nvSpPr>
          <p:cNvPr id="37" name="Text 28"/>
          <p:cNvSpPr txBox="1"/>
          <p:nvPr/>
        </p:nvSpPr>
        <p:spPr>
          <a:xfrm>
            <a:off x="5852160" y="3246120"/>
            <a:ext cx="548640" cy="365760"/>
          </a:xfrm>
          <a:prstGeom prst="rect">
            <a:avLst/>
          </a:prstGeom>
          <a:noFill/>
          <a:ln/>
        </p:spPr>
        <p:txBody>
          <a:bodyPr wrap="square" lIns="0" tIns="0" rIns="0" bIns="0" rtlCol="0" anchor="t"/>
          <a:lstStyle/>
          <a:p>
            <a:pPr marL="0" indent="0" algn="r">
              <a:buNone/>
            </a:pPr>
            <a:r>
              <a:rPr lang="en-US" sz="1800" b="1" dirty="0">
                <a:solidFill>
                  <a:schemeClr val="tx2"/>
                </a:solidFill>
              </a:rPr>
              <a:t>07</a:t>
            </a:r>
            <a:endParaRPr lang="en-US" sz="1800" dirty="0"/>
          </a:p>
        </p:txBody>
      </p:sp>
      <p:sp>
        <p:nvSpPr>
          <p:cNvPr id="38" name="Text 29"/>
          <p:cNvSpPr txBox="1"/>
          <p:nvPr/>
        </p:nvSpPr>
        <p:spPr>
          <a:xfrm>
            <a:off x="4828032" y="3840480"/>
            <a:ext cx="1627632" cy="621792"/>
          </a:xfrm>
          <a:prstGeom prst="rect">
            <a:avLst/>
          </a:prstGeom>
          <a:noFill/>
          <a:ln/>
        </p:spPr>
        <p:txBody>
          <a:bodyPr wrap="square" lIns="0" tIns="0" rIns="0" bIns="0" rtlCol="0" anchor="t"/>
          <a:lstStyle/>
          <a:p>
            <a:pPr marL="0" indent="0">
              <a:buNone/>
            </a:pPr>
            <a:r>
              <a:rPr lang="en-US" sz="1400" b="1" dirty="0">
                <a:solidFill>
                  <a:schemeClr val="tx1"/>
                </a:solidFill>
              </a:rPr>
              <a:t>Considerations for Cloud Adoption</a:t>
            </a:r>
            <a:endParaRPr lang="en-US" sz="1400" dirty="0"/>
          </a:p>
        </p:txBody>
      </p:sp>
      <p:sp>
        <p:nvSpPr>
          <p:cNvPr id="39" name="Card"/>
          <p:cNvSpPr/>
          <p:nvPr/>
        </p:nvSpPr>
        <p:spPr>
          <a:xfrm>
            <a:off x="6766560" y="3063240"/>
            <a:ext cx="1920240" cy="1463040"/>
          </a:xfrm>
          <a:prstGeom prst="roundRect">
            <a:avLst>
              <a:gd name="adj" fmla="val 7500"/>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40" name="FaGlobe circle"/>
          <p:cNvSpPr/>
          <p:nvPr/>
        </p:nvSpPr>
        <p:spPr>
          <a:xfrm>
            <a:off x="6931152" y="3227832"/>
            <a:ext cx="502920" cy="502920"/>
          </a:xfrm>
          <a:prstGeom prst="ellipse">
            <a:avLst/>
          </a:prstGeom>
          <a:solidFill>
            <a:schemeClr val="accent2"/>
          </a:solidFill>
          <a:ln/>
        </p:spPr>
        <p:txBody>
          <a:bodyPr/>
          <a:lstStyle/>
          <a:p>
            <a:endParaRPr lang="en-RW"/>
          </a:p>
        </p:txBody>
      </p:sp>
      <p:pic>
        <p:nvPicPr>
          <p:cNvPr id="41" name="FaGlobe icon" descr="preencoded.png"/>
          <p:cNvPicPr>
            <a:picLocks noChangeAspect="1"/>
          </p:cNvPicPr>
          <p:nvPr/>
        </p:nvPicPr>
        <p:blipFill>
          <a:blip r:embed="rId10"/>
          <a:stretch>
            <a:fillRect/>
          </a:stretch>
        </p:blipFill>
        <p:spPr>
          <a:xfrm>
            <a:off x="7056882" y="3353562"/>
            <a:ext cx="251460" cy="251460"/>
          </a:xfrm>
          <a:prstGeom prst="rect">
            <a:avLst/>
          </a:prstGeom>
        </p:spPr>
      </p:pic>
      <p:sp>
        <p:nvSpPr>
          <p:cNvPr id="42" name="Text 32"/>
          <p:cNvSpPr txBox="1"/>
          <p:nvPr/>
        </p:nvSpPr>
        <p:spPr>
          <a:xfrm>
            <a:off x="7955280" y="3246120"/>
            <a:ext cx="548640" cy="365760"/>
          </a:xfrm>
          <a:prstGeom prst="rect">
            <a:avLst/>
          </a:prstGeom>
          <a:noFill/>
          <a:ln/>
        </p:spPr>
        <p:txBody>
          <a:bodyPr wrap="square" lIns="0" tIns="0" rIns="0" bIns="0" rtlCol="0" anchor="t"/>
          <a:lstStyle/>
          <a:p>
            <a:pPr marL="0" indent="0" algn="r">
              <a:buNone/>
            </a:pPr>
            <a:r>
              <a:rPr lang="en-US" sz="1800" b="1" dirty="0">
                <a:solidFill>
                  <a:schemeClr val="tx2"/>
                </a:solidFill>
              </a:rPr>
              <a:t>08</a:t>
            </a:r>
            <a:endParaRPr lang="en-US" sz="1800" dirty="0"/>
          </a:p>
        </p:txBody>
      </p:sp>
      <p:sp>
        <p:nvSpPr>
          <p:cNvPr id="43" name="Text 33"/>
          <p:cNvSpPr txBox="1"/>
          <p:nvPr/>
        </p:nvSpPr>
        <p:spPr>
          <a:xfrm>
            <a:off x="6931152" y="3840480"/>
            <a:ext cx="1627632" cy="621792"/>
          </a:xfrm>
          <a:prstGeom prst="rect">
            <a:avLst/>
          </a:prstGeom>
          <a:noFill/>
          <a:ln/>
        </p:spPr>
        <p:txBody>
          <a:bodyPr wrap="square" lIns="0" tIns="0" rIns="0" bIns="0" rtlCol="0" anchor="t"/>
          <a:lstStyle/>
          <a:p>
            <a:pPr marL="0" indent="0">
              <a:buNone/>
            </a:pPr>
            <a:r>
              <a:rPr lang="en-US" sz="1400" b="1" dirty="0">
                <a:solidFill>
                  <a:schemeClr val="tx1"/>
                </a:solidFill>
              </a:rPr>
              <a:t>What is Amazon Web Services?</a:t>
            </a:r>
            <a:endParaRPr lang="en-US" sz="1400" dirty="0"/>
          </a:p>
        </p:txBody>
      </p:sp>
      <p:sp>
        <p:nvSpPr>
          <p:cNvPr id="44"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5A7E"/>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365760" y="548640"/>
            <a:ext cx="8229600" cy="640080"/>
          </a:xfrm>
          <a:prstGeom prst="rect">
            <a:avLst/>
          </a:prstGeom>
          <a:noFill/>
          <a:ln/>
        </p:spPr>
        <p:txBody>
          <a:bodyPr wrap="square" lIns="0" tIns="0" rIns="0" bIns="0" rtlCol="0" anchor="ctr"/>
          <a:lstStyle/>
          <a:p>
            <a:pPr marL="0" indent="0" algn="l">
              <a:buNone/>
            </a:pPr>
            <a:r>
              <a:rPr lang="en-US" sz="2800" b="1" dirty="0">
                <a:solidFill>
                  <a:schemeClr val="tx1"/>
                </a:solidFill>
              </a:rPr>
              <a:t>Key Terminology: The Players of Cloud Computing</a:t>
            </a:r>
            <a:endParaRPr lang="en-US" sz="2800" dirty="0"/>
          </a:p>
        </p:txBody>
      </p:sp>
      <p:sp>
        <p:nvSpPr>
          <p:cNvPr id="3" name="Section chip"/>
          <p:cNvSpPr txBox="1"/>
          <p:nvPr/>
        </p:nvSpPr>
        <p:spPr>
          <a:xfrm>
            <a:off x="457200" y="274320"/>
            <a:ext cx="1781251" cy="246888"/>
          </a:xfrm>
          <a:prstGeom prst="roundRect">
            <a:avLst>
              <a:gd name="adj" fmla="val 48148"/>
            </a:avLst>
          </a:prstGeom>
          <a:solidFill>
            <a:schemeClr val="accent1"/>
          </a:solidFill>
          <a:ln/>
        </p:spPr>
        <p:txBody>
          <a:bodyPr wrap="square" lIns="0" tIns="0" rIns="0" bIns="0" rtlCol="0" anchor="ctr"/>
          <a:lstStyle/>
          <a:p>
            <a:pPr marL="0" indent="0" algn="ctr">
              <a:buNone/>
            </a:pPr>
            <a:r>
              <a:rPr lang="en-US" sz="1000" b="1" kern="0" spc="150" dirty="0">
                <a:solidFill>
                  <a:schemeClr val="bg1"/>
                </a:solidFill>
              </a:rPr>
              <a:t>KEY TERMS · 1 OF 4</a:t>
            </a:r>
            <a:endParaRPr lang="en-US" sz="1000" dirty="0"/>
          </a:p>
        </p:txBody>
      </p:sp>
      <p:sp>
        <p:nvSpPr>
          <p:cNvPr id="4" name="Card"/>
          <p:cNvSpPr/>
          <p:nvPr/>
        </p:nvSpPr>
        <p:spPr>
          <a:xfrm>
            <a:off x="457200" y="1371600"/>
            <a:ext cx="4023360" cy="1554480"/>
          </a:xfrm>
          <a:prstGeom prst="roundRect">
            <a:avLst>
              <a:gd name="adj" fmla="val 7059"/>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5" name="FaBuilding circle"/>
          <p:cNvSpPr/>
          <p:nvPr/>
        </p:nvSpPr>
        <p:spPr>
          <a:xfrm>
            <a:off x="640080" y="1536192"/>
            <a:ext cx="457200" cy="457200"/>
          </a:xfrm>
          <a:prstGeom prst="ellipse">
            <a:avLst/>
          </a:prstGeom>
          <a:solidFill>
            <a:schemeClr val="accent1"/>
          </a:solidFill>
          <a:ln/>
        </p:spPr>
        <p:txBody>
          <a:bodyPr/>
          <a:lstStyle/>
          <a:p>
            <a:endParaRPr lang="en-RW"/>
          </a:p>
        </p:txBody>
      </p:sp>
      <p:pic>
        <p:nvPicPr>
          <p:cNvPr id="6" name="FaBuilding icon" descr="preencoded.png"/>
          <p:cNvPicPr>
            <a:picLocks noChangeAspect="1"/>
          </p:cNvPicPr>
          <p:nvPr/>
        </p:nvPicPr>
        <p:blipFill>
          <a:blip r:embed="rId3"/>
          <a:stretch>
            <a:fillRect/>
          </a:stretch>
        </p:blipFill>
        <p:spPr>
          <a:xfrm>
            <a:off x="754380" y="1650492"/>
            <a:ext cx="228600" cy="228600"/>
          </a:xfrm>
          <a:prstGeom prst="rect">
            <a:avLst/>
          </a:prstGeom>
        </p:spPr>
      </p:pic>
      <p:sp>
        <p:nvSpPr>
          <p:cNvPr id="7" name="Text 4"/>
          <p:cNvSpPr txBox="1"/>
          <p:nvPr/>
        </p:nvSpPr>
        <p:spPr>
          <a:xfrm>
            <a:off x="1234440" y="1536192"/>
            <a:ext cx="3063240" cy="457200"/>
          </a:xfrm>
          <a:prstGeom prst="rect">
            <a:avLst/>
          </a:prstGeom>
          <a:noFill/>
          <a:ln/>
        </p:spPr>
        <p:txBody>
          <a:bodyPr wrap="square" lIns="0" tIns="0" rIns="0" bIns="0" rtlCol="0" anchor="ctr"/>
          <a:lstStyle/>
          <a:p>
            <a:pPr marL="0" indent="0">
              <a:buNone/>
            </a:pPr>
            <a:r>
              <a:rPr lang="en-US" sz="1700" b="1" dirty="0">
                <a:solidFill>
                  <a:schemeClr val="tx1"/>
                </a:solidFill>
              </a:rPr>
              <a:t>Data Center</a:t>
            </a:r>
            <a:endParaRPr lang="en-US" sz="1700" dirty="0"/>
          </a:p>
        </p:txBody>
      </p:sp>
      <p:sp>
        <p:nvSpPr>
          <p:cNvPr id="8" name="Text 5"/>
          <p:cNvSpPr txBox="1"/>
          <p:nvPr/>
        </p:nvSpPr>
        <p:spPr>
          <a:xfrm>
            <a:off x="640080" y="2121408"/>
            <a:ext cx="3657600" cy="731520"/>
          </a:xfrm>
          <a:prstGeom prst="rect">
            <a:avLst/>
          </a:prstGeom>
          <a:noFill/>
          <a:ln/>
        </p:spPr>
        <p:txBody>
          <a:bodyPr wrap="square" lIns="0" tIns="0" rIns="0" bIns="0" rtlCol="0" anchor="t"/>
          <a:lstStyle/>
          <a:p>
            <a:pPr marL="0" indent="0">
              <a:buNone/>
            </a:pPr>
            <a:r>
              <a:rPr lang="en-US" sz="1400" dirty="0">
                <a:solidFill>
                  <a:schemeClr val="tx1"/>
                </a:solidFill>
              </a:rPr>
              <a:t>A facility that houses and manages data: hardware (compute, storage, networks) plus software (applications, operating systems).</a:t>
            </a:r>
            <a:endParaRPr lang="en-US" sz="1400" dirty="0"/>
          </a:p>
        </p:txBody>
      </p:sp>
      <p:sp>
        <p:nvSpPr>
          <p:cNvPr id="9" name="Card"/>
          <p:cNvSpPr/>
          <p:nvPr/>
        </p:nvSpPr>
        <p:spPr>
          <a:xfrm>
            <a:off x="4663440" y="1371600"/>
            <a:ext cx="4023360" cy="1554480"/>
          </a:xfrm>
          <a:prstGeom prst="roundRect">
            <a:avLst>
              <a:gd name="adj" fmla="val 7059"/>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10" name="FaUser circle"/>
          <p:cNvSpPr/>
          <p:nvPr/>
        </p:nvSpPr>
        <p:spPr>
          <a:xfrm>
            <a:off x="4846320" y="1536192"/>
            <a:ext cx="457200" cy="457200"/>
          </a:xfrm>
          <a:prstGeom prst="ellipse">
            <a:avLst/>
          </a:prstGeom>
          <a:solidFill>
            <a:schemeClr val="accent2"/>
          </a:solidFill>
          <a:ln/>
        </p:spPr>
        <p:txBody>
          <a:bodyPr/>
          <a:lstStyle/>
          <a:p>
            <a:endParaRPr lang="en-RW"/>
          </a:p>
        </p:txBody>
      </p:sp>
      <p:pic>
        <p:nvPicPr>
          <p:cNvPr id="11" name="FaUser icon" descr="preencoded.png"/>
          <p:cNvPicPr>
            <a:picLocks noChangeAspect="1"/>
          </p:cNvPicPr>
          <p:nvPr/>
        </p:nvPicPr>
        <p:blipFill>
          <a:blip r:embed="rId4"/>
          <a:stretch>
            <a:fillRect/>
          </a:stretch>
        </p:blipFill>
        <p:spPr>
          <a:xfrm>
            <a:off x="4960620" y="1650492"/>
            <a:ext cx="228600" cy="228600"/>
          </a:xfrm>
          <a:prstGeom prst="rect">
            <a:avLst/>
          </a:prstGeom>
        </p:spPr>
      </p:pic>
      <p:sp>
        <p:nvSpPr>
          <p:cNvPr id="12" name="Text 8"/>
          <p:cNvSpPr txBox="1"/>
          <p:nvPr/>
        </p:nvSpPr>
        <p:spPr>
          <a:xfrm>
            <a:off x="5440680" y="1536192"/>
            <a:ext cx="3063240" cy="457200"/>
          </a:xfrm>
          <a:prstGeom prst="rect">
            <a:avLst/>
          </a:prstGeom>
          <a:noFill/>
          <a:ln/>
        </p:spPr>
        <p:txBody>
          <a:bodyPr wrap="square" lIns="0" tIns="0" rIns="0" bIns="0" rtlCol="0" anchor="ctr"/>
          <a:lstStyle/>
          <a:p>
            <a:pPr marL="0" indent="0">
              <a:buNone/>
            </a:pPr>
            <a:r>
              <a:rPr lang="en-US" sz="1700" b="1" dirty="0">
                <a:solidFill>
                  <a:schemeClr val="tx1"/>
                </a:solidFill>
              </a:rPr>
              <a:t>Cloud User</a:t>
            </a:r>
            <a:endParaRPr lang="en-US" sz="1700" dirty="0"/>
          </a:p>
        </p:txBody>
      </p:sp>
      <p:sp>
        <p:nvSpPr>
          <p:cNvPr id="13" name="Text 9"/>
          <p:cNvSpPr txBox="1"/>
          <p:nvPr/>
        </p:nvSpPr>
        <p:spPr>
          <a:xfrm>
            <a:off x="4846320" y="2121408"/>
            <a:ext cx="3657600" cy="731520"/>
          </a:xfrm>
          <a:prstGeom prst="rect">
            <a:avLst/>
          </a:prstGeom>
          <a:noFill/>
          <a:ln/>
        </p:spPr>
        <p:txBody>
          <a:bodyPr wrap="square" lIns="0" tIns="0" rIns="0" bIns="0" rtlCol="0" anchor="t"/>
          <a:lstStyle/>
          <a:p>
            <a:pPr marL="0" indent="0">
              <a:buNone/>
            </a:pPr>
            <a:r>
              <a:rPr lang="en-US" sz="1400" dirty="0">
                <a:solidFill>
                  <a:schemeClr val="tx1"/>
                </a:solidFill>
              </a:rPr>
              <a:t>A person or organization requesting cloud resources and services (also called user, client, customer, or consumer).</a:t>
            </a:r>
            <a:endParaRPr lang="en-US" sz="1400" dirty="0"/>
          </a:p>
        </p:txBody>
      </p:sp>
      <p:sp>
        <p:nvSpPr>
          <p:cNvPr id="14" name="Card"/>
          <p:cNvSpPr/>
          <p:nvPr/>
        </p:nvSpPr>
        <p:spPr>
          <a:xfrm>
            <a:off x="457200" y="3063240"/>
            <a:ext cx="4023360" cy="1554480"/>
          </a:xfrm>
          <a:prstGeom prst="roundRect">
            <a:avLst>
              <a:gd name="adj" fmla="val 7059"/>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15" name="FaCloud circle"/>
          <p:cNvSpPr/>
          <p:nvPr/>
        </p:nvSpPr>
        <p:spPr>
          <a:xfrm>
            <a:off x="640080" y="3227832"/>
            <a:ext cx="457200" cy="457200"/>
          </a:xfrm>
          <a:prstGeom prst="ellipse">
            <a:avLst/>
          </a:prstGeom>
          <a:solidFill>
            <a:schemeClr val="accent5"/>
          </a:solidFill>
          <a:ln/>
        </p:spPr>
        <p:txBody>
          <a:bodyPr/>
          <a:lstStyle/>
          <a:p>
            <a:endParaRPr lang="en-RW"/>
          </a:p>
        </p:txBody>
      </p:sp>
      <p:pic>
        <p:nvPicPr>
          <p:cNvPr id="16" name="FaCloud icon" descr="preencoded.png"/>
          <p:cNvPicPr>
            <a:picLocks noChangeAspect="1"/>
          </p:cNvPicPr>
          <p:nvPr/>
        </p:nvPicPr>
        <p:blipFill>
          <a:blip r:embed="rId5"/>
          <a:stretch>
            <a:fillRect/>
          </a:stretch>
        </p:blipFill>
        <p:spPr>
          <a:xfrm>
            <a:off x="754380" y="3342132"/>
            <a:ext cx="228600" cy="228600"/>
          </a:xfrm>
          <a:prstGeom prst="rect">
            <a:avLst/>
          </a:prstGeom>
        </p:spPr>
      </p:pic>
      <p:sp>
        <p:nvSpPr>
          <p:cNvPr id="17" name="Text 12"/>
          <p:cNvSpPr txBox="1"/>
          <p:nvPr/>
        </p:nvSpPr>
        <p:spPr>
          <a:xfrm>
            <a:off x="1234440" y="3227832"/>
            <a:ext cx="3063240" cy="457200"/>
          </a:xfrm>
          <a:prstGeom prst="rect">
            <a:avLst/>
          </a:prstGeom>
          <a:noFill/>
          <a:ln/>
        </p:spPr>
        <p:txBody>
          <a:bodyPr wrap="square" lIns="0" tIns="0" rIns="0" bIns="0" rtlCol="0" anchor="ctr"/>
          <a:lstStyle/>
          <a:p>
            <a:pPr marL="0" indent="0">
              <a:buNone/>
            </a:pPr>
            <a:r>
              <a:rPr lang="en-US" sz="1700" b="1" dirty="0">
                <a:solidFill>
                  <a:schemeClr val="tx1"/>
                </a:solidFill>
              </a:rPr>
              <a:t>Cloud Service Provider (CSP)</a:t>
            </a:r>
            <a:endParaRPr lang="en-US" sz="1700" dirty="0"/>
          </a:p>
        </p:txBody>
      </p:sp>
      <p:sp>
        <p:nvSpPr>
          <p:cNvPr id="18" name="Text 13"/>
          <p:cNvSpPr txBox="1"/>
          <p:nvPr/>
        </p:nvSpPr>
        <p:spPr>
          <a:xfrm>
            <a:off x="640080" y="3813048"/>
            <a:ext cx="3657600" cy="731520"/>
          </a:xfrm>
          <a:prstGeom prst="rect">
            <a:avLst/>
          </a:prstGeom>
          <a:noFill/>
          <a:ln/>
        </p:spPr>
        <p:txBody>
          <a:bodyPr wrap="square" lIns="0" tIns="0" rIns="0" bIns="0" rtlCol="0" anchor="t"/>
          <a:lstStyle/>
          <a:p>
            <a:pPr marL="0" indent="0">
              <a:buNone/>
            </a:pPr>
            <a:r>
              <a:rPr lang="en-US" sz="1400" dirty="0">
                <a:solidFill>
                  <a:schemeClr val="tx1"/>
                </a:solidFill>
              </a:rPr>
              <a:t>An organization that provides a cloud platform, infrastructure, applications, and services.</a:t>
            </a:r>
            <a:endParaRPr lang="en-US" sz="1400" dirty="0"/>
          </a:p>
        </p:txBody>
      </p:sp>
      <p:sp>
        <p:nvSpPr>
          <p:cNvPr id="19" name="Card"/>
          <p:cNvSpPr/>
          <p:nvPr/>
        </p:nvSpPr>
        <p:spPr>
          <a:xfrm>
            <a:off x="4663440" y="3063240"/>
            <a:ext cx="4023360" cy="1554480"/>
          </a:xfrm>
          <a:prstGeom prst="roundRect">
            <a:avLst>
              <a:gd name="adj" fmla="val 7059"/>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20" name="FaUsers circle"/>
          <p:cNvSpPr/>
          <p:nvPr/>
        </p:nvSpPr>
        <p:spPr>
          <a:xfrm>
            <a:off x="4846320" y="3227832"/>
            <a:ext cx="457200" cy="457200"/>
          </a:xfrm>
          <a:prstGeom prst="ellipse">
            <a:avLst/>
          </a:prstGeom>
          <a:solidFill>
            <a:schemeClr val="accent3"/>
          </a:solidFill>
          <a:ln/>
        </p:spPr>
        <p:txBody>
          <a:bodyPr/>
          <a:lstStyle/>
          <a:p>
            <a:endParaRPr lang="en-RW"/>
          </a:p>
        </p:txBody>
      </p:sp>
      <p:pic>
        <p:nvPicPr>
          <p:cNvPr id="21" name="FaUsers icon" descr="preencoded.png"/>
          <p:cNvPicPr>
            <a:picLocks noChangeAspect="1"/>
          </p:cNvPicPr>
          <p:nvPr/>
        </p:nvPicPr>
        <p:blipFill>
          <a:blip r:embed="rId6"/>
          <a:stretch>
            <a:fillRect/>
          </a:stretch>
        </p:blipFill>
        <p:spPr>
          <a:xfrm>
            <a:off x="4960620" y="3342132"/>
            <a:ext cx="228600" cy="228600"/>
          </a:xfrm>
          <a:prstGeom prst="rect">
            <a:avLst/>
          </a:prstGeom>
        </p:spPr>
      </p:pic>
      <p:sp>
        <p:nvSpPr>
          <p:cNvPr id="22" name="Text 16"/>
          <p:cNvSpPr txBox="1"/>
          <p:nvPr/>
        </p:nvSpPr>
        <p:spPr>
          <a:xfrm>
            <a:off x="5440680" y="3227832"/>
            <a:ext cx="3063240" cy="457200"/>
          </a:xfrm>
          <a:prstGeom prst="rect">
            <a:avLst/>
          </a:prstGeom>
          <a:noFill/>
          <a:ln/>
        </p:spPr>
        <p:txBody>
          <a:bodyPr wrap="square" lIns="0" tIns="0" rIns="0" bIns="0" rtlCol="0" anchor="ctr"/>
          <a:lstStyle/>
          <a:p>
            <a:pPr marL="0" indent="0">
              <a:buNone/>
            </a:pPr>
            <a:r>
              <a:rPr lang="en-US" sz="1700" b="1" dirty="0">
                <a:solidFill>
                  <a:schemeClr val="tx1"/>
                </a:solidFill>
              </a:rPr>
              <a:t>Multitenancy</a:t>
            </a:r>
            <a:endParaRPr lang="en-US" sz="1700" dirty="0"/>
          </a:p>
        </p:txBody>
      </p:sp>
      <p:sp>
        <p:nvSpPr>
          <p:cNvPr id="23" name="Text 17"/>
          <p:cNvSpPr txBox="1"/>
          <p:nvPr/>
        </p:nvSpPr>
        <p:spPr>
          <a:xfrm>
            <a:off x="4846320" y="3813048"/>
            <a:ext cx="3657600" cy="731520"/>
          </a:xfrm>
          <a:prstGeom prst="rect">
            <a:avLst/>
          </a:prstGeom>
          <a:noFill/>
          <a:ln/>
        </p:spPr>
        <p:txBody>
          <a:bodyPr wrap="square" lIns="0" tIns="0" rIns="0" bIns="0" rtlCol="0" anchor="t"/>
          <a:lstStyle/>
          <a:p>
            <a:pPr marL="0" indent="0">
              <a:buNone/>
            </a:pPr>
            <a:r>
              <a:rPr lang="en-US" sz="1400" dirty="0">
                <a:solidFill>
                  <a:schemeClr val="tx1"/>
                </a:solidFill>
              </a:rPr>
              <a:t>An architecture where multiple customers (tenants) of a CSP share resources without the knowledge of one another.</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5A7E"/>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48640"/>
            <a:ext cx="8229600" cy="640080"/>
          </a:xfrm>
          <a:prstGeom prst="rect">
            <a:avLst/>
          </a:prstGeom>
          <a:noFill/>
          <a:ln/>
        </p:spPr>
        <p:txBody>
          <a:bodyPr wrap="square" lIns="0" tIns="0" rIns="0" bIns="0" rtlCol="0" anchor="ctr"/>
          <a:lstStyle/>
          <a:p>
            <a:pPr marL="0" indent="0" algn="l">
              <a:buNone/>
            </a:pPr>
            <a:r>
              <a:rPr lang="en-US" sz="3400" b="1" dirty="0">
                <a:solidFill>
                  <a:schemeClr val="tx1"/>
                </a:solidFill>
              </a:rPr>
              <a:t>Key Terminology: Business Words</a:t>
            </a:r>
            <a:endParaRPr lang="en-US" sz="3400" dirty="0"/>
          </a:p>
        </p:txBody>
      </p:sp>
      <p:sp>
        <p:nvSpPr>
          <p:cNvPr id="3" name="Section chip"/>
          <p:cNvSpPr txBox="1"/>
          <p:nvPr/>
        </p:nvSpPr>
        <p:spPr>
          <a:xfrm>
            <a:off x="457200" y="274320"/>
            <a:ext cx="1781251" cy="246888"/>
          </a:xfrm>
          <a:prstGeom prst="roundRect">
            <a:avLst>
              <a:gd name="adj" fmla="val 48148"/>
            </a:avLst>
          </a:prstGeom>
          <a:solidFill>
            <a:schemeClr val="accent1"/>
          </a:solidFill>
          <a:ln/>
        </p:spPr>
        <p:txBody>
          <a:bodyPr wrap="square" lIns="0" tIns="0" rIns="0" bIns="0" rtlCol="0" anchor="ctr"/>
          <a:lstStyle/>
          <a:p>
            <a:pPr marL="0" indent="0" algn="ctr">
              <a:buNone/>
            </a:pPr>
            <a:r>
              <a:rPr lang="en-US" sz="1000" b="1" kern="0" spc="150" dirty="0">
                <a:solidFill>
                  <a:schemeClr val="bg1"/>
                </a:solidFill>
              </a:rPr>
              <a:t>KEY TERMS · 2 OF 4</a:t>
            </a:r>
            <a:endParaRPr lang="en-US" sz="1000" dirty="0"/>
          </a:p>
        </p:txBody>
      </p:sp>
      <p:sp>
        <p:nvSpPr>
          <p:cNvPr id="4" name="Card"/>
          <p:cNvSpPr/>
          <p:nvPr/>
        </p:nvSpPr>
        <p:spPr>
          <a:xfrm>
            <a:off x="457200" y="1371600"/>
            <a:ext cx="4023360" cy="1554480"/>
          </a:xfrm>
          <a:prstGeom prst="roundRect">
            <a:avLst>
              <a:gd name="adj" fmla="val 7059"/>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5" name="FaChartLine circle"/>
          <p:cNvSpPr/>
          <p:nvPr/>
        </p:nvSpPr>
        <p:spPr>
          <a:xfrm>
            <a:off x="640080" y="1536192"/>
            <a:ext cx="457200" cy="457200"/>
          </a:xfrm>
          <a:prstGeom prst="ellipse">
            <a:avLst/>
          </a:prstGeom>
          <a:solidFill>
            <a:schemeClr val="accent4"/>
          </a:solidFill>
          <a:ln/>
        </p:spPr>
        <p:txBody>
          <a:bodyPr/>
          <a:lstStyle/>
          <a:p>
            <a:endParaRPr lang="en-RW"/>
          </a:p>
        </p:txBody>
      </p:sp>
      <p:pic>
        <p:nvPicPr>
          <p:cNvPr id="6" name="FaChartLine icon" descr="preencoded.png"/>
          <p:cNvPicPr>
            <a:picLocks noChangeAspect="1"/>
          </p:cNvPicPr>
          <p:nvPr/>
        </p:nvPicPr>
        <p:blipFill>
          <a:blip r:embed="rId3"/>
          <a:stretch>
            <a:fillRect/>
          </a:stretch>
        </p:blipFill>
        <p:spPr>
          <a:xfrm>
            <a:off x="754380" y="1650492"/>
            <a:ext cx="228600" cy="228600"/>
          </a:xfrm>
          <a:prstGeom prst="rect">
            <a:avLst/>
          </a:prstGeom>
        </p:spPr>
      </p:pic>
      <p:sp>
        <p:nvSpPr>
          <p:cNvPr id="7" name="Text 4"/>
          <p:cNvSpPr txBox="1"/>
          <p:nvPr/>
        </p:nvSpPr>
        <p:spPr>
          <a:xfrm>
            <a:off x="1234440" y="1536192"/>
            <a:ext cx="3063240" cy="457200"/>
          </a:xfrm>
          <a:prstGeom prst="rect">
            <a:avLst/>
          </a:prstGeom>
          <a:noFill/>
          <a:ln/>
        </p:spPr>
        <p:txBody>
          <a:bodyPr wrap="square" lIns="0" tIns="0" rIns="0" bIns="0" rtlCol="0" anchor="ctr"/>
          <a:lstStyle/>
          <a:p>
            <a:pPr marL="0" indent="0">
              <a:buNone/>
            </a:pPr>
            <a:r>
              <a:rPr lang="en-US" sz="1700" b="1" dirty="0">
                <a:solidFill>
                  <a:schemeClr val="tx1"/>
                </a:solidFill>
              </a:rPr>
              <a:t>Economies of Scale</a:t>
            </a:r>
            <a:endParaRPr lang="en-US" sz="1700" dirty="0"/>
          </a:p>
        </p:txBody>
      </p:sp>
      <p:sp>
        <p:nvSpPr>
          <p:cNvPr id="8" name="Text 5"/>
          <p:cNvSpPr txBox="1"/>
          <p:nvPr/>
        </p:nvSpPr>
        <p:spPr>
          <a:xfrm>
            <a:off x="640080" y="2121408"/>
            <a:ext cx="3657600" cy="731520"/>
          </a:xfrm>
          <a:prstGeom prst="rect">
            <a:avLst/>
          </a:prstGeom>
          <a:noFill/>
          <a:ln/>
        </p:spPr>
        <p:txBody>
          <a:bodyPr wrap="square" lIns="0" tIns="0" rIns="0" bIns="0" rtlCol="0" anchor="t"/>
          <a:lstStyle/>
          <a:p>
            <a:pPr marL="0" indent="0">
              <a:buNone/>
            </a:pPr>
            <a:r>
              <a:rPr lang="en-US" sz="1400" dirty="0">
                <a:solidFill>
                  <a:schemeClr val="tx1"/>
                </a:solidFill>
              </a:rPr>
              <a:t>The relationship between per-unit cost and production volume: more production spreads costs over more units, so per-unit cost falls.</a:t>
            </a:r>
            <a:endParaRPr lang="en-US" sz="1400" dirty="0"/>
          </a:p>
        </p:txBody>
      </p:sp>
      <p:sp>
        <p:nvSpPr>
          <p:cNvPr id="9" name="Card"/>
          <p:cNvSpPr/>
          <p:nvPr/>
        </p:nvSpPr>
        <p:spPr>
          <a:xfrm>
            <a:off x="4663440" y="1371600"/>
            <a:ext cx="4023360" cy="1554480"/>
          </a:xfrm>
          <a:prstGeom prst="roundRect">
            <a:avLst>
              <a:gd name="adj" fmla="val 7059"/>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10" name="FaRocket circle"/>
          <p:cNvSpPr/>
          <p:nvPr/>
        </p:nvSpPr>
        <p:spPr>
          <a:xfrm>
            <a:off x="4846320" y="1536192"/>
            <a:ext cx="457200" cy="457200"/>
          </a:xfrm>
          <a:prstGeom prst="ellipse">
            <a:avLst/>
          </a:prstGeom>
          <a:solidFill>
            <a:schemeClr val="accent2"/>
          </a:solidFill>
          <a:ln/>
        </p:spPr>
        <p:txBody>
          <a:bodyPr/>
          <a:lstStyle/>
          <a:p>
            <a:endParaRPr lang="en-RW"/>
          </a:p>
        </p:txBody>
      </p:sp>
      <p:pic>
        <p:nvPicPr>
          <p:cNvPr id="11" name="FaRocket icon" descr="preencoded.png"/>
          <p:cNvPicPr>
            <a:picLocks noChangeAspect="1"/>
          </p:cNvPicPr>
          <p:nvPr/>
        </p:nvPicPr>
        <p:blipFill>
          <a:blip r:embed="rId4"/>
          <a:stretch>
            <a:fillRect/>
          </a:stretch>
        </p:blipFill>
        <p:spPr>
          <a:xfrm>
            <a:off x="4960620" y="1650492"/>
            <a:ext cx="228600" cy="228600"/>
          </a:xfrm>
          <a:prstGeom prst="rect">
            <a:avLst/>
          </a:prstGeom>
        </p:spPr>
      </p:pic>
      <p:sp>
        <p:nvSpPr>
          <p:cNvPr id="12" name="Text 8"/>
          <p:cNvSpPr txBox="1"/>
          <p:nvPr/>
        </p:nvSpPr>
        <p:spPr>
          <a:xfrm>
            <a:off x="5440680" y="1536192"/>
            <a:ext cx="3063240" cy="457200"/>
          </a:xfrm>
          <a:prstGeom prst="rect">
            <a:avLst/>
          </a:prstGeom>
          <a:noFill/>
          <a:ln/>
        </p:spPr>
        <p:txBody>
          <a:bodyPr wrap="square" lIns="0" tIns="0" rIns="0" bIns="0" rtlCol="0" anchor="ctr"/>
          <a:lstStyle/>
          <a:p>
            <a:pPr marL="0" indent="0">
              <a:buNone/>
            </a:pPr>
            <a:r>
              <a:rPr lang="en-US" sz="1700" b="1" dirty="0">
                <a:solidFill>
                  <a:schemeClr val="tx1"/>
                </a:solidFill>
              </a:rPr>
              <a:t>Organizational Agility</a:t>
            </a:r>
            <a:endParaRPr lang="en-US" sz="1700" dirty="0"/>
          </a:p>
        </p:txBody>
      </p:sp>
      <p:sp>
        <p:nvSpPr>
          <p:cNvPr id="13" name="Text 9"/>
          <p:cNvSpPr txBox="1"/>
          <p:nvPr/>
        </p:nvSpPr>
        <p:spPr>
          <a:xfrm>
            <a:off x="4846320" y="2121408"/>
            <a:ext cx="3657600" cy="731520"/>
          </a:xfrm>
          <a:prstGeom prst="rect">
            <a:avLst/>
          </a:prstGeom>
          <a:noFill/>
          <a:ln/>
        </p:spPr>
        <p:txBody>
          <a:bodyPr wrap="square" lIns="0" tIns="0" rIns="0" bIns="0" rtlCol="0" anchor="t"/>
          <a:lstStyle/>
          <a:p>
            <a:pPr marL="0" indent="0">
              <a:buNone/>
            </a:pPr>
            <a:r>
              <a:rPr lang="en-US" sz="1400" dirty="0">
                <a:solidFill>
                  <a:schemeClr val="tx1"/>
                </a:solidFill>
              </a:rPr>
              <a:t>The ability of an organization to quickly adapt to changes in the market or industry.</a:t>
            </a:r>
            <a:endParaRPr lang="en-US" sz="1400" dirty="0"/>
          </a:p>
        </p:txBody>
      </p:sp>
      <p:sp>
        <p:nvSpPr>
          <p:cNvPr id="14" name="Card"/>
          <p:cNvSpPr/>
          <p:nvPr/>
        </p:nvSpPr>
        <p:spPr>
          <a:xfrm>
            <a:off x="457200" y="3063240"/>
            <a:ext cx="4023360" cy="1554480"/>
          </a:xfrm>
          <a:prstGeom prst="roundRect">
            <a:avLst>
              <a:gd name="adj" fmla="val 7059"/>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15" name="FaLink circle"/>
          <p:cNvSpPr/>
          <p:nvPr/>
        </p:nvSpPr>
        <p:spPr>
          <a:xfrm>
            <a:off x="640080" y="3227832"/>
            <a:ext cx="457200" cy="457200"/>
          </a:xfrm>
          <a:prstGeom prst="ellipse">
            <a:avLst/>
          </a:prstGeom>
          <a:solidFill>
            <a:schemeClr val="accent3"/>
          </a:solidFill>
          <a:ln/>
        </p:spPr>
        <p:txBody>
          <a:bodyPr/>
          <a:lstStyle/>
          <a:p>
            <a:endParaRPr lang="en-RW"/>
          </a:p>
        </p:txBody>
      </p:sp>
      <p:pic>
        <p:nvPicPr>
          <p:cNvPr id="16" name="FaLink icon" descr="preencoded.png"/>
          <p:cNvPicPr>
            <a:picLocks noChangeAspect="1"/>
          </p:cNvPicPr>
          <p:nvPr/>
        </p:nvPicPr>
        <p:blipFill>
          <a:blip r:embed="rId5"/>
          <a:stretch>
            <a:fillRect/>
          </a:stretch>
        </p:blipFill>
        <p:spPr>
          <a:xfrm>
            <a:off x="754380" y="3342132"/>
            <a:ext cx="228600" cy="228600"/>
          </a:xfrm>
          <a:prstGeom prst="rect">
            <a:avLst/>
          </a:prstGeom>
        </p:spPr>
      </p:pic>
      <p:sp>
        <p:nvSpPr>
          <p:cNvPr id="17" name="Text 12"/>
          <p:cNvSpPr txBox="1"/>
          <p:nvPr/>
        </p:nvSpPr>
        <p:spPr>
          <a:xfrm>
            <a:off x="1234440" y="3227832"/>
            <a:ext cx="3063240" cy="457200"/>
          </a:xfrm>
          <a:prstGeom prst="rect">
            <a:avLst/>
          </a:prstGeom>
          <a:noFill/>
          <a:ln/>
        </p:spPr>
        <p:txBody>
          <a:bodyPr wrap="square" lIns="0" tIns="0" rIns="0" bIns="0" rtlCol="0" anchor="ctr"/>
          <a:lstStyle/>
          <a:p>
            <a:pPr marL="0" indent="0">
              <a:buNone/>
            </a:pPr>
            <a:r>
              <a:rPr lang="en-US" sz="1700" b="1" dirty="0">
                <a:solidFill>
                  <a:schemeClr val="tx1"/>
                </a:solidFill>
              </a:rPr>
              <a:t>Vendor Lock-in</a:t>
            </a:r>
            <a:endParaRPr lang="en-US" sz="1700" dirty="0"/>
          </a:p>
        </p:txBody>
      </p:sp>
      <p:sp>
        <p:nvSpPr>
          <p:cNvPr id="18" name="Text 13"/>
          <p:cNvSpPr txBox="1"/>
          <p:nvPr/>
        </p:nvSpPr>
        <p:spPr>
          <a:xfrm>
            <a:off x="640080" y="3813048"/>
            <a:ext cx="3657600" cy="731520"/>
          </a:xfrm>
          <a:prstGeom prst="rect">
            <a:avLst/>
          </a:prstGeom>
          <a:noFill/>
          <a:ln/>
        </p:spPr>
        <p:txBody>
          <a:bodyPr wrap="square" lIns="0" tIns="0" rIns="0" bIns="0" rtlCol="0" anchor="t"/>
          <a:lstStyle/>
          <a:p>
            <a:pPr marL="0" indent="0">
              <a:buNone/>
            </a:pPr>
            <a:r>
              <a:rPr lang="en-US" sz="1400" dirty="0">
                <a:solidFill>
                  <a:schemeClr val="tx1"/>
                </a:solidFill>
              </a:rPr>
              <a:t>Reliance on proprietary software or technology that makes it hard and costly to switch to alternatives.</a:t>
            </a:r>
            <a:endParaRPr lang="en-US" sz="1400" dirty="0"/>
          </a:p>
        </p:txBody>
      </p:sp>
      <p:sp>
        <p:nvSpPr>
          <p:cNvPr id="19" name="Card"/>
          <p:cNvSpPr/>
          <p:nvPr/>
        </p:nvSpPr>
        <p:spPr>
          <a:xfrm>
            <a:off x="4663440" y="3063240"/>
            <a:ext cx="4023360" cy="1554480"/>
          </a:xfrm>
          <a:prstGeom prst="roundRect">
            <a:avLst>
              <a:gd name="adj" fmla="val 7059"/>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20" name="FaBan circle"/>
          <p:cNvSpPr/>
          <p:nvPr/>
        </p:nvSpPr>
        <p:spPr>
          <a:xfrm>
            <a:off x="4846320" y="3227832"/>
            <a:ext cx="457200" cy="457200"/>
          </a:xfrm>
          <a:prstGeom prst="ellipse">
            <a:avLst/>
          </a:prstGeom>
          <a:solidFill>
            <a:schemeClr val="accent5"/>
          </a:solidFill>
          <a:ln/>
        </p:spPr>
        <p:txBody>
          <a:bodyPr/>
          <a:lstStyle/>
          <a:p>
            <a:endParaRPr lang="en-RW"/>
          </a:p>
        </p:txBody>
      </p:sp>
      <p:pic>
        <p:nvPicPr>
          <p:cNvPr id="21" name="FaBan icon" descr="preencoded.png"/>
          <p:cNvPicPr>
            <a:picLocks noChangeAspect="1"/>
          </p:cNvPicPr>
          <p:nvPr/>
        </p:nvPicPr>
        <p:blipFill>
          <a:blip r:embed="rId6"/>
          <a:stretch>
            <a:fillRect/>
          </a:stretch>
        </p:blipFill>
        <p:spPr>
          <a:xfrm>
            <a:off x="4960620" y="3342132"/>
            <a:ext cx="228600" cy="228600"/>
          </a:xfrm>
          <a:prstGeom prst="rect">
            <a:avLst/>
          </a:prstGeom>
        </p:spPr>
      </p:pic>
      <p:sp>
        <p:nvSpPr>
          <p:cNvPr id="22" name="Text 16"/>
          <p:cNvSpPr txBox="1"/>
          <p:nvPr/>
        </p:nvSpPr>
        <p:spPr>
          <a:xfrm>
            <a:off x="5440680" y="3227832"/>
            <a:ext cx="3063240" cy="457200"/>
          </a:xfrm>
          <a:prstGeom prst="rect">
            <a:avLst/>
          </a:prstGeom>
          <a:noFill/>
          <a:ln/>
        </p:spPr>
        <p:txBody>
          <a:bodyPr wrap="square" lIns="0" tIns="0" rIns="0" bIns="0" rtlCol="0" anchor="ctr"/>
          <a:lstStyle/>
          <a:p>
            <a:pPr marL="0" indent="0">
              <a:buNone/>
            </a:pPr>
            <a:r>
              <a:rPr lang="en-US" sz="1700" b="1" dirty="0">
                <a:solidFill>
                  <a:schemeClr val="tx1"/>
                </a:solidFill>
              </a:rPr>
              <a:t>Barrier to Entry</a:t>
            </a:r>
            <a:endParaRPr lang="en-US" sz="1700" dirty="0"/>
          </a:p>
        </p:txBody>
      </p:sp>
      <p:sp>
        <p:nvSpPr>
          <p:cNvPr id="23" name="Text 17"/>
          <p:cNvSpPr txBox="1"/>
          <p:nvPr/>
        </p:nvSpPr>
        <p:spPr>
          <a:xfrm>
            <a:off x="4846320" y="3813048"/>
            <a:ext cx="3657600" cy="731520"/>
          </a:xfrm>
          <a:prstGeom prst="rect">
            <a:avLst/>
          </a:prstGeom>
          <a:noFill/>
          <a:ln/>
        </p:spPr>
        <p:txBody>
          <a:bodyPr wrap="square" lIns="0" tIns="0" rIns="0" bIns="0" rtlCol="0" anchor="t"/>
          <a:lstStyle/>
          <a:p>
            <a:pPr marL="0" indent="0">
              <a:buNone/>
            </a:pPr>
            <a:r>
              <a:rPr lang="en-US" sz="1400" dirty="0">
                <a:solidFill>
                  <a:schemeClr val="tx1"/>
                </a:solidFill>
              </a:rPr>
              <a:t>An economics or business term for the obstacles a new company faces when entering a given market.</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5A7E"/>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48640"/>
            <a:ext cx="8229600" cy="640080"/>
          </a:xfrm>
          <a:prstGeom prst="rect">
            <a:avLst/>
          </a:prstGeom>
          <a:noFill/>
          <a:ln/>
        </p:spPr>
        <p:txBody>
          <a:bodyPr wrap="square" lIns="0" tIns="0" rIns="0" bIns="0" rtlCol="0" anchor="ctr"/>
          <a:lstStyle/>
          <a:p>
            <a:pPr marL="0" indent="0" algn="l">
              <a:buNone/>
            </a:pPr>
            <a:r>
              <a:rPr lang="en-US" sz="3400" b="1" dirty="0">
                <a:solidFill>
                  <a:schemeClr val="tx1"/>
                </a:solidFill>
              </a:rPr>
              <a:t>Key Terminology: Money Matters</a:t>
            </a:r>
            <a:endParaRPr lang="en-US" sz="3400" dirty="0"/>
          </a:p>
        </p:txBody>
      </p:sp>
      <p:sp>
        <p:nvSpPr>
          <p:cNvPr id="3" name="Section chip"/>
          <p:cNvSpPr txBox="1"/>
          <p:nvPr/>
        </p:nvSpPr>
        <p:spPr>
          <a:xfrm>
            <a:off x="457200" y="274320"/>
            <a:ext cx="1781251" cy="246888"/>
          </a:xfrm>
          <a:prstGeom prst="roundRect">
            <a:avLst>
              <a:gd name="adj" fmla="val 48148"/>
            </a:avLst>
          </a:prstGeom>
          <a:solidFill>
            <a:schemeClr val="accent1"/>
          </a:solidFill>
          <a:ln/>
        </p:spPr>
        <p:txBody>
          <a:bodyPr wrap="square" lIns="0" tIns="0" rIns="0" bIns="0" rtlCol="0" anchor="ctr"/>
          <a:lstStyle/>
          <a:p>
            <a:pPr marL="0" indent="0" algn="ctr">
              <a:buNone/>
            </a:pPr>
            <a:r>
              <a:rPr lang="en-US" sz="1000" b="1" kern="0" spc="150" dirty="0">
                <a:solidFill>
                  <a:schemeClr val="bg1"/>
                </a:solidFill>
              </a:rPr>
              <a:t>KEY TERMS · 3 OF 4</a:t>
            </a:r>
            <a:endParaRPr lang="en-US" sz="1000" dirty="0"/>
          </a:p>
        </p:txBody>
      </p:sp>
      <p:sp>
        <p:nvSpPr>
          <p:cNvPr id="4" name="Card"/>
          <p:cNvSpPr/>
          <p:nvPr/>
        </p:nvSpPr>
        <p:spPr>
          <a:xfrm>
            <a:off x="457200" y="1371600"/>
            <a:ext cx="2560320" cy="3291840"/>
          </a:xfrm>
          <a:prstGeom prst="roundRect">
            <a:avLst>
              <a:gd name="adj" fmla="val 4286"/>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5" name="FaBuilding circle"/>
          <p:cNvSpPr/>
          <p:nvPr/>
        </p:nvSpPr>
        <p:spPr>
          <a:xfrm>
            <a:off x="685800" y="1600200"/>
            <a:ext cx="548640" cy="548640"/>
          </a:xfrm>
          <a:prstGeom prst="ellipse">
            <a:avLst/>
          </a:prstGeom>
          <a:solidFill>
            <a:schemeClr val="accent1"/>
          </a:solidFill>
          <a:ln/>
        </p:spPr>
        <p:txBody>
          <a:bodyPr/>
          <a:lstStyle/>
          <a:p>
            <a:endParaRPr lang="en-RW"/>
          </a:p>
        </p:txBody>
      </p:sp>
      <p:pic>
        <p:nvPicPr>
          <p:cNvPr id="6" name="FaBuilding icon" descr="preencoded.png"/>
          <p:cNvPicPr>
            <a:picLocks noChangeAspect="1"/>
          </p:cNvPicPr>
          <p:nvPr/>
        </p:nvPicPr>
        <p:blipFill>
          <a:blip r:embed="rId3"/>
          <a:stretch>
            <a:fillRect/>
          </a:stretch>
        </p:blipFill>
        <p:spPr>
          <a:xfrm>
            <a:off x="822960" y="1737360"/>
            <a:ext cx="274320" cy="274320"/>
          </a:xfrm>
          <a:prstGeom prst="rect">
            <a:avLst/>
          </a:prstGeom>
        </p:spPr>
      </p:pic>
      <p:sp>
        <p:nvSpPr>
          <p:cNvPr id="7" name="Text 4"/>
          <p:cNvSpPr txBox="1"/>
          <p:nvPr/>
        </p:nvSpPr>
        <p:spPr>
          <a:xfrm>
            <a:off x="685800" y="2286000"/>
            <a:ext cx="2103120" cy="457200"/>
          </a:xfrm>
          <a:prstGeom prst="rect">
            <a:avLst/>
          </a:prstGeom>
          <a:noFill/>
          <a:ln/>
        </p:spPr>
        <p:txBody>
          <a:bodyPr wrap="square" lIns="0" tIns="0" rIns="0" bIns="0" rtlCol="0" anchor="t"/>
          <a:lstStyle/>
          <a:p>
            <a:pPr marL="0" indent="0">
              <a:buNone/>
            </a:pPr>
            <a:r>
              <a:rPr lang="en-US" sz="2600" b="1" dirty="0">
                <a:solidFill>
                  <a:schemeClr val="tx1"/>
                </a:solidFill>
              </a:rPr>
              <a:t>CAPEX</a:t>
            </a:r>
            <a:endParaRPr lang="en-US" sz="2600" dirty="0"/>
          </a:p>
        </p:txBody>
      </p:sp>
      <p:sp>
        <p:nvSpPr>
          <p:cNvPr id="8" name="Text 5"/>
          <p:cNvSpPr txBox="1"/>
          <p:nvPr/>
        </p:nvSpPr>
        <p:spPr>
          <a:xfrm>
            <a:off x="685800" y="2724912"/>
            <a:ext cx="2103120" cy="274320"/>
          </a:xfrm>
          <a:prstGeom prst="rect">
            <a:avLst/>
          </a:prstGeom>
          <a:noFill/>
          <a:ln/>
        </p:spPr>
        <p:txBody>
          <a:bodyPr wrap="square" lIns="0" tIns="0" rIns="0" bIns="0" rtlCol="0" anchor="t"/>
          <a:lstStyle/>
          <a:p>
            <a:pPr marL="0" indent="0">
              <a:buNone/>
            </a:pPr>
            <a:r>
              <a:rPr lang="en-US" sz="1300" b="1" dirty="0">
                <a:solidFill>
                  <a:schemeClr val="tx2"/>
                </a:solidFill>
              </a:rPr>
              <a:t>Capital Expenses</a:t>
            </a:r>
            <a:endParaRPr lang="en-US" sz="1300" dirty="0"/>
          </a:p>
        </p:txBody>
      </p:sp>
      <p:sp>
        <p:nvSpPr>
          <p:cNvPr id="9" name="Text 6"/>
          <p:cNvSpPr txBox="1"/>
          <p:nvPr/>
        </p:nvSpPr>
        <p:spPr>
          <a:xfrm>
            <a:off x="685800" y="3063240"/>
            <a:ext cx="2103120" cy="822960"/>
          </a:xfrm>
          <a:prstGeom prst="rect">
            <a:avLst/>
          </a:prstGeom>
          <a:noFill/>
          <a:ln/>
        </p:spPr>
        <p:txBody>
          <a:bodyPr wrap="square" lIns="0" tIns="0" rIns="0" bIns="0" rtlCol="0" anchor="t"/>
          <a:lstStyle/>
          <a:p>
            <a:pPr marL="0" indent="0">
              <a:buNone/>
            </a:pPr>
            <a:r>
              <a:rPr lang="en-US" sz="1400" dirty="0">
                <a:solidFill>
                  <a:schemeClr val="tx1"/>
                </a:solidFill>
              </a:rPr>
              <a:t>Costs of fixed assets: their purchase, maintenance, and improvement.</a:t>
            </a:r>
            <a:endParaRPr lang="en-US" sz="1400" dirty="0"/>
          </a:p>
        </p:txBody>
      </p:sp>
      <p:sp>
        <p:nvSpPr>
          <p:cNvPr id="10" name="Tint"/>
          <p:cNvSpPr/>
          <p:nvPr/>
        </p:nvSpPr>
        <p:spPr>
          <a:xfrm>
            <a:off x="594360" y="3977640"/>
            <a:ext cx="2286000" cy="548640"/>
          </a:xfrm>
          <a:prstGeom prst="roundRect">
            <a:avLst>
              <a:gd name="adj" fmla="val 20000"/>
            </a:avLst>
          </a:prstGeom>
          <a:solidFill>
            <a:schemeClr val="accent1">
              <a:alpha val="20000"/>
            </a:schemeClr>
          </a:solidFill>
          <a:ln/>
        </p:spPr>
        <p:txBody>
          <a:bodyPr/>
          <a:lstStyle/>
          <a:p>
            <a:endParaRPr lang="en-RW"/>
          </a:p>
        </p:txBody>
      </p:sp>
      <p:sp>
        <p:nvSpPr>
          <p:cNvPr id="11" name="Text 8"/>
          <p:cNvSpPr txBox="1"/>
          <p:nvPr/>
        </p:nvSpPr>
        <p:spPr>
          <a:xfrm>
            <a:off x="731520" y="3977640"/>
            <a:ext cx="2011680" cy="548640"/>
          </a:xfrm>
          <a:prstGeom prst="rect">
            <a:avLst/>
          </a:prstGeom>
          <a:noFill/>
          <a:ln/>
        </p:spPr>
        <p:txBody>
          <a:bodyPr wrap="square" lIns="0" tIns="0" rIns="0" bIns="0" rtlCol="0" anchor="ctr"/>
          <a:lstStyle/>
          <a:p>
            <a:pPr marL="0" indent="0">
              <a:buNone/>
            </a:pPr>
            <a:r>
              <a:rPr lang="en-US" sz="1200" i="1" dirty="0">
                <a:solidFill>
                  <a:schemeClr val="tx1"/>
                </a:solidFill>
              </a:rPr>
              <a:t>IT example: land, computing equipment, software</a:t>
            </a:r>
            <a:endParaRPr lang="en-US" sz="1200" dirty="0"/>
          </a:p>
        </p:txBody>
      </p:sp>
      <p:sp>
        <p:nvSpPr>
          <p:cNvPr id="12" name="Card"/>
          <p:cNvSpPr/>
          <p:nvPr/>
        </p:nvSpPr>
        <p:spPr>
          <a:xfrm>
            <a:off x="3291840" y="1371600"/>
            <a:ext cx="2560320" cy="3291840"/>
          </a:xfrm>
          <a:prstGeom prst="roundRect">
            <a:avLst>
              <a:gd name="adj" fmla="val 4286"/>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13" name="FaWallet circle"/>
          <p:cNvSpPr/>
          <p:nvPr/>
        </p:nvSpPr>
        <p:spPr>
          <a:xfrm>
            <a:off x="3520440" y="1600200"/>
            <a:ext cx="548640" cy="548640"/>
          </a:xfrm>
          <a:prstGeom prst="ellipse">
            <a:avLst/>
          </a:prstGeom>
          <a:solidFill>
            <a:schemeClr val="accent3"/>
          </a:solidFill>
          <a:ln/>
        </p:spPr>
        <p:txBody>
          <a:bodyPr/>
          <a:lstStyle/>
          <a:p>
            <a:endParaRPr lang="en-RW"/>
          </a:p>
        </p:txBody>
      </p:sp>
      <p:pic>
        <p:nvPicPr>
          <p:cNvPr id="14" name="FaWallet icon" descr="preencoded.png"/>
          <p:cNvPicPr>
            <a:picLocks noChangeAspect="1"/>
          </p:cNvPicPr>
          <p:nvPr/>
        </p:nvPicPr>
        <p:blipFill>
          <a:blip r:embed="rId4"/>
          <a:stretch>
            <a:fillRect/>
          </a:stretch>
        </p:blipFill>
        <p:spPr>
          <a:xfrm>
            <a:off x="3657600" y="1737360"/>
            <a:ext cx="274320" cy="274320"/>
          </a:xfrm>
          <a:prstGeom prst="rect">
            <a:avLst/>
          </a:prstGeom>
        </p:spPr>
      </p:pic>
      <p:sp>
        <p:nvSpPr>
          <p:cNvPr id="15" name="Text 11"/>
          <p:cNvSpPr txBox="1"/>
          <p:nvPr/>
        </p:nvSpPr>
        <p:spPr>
          <a:xfrm>
            <a:off x="3520440" y="2286000"/>
            <a:ext cx="2103120" cy="457200"/>
          </a:xfrm>
          <a:prstGeom prst="rect">
            <a:avLst/>
          </a:prstGeom>
          <a:noFill/>
          <a:ln/>
        </p:spPr>
        <p:txBody>
          <a:bodyPr wrap="square" lIns="0" tIns="0" rIns="0" bIns="0" rtlCol="0" anchor="t"/>
          <a:lstStyle/>
          <a:p>
            <a:pPr marL="0" indent="0">
              <a:buNone/>
            </a:pPr>
            <a:r>
              <a:rPr lang="en-US" sz="2600" b="1" dirty="0">
                <a:solidFill>
                  <a:schemeClr val="tx1"/>
                </a:solidFill>
              </a:rPr>
              <a:t>OPEX</a:t>
            </a:r>
            <a:endParaRPr lang="en-US" sz="2600" dirty="0"/>
          </a:p>
        </p:txBody>
      </p:sp>
      <p:sp>
        <p:nvSpPr>
          <p:cNvPr id="16" name="Text 12"/>
          <p:cNvSpPr txBox="1"/>
          <p:nvPr/>
        </p:nvSpPr>
        <p:spPr>
          <a:xfrm>
            <a:off x="3520440" y="2724912"/>
            <a:ext cx="2103120" cy="274320"/>
          </a:xfrm>
          <a:prstGeom prst="rect">
            <a:avLst/>
          </a:prstGeom>
          <a:noFill/>
          <a:ln/>
        </p:spPr>
        <p:txBody>
          <a:bodyPr wrap="square" lIns="0" tIns="0" rIns="0" bIns="0" rtlCol="0" anchor="t"/>
          <a:lstStyle/>
          <a:p>
            <a:pPr marL="0" indent="0">
              <a:buNone/>
            </a:pPr>
            <a:r>
              <a:rPr lang="en-US" sz="1300" b="1" dirty="0">
                <a:solidFill>
                  <a:schemeClr val="tx2"/>
                </a:solidFill>
              </a:rPr>
              <a:t>Operational Expenses</a:t>
            </a:r>
            <a:endParaRPr lang="en-US" sz="1300" dirty="0"/>
          </a:p>
        </p:txBody>
      </p:sp>
      <p:sp>
        <p:nvSpPr>
          <p:cNvPr id="17" name="Text 13"/>
          <p:cNvSpPr txBox="1"/>
          <p:nvPr/>
        </p:nvSpPr>
        <p:spPr>
          <a:xfrm>
            <a:off x="3520440" y="3063240"/>
            <a:ext cx="2103120" cy="822960"/>
          </a:xfrm>
          <a:prstGeom prst="rect">
            <a:avLst/>
          </a:prstGeom>
          <a:noFill/>
          <a:ln/>
        </p:spPr>
        <p:txBody>
          <a:bodyPr wrap="square" lIns="0" tIns="0" rIns="0" bIns="0" rtlCol="0" anchor="t"/>
          <a:lstStyle/>
          <a:p>
            <a:pPr marL="0" indent="0">
              <a:buNone/>
            </a:pPr>
            <a:r>
              <a:rPr lang="en-US" sz="1400" dirty="0">
                <a:solidFill>
                  <a:schemeClr val="tx1"/>
                </a:solidFill>
              </a:rPr>
              <a:t>Costs of the day-to-day running of a business.</a:t>
            </a:r>
            <a:endParaRPr lang="en-US" sz="1400" dirty="0"/>
          </a:p>
        </p:txBody>
      </p:sp>
      <p:sp>
        <p:nvSpPr>
          <p:cNvPr id="18" name="Tint"/>
          <p:cNvSpPr/>
          <p:nvPr/>
        </p:nvSpPr>
        <p:spPr>
          <a:xfrm>
            <a:off x="3429000" y="3977640"/>
            <a:ext cx="2286000" cy="548640"/>
          </a:xfrm>
          <a:prstGeom prst="roundRect">
            <a:avLst>
              <a:gd name="adj" fmla="val 20000"/>
            </a:avLst>
          </a:prstGeom>
          <a:solidFill>
            <a:schemeClr val="accent3">
              <a:alpha val="20000"/>
            </a:schemeClr>
          </a:solidFill>
          <a:ln/>
        </p:spPr>
        <p:txBody>
          <a:bodyPr/>
          <a:lstStyle/>
          <a:p>
            <a:endParaRPr lang="en-RW"/>
          </a:p>
        </p:txBody>
      </p:sp>
      <p:sp>
        <p:nvSpPr>
          <p:cNvPr id="19" name="Text 15"/>
          <p:cNvSpPr txBox="1"/>
          <p:nvPr/>
        </p:nvSpPr>
        <p:spPr>
          <a:xfrm>
            <a:off x="3566160" y="3977640"/>
            <a:ext cx="2011680" cy="548640"/>
          </a:xfrm>
          <a:prstGeom prst="rect">
            <a:avLst/>
          </a:prstGeom>
          <a:noFill/>
          <a:ln/>
        </p:spPr>
        <p:txBody>
          <a:bodyPr wrap="square" lIns="0" tIns="0" rIns="0" bIns="0" rtlCol="0" anchor="ctr"/>
          <a:lstStyle/>
          <a:p>
            <a:pPr marL="0" indent="0">
              <a:buNone/>
            </a:pPr>
            <a:r>
              <a:rPr lang="en-US" sz="1200" i="1" dirty="0">
                <a:solidFill>
                  <a:schemeClr val="tx1"/>
                </a:solidFill>
              </a:rPr>
              <a:t>IT example: Internet costs, licensing fees</a:t>
            </a:r>
            <a:endParaRPr lang="en-US" sz="1200" dirty="0"/>
          </a:p>
        </p:txBody>
      </p:sp>
      <p:sp>
        <p:nvSpPr>
          <p:cNvPr id="20" name="Card"/>
          <p:cNvSpPr/>
          <p:nvPr/>
        </p:nvSpPr>
        <p:spPr>
          <a:xfrm>
            <a:off x="6126480" y="1371600"/>
            <a:ext cx="2560320" cy="3291840"/>
          </a:xfrm>
          <a:prstGeom prst="roundRect">
            <a:avLst>
              <a:gd name="adj" fmla="val 4286"/>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21" name="FaCalculator circle"/>
          <p:cNvSpPr/>
          <p:nvPr/>
        </p:nvSpPr>
        <p:spPr>
          <a:xfrm>
            <a:off x="6355080" y="1600200"/>
            <a:ext cx="548640" cy="548640"/>
          </a:xfrm>
          <a:prstGeom prst="ellipse">
            <a:avLst/>
          </a:prstGeom>
          <a:solidFill>
            <a:schemeClr val="accent2"/>
          </a:solidFill>
          <a:ln/>
        </p:spPr>
        <p:txBody>
          <a:bodyPr/>
          <a:lstStyle/>
          <a:p>
            <a:endParaRPr lang="en-RW"/>
          </a:p>
        </p:txBody>
      </p:sp>
      <p:pic>
        <p:nvPicPr>
          <p:cNvPr id="22" name="FaCalculator icon" descr="preencoded.png"/>
          <p:cNvPicPr>
            <a:picLocks noChangeAspect="1"/>
          </p:cNvPicPr>
          <p:nvPr/>
        </p:nvPicPr>
        <p:blipFill>
          <a:blip r:embed="rId5"/>
          <a:stretch>
            <a:fillRect/>
          </a:stretch>
        </p:blipFill>
        <p:spPr>
          <a:xfrm>
            <a:off x="6492240" y="1737360"/>
            <a:ext cx="274320" cy="274320"/>
          </a:xfrm>
          <a:prstGeom prst="rect">
            <a:avLst/>
          </a:prstGeom>
        </p:spPr>
      </p:pic>
      <p:sp>
        <p:nvSpPr>
          <p:cNvPr id="23" name="Text 18"/>
          <p:cNvSpPr txBox="1"/>
          <p:nvPr/>
        </p:nvSpPr>
        <p:spPr>
          <a:xfrm>
            <a:off x="6355080" y="2286000"/>
            <a:ext cx="2103120" cy="457200"/>
          </a:xfrm>
          <a:prstGeom prst="rect">
            <a:avLst/>
          </a:prstGeom>
          <a:noFill/>
          <a:ln/>
        </p:spPr>
        <p:txBody>
          <a:bodyPr wrap="square" lIns="0" tIns="0" rIns="0" bIns="0" rtlCol="0" anchor="t"/>
          <a:lstStyle/>
          <a:p>
            <a:pPr marL="0" indent="0">
              <a:buNone/>
            </a:pPr>
            <a:r>
              <a:rPr lang="en-US" sz="2600" b="1" dirty="0">
                <a:solidFill>
                  <a:schemeClr val="tx1"/>
                </a:solidFill>
              </a:rPr>
              <a:t>TCO</a:t>
            </a:r>
            <a:endParaRPr lang="en-US" sz="2600" dirty="0"/>
          </a:p>
        </p:txBody>
      </p:sp>
      <p:sp>
        <p:nvSpPr>
          <p:cNvPr id="24" name="Text 19"/>
          <p:cNvSpPr txBox="1"/>
          <p:nvPr/>
        </p:nvSpPr>
        <p:spPr>
          <a:xfrm>
            <a:off x="6355080" y="2724912"/>
            <a:ext cx="2103120" cy="274320"/>
          </a:xfrm>
          <a:prstGeom prst="rect">
            <a:avLst/>
          </a:prstGeom>
          <a:noFill/>
          <a:ln/>
        </p:spPr>
        <p:txBody>
          <a:bodyPr wrap="square" lIns="0" tIns="0" rIns="0" bIns="0" rtlCol="0" anchor="t"/>
          <a:lstStyle/>
          <a:p>
            <a:pPr marL="0" indent="0">
              <a:buNone/>
            </a:pPr>
            <a:r>
              <a:rPr lang="en-US" sz="1300" b="1" dirty="0">
                <a:solidFill>
                  <a:schemeClr val="tx2"/>
                </a:solidFill>
              </a:rPr>
              <a:t>Total Cost of Ownership</a:t>
            </a:r>
            <a:endParaRPr lang="en-US" sz="1300" dirty="0"/>
          </a:p>
        </p:txBody>
      </p:sp>
      <p:sp>
        <p:nvSpPr>
          <p:cNvPr id="25" name="Text 20"/>
          <p:cNvSpPr txBox="1"/>
          <p:nvPr/>
        </p:nvSpPr>
        <p:spPr>
          <a:xfrm>
            <a:off x="6355080" y="3063240"/>
            <a:ext cx="2103120" cy="822960"/>
          </a:xfrm>
          <a:prstGeom prst="rect">
            <a:avLst/>
          </a:prstGeom>
          <a:noFill/>
          <a:ln/>
        </p:spPr>
        <p:txBody>
          <a:bodyPr wrap="square" lIns="0" tIns="0" rIns="0" bIns="0" rtlCol="0" anchor="t"/>
          <a:lstStyle/>
          <a:p>
            <a:pPr marL="0" indent="0">
              <a:buNone/>
            </a:pPr>
            <a:r>
              <a:rPr lang="en-US" sz="1400" dirty="0">
                <a:solidFill>
                  <a:schemeClr val="tx1"/>
                </a:solidFill>
              </a:rPr>
              <a:t>The complete cost of an object or service over its lifetime, from purchase to disposal, direct and indirect.</a:t>
            </a:r>
            <a:endParaRPr lang="en-US" sz="1400" dirty="0"/>
          </a:p>
        </p:txBody>
      </p:sp>
      <p:sp>
        <p:nvSpPr>
          <p:cNvPr id="26" name="Tint"/>
          <p:cNvSpPr/>
          <p:nvPr/>
        </p:nvSpPr>
        <p:spPr>
          <a:xfrm>
            <a:off x="6263640" y="3977640"/>
            <a:ext cx="2286000" cy="548640"/>
          </a:xfrm>
          <a:prstGeom prst="roundRect">
            <a:avLst>
              <a:gd name="adj" fmla="val 20000"/>
            </a:avLst>
          </a:prstGeom>
          <a:solidFill>
            <a:schemeClr val="accent2">
              <a:alpha val="20000"/>
            </a:schemeClr>
          </a:solidFill>
          <a:ln/>
        </p:spPr>
        <p:txBody>
          <a:bodyPr/>
          <a:lstStyle/>
          <a:p>
            <a:endParaRPr lang="en-RW"/>
          </a:p>
        </p:txBody>
      </p:sp>
      <p:sp>
        <p:nvSpPr>
          <p:cNvPr id="27" name="Text 22"/>
          <p:cNvSpPr txBox="1"/>
          <p:nvPr/>
        </p:nvSpPr>
        <p:spPr>
          <a:xfrm>
            <a:off x="6400800" y="3977640"/>
            <a:ext cx="2011680" cy="548640"/>
          </a:xfrm>
          <a:prstGeom prst="rect">
            <a:avLst/>
          </a:prstGeom>
          <a:noFill/>
          <a:ln/>
        </p:spPr>
        <p:txBody>
          <a:bodyPr wrap="square" lIns="0" tIns="0" rIns="0" bIns="0" rtlCol="0" anchor="ctr"/>
          <a:lstStyle/>
          <a:p>
            <a:pPr marL="0" indent="0">
              <a:buNone/>
            </a:pPr>
            <a:r>
              <a:rPr lang="en-US" sz="1200" i="1" dirty="0">
                <a:solidFill>
                  <a:schemeClr val="tx1"/>
                </a:solidFill>
              </a:rPr>
              <a:t>Think: every cost, start to finish</a:t>
            </a:r>
            <a:endParaRPr lang="en-US" sz="1200" dirty="0"/>
          </a:p>
        </p:txBody>
      </p:sp>
      <p:sp>
        <p:nvSpPr>
          <p:cNvPr id="28"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5A7E"/>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48640"/>
            <a:ext cx="8229600" cy="640080"/>
          </a:xfrm>
          <a:prstGeom prst="rect">
            <a:avLst/>
          </a:prstGeom>
          <a:noFill/>
          <a:ln/>
        </p:spPr>
        <p:txBody>
          <a:bodyPr wrap="square" lIns="0" tIns="0" rIns="0" bIns="0" rtlCol="0" anchor="ctr"/>
          <a:lstStyle/>
          <a:p>
            <a:pPr marL="0" indent="0" algn="l">
              <a:buNone/>
            </a:pPr>
            <a:r>
              <a:rPr lang="en-US" sz="3400" b="1" dirty="0">
                <a:solidFill>
                  <a:schemeClr val="tx1"/>
                </a:solidFill>
              </a:rPr>
              <a:t>Key Terminology: Scaling &amp; Design</a:t>
            </a:r>
            <a:endParaRPr lang="en-US" sz="3400" dirty="0"/>
          </a:p>
        </p:txBody>
      </p:sp>
      <p:sp>
        <p:nvSpPr>
          <p:cNvPr id="3" name="Section chip"/>
          <p:cNvSpPr txBox="1"/>
          <p:nvPr/>
        </p:nvSpPr>
        <p:spPr>
          <a:xfrm>
            <a:off x="457200" y="274320"/>
            <a:ext cx="1781251" cy="246888"/>
          </a:xfrm>
          <a:prstGeom prst="roundRect">
            <a:avLst>
              <a:gd name="adj" fmla="val 48148"/>
            </a:avLst>
          </a:prstGeom>
          <a:solidFill>
            <a:schemeClr val="accent1"/>
          </a:solidFill>
          <a:ln/>
        </p:spPr>
        <p:txBody>
          <a:bodyPr wrap="square" lIns="0" tIns="0" rIns="0" bIns="0" rtlCol="0" anchor="ctr"/>
          <a:lstStyle/>
          <a:p>
            <a:pPr marL="0" indent="0" algn="ctr">
              <a:buNone/>
            </a:pPr>
            <a:r>
              <a:rPr lang="en-US" sz="1000" b="1" kern="0" spc="150" dirty="0">
                <a:solidFill>
                  <a:schemeClr val="bg1"/>
                </a:solidFill>
              </a:rPr>
              <a:t>KEY TERMS · 4 OF 4</a:t>
            </a:r>
            <a:endParaRPr lang="en-US" sz="1000" dirty="0"/>
          </a:p>
        </p:txBody>
      </p:sp>
      <p:sp>
        <p:nvSpPr>
          <p:cNvPr id="4" name="Card"/>
          <p:cNvSpPr/>
          <p:nvPr/>
        </p:nvSpPr>
        <p:spPr>
          <a:xfrm>
            <a:off x="457200" y="1371600"/>
            <a:ext cx="2560320" cy="1554480"/>
          </a:xfrm>
          <a:prstGeom prst="roundRect">
            <a:avLst>
              <a:gd name="adj" fmla="val 7059"/>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5" name="FaCloud circle"/>
          <p:cNvSpPr/>
          <p:nvPr/>
        </p:nvSpPr>
        <p:spPr>
          <a:xfrm>
            <a:off x="640080" y="1536192"/>
            <a:ext cx="457200" cy="457200"/>
          </a:xfrm>
          <a:prstGeom prst="ellipse">
            <a:avLst/>
          </a:prstGeom>
          <a:solidFill>
            <a:schemeClr val="accent5"/>
          </a:solidFill>
          <a:ln/>
        </p:spPr>
        <p:txBody>
          <a:bodyPr/>
          <a:lstStyle/>
          <a:p>
            <a:endParaRPr lang="en-RW"/>
          </a:p>
        </p:txBody>
      </p:sp>
      <p:pic>
        <p:nvPicPr>
          <p:cNvPr id="6" name="FaCloud icon" descr="preencoded.png"/>
          <p:cNvPicPr>
            <a:picLocks noChangeAspect="1"/>
          </p:cNvPicPr>
          <p:nvPr/>
        </p:nvPicPr>
        <p:blipFill>
          <a:blip r:embed="rId3"/>
          <a:stretch>
            <a:fillRect/>
          </a:stretch>
        </p:blipFill>
        <p:spPr>
          <a:xfrm>
            <a:off x="754380" y="1650492"/>
            <a:ext cx="228600" cy="228600"/>
          </a:xfrm>
          <a:prstGeom prst="rect">
            <a:avLst/>
          </a:prstGeom>
        </p:spPr>
      </p:pic>
      <p:sp>
        <p:nvSpPr>
          <p:cNvPr id="7" name="Text 4"/>
          <p:cNvSpPr txBox="1"/>
          <p:nvPr/>
        </p:nvSpPr>
        <p:spPr>
          <a:xfrm>
            <a:off x="1234440" y="1499616"/>
            <a:ext cx="1691640" cy="530352"/>
          </a:xfrm>
          <a:prstGeom prst="rect">
            <a:avLst/>
          </a:prstGeom>
          <a:noFill/>
          <a:ln/>
        </p:spPr>
        <p:txBody>
          <a:bodyPr wrap="square" lIns="0" tIns="0" rIns="0" bIns="0" rtlCol="0" anchor="ctr"/>
          <a:lstStyle/>
          <a:p>
            <a:pPr marL="0" indent="0">
              <a:buNone/>
            </a:pPr>
            <a:r>
              <a:rPr lang="en-US" sz="1400" b="1" dirty="0">
                <a:solidFill>
                  <a:schemeClr val="tx1"/>
                </a:solidFill>
              </a:rPr>
              <a:t>Cloud-native</a:t>
            </a:r>
            <a:endParaRPr lang="en-US" sz="1400" dirty="0"/>
          </a:p>
        </p:txBody>
      </p:sp>
      <p:sp>
        <p:nvSpPr>
          <p:cNvPr id="8" name="Text 5"/>
          <p:cNvSpPr txBox="1"/>
          <p:nvPr/>
        </p:nvSpPr>
        <p:spPr>
          <a:xfrm>
            <a:off x="640080" y="2121408"/>
            <a:ext cx="2194560" cy="749808"/>
          </a:xfrm>
          <a:prstGeom prst="rect">
            <a:avLst/>
          </a:prstGeom>
          <a:noFill/>
          <a:ln/>
        </p:spPr>
        <p:txBody>
          <a:bodyPr wrap="square" lIns="0" tIns="0" rIns="0" bIns="0" rtlCol="0" anchor="t"/>
          <a:lstStyle/>
          <a:p>
            <a:pPr marL="0" indent="0">
              <a:buNone/>
            </a:pPr>
            <a:r>
              <a:rPr lang="en-US" sz="1400" dirty="0">
                <a:solidFill>
                  <a:schemeClr val="tx1"/>
                </a:solidFill>
              </a:rPr>
              <a:t>Specifically designed for the cloud environment.</a:t>
            </a:r>
            <a:endParaRPr lang="en-US" sz="1400" dirty="0"/>
          </a:p>
        </p:txBody>
      </p:sp>
      <p:sp>
        <p:nvSpPr>
          <p:cNvPr id="9" name="Card"/>
          <p:cNvSpPr/>
          <p:nvPr/>
        </p:nvSpPr>
        <p:spPr>
          <a:xfrm>
            <a:off x="3291840" y="1371600"/>
            <a:ext cx="2560320" cy="1554480"/>
          </a:xfrm>
          <a:prstGeom prst="roundRect">
            <a:avLst>
              <a:gd name="adj" fmla="val 7059"/>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10" name="FaArrowsAltV circle"/>
          <p:cNvSpPr/>
          <p:nvPr/>
        </p:nvSpPr>
        <p:spPr>
          <a:xfrm>
            <a:off x="3474720" y="1536192"/>
            <a:ext cx="457200" cy="457200"/>
          </a:xfrm>
          <a:prstGeom prst="ellipse">
            <a:avLst/>
          </a:prstGeom>
          <a:solidFill>
            <a:schemeClr val="accent2"/>
          </a:solidFill>
          <a:ln/>
        </p:spPr>
        <p:txBody>
          <a:bodyPr/>
          <a:lstStyle/>
          <a:p>
            <a:endParaRPr lang="en-RW"/>
          </a:p>
        </p:txBody>
      </p:sp>
      <p:pic>
        <p:nvPicPr>
          <p:cNvPr id="11" name="FaArrowsAltV icon" descr="preencoded.png"/>
          <p:cNvPicPr>
            <a:picLocks noChangeAspect="1"/>
          </p:cNvPicPr>
          <p:nvPr/>
        </p:nvPicPr>
        <p:blipFill>
          <a:blip r:embed="rId4"/>
          <a:stretch>
            <a:fillRect/>
          </a:stretch>
        </p:blipFill>
        <p:spPr>
          <a:xfrm>
            <a:off x="3589020" y="1650492"/>
            <a:ext cx="228600" cy="228600"/>
          </a:xfrm>
          <a:prstGeom prst="rect">
            <a:avLst/>
          </a:prstGeom>
        </p:spPr>
      </p:pic>
      <p:sp>
        <p:nvSpPr>
          <p:cNvPr id="12" name="Text 8"/>
          <p:cNvSpPr txBox="1"/>
          <p:nvPr/>
        </p:nvSpPr>
        <p:spPr>
          <a:xfrm>
            <a:off x="4069080" y="1499616"/>
            <a:ext cx="1691640" cy="530352"/>
          </a:xfrm>
          <a:prstGeom prst="rect">
            <a:avLst/>
          </a:prstGeom>
          <a:noFill/>
          <a:ln/>
        </p:spPr>
        <p:txBody>
          <a:bodyPr wrap="square" lIns="0" tIns="0" rIns="0" bIns="0" rtlCol="0" anchor="ctr"/>
          <a:lstStyle/>
          <a:p>
            <a:pPr marL="0" indent="0">
              <a:buNone/>
            </a:pPr>
            <a:r>
              <a:rPr lang="en-US" sz="1400" b="1" dirty="0">
                <a:solidFill>
                  <a:schemeClr val="tx1"/>
                </a:solidFill>
              </a:rPr>
              <a:t>Vertical scaling</a:t>
            </a:r>
            <a:endParaRPr lang="en-US" sz="1400" dirty="0"/>
          </a:p>
        </p:txBody>
      </p:sp>
      <p:sp>
        <p:nvSpPr>
          <p:cNvPr id="13" name="Text 9"/>
          <p:cNvSpPr txBox="1"/>
          <p:nvPr/>
        </p:nvSpPr>
        <p:spPr>
          <a:xfrm>
            <a:off x="3474720" y="2121408"/>
            <a:ext cx="2194560" cy="749808"/>
          </a:xfrm>
          <a:prstGeom prst="rect">
            <a:avLst/>
          </a:prstGeom>
          <a:noFill/>
          <a:ln/>
        </p:spPr>
        <p:txBody>
          <a:bodyPr wrap="square" lIns="0" tIns="0" rIns="0" bIns="0" rtlCol="0" anchor="t"/>
          <a:lstStyle/>
          <a:p>
            <a:pPr marL="0" indent="0">
              <a:buNone/>
            </a:pPr>
            <a:r>
              <a:rPr lang="en-US" sz="1400" dirty="0">
                <a:solidFill>
                  <a:schemeClr val="tx1"/>
                </a:solidFill>
              </a:rPr>
              <a:t>Adding resources such as memory and processing power to the same node.</a:t>
            </a:r>
            <a:endParaRPr lang="en-US" sz="1400" dirty="0"/>
          </a:p>
        </p:txBody>
      </p:sp>
      <p:sp>
        <p:nvSpPr>
          <p:cNvPr id="14" name="Card"/>
          <p:cNvSpPr/>
          <p:nvPr/>
        </p:nvSpPr>
        <p:spPr>
          <a:xfrm>
            <a:off x="6126480" y="1371600"/>
            <a:ext cx="2560320" cy="1554480"/>
          </a:xfrm>
          <a:prstGeom prst="roundRect">
            <a:avLst>
              <a:gd name="adj" fmla="val 7059"/>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15" name="FaArrowsAltH circle"/>
          <p:cNvSpPr/>
          <p:nvPr/>
        </p:nvSpPr>
        <p:spPr>
          <a:xfrm>
            <a:off x="6309360" y="1536192"/>
            <a:ext cx="457200" cy="457200"/>
          </a:xfrm>
          <a:prstGeom prst="ellipse">
            <a:avLst/>
          </a:prstGeom>
          <a:solidFill>
            <a:schemeClr val="accent3"/>
          </a:solidFill>
          <a:ln/>
        </p:spPr>
        <p:txBody>
          <a:bodyPr/>
          <a:lstStyle/>
          <a:p>
            <a:endParaRPr lang="en-RW"/>
          </a:p>
        </p:txBody>
      </p:sp>
      <p:pic>
        <p:nvPicPr>
          <p:cNvPr id="16" name="FaArrowsAltH icon" descr="preencoded.png"/>
          <p:cNvPicPr>
            <a:picLocks noChangeAspect="1"/>
          </p:cNvPicPr>
          <p:nvPr/>
        </p:nvPicPr>
        <p:blipFill>
          <a:blip r:embed="rId5"/>
          <a:stretch>
            <a:fillRect/>
          </a:stretch>
        </p:blipFill>
        <p:spPr>
          <a:xfrm>
            <a:off x="6423660" y="1650492"/>
            <a:ext cx="228600" cy="228600"/>
          </a:xfrm>
          <a:prstGeom prst="rect">
            <a:avLst/>
          </a:prstGeom>
        </p:spPr>
      </p:pic>
      <p:sp>
        <p:nvSpPr>
          <p:cNvPr id="17" name="Text 12"/>
          <p:cNvSpPr txBox="1"/>
          <p:nvPr/>
        </p:nvSpPr>
        <p:spPr>
          <a:xfrm>
            <a:off x="6903720" y="1499616"/>
            <a:ext cx="1691640" cy="530352"/>
          </a:xfrm>
          <a:prstGeom prst="rect">
            <a:avLst/>
          </a:prstGeom>
          <a:noFill/>
          <a:ln/>
        </p:spPr>
        <p:txBody>
          <a:bodyPr wrap="square" lIns="0" tIns="0" rIns="0" bIns="0" rtlCol="0" anchor="ctr"/>
          <a:lstStyle/>
          <a:p>
            <a:pPr marL="0" indent="0">
              <a:buNone/>
            </a:pPr>
            <a:r>
              <a:rPr lang="en-US" sz="1400" b="1" dirty="0">
                <a:solidFill>
                  <a:schemeClr val="tx1"/>
                </a:solidFill>
              </a:rPr>
              <a:t>Horizontal scaling</a:t>
            </a:r>
            <a:endParaRPr lang="en-US" sz="1400" dirty="0"/>
          </a:p>
        </p:txBody>
      </p:sp>
      <p:sp>
        <p:nvSpPr>
          <p:cNvPr id="18" name="Text 13"/>
          <p:cNvSpPr txBox="1"/>
          <p:nvPr/>
        </p:nvSpPr>
        <p:spPr>
          <a:xfrm>
            <a:off x="6309360" y="2121408"/>
            <a:ext cx="2194560" cy="749808"/>
          </a:xfrm>
          <a:prstGeom prst="rect">
            <a:avLst/>
          </a:prstGeom>
          <a:noFill/>
          <a:ln/>
        </p:spPr>
        <p:txBody>
          <a:bodyPr wrap="square" lIns="0" tIns="0" rIns="0" bIns="0" rtlCol="0" anchor="t"/>
          <a:lstStyle/>
          <a:p>
            <a:pPr marL="0" indent="0">
              <a:buNone/>
            </a:pPr>
            <a:r>
              <a:rPr lang="en-US" sz="1400" dirty="0">
                <a:solidFill>
                  <a:schemeClr val="tx1"/>
                </a:solidFill>
              </a:rPr>
              <a:t>Adding more nodes to a distributed system.</a:t>
            </a:r>
            <a:endParaRPr lang="en-US" sz="1400" dirty="0"/>
          </a:p>
        </p:txBody>
      </p:sp>
      <p:sp>
        <p:nvSpPr>
          <p:cNvPr id="19" name="Card"/>
          <p:cNvSpPr/>
          <p:nvPr/>
        </p:nvSpPr>
        <p:spPr>
          <a:xfrm>
            <a:off x="457200" y="3063240"/>
            <a:ext cx="2560320" cy="1554480"/>
          </a:xfrm>
          <a:prstGeom prst="roundRect">
            <a:avLst>
              <a:gd name="adj" fmla="val 7059"/>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20" name="FaCubes circle"/>
          <p:cNvSpPr/>
          <p:nvPr/>
        </p:nvSpPr>
        <p:spPr>
          <a:xfrm>
            <a:off x="640080" y="3227832"/>
            <a:ext cx="457200" cy="457200"/>
          </a:xfrm>
          <a:prstGeom prst="ellipse">
            <a:avLst/>
          </a:prstGeom>
          <a:solidFill>
            <a:schemeClr val="accent4"/>
          </a:solidFill>
          <a:ln/>
        </p:spPr>
        <p:txBody>
          <a:bodyPr/>
          <a:lstStyle/>
          <a:p>
            <a:endParaRPr lang="en-RW"/>
          </a:p>
        </p:txBody>
      </p:sp>
      <p:pic>
        <p:nvPicPr>
          <p:cNvPr id="21" name="FaCubes icon" descr="preencoded.png"/>
          <p:cNvPicPr>
            <a:picLocks noChangeAspect="1"/>
          </p:cNvPicPr>
          <p:nvPr/>
        </p:nvPicPr>
        <p:blipFill>
          <a:blip r:embed="rId6"/>
          <a:stretch>
            <a:fillRect/>
          </a:stretch>
        </p:blipFill>
        <p:spPr>
          <a:xfrm>
            <a:off x="754380" y="3342132"/>
            <a:ext cx="228600" cy="228600"/>
          </a:xfrm>
          <a:prstGeom prst="rect">
            <a:avLst/>
          </a:prstGeom>
        </p:spPr>
      </p:pic>
      <p:sp>
        <p:nvSpPr>
          <p:cNvPr id="22" name="Text 16"/>
          <p:cNvSpPr txBox="1"/>
          <p:nvPr/>
        </p:nvSpPr>
        <p:spPr>
          <a:xfrm>
            <a:off x="1234440" y="3191256"/>
            <a:ext cx="1691640" cy="530352"/>
          </a:xfrm>
          <a:prstGeom prst="rect">
            <a:avLst/>
          </a:prstGeom>
          <a:noFill/>
          <a:ln/>
        </p:spPr>
        <p:txBody>
          <a:bodyPr wrap="square" lIns="0" tIns="0" rIns="0" bIns="0" rtlCol="0" anchor="ctr"/>
          <a:lstStyle/>
          <a:p>
            <a:pPr marL="0" indent="0">
              <a:buNone/>
            </a:pPr>
            <a:r>
              <a:rPr lang="en-US" sz="1400" b="1" dirty="0">
                <a:solidFill>
                  <a:schemeClr val="tx1"/>
                </a:solidFill>
              </a:rPr>
              <a:t>Monolithic application</a:t>
            </a:r>
            <a:endParaRPr lang="en-US" sz="1400" dirty="0"/>
          </a:p>
        </p:txBody>
      </p:sp>
      <p:sp>
        <p:nvSpPr>
          <p:cNvPr id="23" name="Text 17"/>
          <p:cNvSpPr txBox="1"/>
          <p:nvPr/>
        </p:nvSpPr>
        <p:spPr>
          <a:xfrm>
            <a:off x="640080" y="3813048"/>
            <a:ext cx="2194560" cy="749808"/>
          </a:xfrm>
          <a:prstGeom prst="rect">
            <a:avLst/>
          </a:prstGeom>
          <a:noFill/>
          <a:ln/>
        </p:spPr>
        <p:txBody>
          <a:bodyPr wrap="square" lIns="0" tIns="0" rIns="0" bIns="0" rtlCol="0" anchor="t"/>
          <a:lstStyle/>
          <a:p>
            <a:pPr marL="0" indent="0">
              <a:buNone/>
            </a:pPr>
            <a:r>
              <a:rPr lang="en-US" sz="1400" dirty="0">
                <a:solidFill>
                  <a:schemeClr val="tx1"/>
                </a:solidFill>
              </a:rPr>
              <a:t>An application designed as a single unit.</a:t>
            </a:r>
            <a:endParaRPr lang="en-US" sz="1400" dirty="0"/>
          </a:p>
        </p:txBody>
      </p:sp>
      <p:sp>
        <p:nvSpPr>
          <p:cNvPr id="24" name="Card"/>
          <p:cNvSpPr/>
          <p:nvPr/>
        </p:nvSpPr>
        <p:spPr>
          <a:xfrm>
            <a:off x="3291840" y="3063240"/>
            <a:ext cx="2560320" cy="1554480"/>
          </a:xfrm>
          <a:prstGeom prst="roundRect">
            <a:avLst>
              <a:gd name="adj" fmla="val 7059"/>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25" name="FaPuzzlePiece circle"/>
          <p:cNvSpPr/>
          <p:nvPr/>
        </p:nvSpPr>
        <p:spPr>
          <a:xfrm>
            <a:off x="3474720" y="3227832"/>
            <a:ext cx="457200" cy="457200"/>
          </a:xfrm>
          <a:prstGeom prst="ellipse">
            <a:avLst/>
          </a:prstGeom>
          <a:solidFill>
            <a:schemeClr val="accent1"/>
          </a:solidFill>
          <a:ln/>
        </p:spPr>
        <p:txBody>
          <a:bodyPr/>
          <a:lstStyle/>
          <a:p>
            <a:endParaRPr lang="en-RW"/>
          </a:p>
        </p:txBody>
      </p:sp>
      <p:pic>
        <p:nvPicPr>
          <p:cNvPr id="26" name="FaPuzzlePiece icon" descr="preencoded.png"/>
          <p:cNvPicPr>
            <a:picLocks noChangeAspect="1"/>
          </p:cNvPicPr>
          <p:nvPr/>
        </p:nvPicPr>
        <p:blipFill>
          <a:blip r:embed="rId7"/>
          <a:stretch>
            <a:fillRect/>
          </a:stretch>
        </p:blipFill>
        <p:spPr>
          <a:xfrm>
            <a:off x="3589020" y="3342132"/>
            <a:ext cx="228600" cy="228600"/>
          </a:xfrm>
          <a:prstGeom prst="rect">
            <a:avLst/>
          </a:prstGeom>
        </p:spPr>
      </p:pic>
      <p:sp>
        <p:nvSpPr>
          <p:cNvPr id="27" name="Text 20"/>
          <p:cNvSpPr txBox="1"/>
          <p:nvPr/>
        </p:nvSpPr>
        <p:spPr>
          <a:xfrm>
            <a:off x="4069080" y="3191256"/>
            <a:ext cx="1691640" cy="530352"/>
          </a:xfrm>
          <a:prstGeom prst="rect">
            <a:avLst/>
          </a:prstGeom>
          <a:noFill/>
          <a:ln/>
        </p:spPr>
        <p:txBody>
          <a:bodyPr wrap="square" lIns="0" tIns="0" rIns="0" bIns="0" rtlCol="0" anchor="ctr"/>
          <a:lstStyle/>
          <a:p>
            <a:pPr marL="0" indent="0">
              <a:buNone/>
            </a:pPr>
            <a:r>
              <a:rPr lang="en-US" sz="1400" b="1" dirty="0">
                <a:solidFill>
                  <a:schemeClr val="tx1"/>
                </a:solidFill>
              </a:rPr>
              <a:t>Microservices-based application</a:t>
            </a:r>
            <a:endParaRPr lang="en-US" sz="1400" dirty="0"/>
          </a:p>
        </p:txBody>
      </p:sp>
      <p:sp>
        <p:nvSpPr>
          <p:cNvPr id="28" name="Text 21"/>
          <p:cNvSpPr txBox="1"/>
          <p:nvPr/>
        </p:nvSpPr>
        <p:spPr>
          <a:xfrm>
            <a:off x="3474720" y="3813048"/>
            <a:ext cx="2194560" cy="749808"/>
          </a:xfrm>
          <a:prstGeom prst="rect">
            <a:avLst/>
          </a:prstGeom>
          <a:noFill/>
          <a:ln/>
        </p:spPr>
        <p:txBody>
          <a:bodyPr wrap="square" lIns="0" tIns="0" rIns="0" bIns="0" rtlCol="0" anchor="t"/>
          <a:lstStyle/>
          <a:p>
            <a:pPr marL="0" indent="0">
              <a:buNone/>
            </a:pPr>
            <a:r>
              <a:rPr lang="en-US" sz="1400" dirty="0">
                <a:solidFill>
                  <a:schemeClr val="tx1"/>
                </a:solidFill>
              </a:rPr>
              <a:t>An application broken into many loosely-coupled services that interact with each other.</a:t>
            </a:r>
            <a:endParaRPr lang="en-US" sz="1400" dirty="0"/>
          </a:p>
        </p:txBody>
      </p:sp>
      <p:sp>
        <p:nvSpPr>
          <p:cNvPr id="29" name="Card"/>
          <p:cNvSpPr/>
          <p:nvPr/>
        </p:nvSpPr>
        <p:spPr>
          <a:xfrm>
            <a:off x="6126480" y="3063240"/>
            <a:ext cx="2560320" cy="1554480"/>
          </a:xfrm>
          <a:prstGeom prst="roundRect">
            <a:avLst>
              <a:gd name="adj" fmla="val 7059"/>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30" name="FaPowerOff circle"/>
          <p:cNvSpPr/>
          <p:nvPr/>
        </p:nvSpPr>
        <p:spPr>
          <a:xfrm>
            <a:off x="6309360" y="3227832"/>
            <a:ext cx="457200" cy="457200"/>
          </a:xfrm>
          <a:prstGeom prst="ellipse">
            <a:avLst/>
          </a:prstGeom>
          <a:solidFill>
            <a:schemeClr val="accent6"/>
          </a:solidFill>
          <a:ln/>
        </p:spPr>
        <p:txBody>
          <a:bodyPr/>
          <a:lstStyle/>
          <a:p>
            <a:endParaRPr lang="en-RW"/>
          </a:p>
        </p:txBody>
      </p:sp>
      <p:pic>
        <p:nvPicPr>
          <p:cNvPr id="31" name="FaPowerOff icon" descr="preencoded.png"/>
          <p:cNvPicPr>
            <a:picLocks noChangeAspect="1"/>
          </p:cNvPicPr>
          <p:nvPr/>
        </p:nvPicPr>
        <p:blipFill>
          <a:blip r:embed="rId8"/>
          <a:stretch>
            <a:fillRect/>
          </a:stretch>
        </p:blipFill>
        <p:spPr>
          <a:xfrm>
            <a:off x="6423660" y="3342132"/>
            <a:ext cx="228600" cy="228600"/>
          </a:xfrm>
          <a:prstGeom prst="rect">
            <a:avLst/>
          </a:prstGeom>
        </p:spPr>
      </p:pic>
      <p:sp>
        <p:nvSpPr>
          <p:cNvPr id="32" name="Text 24"/>
          <p:cNvSpPr txBox="1"/>
          <p:nvPr/>
        </p:nvSpPr>
        <p:spPr>
          <a:xfrm>
            <a:off x="6903720" y="3191256"/>
            <a:ext cx="1691640" cy="530352"/>
          </a:xfrm>
          <a:prstGeom prst="rect">
            <a:avLst/>
          </a:prstGeom>
          <a:noFill/>
          <a:ln/>
        </p:spPr>
        <p:txBody>
          <a:bodyPr wrap="square" lIns="0" tIns="0" rIns="0" bIns="0" rtlCol="0" anchor="ctr"/>
          <a:lstStyle/>
          <a:p>
            <a:pPr marL="0" indent="0">
              <a:buNone/>
            </a:pPr>
            <a:r>
              <a:rPr lang="en-US" sz="1400" b="1" dirty="0">
                <a:solidFill>
                  <a:schemeClr val="tx1"/>
                </a:solidFill>
              </a:rPr>
              <a:t>Serverless</a:t>
            </a:r>
            <a:endParaRPr lang="en-US" sz="1400" dirty="0"/>
          </a:p>
        </p:txBody>
      </p:sp>
      <p:sp>
        <p:nvSpPr>
          <p:cNvPr id="33" name="Text 25"/>
          <p:cNvSpPr txBox="1"/>
          <p:nvPr/>
        </p:nvSpPr>
        <p:spPr>
          <a:xfrm>
            <a:off x="6309360" y="3813048"/>
            <a:ext cx="2194560" cy="749808"/>
          </a:xfrm>
          <a:prstGeom prst="rect">
            <a:avLst/>
          </a:prstGeom>
          <a:noFill/>
          <a:ln/>
        </p:spPr>
        <p:txBody>
          <a:bodyPr wrap="square" lIns="0" tIns="0" rIns="0" bIns="0" rtlCol="0" anchor="t"/>
          <a:lstStyle/>
          <a:p>
            <a:pPr marL="0" indent="0">
              <a:buNone/>
            </a:pPr>
            <a:r>
              <a:rPr lang="en-US" sz="1400" dirty="0">
                <a:solidFill>
                  <a:schemeClr val="tx1"/>
                </a:solidFill>
              </a:rPr>
              <a:t>Independent of the need to provision or manage servers.</a:t>
            </a:r>
            <a:endParaRPr lang="en-US" sz="1400" dirty="0"/>
          </a:p>
        </p:txBody>
      </p:sp>
      <p:sp>
        <p:nvSpPr>
          <p:cNvPr id="34"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5A7E"/>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48640"/>
            <a:ext cx="8229600" cy="640080"/>
          </a:xfrm>
          <a:prstGeom prst="rect">
            <a:avLst/>
          </a:prstGeom>
          <a:noFill/>
          <a:ln/>
        </p:spPr>
        <p:txBody>
          <a:bodyPr wrap="square" lIns="0" tIns="0" rIns="0" bIns="0" rtlCol="0" anchor="ctr"/>
          <a:lstStyle/>
          <a:p>
            <a:pPr marL="0" indent="0" algn="l">
              <a:buNone/>
            </a:pPr>
            <a:r>
              <a:rPr lang="en-US" sz="3400" b="1" dirty="0">
                <a:solidFill>
                  <a:schemeClr val="tx1"/>
                </a:solidFill>
              </a:rPr>
              <a:t>What is Cloud Computing?</a:t>
            </a:r>
            <a:endParaRPr lang="en-US" sz="3400" dirty="0"/>
          </a:p>
        </p:txBody>
      </p:sp>
      <p:sp>
        <p:nvSpPr>
          <p:cNvPr id="3" name="Section chip"/>
          <p:cNvSpPr txBox="1"/>
          <p:nvPr/>
        </p:nvSpPr>
        <p:spPr>
          <a:xfrm>
            <a:off x="457200" y="274320"/>
            <a:ext cx="1309421" cy="246888"/>
          </a:xfrm>
          <a:prstGeom prst="roundRect">
            <a:avLst>
              <a:gd name="adj" fmla="val 48148"/>
            </a:avLst>
          </a:prstGeom>
          <a:solidFill>
            <a:schemeClr val="accent5"/>
          </a:solidFill>
          <a:ln/>
        </p:spPr>
        <p:txBody>
          <a:bodyPr wrap="square" lIns="0" tIns="0" rIns="0" bIns="0" rtlCol="0" anchor="ctr"/>
          <a:lstStyle/>
          <a:p>
            <a:pPr marL="0" indent="0" algn="ctr">
              <a:buNone/>
            </a:pPr>
            <a:r>
              <a:rPr lang="en-US" sz="1000" b="1" kern="0" spc="150" dirty="0">
                <a:solidFill>
                  <a:schemeClr val="tx1"/>
                </a:solidFill>
              </a:rPr>
              <a:t>CLOUD BASICS</a:t>
            </a:r>
            <a:endParaRPr lang="en-US" sz="1000" dirty="0"/>
          </a:p>
        </p:txBody>
      </p:sp>
      <p:sp>
        <p:nvSpPr>
          <p:cNvPr id="4" name="Card"/>
          <p:cNvSpPr/>
          <p:nvPr/>
        </p:nvSpPr>
        <p:spPr>
          <a:xfrm>
            <a:off x="457200" y="1371600"/>
            <a:ext cx="3931920" cy="2377440"/>
          </a:xfrm>
          <a:prstGeom prst="roundRect">
            <a:avLst>
              <a:gd name="adj" fmla="val 4615"/>
            </a:avLst>
          </a:prstGeom>
          <a:solidFill>
            <a:schemeClr val="accent1"/>
          </a:solidFill>
          <a:ln/>
          <a:effectLst>
            <a:outerShdw blurRad="127000" dist="38100" dir="5400000" algn="bl" rotWithShape="0">
              <a:srgbClr val="1E1B4B">
                <a:alpha val="10000"/>
              </a:srgbClr>
            </a:outerShdw>
          </a:effectLst>
        </p:spPr>
        <p:txBody>
          <a:bodyPr/>
          <a:lstStyle/>
          <a:p>
            <a:endParaRPr lang="en-RW"/>
          </a:p>
        </p:txBody>
      </p:sp>
      <p:pic>
        <p:nvPicPr>
          <p:cNvPr id="5" name="Cloud icon" descr="preencoded.png"/>
          <p:cNvPicPr>
            <a:picLocks noChangeAspect="1"/>
          </p:cNvPicPr>
          <p:nvPr/>
        </p:nvPicPr>
        <p:blipFill>
          <a:blip r:embed="rId3"/>
          <a:stretch>
            <a:fillRect/>
          </a:stretch>
        </p:blipFill>
        <p:spPr>
          <a:xfrm>
            <a:off x="731520" y="1627632"/>
            <a:ext cx="502920" cy="502920"/>
          </a:xfrm>
          <a:prstGeom prst="rect">
            <a:avLst/>
          </a:prstGeom>
        </p:spPr>
      </p:pic>
      <p:sp>
        <p:nvSpPr>
          <p:cNvPr id="6" name="Text 3"/>
          <p:cNvSpPr txBox="1"/>
          <p:nvPr/>
        </p:nvSpPr>
        <p:spPr>
          <a:xfrm>
            <a:off x="731520" y="2286000"/>
            <a:ext cx="3383280" cy="1371600"/>
          </a:xfrm>
          <a:prstGeom prst="rect">
            <a:avLst/>
          </a:prstGeom>
          <a:noFill/>
          <a:ln/>
        </p:spPr>
        <p:txBody>
          <a:bodyPr wrap="square" lIns="0" tIns="0" rIns="0" bIns="0" rtlCol="0" anchor="t"/>
          <a:lstStyle/>
          <a:p>
            <a:pPr marL="0" indent="0">
              <a:buNone/>
            </a:pPr>
            <a:r>
              <a:rPr lang="en-US" sz="1800" b="1" dirty="0">
                <a:solidFill>
                  <a:schemeClr val="bg1"/>
                </a:solidFill>
              </a:rPr>
              <a:t>An on-demand delivery of servers, storage, databases, applications and other IT resources as services over the Internet.</a:t>
            </a:r>
            <a:endParaRPr lang="en-US" sz="1800" dirty="0"/>
          </a:p>
        </p:txBody>
      </p:sp>
      <p:sp>
        <p:nvSpPr>
          <p:cNvPr id="7" name="Card"/>
          <p:cNvSpPr/>
          <p:nvPr/>
        </p:nvSpPr>
        <p:spPr>
          <a:xfrm>
            <a:off x="4572000" y="1371600"/>
            <a:ext cx="4114800" cy="2377440"/>
          </a:xfrm>
          <a:prstGeom prst="roundRect">
            <a:avLst>
              <a:gd name="adj" fmla="val 4615"/>
            </a:avLst>
          </a:prstGeom>
          <a:solidFill>
            <a:schemeClr val="bg1"/>
          </a:solidFill>
          <a:ln/>
          <a:effectLst>
            <a:outerShdw blurRad="127000" dist="38100" dir="5400000" algn="bl" rotWithShape="0">
              <a:srgbClr val="1E1B4B">
                <a:alpha val="10000"/>
              </a:srgbClr>
            </a:outerShdw>
          </a:effectLst>
        </p:spPr>
        <p:txBody>
          <a:bodyPr/>
          <a:lstStyle/>
          <a:p>
            <a:endParaRPr lang="en-RW"/>
          </a:p>
        </p:txBody>
      </p:sp>
      <p:pic>
        <p:nvPicPr>
          <p:cNvPr id="8" name="Front end back end diagram" descr="Front end: a user with a web browser or software interface connects over the Internet to the back end: servers, data storage and networks inside a cloud."/>
          <p:cNvPicPr>
            <a:picLocks noChangeAspect="1"/>
          </p:cNvPicPr>
          <p:nvPr/>
        </p:nvPicPr>
        <p:blipFill>
          <a:blip r:embed="rId4"/>
          <a:stretch>
            <a:fillRect/>
          </a:stretch>
        </p:blipFill>
        <p:spPr>
          <a:xfrm>
            <a:off x="4709160" y="1508760"/>
            <a:ext cx="3840480" cy="2029017"/>
          </a:xfrm>
          <a:prstGeom prst="rect">
            <a:avLst/>
          </a:prstGeom>
        </p:spPr>
      </p:pic>
      <p:sp>
        <p:nvSpPr>
          <p:cNvPr id="9" name="Card"/>
          <p:cNvSpPr/>
          <p:nvPr/>
        </p:nvSpPr>
        <p:spPr>
          <a:xfrm>
            <a:off x="457200" y="3931920"/>
            <a:ext cx="8229600" cy="777240"/>
          </a:xfrm>
          <a:prstGeom prst="roundRect">
            <a:avLst>
              <a:gd name="adj" fmla="val 14118"/>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10" name="FaGlobe circle"/>
          <p:cNvSpPr/>
          <p:nvPr/>
        </p:nvSpPr>
        <p:spPr>
          <a:xfrm>
            <a:off x="640080" y="4087368"/>
            <a:ext cx="457200" cy="457200"/>
          </a:xfrm>
          <a:prstGeom prst="ellipse">
            <a:avLst/>
          </a:prstGeom>
          <a:solidFill>
            <a:schemeClr val="accent2"/>
          </a:solidFill>
          <a:ln/>
        </p:spPr>
        <p:txBody>
          <a:bodyPr/>
          <a:lstStyle/>
          <a:p>
            <a:endParaRPr lang="en-RW"/>
          </a:p>
        </p:txBody>
      </p:sp>
      <p:pic>
        <p:nvPicPr>
          <p:cNvPr id="11" name="FaGlobe icon" descr="preencoded.png"/>
          <p:cNvPicPr>
            <a:picLocks noChangeAspect="1"/>
          </p:cNvPicPr>
          <p:nvPr/>
        </p:nvPicPr>
        <p:blipFill>
          <a:blip r:embed="rId5"/>
          <a:stretch>
            <a:fillRect/>
          </a:stretch>
        </p:blipFill>
        <p:spPr>
          <a:xfrm>
            <a:off x="754380" y="4201668"/>
            <a:ext cx="228600" cy="228600"/>
          </a:xfrm>
          <a:prstGeom prst="rect">
            <a:avLst/>
          </a:prstGeom>
        </p:spPr>
      </p:pic>
      <p:sp>
        <p:nvSpPr>
          <p:cNvPr id="12" name="Text 7"/>
          <p:cNvSpPr txBox="1"/>
          <p:nvPr/>
        </p:nvSpPr>
        <p:spPr>
          <a:xfrm>
            <a:off x="1280160" y="3931920"/>
            <a:ext cx="7223760" cy="777240"/>
          </a:xfrm>
          <a:prstGeom prst="rect">
            <a:avLst/>
          </a:prstGeom>
          <a:noFill/>
          <a:ln/>
        </p:spPr>
        <p:txBody>
          <a:bodyPr wrap="square" lIns="0" tIns="0" rIns="0" bIns="0" rtlCol="0" anchor="ctr"/>
          <a:lstStyle/>
          <a:p>
            <a:pPr marL="0" indent="0">
              <a:buNone/>
            </a:pPr>
            <a:r>
              <a:rPr lang="en-US" sz="1400" dirty="0">
                <a:solidFill>
                  <a:schemeClr val="tx1"/>
                </a:solidFill>
              </a:rPr>
              <a:t>Resources are typically hosted in large data centers by CSPs such as AWS, Microsoft Azure, Google, etc., in locations across the globe. Implementation details are abstracted (hidden) from the user.</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5A7E"/>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48640"/>
            <a:ext cx="8229600" cy="640080"/>
          </a:xfrm>
          <a:prstGeom prst="rect">
            <a:avLst/>
          </a:prstGeom>
          <a:noFill/>
          <a:ln/>
        </p:spPr>
        <p:txBody>
          <a:bodyPr wrap="square" lIns="0" tIns="0" rIns="0" bIns="0" rtlCol="0" anchor="ctr"/>
          <a:lstStyle/>
          <a:p>
            <a:pPr marL="0" indent="0" algn="l">
              <a:buNone/>
            </a:pPr>
            <a:r>
              <a:rPr lang="en-US" sz="3400" b="1" dirty="0">
                <a:solidFill>
                  <a:schemeClr val="tx1"/>
                </a:solidFill>
              </a:rPr>
              <a:t>Think of It Like Electricity</a:t>
            </a:r>
            <a:endParaRPr lang="en-US" sz="3400" dirty="0"/>
          </a:p>
        </p:txBody>
      </p:sp>
      <p:sp>
        <p:nvSpPr>
          <p:cNvPr id="3" name="Section chip"/>
          <p:cNvSpPr txBox="1"/>
          <p:nvPr/>
        </p:nvSpPr>
        <p:spPr>
          <a:xfrm>
            <a:off x="457200" y="274320"/>
            <a:ext cx="1309421" cy="246888"/>
          </a:xfrm>
          <a:prstGeom prst="roundRect">
            <a:avLst>
              <a:gd name="adj" fmla="val 48148"/>
            </a:avLst>
          </a:prstGeom>
          <a:solidFill>
            <a:schemeClr val="accent5"/>
          </a:solidFill>
          <a:ln/>
        </p:spPr>
        <p:txBody>
          <a:bodyPr wrap="square" lIns="0" tIns="0" rIns="0" bIns="0" rtlCol="0" anchor="ctr"/>
          <a:lstStyle/>
          <a:p>
            <a:pPr marL="0" indent="0" algn="ctr">
              <a:buNone/>
            </a:pPr>
            <a:r>
              <a:rPr lang="en-US" sz="1000" b="1" kern="0" spc="150" dirty="0">
                <a:solidFill>
                  <a:schemeClr val="tx1"/>
                </a:solidFill>
              </a:rPr>
              <a:t>CLOUD BASICS</a:t>
            </a:r>
            <a:endParaRPr lang="en-US" sz="1000" dirty="0"/>
          </a:p>
        </p:txBody>
      </p:sp>
      <p:sp>
        <p:nvSpPr>
          <p:cNvPr id="4" name="Card"/>
          <p:cNvSpPr/>
          <p:nvPr/>
        </p:nvSpPr>
        <p:spPr>
          <a:xfrm>
            <a:off x="457200" y="1371600"/>
            <a:ext cx="4297680" cy="3246120"/>
          </a:xfrm>
          <a:prstGeom prst="roundRect">
            <a:avLst>
              <a:gd name="adj" fmla="val 3380"/>
            </a:avLst>
          </a:prstGeom>
          <a:solidFill>
            <a:schemeClr val="bg1"/>
          </a:solidFill>
          <a:ln/>
          <a:effectLst>
            <a:outerShdw blurRad="127000" dist="38100" dir="5400000" algn="bl" rotWithShape="0">
              <a:srgbClr val="1E1B4B">
                <a:alpha val="10000"/>
              </a:srgbClr>
            </a:outerShdw>
          </a:effectLst>
        </p:spPr>
        <p:txBody>
          <a:bodyPr/>
          <a:lstStyle/>
          <a:p>
            <a:endParaRPr lang="en-RW"/>
          </a:p>
        </p:txBody>
      </p:sp>
      <p:pic>
        <p:nvPicPr>
          <p:cNvPr id="5" name="Utility analogy illustration" descr="Illustration of an electrical meter, plug, and power plant: cloud computing compared to a utility service."/>
          <p:cNvPicPr>
            <a:picLocks noChangeAspect="1"/>
          </p:cNvPicPr>
          <p:nvPr/>
        </p:nvPicPr>
        <p:blipFill>
          <a:blip r:embed="rId3"/>
          <a:stretch>
            <a:fillRect/>
          </a:stretch>
        </p:blipFill>
        <p:spPr>
          <a:xfrm>
            <a:off x="685800" y="1481328"/>
            <a:ext cx="3840480" cy="2880360"/>
          </a:xfrm>
          <a:prstGeom prst="rect">
            <a:avLst/>
          </a:prstGeom>
        </p:spPr>
      </p:pic>
      <p:sp>
        <p:nvSpPr>
          <p:cNvPr id="6" name="Text 3"/>
          <p:cNvSpPr txBox="1"/>
          <p:nvPr/>
        </p:nvSpPr>
        <p:spPr>
          <a:xfrm>
            <a:off x="685800" y="4389120"/>
            <a:ext cx="1828800" cy="228600"/>
          </a:xfrm>
          <a:prstGeom prst="rect">
            <a:avLst/>
          </a:prstGeom>
          <a:noFill/>
          <a:ln/>
        </p:spPr>
        <p:txBody>
          <a:bodyPr wrap="square" lIns="0" tIns="0" rIns="0" bIns="0" rtlCol="0" anchor="t"/>
          <a:lstStyle/>
          <a:p>
            <a:pPr marL="0" indent="0">
              <a:buNone/>
            </a:pPr>
            <a:r>
              <a:rPr lang="en-US" sz="1000" i="1" dirty="0">
                <a:solidFill>
                  <a:schemeClr val="tx2"/>
                </a:solidFill>
              </a:rPr>
              <a:t>Source: AWS</a:t>
            </a:r>
            <a:endParaRPr lang="en-US" sz="1000" dirty="0"/>
          </a:p>
        </p:txBody>
      </p:sp>
      <p:sp>
        <p:nvSpPr>
          <p:cNvPr id="7" name="Card"/>
          <p:cNvSpPr/>
          <p:nvPr/>
        </p:nvSpPr>
        <p:spPr>
          <a:xfrm>
            <a:off x="4937760" y="1371600"/>
            <a:ext cx="3749040" cy="1005840"/>
          </a:xfrm>
          <a:prstGeom prst="roundRect">
            <a:avLst>
              <a:gd name="adj" fmla="val 10909"/>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8" name="FaPlug circle"/>
          <p:cNvSpPr/>
          <p:nvPr/>
        </p:nvSpPr>
        <p:spPr>
          <a:xfrm>
            <a:off x="5120640" y="1645920"/>
            <a:ext cx="457200" cy="457200"/>
          </a:xfrm>
          <a:prstGeom prst="ellipse">
            <a:avLst/>
          </a:prstGeom>
          <a:solidFill>
            <a:schemeClr val="accent4"/>
          </a:solidFill>
          <a:ln/>
        </p:spPr>
        <p:txBody>
          <a:bodyPr/>
          <a:lstStyle/>
          <a:p>
            <a:endParaRPr lang="en-RW"/>
          </a:p>
        </p:txBody>
      </p:sp>
      <p:pic>
        <p:nvPicPr>
          <p:cNvPr id="9" name="FaPlug icon" descr="preencoded.png"/>
          <p:cNvPicPr>
            <a:picLocks noChangeAspect="1"/>
          </p:cNvPicPr>
          <p:nvPr/>
        </p:nvPicPr>
        <p:blipFill>
          <a:blip r:embed="rId4"/>
          <a:stretch>
            <a:fillRect/>
          </a:stretch>
        </p:blipFill>
        <p:spPr>
          <a:xfrm>
            <a:off x="5234940" y="1760220"/>
            <a:ext cx="228600" cy="228600"/>
          </a:xfrm>
          <a:prstGeom prst="rect">
            <a:avLst/>
          </a:prstGeom>
        </p:spPr>
      </p:pic>
      <p:sp>
        <p:nvSpPr>
          <p:cNvPr id="10" name="Text 6"/>
          <p:cNvSpPr txBox="1"/>
          <p:nvPr/>
        </p:nvSpPr>
        <p:spPr>
          <a:xfrm>
            <a:off x="5760720" y="1481328"/>
            <a:ext cx="2834640" cy="320040"/>
          </a:xfrm>
          <a:prstGeom prst="rect">
            <a:avLst/>
          </a:prstGeom>
          <a:noFill/>
          <a:ln/>
        </p:spPr>
        <p:txBody>
          <a:bodyPr wrap="square" lIns="0" tIns="0" rIns="0" bIns="0" rtlCol="0" anchor="t"/>
          <a:lstStyle/>
          <a:p>
            <a:pPr marL="0" indent="0">
              <a:buNone/>
            </a:pPr>
            <a:r>
              <a:rPr lang="en-US" sz="1600" b="1" dirty="0">
                <a:solidFill>
                  <a:schemeClr val="tx1"/>
                </a:solidFill>
              </a:rPr>
              <a:t>Plug in on demand</a:t>
            </a:r>
            <a:endParaRPr lang="en-US" sz="1600" dirty="0"/>
          </a:p>
        </p:txBody>
      </p:sp>
      <p:sp>
        <p:nvSpPr>
          <p:cNvPr id="11" name="Text 7"/>
          <p:cNvSpPr txBox="1"/>
          <p:nvPr/>
        </p:nvSpPr>
        <p:spPr>
          <a:xfrm>
            <a:off x="5760720" y="1828800"/>
            <a:ext cx="2834640" cy="502920"/>
          </a:xfrm>
          <a:prstGeom prst="rect">
            <a:avLst/>
          </a:prstGeom>
          <a:noFill/>
          <a:ln/>
        </p:spPr>
        <p:txBody>
          <a:bodyPr wrap="square" lIns="0" tIns="0" rIns="0" bIns="0" rtlCol="0" anchor="t"/>
          <a:lstStyle/>
          <a:p>
            <a:pPr marL="0" indent="0">
              <a:buNone/>
            </a:pPr>
            <a:r>
              <a:rPr lang="en-US" sz="1400" dirty="0">
                <a:solidFill>
                  <a:schemeClr val="tx1"/>
                </a:solidFill>
              </a:rPr>
              <a:t>A vast grid managed by experts: low cost and reliable.</a:t>
            </a:r>
            <a:endParaRPr lang="en-US" sz="1400" dirty="0"/>
          </a:p>
        </p:txBody>
      </p:sp>
      <p:sp>
        <p:nvSpPr>
          <p:cNvPr id="12" name="Card"/>
          <p:cNvSpPr/>
          <p:nvPr/>
        </p:nvSpPr>
        <p:spPr>
          <a:xfrm>
            <a:off x="4937760" y="2468880"/>
            <a:ext cx="3749040" cy="1005840"/>
          </a:xfrm>
          <a:prstGeom prst="roundRect">
            <a:avLst>
              <a:gd name="adj" fmla="val 10909"/>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13" name="FaWallet circle"/>
          <p:cNvSpPr/>
          <p:nvPr/>
        </p:nvSpPr>
        <p:spPr>
          <a:xfrm>
            <a:off x="5120640" y="2743200"/>
            <a:ext cx="457200" cy="457200"/>
          </a:xfrm>
          <a:prstGeom prst="ellipse">
            <a:avLst/>
          </a:prstGeom>
          <a:solidFill>
            <a:schemeClr val="accent2"/>
          </a:solidFill>
          <a:ln/>
        </p:spPr>
        <p:txBody>
          <a:bodyPr/>
          <a:lstStyle/>
          <a:p>
            <a:endParaRPr lang="en-RW"/>
          </a:p>
        </p:txBody>
      </p:sp>
      <p:pic>
        <p:nvPicPr>
          <p:cNvPr id="14" name="FaWallet icon" descr="preencoded.png"/>
          <p:cNvPicPr>
            <a:picLocks noChangeAspect="1"/>
          </p:cNvPicPr>
          <p:nvPr/>
        </p:nvPicPr>
        <p:blipFill>
          <a:blip r:embed="rId5"/>
          <a:stretch>
            <a:fillRect/>
          </a:stretch>
        </p:blipFill>
        <p:spPr>
          <a:xfrm>
            <a:off x="5234940" y="2857500"/>
            <a:ext cx="228600" cy="228600"/>
          </a:xfrm>
          <a:prstGeom prst="rect">
            <a:avLst/>
          </a:prstGeom>
        </p:spPr>
      </p:pic>
      <p:sp>
        <p:nvSpPr>
          <p:cNvPr id="15" name="Text 10"/>
          <p:cNvSpPr txBox="1"/>
          <p:nvPr/>
        </p:nvSpPr>
        <p:spPr>
          <a:xfrm>
            <a:off x="5760720" y="2578608"/>
            <a:ext cx="2834640" cy="320040"/>
          </a:xfrm>
          <a:prstGeom prst="rect">
            <a:avLst/>
          </a:prstGeom>
          <a:noFill/>
          <a:ln/>
        </p:spPr>
        <p:txBody>
          <a:bodyPr wrap="square" lIns="0" tIns="0" rIns="0" bIns="0" rtlCol="0" anchor="t"/>
          <a:lstStyle/>
          <a:p>
            <a:pPr marL="0" indent="0">
              <a:buNone/>
            </a:pPr>
            <a:r>
              <a:rPr lang="en-US" sz="1600" b="1" dirty="0">
                <a:solidFill>
                  <a:schemeClr val="tx1"/>
                </a:solidFill>
              </a:rPr>
              <a:t>Pay only for what you use</a:t>
            </a:r>
            <a:endParaRPr lang="en-US" sz="1600" dirty="0"/>
          </a:p>
        </p:txBody>
      </p:sp>
      <p:sp>
        <p:nvSpPr>
          <p:cNvPr id="16" name="Text 11"/>
          <p:cNvSpPr txBox="1"/>
          <p:nvPr/>
        </p:nvSpPr>
        <p:spPr>
          <a:xfrm>
            <a:off x="5760720" y="2926080"/>
            <a:ext cx="2834640" cy="502920"/>
          </a:xfrm>
          <a:prstGeom prst="rect">
            <a:avLst/>
          </a:prstGeom>
          <a:noFill/>
          <a:ln/>
        </p:spPr>
        <p:txBody>
          <a:bodyPr wrap="square" lIns="0" tIns="0" rIns="0" bIns="0" rtlCol="0" anchor="t"/>
          <a:lstStyle/>
          <a:p>
            <a:pPr marL="0" indent="0">
              <a:buNone/>
            </a:pPr>
            <a:r>
              <a:rPr lang="en-US" sz="1400" dirty="0">
                <a:solidFill>
                  <a:schemeClr val="tx1"/>
                </a:solidFill>
              </a:rPr>
              <a:t>Metered, just like electric or gas utilities.</a:t>
            </a:r>
            <a:endParaRPr lang="en-US" sz="1400" dirty="0"/>
          </a:p>
        </p:txBody>
      </p:sp>
      <p:sp>
        <p:nvSpPr>
          <p:cNvPr id="17" name="Card"/>
          <p:cNvSpPr/>
          <p:nvPr/>
        </p:nvSpPr>
        <p:spPr>
          <a:xfrm>
            <a:off x="4937760" y="3566160"/>
            <a:ext cx="3749040" cy="1005840"/>
          </a:xfrm>
          <a:prstGeom prst="roundRect">
            <a:avLst>
              <a:gd name="adj" fmla="val 10909"/>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18" name="FaSlidersH circle"/>
          <p:cNvSpPr/>
          <p:nvPr/>
        </p:nvSpPr>
        <p:spPr>
          <a:xfrm>
            <a:off x="5120640" y="3840480"/>
            <a:ext cx="457200" cy="457200"/>
          </a:xfrm>
          <a:prstGeom prst="ellipse">
            <a:avLst/>
          </a:prstGeom>
          <a:solidFill>
            <a:schemeClr val="accent5"/>
          </a:solidFill>
          <a:ln/>
        </p:spPr>
        <p:txBody>
          <a:bodyPr/>
          <a:lstStyle/>
          <a:p>
            <a:endParaRPr lang="en-RW"/>
          </a:p>
        </p:txBody>
      </p:sp>
      <p:pic>
        <p:nvPicPr>
          <p:cNvPr id="19" name="FaSlidersH icon" descr="preencoded.png"/>
          <p:cNvPicPr>
            <a:picLocks noChangeAspect="1"/>
          </p:cNvPicPr>
          <p:nvPr/>
        </p:nvPicPr>
        <p:blipFill>
          <a:blip r:embed="rId6"/>
          <a:stretch>
            <a:fillRect/>
          </a:stretch>
        </p:blipFill>
        <p:spPr>
          <a:xfrm>
            <a:off x="5234940" y="3954780"/>
            <a:ext cx="228600" cy="228600"/>
          </a:xfrm>
          <a:prstGeom prst="rect">
            <a:avLst/>
          </a:prstGeom>
        </p:spPr>
      </p:pic>
      <p:sp>
        <p:nvSpPr>
          <p:cNvPr id="20" name="Text 14"/>
          <p:cNvSpPr txBox="1"/>
          <p:nvPr/>
        </p:nvSpPr>
        <p:spPr>
          <a:xfrm>
            <a:off x="5760720" y="3675888"/>
            <a:ext cx="2834640" cy="320040"/>
          </a:xfrm>
          <a:prstGeom prst="rect">
            <a:avLst/>
          </a:prstGeom>
          <a:noFill/>
          <a:ln/>
        </p:spPr>
        <p:txBody>
          <a:bodyPr wrap="square" lIns="0" tIns="0" rIns="0" bIns="0" rtlCol="0" anchor="t"/>
          <a:lstStyle/>
          <a:p>
            <a:pPr marL="0" indent="0">
              <a:buNone/>
            </a:pPr>
            <a:r>
              <a:rPr lang="en-US" sz="1600" b="1" dirty="0">
                <a:solidFill>
                  <a:schemeClr val="tx1"/>
                </a:solidFill>
              </a:rPr>
              <a:t>Use as much or as little</a:t>
            </a:r>
            <a:endParaRPr lang="en-US" sz="1600" dirty="0"/>
          </a:p>
        </p:txBody>
      </p:sp>
      <p:sp>
        <p:nvSpPr>
          <p:cNvPr id="21" name="Text 15"/>
          <p:cNvSpPr txBox="1"/>
          <p:nvPr/>
        </p:nvSpPr>
        <p:spPr>
          <a:xfrm>
            <a:off x="5760720" y="4023360"/>
            <a:ext cx="2834640" cy="502920"/>
          </a:xfrm>
          <a:prstGeom prst="rect">
            <a:avLst/>
          </a:prstGeom>
          <a:noFill/>
          <a:ln/>
        </p:spPr>
        <p:txBody>
          <a:bodyPr wrap="square" lIns="0" tIns="0" rIns="0" bIns="0" rtlCol="0" anchor="t"/>
          <a:lstStyle/>
          <a:p>
            <a:pPr marL="0" indent="0">
              <a:buNone/>
            </a:pPr>
            <a:r>
              <a:rPr lang="en-US" sz="1400" dirty="0">
                <a:solidFill>
                  <a:schemeClr val="tx1"/>
                </a:solidFill>
              </a:rPr>
              <a:t>Consume as many or as few resources as you need.</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5A7E"/>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48640"/>
            <a:ext cx="8229600" cy="640080"/>
          </a:xfrm>
          <a:prstGeom prst="rect">
            <a:avLst/>
          </a:prstGeom>
          <a:noFill/>
          <a:ln/>
        </p:spPr>
        <p:txBody>
          <a:bodyPr wrap="square" lIns="0" tIns="0" rIns="0" bIns="0" rtlCol="0" anchor="ctr"/>
          <a:lstStyle/>
          <a:p>
            <a:pPr marL="0" indent="0" algn="l">
              <a:buNone/>
            </a:pPr>
            <a:r>
              <a:rPr lang="en-US" sz="3400" b="1" dirty="0">
                <a:solidFill>
                  <a:schemeClr val="bg1"/>
                </a:solidFill>
              </a:rPr>
              <a:t>The NIST Cloud Model</a:t>
            </a:r>
            <a:endParaRPr lang="en-US" sz="3400" dirty="0"/>
          </a:p>
        </p:txBody>
      </p:sp>
      <p:sp>
        <p:nvSpPr>
          <p:cNvPr id="3" name="Section chip"/>
          <p:cNvSpPr txBox="1"/>
          <p:nvPr/>
        </p:nvSpPr>
        <p:spPr>
          <a:xfrm>
            <a:off x="457200" y="274320"/>
            <a:ext cx="1309421" cy="246888"/>
          </a:xfrm>
          <a:prstGeom prst="roundRect">
            <a:avLst>
              <a:gd name="adj" fmla="val 48148"/>
            </a:avLst>
          </a:prstGeom>
          <a:solidFill>
            <a:schemeClr val="accent4"/>
          </a:solidFill>
          <a:ln/>
        </p:spPr>
        <p:txBody>
          <a:bodyPr wrap="square" lIns="0" tIns="0" rIns="0" bIns="0" rtlCol="0" anchor="ctr"/>
          <a:lstStyle/>
          <a:p>
            <a:pPr marL="0" indent="0" algn="ctr">
              <a:buNone/>
            </a:pPr>
            <a:r>
              <a:rPr lang="en-US" sz="1000" b="1" kern="0" spc="150" dirty="0">
                <a:solidFill>
                  <a:schemeClr val="tx1"/>
                </a:solidFill>
              </a:rPr>
              <a:t>CLOUD BASICS</a:t>
            </a:r>
            <a:endParaRPr lang="en-US" sz="1000" dirty="0"/>
          </a:p>
        </p:txBody>
      </p:sp>
      <p:sp>
        <p:nvSpPr>
          <p:cNvPr id="4" name="Text 2"/>
          <p:cNvSpPr txBox="1"/>
          <p:nvPr/>
        </p:nvSpPr>
        <p:spPr>
          <a:xfrm>
            <a:off x="457200" y="1371600"/>
            <a:ext cx="7863840" cy="1005840"/>
          </a:xfrm>
          <a:prstGeom prst="rect">
            <a:avLst/>
          </a:prstGeom>
          <a:noFill/>
          <a:ln/>
        </p:spPr>
        <p:txBody>
          <a:bodyPr wrap="square" lIns="0" tIns="0" rIns="0" bIns="0" rtlCol="0" anchor="t"/>
          <a:lstStyle/>
          <a:p>
            <a:pPr marL="0" indent="0">
              <a:buNone/>
            </a:pPr>
            <a:r>
              <a:rPr lang="en-US" sz="1600" dirty="0">
                <a:solidFill>
                  <a:schemeClr val="bg1"/>
                </a:solidFill>
              </a:rPr>
              <a:t>The US National Institute of Standards and Technology (NIST) </a:t>
            </a:r>
            <a:r>
              <a:rPr lang="en-US" sz="1600" b="1" i="1" dirty="0">
                <a:solidFill>
                  <a:schemeClr val="bg1"/>
                </a:solidFill>
              </a:rPr>
              <a:t>Special Publication 800-145</a:t>
            </a:r>
            <a:r>
              <a:rPr lang="en-US" sz="1600" dirty="0">
                <a:solidFill>
                  <a:schemeClr val="bg1"/>
                </a:solidFill>
              </a:rPr>
              <a:t> is a widely accepted standard, and the premise of our next discussion. It includes the definition of Cloud Computing and describes:</a:t>
            </a:r>
            <a:endParaRPr lang="en-US" sz="1600" dirty="0"/>
          </a:p>
        </p:txBody>
      </p:sp>
      <p:sp>
        <p:nvSpPr>
          <p:cNvPr id="5" name="Stat card"/>
          <p:cNvSpPr/>
          <p:nvPr/>
        </p:nvSpPr>
        <p:spPr>
          <a:xfrm>
            <a:off x="457200" y="2651760"/>
            <a:ext cx="2560320" cy="1920240"/>
          </a:xfrm>
          <a:prstGeom prst="roundRect">
            <a:avLst>
              <a:gd name="adj" fmla="val 5714"/>
            </a:avLst>
          </a:prstGeom>
          <a:solidFill>
            <a:schemeClr val="bg1">
              <a:alpha val="10000"/>
            </a:schemeClr>
          </a:solidFill>
          <a:ln/>
        </p:spPr>
        <p:txBody>
          <a:bodyPr/>
          <a:lstStyle/>
          <a:p>
            <a:endParaRPr lang="en-RW"/>
          </a:p>
        </p:txBody>
      </p:sp>
      <p:sp>
        <p:nvSpPr>
          <p:cNvPr id="6" name="Text 4"/>
          <p:cNvSpPr txBox="1"/>
          <p:nvPr/>
        </p:nvSpPr>
        <p:spPr>
          <a:xfrm>
            <a:off x="731520" y="2743200"/>
            <a:ext cx="2011680" cy="1005840"/>
          </a:xfrm>
          <a:prstGeom prst="rect">
            <a:avLst/>
          </a:prstGeom>
          <a:noFill/>
          <a:ln/>
        </p:spPr>
        <p:txBody>
          <a:bodyPr wrap="square" lIns="0" tIns="0" rIns="0" bIns="0" rtlCol="0" anchor="ctr"/>
          <a:lstStyle/>
          <a:p>
            <a:pPr marL="0" indent="0">
              <a:buNone/>
            </a:pPr>
            <a:r>
              <a:rPr lang="en-US" sz="6600" b="1" dirty="0">
                <a:solidFill>
                  <a:schemeClr val="accent2"/>
                </a:solidFill>
              </a:rPr>
              <a:t>5</a:t>
            </a:r>
            <a:endParaRPr lang="en-US" sz="6600" dirty="0"/>
          </a:p>
        </p:txBody>
      </p:sp>
      <p:sp>
        <p:nvSpPr>
          <p:cNvPr id="7" name="Text 5"/>
          <p:cNvSpPr txBox="1"/>
          <p:nvPr/>
        </p:nvSpPr>
        <p:spPr>
          <a:xfrm>
            <a:off x="731520" y="3794760"/>
            <a:ext cx="2103120" cy="640080"/>
          </a:xfrm>
          <a:prstGeom prst="rect">
            <a:avLst/>
          </a:prstGeom>
          <a:noFill/>
          <a:ln/>
        </p:spPr>
        <p:txBody>
          <a:bodyPr wrap="square" lIns="0" tIns="0" rIns="0" bIns="0" rtlCol="0" anchor="t"/>
          <a:lstStyle/>
          <a:p>
            <a:pPr marL="0" indent="0">
              <a:buNone/>
            </a:pPr>
            <a:r>
              <a:rPr lang="en-US" sz="1700" b="1" dirty="0">
                <a:solidFill>
                  <a:schemeClr val="bg1"/>
                </a:solidFill>
              </a:rPr>
              <a:t>Essential characteristics</a:t>
            </a:r>
            <a:endParaRPr lang="en-US" sz="1700" dirty="0"/>
          </a:p>
        </p:txBody>
      </p:sp>
      <p:sp>
        <p:nvSpPr>
          <p:cNvPr id="8" name="Stat card"/>
          <p:cNvSpPr/>
          <p:nvPr/>
        </p:nvSpPr>
        <p:spPr>
          <a:xfrm>
            <a:off x="3291840" y="2651760"/>
            <a:ext cx="2560320" cy="1920240"/>
          </a:xfrm>
          <a:prstGeom prst="roundRect">
            <a:avLst>
              <a:gd name="adj" fmla="val 5714"/>
            </a:avLst>
          </a:prstGeom>
          <a:solidFill>
            <a:schemeClr val="bg1">
              <a:alpha val="10000"/>
            </a:schemeClr>
          </a:solidFill>
          <a:ln/>
        </p:spPr>
        <p:txBody>
          <a:bodyPr/>
          <a:lstStyle/>
          <a:p>
            <a:endParaRPr lang="en-RW"/>
          </a:p>
        </p:txBody>
      </p:sp>
      <p:sp>
        <p:nvSpPr>
          <p:cNvPr id="9" name="Text 7"/>
          <p:cNvSpPr txBox="1"/>
          <p:nvPr/>
        </p:nvSpPr>
        <p:spPr>
          <a:xfrm>
            <a:off x="3566160" y="2743200"/>
            <a:ext cx="2011680" cy="1005840"/>
          </a:xfrm>
          <a:prstGeom prst="rect">
            <a:avLst/>
          </a:prstGeom>
          <a:noFill/>
          <a:ln/>
        </p:spPr>
        <p:txBody>
          <a:bodyPr wrap="square" lIns="0" tIns="0" rIns="0" bIns="0" rtlCol="0" anchor="ctr"/>
          <a:lstStyle/>
          <a:p>
            <a:pPr marL="0" indent="0">
              <a:buNone/>
            </a:pPr>
            <a:r>
              <a:rPr lang="en-US" sz="6600" b="1" dirty="0">
                <a:solidFill>
                  <a:schemeClr val="accent3"/>
                </a:solidFill>
              </a:rPr>
              <a:t>4</a:t>
            </a:r>
            <a:endParaRPr lang="en-US" sz="6600" dirty="0"/>
          </a:p>
        </p:txBody>
      </p:sp>
      <p:sp>
        <p:nvSpPr>
          <p:cNvPr id="10" name="Text 8"/>
          <p:cNvSpPr txBox="1"/>
          <p:nvPr/>
        </p:nvSpPr>
        <p:spPr>
          <a:xfrm>
            <a:off x="3566160" y="3794760"/>
            <a:ext cx="2103120" cy="640080"/>
          </a:xfrm>
          <a:prstGeom prst="rect">
            <a:avLst/>
          </a:prstGeom>
          <a:noFill/>
          <a:ln/>
        </p:spPr>
        <p:txBody>
          <a:bodyPr wrap="square" lIns="0" tIns="0" rIns="0" bIns="0" rtlCol="0" anchor="t"/>
          <a:lstStyle/>
          <a:p>
            <a:pPr marL="0" indent="0">
              <a:buNone/>
            </a:pPr>
            <a:r>
              <a:rPr lang="en-US" sz="1700" b="1" dirty="0">
                <a:solidFill>
                  <a:schemeClr val="bg1"/>
                </a:solidFill>
              </a:rPr>
              <a:t>Deployment models</a:t>
            </a:r>
            <a:endParaRPr lang="en-US" sz="1700" dirty="0"/>
          </a:p>
        </p:txBody>
      </p:sp>
      <p:sp>
        <p:nvSpPr>
          <p:cNvPr id="11" name="Stat card"/>
          <p:cNvSpPr/>
          <p:nvPr/>
        </p:nvSpPr>
        <p:spPr>
          <a:xfrm>
            <a:off x="6126480" y="2651760"/>
            <a:ext cx="2560320" cy="1920240"/>
          </a:xfrm>
          <a:prstGeom prst="roundRect">
            <a:avLst>
              <a:gd name="adj" fmla="val 5714"/>
            </a:avLst>
          </a:prstGeom>
          <a:solidFill>
            <a:schemeClr val="bg1">
              <a:alpha val="10000"/>
            </a:schemeClr>
          </a:solidFill>
          <a:ln/>
        </p:spPr>
        <p:txBody>
          <a:bodyPr/>
          <a:lstStyle/>
          <a:p>
            <a:endParaRPr lang="en-RW"/>
          </a:p>
        </p:txBody>
      </p:sp>
      <p:sp>
        <p:nvSpPr>
          <p:cNvPr id="12" name="Text 10"/>
          <p:cNvSpPr txBox="1"/>
          <p:nvPr/>
        </p:nvSpPr>
        <p:spPr>
          <a:xfrm>
            <a:off x="6400800" y="2743200"/>
            <a:ext cx="2011680" cy="1005840"/>
          </a:xfrm>
          <a:prstGeom prst="rect">
            <a:avLst/>
          </a:prstGeom>
          <a:noFill/>
          <a:ln/>
        </p:spPr>
        <p:txBody>
          <a:bodyPr wrap="square" lIns="0" tIns="0" rIns="0" bIns="0" rtlCol="0" anchor="ctr"/>
          <a:lstStyle/>
          <a:p>
            <a:pPr marL="0" indent="0">
              <a:buNone/>
            </a:pPr>
            <a:r>
              <a:rPr lang="en-US" sz="6600" b="1" dirty="0">
                <a:solidFill>
                  <a:schemeClr val="accent4"/>
                </a:solidFill>
              </a:rPr>
              <a:t>3</a:t>
            </a:r>
            <a:endParaRPr lang="en-US" sz="6600" dirty="0"/>
          </a:p>
        </p:txBody>
      </p:sp>
      <p:sp>
        <p:nvSpPr>
          <p:cNvPr id="13" name="Text 11"/>
          <p:cNvSpPr txBox="1"/>
          <p:nvPr/>
        </p:nvSpPr>
        <p:spPr>
          <a:xfrm>
            <a:off x="6400800" y="3794760"/>
            <a:ext cx="2103120" cy="640080"/>
          </a:xfrm>
          <a:prstGeom prst="rect">
            <a:avLst/>
          </a:prstGeom>
          <a:noFill/>
          <a:ln/>
        </p:spPr>
        <p:txBody>
          <a:bodyPr wrap="square" lIns="0" tIns="0" rIns="0" bIns="0" rtlCol="0" anchor="t"/>
          <a:lstStyle/>
          <a:p>
            <a:pPr marL="0" indent="0">
              <a:buNone/>
            </a:pPr>
            <a:r>
              <a:rPr lang="en-US" sz="1700" b="1" dirty="0">
                <a:solidFill>
                  <a:schemeClr val="bg1"/>
                </a:solidFill>
              </a:rPr>
              <a:t>Service models</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48640"/>
            <a:ext cx="8229600" cy="640080"/>
          </a:xfrm>
          <a:prstGeom prst="rect">
            <a:avLst/>
          </a:prstGeom>
          <a:noFill/>
          <a:ln/>
        </p:spPr>
        <p:txBody>
          <a:bodyPr wrap="square" lIns="0" tIns="0" rIns="0" bIns="0" rtlCol="0" anchor="ctr"/>
          <a:lstStyle/>
          <a:p>
            <a:pPr marL="0" indent="0" algn="l">
              <a:buNone/>
            </a:pPr>
            <a:r>
              <a:rPr lang="en-US" sz="3400" b="1" dirty="0">
                <a:solidFill>
                  <a:schemeClr val="tx1"/>
                </a:solidFill>
              </a:rPr>
              <a:t>NIST Definition of Cloud Computing</a:t>
            </a:r>
            <a:endParaRPr lang="en-US" sz="3400" dirty="0"/>
          </a:p>
        </p:txBody>
      </p:sp>
      <p:sp>
        <p:nvSpPr>
          <p:cNvPr id="3" name="Section chip"/>
          <p:cNvSpPr txBox="1"/>
          <p:nvPr/>
        </p:nvSpPr>
        <p:spPr>
          <a:xfrm>
            <a:off x="457200" y="274320"/>
            <a:ext cx="1309421" cy="246888"/>
          </a:xfrm>
          <a:prstGeom prst="roundRect">
            <a:avLst>
              <a:gd name="adj" fmla="val 48148"/>
            </a:avLst>
          </a:prstGeom>
          <a:solidFill>
            <a:schemeClr val="accent5"/>
          </a:solidFill>
          <a:ln/>
        </p:spPr>
        <p:txBody>
          <a:bodyPr wrap="square" lIns="0" tIns="0" rIns="0" bIns="0" rtlCol="0" anchor="ctr"/>
          <a:lstStyle/>
          <a:p>
            <a:pPr marL="0" indent="0" algn="ctr">
              <a:buNone/>
            </a:pPr>
            <a:r>
              <a:rPr lang="en-US" sz="1000" b="1" kern="0" spc="150" dirty="0">
                <a:solidFill>
                  <a:schemeClr val="tx1"/>
                </a:solidFill>
              </a:rPr>
              <a:t>CLOUD BASICS</a:t>
            </a:r>
            <a:endParaRPr lang="en-US" sz="1000" dirty="0"/>
          </a:p>
        </p:txBody>
      </p:sp>
      <p:sp>
        <p:nvSpPr>
          <p:cNvPr id="4" name="Card"/>
          <p:cNvSpPr/>
          <p:nvPr/>
        </p:nvSpPr>
        <p:spPr>
          <a:xfrm>
            <a:off x="457200" y="1371600"/>
            <a:ext cx="5212080" cy="3291840"/>
          </a:xfrm>
          <a:prstGeom prst="roundRect">
            <a:avLst>
              <a:gd name="adj" fmla="val 3333"/>
            </a:avLst>
          </a:prstGeom>
          <a:solidFill>
            <a:schemeClr val="bg1"/>
          </a:solidFill>
          <a:ln/>
          <a:effectLst>
            <a:outerShdw blurRad="127000" dist="38100" dir="5400000" algn="bl" rotWithShape="0">
              <a:srgbClr val="1E1B4B">
                <a:alpha val="10000"/>
              </a:srgbClr>
            </a:outerShdw>
          </a:effectLst>
        </p:spPr>
        <p:txBody>
          <a:bodyPr/>
          <a:lstStyle/>
          <a:p>
            <a:endParaRPr lang="en-RW"/>
          </a:p>
        </p:txBody>
      </p:sp>
      <p:pic>
        <p:nvPicPr>
          <p:cNvPr id="5" name="Quote icon" descr="preencoded.png"/>
          <p:cNvPicPr>
            <a:picLocks noChangeAspect="1"/>
          </p:cNvPicPr>
          <p:nvPr/>
        </p:nvPicPr>
        <p:blipFill>
          <a:blip r:embed="rId3"/>
          <a:stretch>
            <a:fillRect/>
          </a:stretch>
        </p:blipFill>
        <p:spPr>
          <a:xfrm>
            <a:off x="731520" y="1600200"/>
            <a:ext cx="365760" cy="365760"/>
          </a:xfrm>
          <a:prstGeom prst="rect">
            <a:avLst/>
          </a:prstGeom>
        </p:spPr>
      </p:pic>
      <p:sp>
        <p:nvSpPr>
          <p:cNvPr id="6" name="Text 3"/>
          <p:cNvSpPr txBox="1"/>
          <p:nvPr/>
        </p:nvSpPr>
        <p:spPr>
          <a:xfrm>
            <a:off x="731520" y="2103120"/>
            <a:ext cx="4663440" cy="2103120"/>
          </a:xfrm>
          <a:prstGeom prst="rect">
            <a:avLst/>
          </a:prstGeom>
          <a:noFill/>
          <a:ln/>
        </p:spPr>
        <p:txBody>
          <a:bodyPr wrap="square" lIns="0" tIns="0" rIns="0" bIns="0" rtlCol="0" anchor="t"/>
          <a:lstStyle/>
          <a:p>
            <a:pPr marL="0" indent="0">
              <a:buNone/>
            </a:pPr>
            <a:r>
              <a:rPr lang="en-US" sz="1700" i="1" dirty="0">
                <a:solidFill>
                  <a:schemeClr val="tx1"/>
                </a:solidFill>
              </a:rPr>
              <a:t>Cloud computing is a model for enabling </a:t>
            </a:r>
            <a:r>
              <a:rPr lang="en-US" sz="1700" b="1" i="1" dirty="0">
                <a:solidFill>
                  <a:schemeClr val="tx1"/>
                </a:solidFill>
              </a:rPr>
              <a:t>ubiquitous, convenient, on-demand network access</a:t>
            </a:r>
            <a:r>
              <a:rPr lang="en-US" sz="1700" i="1" dirty="0">
                <a:solidFill>
                  <a:schemeClr val="tx1"/>
                </a:solidFill>
              </a:rPr>
              <a:t> to a </a:t>
            </a:r>
            <a:r>
              <a:rPr lang="en-US" sz="1700" b="1" i="1" dirty="0">
                <a:solidFill>
                  <a:schemeClr val="tx1"/>
                </a:solidFill>
              </a:rPr>
              <a:t>shared pool of configurable computing resources</a:t>
            </a:r>
            <a:r>
              <a:rPr lang="en-US" sz="1700" i="1" dirty="0">
                <a:solidFill>
                  <a:schemeClr val="tx1"/>
                </a:solidFill>
              </a:rPr>
              <a:t> (e.g., networks, servers, storage, applications and services) that can be </a:t>
            </a:r>
            <a:r>
              <a:rPr lang="en-US" sz="1700" b="1" i="1" dirty="0">
                <a:solidFill>
                  <a:schemeClr val="tx1"/>
                </a:solidFill>
              </a:rPr>
              <a:t>rapidly provisioned and released</a:t>
            </a:r>
            <a:r>
              <a:rPr lang="en-US" sz="1700" i="1" dirty="0">
                <a:solidFill>
                  <a:schemeClr val="tx1"/>
                </a:solidFill>
              </a:rPr>
              <a:t> with </a:t>
            </a:r>
            <a:r>
              <a:rPr lang="en-US" sz="1700" b="1" i="1" dirty="0">
                <a:solidFill>
                  <a:schemeClr val="tx1"/>
                </a:solidFill>
              </a:rPr>
              <a:t>minimal management effort</a:t>
            </a:r>
            <a:r>
              <a:rPr lang="en-US" sz="1700" i="1" dirty="0">
                <a:solidFill>
                  <a:schemeClr val="tx1"/>
                </a:solidFill>
              </a:rPr>
              <a:t> or service provider interaction.</a:t>
            </a:r>
            <a:endParaRPr lang="en-US" sz="1700" dirty="0"/>
          </a:p>
        </p:txBody>
      </p:sp>
      <p:sp>
        <p:nvSpPr>
          <p:cNvPr id="7" name="Text 4"/>
          <p:cNvSpPr txBox="1"/>
          <p:nvPr/>
        </p:nvSpPr>
        <p:spPr>
          <a:xfrm>
            <a:off x="731520" y="4251960"/>
            <a:ext cx="4663440" cy="274320"/>
          </a:xfrm>
          <a:prstGeom prst="rect">
            <a:avLst/>
          </a:prstGeom>
          <a:noFill/>
          <a:ln/>
        </p:spPr>
        <p:txBody>
          <a:bodyPr wrap="square" lIns="0" tIns="0" rIns="0" bIns="0" rtlCol="0" anchor="t"/>
          <a:lstStyle/>
          <a:p>
            <a:pPr marL="0" indent="0" algn="r">
              <a:buNone/>
            </a:pPr>
            <a:r>
              <a:rPr lang="en-US" sz="1400" b="1" dirty="0">
                <a:solidFill>
                  <a:schemeClr val="tx2"/>
                </a:solidFill>
              </a:rPr>
              <a:t>NIST</a:t>
            </a:r>
            <a:endParaRPr lang="en-US" sz="1400" dirty="0"/>
          </a:p>
        </p:txBody>
      </p:sp>
      <p:sp>
        <p:nvSpPr>
          <p:cNvPr id="8" name="Card"/>
          <p:cNvSpPr/>
          <p:nvPr/>
        </p:nvSpPr>
        <p:spPr>
          <a:xfrm>
            <a:off x="5897880" y="1371600"/>
            <a:ext cx="2788920" cy="3291840"/>
          </a:xfrm>
          <a:prstGeom prst="roundRect">
            <a:avLst>
              <a:gd name="adj" fmla="val 3934"/>
            </a:avLst>
          </a:prstGeom>
          <a:solidFill>
            <a:schemeClr val="accent4"/>
          </a:solidFill>
          <a:ln/>
          <a:effectLst>
            <a:outerShdw blurRad="127000" dist="38100" dir="5400000" algn="bl" rotWithShape="0">
              <a:srgbClr val="1E1B4B">
                <a:alpha val="10000"/>
              </a:srgbClr>
            </a:outerShdw>
          </a:effectLst>
        </p:spPr>
        <p:txBody>
          <a:bodyPr/>
          <a:lstStyle/>
          <a:p>
            <a:endParaRPr lang="en-RW"/>
          </a:p>
        </p:txBody>
      </p:sp>
      <p:pic>
        <p:nvPicPr>
          <p:cNvPr id="9" name="Lightbulb icon" descr="preencoded.png"/>
          <p:cNvPicPr>
            <a:picLocks noChangeAspect="1"/>
          </p:cNvPicPr>
          <p:nvPr/>
        </p:nvPicPr>
        <p:blipFill>
          <a:blip r:embed="rId4"/>
          <a:stretch>
            <a:fillRect/>
          </a:stretch>
        </p:blipFill>
        <p:spPr>
          <a:xfrm>
            <a:off x="6172200" y="1600200"/>
            <a:ext cx="457200" cy="457200"/>
          </a:xfrm>
          <a:prstGeom prst="rect">
            <a:avLst/>
          </a:prstGeom>
        </p:spPr>
      </p:pic>
      <p:sp>
        <p:nvSpPr>
          <p:cNvPr id="10" name="Text 6"/>
          <p:cNvSpPr txBox="1"/>
          <p:nvPr/>
        </p:nvSpPr>
        <p:spPr>
          <a:xfrm>
            <a:off x="6172200" y="2194560"/>
            <a:ext cx="2286000" cy="594360"/>
          </a:xfrm>
          <a:prstGeom prst="rect">
            <a:avLst/>
          </a:prstGeom>
          <a:noFill/>
          <a:ln/>
        </p:spPr>
        <p:txBody>
          <a:bodyPr wrap="square" lIns="0" tIns="0" rIns="0" bIns="0" rtlCol="0" anchor="t"/>
          <a:lstStyle/>
          <a:p>
            <a:pPr marL="0" indent="0">
              <a:buNone/>
            </a:pPr>
            <a:r>
              <a:rPr lang="en-US" sz="1800" b="1" dirty="0">
                <a:solidFill>
                  <a:schemeClr val="tx1"/>
                </a:solidFill>
              </a:rPr>
              <a:t>Common misconception</a:t>
            </a:r>
            <a:endParaRPr lang="en-US" sz="1800" dirty="0"/>
          </a:p>
        </p:txBody>
      </p:sp>
      <p:sp>
        <p:nvSpPr>
          <p:cNvPr id="11" name="Text 7"/>
          <p:cNvSpPr txBox="1"/>
          <p:nvPr/>
        </p:nvSpPr>
        <p:spPr>
          <a:xfrm>
            <a:off x="6172200" y="2834640"/>
            <a:ext cx="2286000" cy="1737360"/>
          </a:xfrm>
          <a:prstGeom prst="rect">
            <a:avLst/>
          </a:prstGeom>
          <a:noFill/>
          <a:ln/>
        </p:spPr>
        <p:txBody>
          <a:bodyPr wrap="square" lIns="0" tIns="0" rIns="0" bIns="0" rtlCol="0" anchor="t"/>
          <a:lstStyle/>
          <a:p>
            <a:pPr marL="0" indent="0">
              <a:buNone/>
            </a:pPr>
            <a:r>
              <a:rPr lang="en-US" sz="1400" dirty="0">
                <a:solidFill>
                  <a:schemeClr val="tx1"/>
                </a:solidFill>
              </a:rPr>
              <a:t>Cloud computing is not a technology. It is a business or service model that relies on enabling technologies such as virtualization and storage.</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5A7E"/>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48640"/>
            <a:ext cx="8229600" cy="640080"/>
          </a:xfrm>
          <a:prstGeom prst="rect">
            <a:avLst/>
          </a:prstGeom>
          <a:noFill/>
          <a:ln/>
        </p:spPr>
        <p:txBody>
          <a:bodyPr wrap="square" lIns="0" tIns="0" rIns="0" bIns="0" rtlCol="0" anchor="ctr"/>
          <a:lstStyle/>
          <a:p>
            <a:pPr marL="0" indent="0" algn="l">
              <a:buNone/>
            </a:pPr>
            <a:r>
              <a:rPr lang="en-US" sz="3400" b="1" dirty="0">
                <a:solidFill>
                  <a:schemeClr val="tx1"/>
                </a:solidFill>
              </a:rPr>
              <a:t>Essential Characteristics</a:t>
            </a:r>
            <a:endParaRPr lang="en-US" sz="3400" dirty="0"/>
          </a:p>
        </p:txBody>
      </p:sp>
      <p:sp>
        <p:nvSpPr>
          <p:cNvPr id="3" name="Section chip"/>
          <p:cNvSpPr txBox="1"/>
          <p:nvPr/>
        </p:nvSpPr>
        <p:spPr>
          <a:xfrm>
            <a:off x="457200" y="274320"/>
            <a:ext cx="1545336" cy="246888"/>
          </a:xfrm>
          <a:prstGeom prst="roundRect">
            <a:avLst>
              <a:gd name="adj" fmla="val 48148"/>
            </a:avLst>
          </a:prstGeom>
          <a:solidFill>
            <a:schemeClr val="accent2"/>
          </a:solidFill>
          <a:ln/>
        </p:spPr>
        <p:txBody>
          <a:bodyPr wrap="square" lIns="0" tIns="0" rIns="0" bIns="0" rtlCol="0" anchor="ctr"/>
          <a:lstStyle/>
          <a:p>
            <a:pPr marL="0" indent="0" algn="ctr">
              <a:buNone/>
            </a:pPr>
            <a:r>
              <a:rPr lang="en-US" sz="1000" b="1" kern="0" spc="150" dirty="0">
                <a:solidFill>
                  <a:schemeClr val="tx1"/>
                </a:solidFill>
              </a:rPr>
              <a:t>NIST · 1–3 OF 5</a:t>
            </a:r>
            <a:endParaRPr lang="en-US" sz="1000" dirty="0"/>
          </a:p>
        </p:txBody>
      </p:sp>
      <p:sp>
        <p:nvSpPr>
          <p:cNvPr id="4" name="Card"/>
          <p:cNvSpPr/>
          <p:nvPr/>
        </p:nvSpPr>
        <p:spPr>
          <a:xfrm>
            <a:off x="457200" y="1371600"/>
            <a:ext cx="2560320" cy="3291840"/>
          </a:xfrm>
          <a:prstGeom prst="roundRect">
            <a:avLst>
              <a:gd name="adj" fmla="val 4286"/>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5" name="FaPowerOff circle"/>
          <p:cNvSpPr/>
          <p:nvPr/>
        </p:nvSpPr>
        <p:spPr>
          <a:xfrm>
            <a:off x="685800" y="1600200"/>
            <a:ext cx="640080" cy="640080"/>
          </a:xfrm>
          <a:prstGeom prst="ellipse">
            <a:avLst/>
          </a:prstGeom>
          <a:solidFill>
            <a:schemeClr val="accent1"/>
          </a:solidFill>
          <a:ln/>
        </p:spPr>
        <p:txBody>
          <a:bodyPr/>
          <a:lstStyle/>
          <a:p>
            <a:endParaRPr lang="en-RW"/>
          </a:p>
        </p:txBody>
      </p:sp>
      <p:pic>
        <p:nvPicPr>
          <p:cNvPr id="6" name="FaPowerOff icon" descr="preencoded.png"/>
          <p:cNvPicPr>
            <a:picLocks noChangeAspect="1"/>
          </p:cNvPicPr>
          <p:nvPr/>
        </p:nvPicPr>
        <p:blipFill>
          <a:blip r:embed="rId3"/>
          <a:stretch>
            <a:fillRect/>
          </a:stretch>
        </p:blipFill>
        <p:spPr>
          <a:xfrm>
            <a:off x="845820" y="1760220"/>
            <a:ext cx="320040" cy="320040"/>
          </a:xfrm>
          <a:prstGeom prst="rect">
            <a:avLst/>
          </a:prstGeom>
        </p:spPr>
      </p:pic>
      <p:sp>
        <p:nvSpPr>
          <p:cNvPr id="7" name="Text 4"/>
          <p:cNvSpPr txBox="1"/>
          <p:nvPr/>
        </p:nvSpPr>
        <p:spPr>
          <a:xfrm>
            <a:off x="2331720" y="1554480"/>
            <a:ext cx="457200" cy="548640"/>
          </a:xfrm>
          <a:prstGeom prst="rect">
            <a:avLst/>
          </a:prstGeom>
          <a:noFill/>
          <a:ln/>
        </p:spPr>
        <p:txBody>
          <a:bodyPr wrap="square" lIns="0" tIns="0" rIns="0" bIns="0" rtlCol="0" anchor="t"/>
          <a:lstStyle/>
          <a:p>
            <a:pPr marL="0" indent="0" algn="r">
              <a:buNone/>
            </a:pPr>
            <a:r>
              <a:rPr lang="en-US" sz="3200" b="1" dirty="0">
                <a:solidFill>
                  <a:schemeClr val="tx2"/>
                </a:solidFill>
              </a:rPr>
              <a:t>1</a:t>
            </a:r>
            <a:endParaRPr lang="en-US" sz="3200" dirty="0"/>
          </a:p>
        </p:txBody>
      </p:sp>
      <p:sp>
        <p:nvSpPr>
          <p:cNvPr id="8" name="Text 5"/>
          <p:cNvSpPr txBox="1"/>
          <p:nvPr/>
        </p:nvSpPr>
        <p:spPr>
          <a:xfrm>
            <a:off x="685800" y="2468880"/>
            <a:ext cx="2103120" cy="640080"/>
          </a:xfrm>
          <a:prstGeom prst="rect">
            <a:avLst/>
          </a:prstGeom>
          <a:noFill/>
          <a:ln/>
        </p:spPr>
        <p:txBody>
          <a:bodyPr wrap="square" lIns="0" tIns="0" rIns="0" bIns="0" rtlCol="0" anchor="t"/>
          <a:lstStyle/>
          <a:p>
            <a:pPr marL="0" indent="0">
              <a:buNone/>
            </a:pPr>
            <a:r>
              <a:rPr lang="en-US" sz="1900" b="1" dirty="0">
                <a:solidFill>
                  <a:schemeClr val="tx1"/>
                </a:solidFill>
              </a:rPr>
              <a:t>On-demand Self Service</a:t>
            </a:r>
            <a:endParaRPr lang="en-US" sz="1900" dirty="0"/>
          </a:p>
        </p:txBody>
      </p:sp>
      <p:sp>
        <p:nvSpPr>
          <p:cNvPr id="9" name="Text 6"/>
          <p:cNvSpPr txBox="1"/>
          <p:nvPr/>
        </p:nvSpPr>
        <p:spPr>
          <a:xfrm>
            <a:off x="685800" y="3154680"/>
            <a:ext cx="2103120" cy="1371600"/>
          </a:xfrm>
          <a:prstGeom prst="rect">
            <a:avLst/>
          </a:prstGeom>
          <a:noFill/>
          <a:ln/>
        </p:spPr>
        <p:txBody>
          <a:bodyPr wrap="square" lIns="0" tIns="0" rIns="0" bIns="0" rtlCol="0" anchor="t"/>
          <a:lstStyle/>
          <a:p>
            <a:pPr marL="0" indent="0">
              <a:buNone/>
            </a:pPr>
            <a:r>
              <a:rPr lang="en-US" sz="1400" dirty="0">
                <a:solidFill>
                  <a:schemeClr val="tx1"/>
                </a:solidFill>
              </a:rPr>
              <a:t>A user can provision resources as needed, automatically, without any human interaction with the service provider.</a:t>
            </a:r>
            <a:endParaRPr lang="en-US" sz="1400" dirty="0"/>
          </a:p>
        </p:txBody>
      </p:sp>
      <p:sp>
        <p:nvSpPr>
          <p:cNvPr id="10" name="Card"/>
          <p:cNvSpPr/>
          <p:nvPr/>
        </p:nvSpPr>
        <p:spPr>
          <a:xfrm>
            <a:off x="3291840" y="1371600"/>
            <a:ext cx="2560320" cy="3291840"/>
          </a:xfrm>
          <a:prstGeom prst="roundRect">
            <a:avLst>
              <a:gd name="adj" fmla="val 4286"/>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11" name="FaMobileAlt circle"/>
          <p:cNvSpPr/>
          <p:nvPr/>
        </p:nvSpPr>
        <p:spPr>
          <a:xfrm>
            <a:off x="3520440" y="1600200"/>
            <a:ext cx="640080" cy="640080"/>
          </a:xfrm>
          <a:prstGeom prst="ellipse">
            <a:avLst/>
          </a:prstGeom>
          <a:solidFill>
            <a:schemeClr val="accent5"/>
          </a:solidFill>
          <a:ln/>
        </p:spPr>
        <p:txBody>
          <a:bodyPr/>
          <a:lstStyle/>
          <a:p>
            <a:endParaRPr lang="en-RW"/>
          </a:p>
        </p:txBody>
      </p:sp>
      <p:pic>
        <p:nvPicPr>
          <p:cNvPr id="12" name="FaMobileAlt icon" descr="preencoded.png"/>
          <p:cNvPicPr>
            <a:picLocks noChangeAspect="1"/>
          </p:cNvPicPr>
          <p:nvPr/>
        </p:nvPicPr>
        <p:blipFill>
          <a:blip r:embed="rId4"/>
          <a:stretch>
            <a:fillRect/>
          </a:stretch>
        </p:blipFill>
        <p:spPr>
          <a:xfrm>
            <a:off x="3680460" y="1760220"/>
            <a:ext cx="320040" cy="320040"/>
          </a:xfrm>
          <a:prstGeom prst="rect">
            <a:avLst/>
          </a:prstGeom>
        </p:spPr>
      </p:pic>
      <p:sp>
        <p:nvSpPr>
          <p:cNvPr id="13" name="Text 9"/>
          <p:cNvSpPr txBox="1"/>
          <p:nvPr/>
        </p:nvSpPr>
        <p:spPr>
          <a:xfrm>
            <a:off x="5166360" y="1554480"/>
            <a:ext cx="457200" cy="548640"/>
          </a:xfrm>
          <a:prstGeom prst="rect">
            <a:avLst/>
          </a:prstGeom>
          <a:noFill/>
          <a:ln/>
        </p:spPr>
        <p:txBody>
          <a:bodyPr wrap="square" lIns="0" tIns="0" rIns="0" bIns="0" rtlCol="0" anchor="t"/>
          <a:lstStyle/>
          <a:p>
            <a:pPr marL="0" indent="0" algn="r">
              <a:buNone/>
            </a:pPr>
            <a:r>
              <a:rPr lang="en-US" sz="3200" b="1" dirty="0">
                <a:solidFill>
                  <a:schemeClr val="tx2"/>
                </a:solidFill>
              </a:rPr>
              <a:t>2</a:t>
            </a:r>
            <a:endParaRPr lang="en-US" sz="3200" dirty="0"/>
          </a:p>
        </p:txBody>
      </p:sp>
      <p:sp>
        <p:nvSpPr>
          <p:cNvPr id="14" name="Text 10"/>
          <p:cNvSpPr txBox="1"/>
          <p:nvPr/>
        </p:nvSpPr>
        <p:spPr>
          <a:xfrm>
            <a:off x="3520440" y="2468880"/>
            <a:ext cx="2103120" cy="640080"/>
          </a:xfrm>
          <a:prstGeom prst="rect">
            <a:avLst/>
          </a:prstGeom>
          <a:noFill/>
          <a:ln/>
        </p:spPr>
        <p:txBody>
          <a:bodyPr wrap="square" lIns="0" tIns="0" rIns="0" bIns="0" rtlCol="0" anchor="t"/>
          <a:lstStyle/>
          <a:p>
            <a:pPr marL="0" indent="0">
              <a:buNone/>
            </a:pPr>
            <a:r>
              <a:rPr lang="en-US" sz="1900" b="1" dirty="0">
                <a:solidFill>
                  <a:schemeClr val="tx1"/>
                </a:solidFill>
              </a:rPr>
              <a:t>Broad Network Access</a:t>
            </a:r>
            <a:endParaRPr lang="en-US" sz="1900" dirty="0"/>
          </a:p>
        </p:txBody>
      </p:sp>
      <p:sp>
        <p:nvSpPr>
          <p:cNvPr id="15" name="Text 11"/>
          <p:cNvSpPr txBox="1"/>
          <p:nvPr/>
        </p:nvSpPr>
        <p:spPr>
          <a:xfrm>
            <a:off x="3520440" y="3154680"/>
            <a:ext cx="2103120" cy="1371600"/>
          </a:xfrm>
          <a:prstGeom prst="rect">
            <a:avLst/>
          </a:prstGeom>
          <a:noFill/>
          <a:ln/>
        </p:spPr>
        <p:txBody>
          <a:bodyPr wrap="square" lIns="0" tIns="0" rIns="0" bIns="0" rtlCol="0" anchor="t"/>
          <a:lstStyle/>
          <a:p>
            <a:pPr marL="0" indent="0">
              <a:buNone/>
            </a:pPr>
            <a:r>
              <a:rPr lang="en-US" sz="1400" dirty="0">
                <a:solidFill>
                  <a:schemeClr val="tx1"/>
                </a:solidFill>
              </a:rPr>
              <a:t>Resources are available via different client platforms such as phones, tablets, laptops, workstations, etc.</a:t>
            </a:r>
            <a:endParaRPr lang="en-US" sz="1400" dirty="0"/>
          </a:p>
        </p:txBody>
      </p:sp>
      <p:sp>
        <p:nvSpPr>
          <p:cNvPr id="16" name="Card"/>
          <p:cNvSpPr/>
          <p:nvPr/>
        </p:nvSpPr>
        <p:spPr>
          <a:xfrm>
            <a:off x="6126480" y="1371600"/>
            <a:ext cx="2560320" cy="3291840"/>
          </a:xfrm>
          <a:prstGeom prst="roundRect">
            <a:avLst>
              <a:gd name="adj" fmla="val 4286"/>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17" name="FaUsers circle"/>
          <p:cNvSpPr/>
          <p:nvPr/>
        </p:nvSpPr>
        <p:spPr>
          <a:xfrm>
            <a:off x="6355080" y="1600200"/>
            <a:ext cx="640080" cy="640080"/>
          </a:xfrm>
          <a:prstGeom prst="ellipse">
            <a:avLst/>
          </a:prstGeom>
          <a:solidFill>
            <a:schemeClr val="accent3"/>
          </a:solidFill>
          <a:ln/>
        </p:spPr>
        <p:txBody>
          <a:bodyPr/>
          <a:lstStyle/>
          <a:p>
            <a:endParaRPr lang="en-RW"/>
          </a:p>
        </p:txBody>
      </p:sp>
      <p:pic>
        <p:nvPicPr>
          <p:cNvPr id="18" name="FaUsers icon" descr="preencoded.png"/>
          <p:cNvPicPr>
            <a:picLocks noChangeAspect="1"/>
          </p:cNvPicPr>
          <p:nvPr/>
        </p:nvPicPr>
        <p:blipFill>
          <a:blip r:embed="rId5"/>
          <a:stretch>
            <a:fillRect/>
          </a:stretch>
        </p:blipFill>
        <p:spPr>
          <a:xfrm>
            <a:off x="6515100" y="1760220"/>
            <a:ext cx="320040" cy="320040"/>
          </a:xfrm>
          <a:prstGeom prst="rect">
            <a:avLst/>
          </a:prstGeom>
        </p:spPr>
      </p:pic>
      <p:sp>
        <p:nvSpPr>
          <p:cNvPr id="19" name="Text 14"/>
          <p:cNvSpPr txBox="1"/>
          <p:nvPr/>
        </p:nvSpPr>
        <p:spPr>
          <a:xfrm>
            <a:off x="8001000" y="1554480"/>
            <a:ext cx="457200" cy="548640"/>
          </a:xfrm>
          <a:prstGeom prst="rect">
            <a:avLst/>
          </a:prstGeom>
          <a:noFill/>
          <a:ln/>
        </p:spPr>
        <p:txBody>
          <a:bodyPr wrap="square" lIns="0" tIns="0" rIns="0" bIns="0" rtlCol="0" anchor="t"/>
          <a:lstStyle/>
          <a:p>
            <a:pPr marL="0" indent="0" algn="r">
              <a:buNone/>
            </a:pPr>
            <a:r>
              <a:rPr lang="en-US" sz="3200" b="1" dirty="0">
                <a:solidFill>
                  <a:schemeClr val="tx2"/>
                </a:solidFill>
              </a:rPr>
              <a:t>3</a:t>
            </a:r>
            <a:endParaRPr lang="en-US" sz="3200" dirty="0"/>
          </a:p>
        </p:txBody>
      </p:sp>
      <p:sp>
        <p:nvSpPr>
          <p:cNvPr id="20" name="Text 15"/>
          <p:cNvSpPr txBox="1"/>
          <p:nvPr/>
        </p:nvSpPr>
        <p:spPr>
          <a:xfrm>
            <a:off x="6355080" y="2468880"/>
            <a:ext cx="2103120" cy="640080"/>
          </a:xfrm>
          <a:prstGeom prst="rect">
            <a:avLst/>
          </a:prstGeom>
          <a:noFill/>
          <a:ln/>
        </p:spPr>
        <p:txBody>
          <a:bodyPr wrap="square" lIns="0" tIns="0" rIns="0" bIns="0" rtlCol="0" anchor="t"/>
          <a:lstStyle/>
          <a:p>
            <a:pPr marL="0" indent="0">
              <a:buNone/>
            </a:pPr>
            <a:r>
              <a:rPr lang="en-US" sz="1900" b="1" dirty="0">
                <a:solidFill>
                  <a:schemeClr val="tx1"/>
                </a:solidFill>
              </a:rPr>
              <a:t>Resource Pooling</a:t>
            </a:r>
            <a:endParaRPr lang="en-US" sz="1900" dirty="0"/>
          </a:p>
        </p:txBody>
      </p:sp>
      <p:sp>
        <p:nvSpPr>
          <p:cNvPr id="21" name="Text 16"/>
          <p:cNvSpPr txBox="1"/>
          <p:nvPr/>
        </p:nvSpPr>
        <p:spPr>
          <a:xfrm>
            <a:off x="6355080" y="3154680"/>
            <a:ext cx="2103120" cy="1371600"/>
          </a:xfrm>
          <a:prstGeom prst="rect">
            <a:avLst/>
          </a:prstGeom>
          <a:noFill/>
          <a:ln/>
        </p:spPr>
        <p:txBody>
          <a:bodyPr wrap="square" lIns="0" tIns="0" rIns="0" bIns="0" rtlCol="0" anchor="t"/>
          <a:lstStyle/>
          <a:p>
            <a:pPr marL="0" indent="0">
              <a:buNone/>
            </a:pPr>
            <a:r>
              <a:rPr lang="en-US" sz="1400" dirty="0">
                <a:solidFill>
                  <a:schemeClr val="tx1"/>
                </a:solidFill>
              </a:rPr>
              <a:t>The provider creates pools of resources (servers, storage, etc.) to serve multiple consumers (multitenancy).</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5A7E"/>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48640"/>
            <a:ext cx="8229600" cy="640080"/>
          </a:xfrm>
          <a:prstGeom prst="rect">
            <a:avLst/>
          </a:prstGeom>
          <a:noFill/>
          <a:ln/>
        </p:spPr>
        <p:txBody>
          <a:bodyPr wrap="square" lIns="0" tIns="0" rIns="0" bIns="0" rtlCol="0" anchor="ctr"/>
          <a:lstStyle/>
          <a:p>
            <a:pPr marL="0" indent="0" algn="l">
              <a:buNone/>
            </a:pPr>
            <a:r>
              <a:rPr lang="en-US" sz="3400" b="1" dirty="0">
                <a:solidFill>
                  <a:schemeClr val="tx1"/>
                </a:solidFill>
              </a:rPr>
              <a:t>Essential Characteristics</a:t>
            </a:r>
            <a:endParaRPr lang="en-US" sz="3400" dirty="0"/>
          </a:p>
        </p:txBody>
      </p:sp>
      <p:sp>
        <p:nvSpPr>
          <p:cNvPr id="3" name="Section chip"/>
          <p:cNvSpPr txBox="1"/>
          <p:nvPr/>
        </p:nvSpPr>
        <p:spPr>
          <a:xfrm>
            <a:off x="457200" y="274320"/>
            <a:ext cx="1545336" cy="246888"/>
          </a:xfrm>
          <a:prstGeom prst="roundRect">
            <a:avLst>
              <a:gd name="adj" fmla="val 48148"/>
            </a:avLst>
          </a:prstGeom>
          <a:solidFill>
            <a:schemeClr val="accent2"/>
          </a:solidFill>
          <a:ln/>
        </p:spPr>
        <p:txBody>
          <a:bodyPr wrap="square" lIns="0" tIns="0" rIns="0" bIns="0" rtlCol="0" anchor="ctr"/>
          <a:lstStyle/>
          <a:p>
            <a:pPr marL="0" indent="0" algn="ctr">
              <a:buNone/>
            </a:pPr>
            <a:r>
              <a:rPr lang="en-US" sz="1000" b="1" kern="0" spc="150" dirty="0">
                <a:solidFill>
                  <a:schemeClr val="tx1"/>
                </a:solidFill>
              </a:rPr>
              <a:t>NIST · 4–5 OF 5</a:t>
            </a:r>
            <a:endParaRPr lang="en-US" sz="1000" dirty="0"/>
          </a:p>
        </p:txBody>
      </p:sp>
      <p:sp>
        <p:nvSpPr>
          <p:cNvPr id="4" name="Card"/>
          <p:cNvSpPr/>
          <p:nvPr/>
        </p:nvSpPr>
        <p:spPr>
          <a:xfrm>
            <a:off x="457200" y="1371600"/>
            <a:ext cx="4023360" cy="2834640"/>
          </a:xfrm>
          <a:prstGeom prst="roundRect">
            <a:avLst>
              <a:gd name="adj" fmla="val 3871"/>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5" name="FaArrowsAltV circle"/>
          <p:cNvSpPr/>
          <p:nvPr/>
        </p:nvSpPr>
        <p:spPr>
          <a:xfrm>
            <a:off x="685800" y="1600200"/>
            <a:ext cx="640080" cy="640080"/>
          </a:xfrm>
          <a:prstGeom prst="ellipse">
            <a:avLst/>
          </a:prstGeom>
          <a:solidFill>
            <a:schemeClr val="accent2"/>
          </a:solidFill>
          <a:ln/>
        </p:spPr>
        <p:txBody>
          <a:bodyPr/>
          <a:lstStyle/>
          <a:p>
            <a:endParaRPr lang="en-RW"/>
          </a:p>
        </p:txBody>
      </p:sp>
      <p:pic>
        <p:nvPicPr>
          <p:cNvPr id="6" name="FaArrowsAltV icon" descr="preencoded.png"/>
          <p:cNvPicPr>
            <a:picLocks noChangeAspect="1"/>
          </p:cNvPicPr>
          <p:nvPr/>
        </p:nvPicPr>
        <p:blipFill>
          <a:blip r:embed="rId3"/>
          <a:stretch>
            <a:fillRect/>
          </a:stretch>
        </p:blipFill>
        <p:spPr>
          <a:xfrm>
            <a:off x="845820" y="1760220"/>
            <a:ext cx="320040" cy="320040"/>
          </a:xfrm>
          <a:prstGeom prst="rect">
            <a:avLst/>
          </a:prstGeom>
        </p:spPr>
      </p:pic>
      <p:sp>
        <p:nvSpPr>
          <p:cNvPr id="7" name="Text 4"/>
          <p:cNvSpPr txBox="1"/>
          <p:nvPr/>
        </p:nvSpPr>
        <p:spPr>
          <a:xfrm>
            <a:off x="3794760" y="1554480"/>
            <a:ext cx="457200" cy="548640"/>
          </a:xfrm>
          <a:prstGeom prst="rect">
            <a:avLst/>
          </a:prstGeom>
          <a:noFill/>
          <a:ln/>
        </p:spPr>
        <p:txBody>
          <a:bodyPr wrap="square" lIns="0" tIns="0" rIns="0" bIns="0" rtlCol="0" anchor="t"/>
          <a:lstStyle/>
          <a:p>
            <a:pPr marL="0" indent="0" algn="r">
              <a:buNone/>
            </a:pPr>
            <a:r>
              <a:rPr lang="en-US" sz="3200" b="1" dirty="0">
                <a:solidFill>
                  <a:schemeClr val="tx2"/>
                </a:solidFill>
              </a:rPr>
              <a:t>4</a:t>
            </a:r>
            <a:endParaRPr lang="en-US" sz="3200" dirty="0"/>
          </a:p>
        </p:txBody>
      </p:sp>
      <p:sp>
        <p:nvSpPr>
          <p:cNvPr id="8" name="Text 5"/>
          <p:cNvSpPr txBox="1"/>
          <p:nvPr/>
        </p:nvSpPr>
        <p:spPr>
          <a:xfrm>
            <a:off x="685800" y="2423160"/>
            <a:ext cx="3566160" cy="411480"/>
          </a:xfrm>
          <a:prstGeom prst="rect">
            <a:avLst/>
          </a:prstGeom>
          <a:noFill/>
          <a:ln/>
        </p:spPr>
        <p:txBody>
          <a:bodyPr wrap="square" lIns="0" tIns="0" rIns="0" bIns="0" rtlCol="0" anchor="t"/>
          <a:lstStyle/>
          <a:p>
            <a:pPr marL="0" indent="0">
              <a:buNone/>
            </a:pPr>
            <a:r>
              <a:rPr lang="en-US" sz="1900" b="1" dirty="0">
                <a:solidFill>
                  <a:schemeClr val="tx1"/>
                </a:solidFill>
              </a:rPr>
              <a:t>Rapid Elasticity</a:t>
            </a:r>
            <a:endParaRPr lang="en-US" sz="1900" dirty="0"/>
          </a:p>
        </p:txBody>
      </p:sp>
      <p:sp>
        <p:nvSpPr>
          <p:cNvPr id="9" name="Text 6"/>
          <p:cNvSpPr txBox="1"/>
          <p:nvPr/>
        </p:nvSpPr>
        <p:spPr>
          <a:xfrm>
            <a:off x="685800" y="2926080"/>
            <a:ext cx="3566160" cy="1051560"/>
          </a:xfrm>
          <a:prstGeom prst="rect">
            <a:avLst/>
          </a:prstGeom>
          <a:noFill/>
          <a:ln/>
        </p:spPr>
        <p:txBody>
          <a:bodyPr wrap="square" lIns="0" tIns="0" rIns="0" bIns="0" rtlCol="0" anchor="t"/>
          <a:lstStyle/>
          <a:p>
            <a:pPr marL="0" indent="0">
              <a:buNone/>
            </a:pPr>
            <a:r>
              <a:rPr lang="en-US" sz="1400" dirty="0">
                <a:solidFill>
                  <a:schemeClr val="tx1"/>
                </a:solidFill>
              </a:rPr>
              <a:t>Resources can be provisioned or released to match demand. For example, virtual machines can be added when demand grows and terminated when demand drops.</a:t>
            </a:r>
            <a:endParaRPr lang="en-US" sz="1400" dirty="0"/>
          </a:p>
        </p:txBody>
      </p:sp>
      <p:sp>
        <p:nvSpPr>
          <p:cNvPr id="10" name="Card"/>
          <p:cNvSpPr/>
          <p:nvPr/>
        </p:nvSpPr>
        <p:spPr>
          <a:xfrm>
            <a:off x="4663440" y="1371600"/>
            <a:ext cx="4023360" cy="2834640"/>
          </a:xfrm>
          <a:prstGeom prst="roundRect">
            <a:avLst>
              <a:gd name="adj" fmla="val 3871"/>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11" name="FaTachometerAlt circle"/>
          <p:cNvSpPr/>
          <p:nvPr/>
        </p:nvSpPr>
        <p:spPr>
          <a:xfrm>
            <a:off x="4892040" y="1600200"/>
            <a:ext cx="640080" cy="640080"/>
          </a:xfrm>
          <a:prstGeom prst="ellipse">
            <a:avLst/>
          </a:prstGeom>
          <a:solidFill>
            <a:schemeClr val="accent4"/>
          </a:solidFill>
          <a:ln/>
        </p:spPr>
        <p:txBody>
          <a:bodyPr/>
          <a:lstStyle/>
          <a:p>
            <a:endParaRPr lang="en-RW"/>
          </a:p>
        </p:txBody>
      </p:sp>
      <p:pic>
        <p:nvPicPr>
          <p:cNvPr id="12" name="FaTachometerAlt icon" descr="preencoded.png"/>
          <p:cNvPicPr>
            <a:picLocks noChangeAspect="1"/>
          </p:cNvPicPr>
          <p:nvPr/>
        </p:nvPicPr>
        <p:blipFill>
          <a:blip r:embed="rId4"/>
          <a:stretch>
            <a:fillRect/>
          </a:stretch>
        </p:blipFill>
        <p:spPr>
          <a:xfrm>
            <a:off x="5052060" y="1760220"/>
            <a:ext cx="320040" cy="320040"/>
          </a:xfrm>
          <a:prstGeom prst="rect">
            <a:avLst/>
          </a:prstGeom>
        </p:spPr>
      </p:pic>
      <p:sp>
        <p:nvSpPr>
          <p:cNvPr id="13" name="Text 9"/>
          <p:cNvSpPr txBox="1"/>
          <p:nvPr/>
        </p:nvSpPr>
        <p:spPr>
          <a:xfrm>
            <a:off x="8001000" y="1554480"/>
            <a:ext cx="457200" cy="548640"/>
          </a:xfrm>
          <a:prstGeom prst="rect">
            <a:avLst/>
          </a:prstGeom>
          <a:noFill/>
          <a:ln/>
        </p:spPr>
        <p:txBody>
          <a:bodyPr wrap="square" lIns="0" tIns="0" rIns="0" bIns="0" rtlCol="0" anchor="t"/>
          <a:lstStyle/>
          <a:p>
            <a:pPr marL="0" indent="0" algn="r">
              <a:buNone/>
            </a:pPr>
            <a:r>
              <a:rPr lang="en-US" sz="3200" b="1" dirty="0">
                <a:solidFill>
                  <a:schemeClr val="tx2"/>
                </a:solidFill>
              </a:rPr>
              <a:t>5</a:t>
            </a:r>
            <a:endParaRPr lang="en-US" sz="3200" dirty="0"/>
          </a:p>
        </p:txBody>
      </p:sp>
      <p:sp>
        <p:nvSpPr>
          <p:cNvPr id="14" name="Text 10"/>
          <p:cNvSpPr txBox="1"/>
          <p:nvPr/>
        </p:nvSpPr>
        <p:spPr>
          <a:xfrm>
            <a:off x="4892040" y="2423160"/>
            <a:ext cx="3566160" cy="411480"/>
          </a:xfrm>
          <a:prstGeom prst="rect">
            <a:avLst/>
          </a:prstGeom>
          <a:noFill/>
          <a:ln/>
        </p:spPr>
        <p:txBody>
          <a:bodyPr wrap="square" lIns="0" tIns="0" rIns="0" bIns="0" rtlCol="0" anchor="t"/>
          <a:lstStyle/>
          <a:p>
            <a:pPr marL="0" indent="0">
              <a:buNone/>
            </a:pPr>
            <a:r>
              <a:rPr lang="en-US" sz="1900" b="1" dirty="0">
                <a:solidFill>
                  <a:schemeClr val="tx1"/>
                </a:solidFill>
              </a:rPr>
              <a:t>Measured Service</a:t>
            </a:r>
            <a:endParaRPr lang="en-US" sz="1900" dirty="0"/>
          </a:p>
        </p:txBody>
      </p:sp>
      <p:sp>
        <p:nvSpPr>
          <p:cNvPr id="15" name="Text 11"/>
          <p:cNvSpPr txBox="1"/>
          <p:nvPr/>
        </p:nvSpPr>
        <p:spPr>
          <a:xfrm>
            <a:off x="4892040" y="2926080"/>
            <a:ext cx="3566160" cy="1051560"/>
          </a:xfrm>
          <a:prstGeom prst="rect">
            <a:avLst/>
          </a:prstGeom>
          <a:noFill/>
          <a:ln/>
        </p:spPr>
        <p:txBody>
          <a:bodyPr wrap="square" lIns="0" tIns="0" rIns="0" bIns="0" rtlCol="0" anchor="t"/>
          <a:lstStyle/>
          <a:p>
            <a:pPr marL="0" indent="0">
              <a:buNone/>
            </a:pPr>
            <a:r>
              <a:rPr lang="en-US" sz="1400" dirty="0">
                <a:solidFill>
                  <a:schemeClr val="tx1"/>
                </a:solidFill>
              </a:rPr>
              <a:t>Resource usage is monitored, controlled and reported, giving transparency to both provider and consumer. Billing is based on actual consumption: a “pay as you go” model (similar to consuming electricity).</a:t>
            </a:r>
            <a:endParaRPr lang="en-US" sz="1400" dirty="0"/>
          </a:p>
        </p:txBody>
      </p:sp>
      <p:sp>
        <p:nvSpPr>
          <p:cNvPr id="16" name="Tint"/>
          <p:cNvSpPr/>
          <p:nvPr/>
        </p:nvSpPr>
        <p:spPr>
          <a:xfrm>
            <a:off x="457200" y="4343400"/>
            <a:ext cx="8229600" cy="365760"/>
          </a:xfrm>
          <a:prstGeom prst="roundRect">
            <a:avLst>
              <a:gd name="adj" fmla="val 30000"/>
            </a:avLst>
          </a:prstGeom>
          <a:solidFill>
            <a:schemeClr val="accent4">
              <a:alpha val="30000"/>
            </a:schemeClr>
          </a:solidFill>
          <a:ln/>
        </p:spPr>
        <p:txBody>
          <a:bodyPr/>
          <a:lstStyle/>
          <a:p>
            <a:endParaRPr lang="en-RW"/>
          </a:p>
        </p:txBody>
      </p:sp>
      <p:sp>
        <p:nvSpPr>
          <p:cNvPr id="17" name="Text 13"/>
          <p:cNvSpPr txBox="1"/>
          <p:nvPr/>
        </p:nvSpPr>
        <p:spPr>
          <a:xfrm>
            <a:off x="685800" y="4343400"/>
            <a:ext cx="7772400" cy="365760"/>
          </a:xfrm>
          <a:prstGeom prst="rect">
            <a:avLst/>
          </a:prstGeom>
          <a:noFill/>
          <a:ln/>
        </p:spPr>
        <p:txBody>
          <a:bodyPr wrap="square" lIns="0" tIns="0" rIns="0" bIns="0" rtlCol="0" anchor="ctr"/>
          <a:lstStyle/>
          <a:p>
            <a:pPr marL="0" indent="0">
              <a:buNone/>
            </a:pPr>
            <a:r>
              <a:rPr lang="en-US" sz="1400" b="1" dirty="0">
                <a:solidFill>
                  <a:schemeClr val="tx1"/>
                </a:solidFill>
              </a:rPr>
              <a:t>Good to know:</a:t>
            </a:r>
            <a:r>
              <a:rPr lang="en-US" sz="1400" dirty="0">
                <a:solidFill>
                  <a:schemeClr val="tx1"/>
                </a:solidFill>
              </a:rPr>
              <a:t> other terms with a similar meaning to “pay as you go” are </a:t>
            </a:r>
            <a:r>
              <a:rPr lang="en-US" sz="1400" b="1" dirty="0">
                <a:solidFill>
                  <a:schemeClr val="tx1"/>
                </a:solidFill>
              </a:rPr>
              <a:t>pay-per-use</a:t>
            </a:r>
            <a:r>
              <a:rPr lang="en-US" sz="1400" dirty="0">
                <a:solidFill>
                  <a:schemeClr val="tx1"/>
                </a:solidFill>
              </a:rPr>
              <a:t>.</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5A7E"/>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48640"/>
            <a:ext cx="8229600" cy="640080"/>
          </a:xfrm>
          <a:prstGeom prst="rect">
            <a:avLst/>
          </a:prstGeom>
          <a:noFill/>
          <a:ln/>
        </p:spPr>
        <p:txBody>
          <a:bodyPr wrap="square" lIns="0" tIns="0" rIns="0" bIns="0" rtlCol="0" anchor="ctr"/>
          <a:lstStyle/>
          <a:p>
            <a:pPr marL="0" indent="0" algn="l">
              <a:buNone/>
            </a:pPr>
            <a:r>
              <a:rPr lang="en-US" sz="3400" b="1" dirty="0">
                <a:solidFill>
                  <a:schemeClr val="tx1"/>
                </a:solidFill>
              </a:rPr>
              <a:t>Cloud Deployment Models</a:t>
            </a:r>
            <a:endParaRPr lang="en-US" sz="3400" dirty="0"/>
          </a:p>
        </p:txBody>
      </p:sp>
      <p:sp>
        <p:nvSpPr>
          <p:cNvPr id="3" name="Section chip"/>
          <p:cNvSpPr txBox="1"/>
          <p:nvPr/>
        </p:nvSpPr>
        <p:spPr>
          <a:xfrm>
            <a:off x="457200" y="274320"/>
            <a:ext cx="1702613" cy="246888"/>
          </a:xfrm>
          <a:prstGeom prst="roundRect">
            <a:avLst>
              <a:gd name="adj" fmla="val 48148"/>
            </a:avLst>
          </a:prstGeom>
          <a:solidFill>
            <a:schemeClr val="accent3"/>
          </a:solidFill>
          <a:ln/>
        </p:spPr>
        <p:txBody>
          <a:bodyPr wrap="square" lIns="0" tIns="0" rIns="0" bIns="0" rtlCol="0" anchor="ctr"/>
          <a:lstStyle/>
          <a:p>
            <a:pPr marL="0" indent="0" algn="ctr">
              <a:buNone/>
            </a:pPr>
            <a:r>
              <a:rPr lang="en-US" sz="1000" b="1" kern="0" spc="150" dirty="0">
                <a:solidFill>
                  <a:schemeClr val="tx1"/>
                </a:solidFill>
              </a:rPr>
              <a:t>DEPLOYMENT MODELS</a:t>
            </a:r>
            <a:endParaRPr lang="en-US" sz="1000" dirty="0"/>
          </a:p>
        </p:txBody>
      </p:sp>
      <p:sp>
        <p:nvSpPr>
          <p:cNvPr id="4" name="Text 2"/>
          <p:cNvSpPr txBox="1"/>
          <p:nvPr/>
        </p:nvSpPr>
        <p:spPr>
          <a:xfrm>
            <a:off x="457200" y="1280160"/>
            <a:ext cx="8229600" cy="457200"/>
          </a:xfrm>
          <a:prstGeom prst="rect">
            <a:avLst/>
          </a:prstGeom>
          <a:noFill/>
          <a:ln/>
        </p:spPr>
        <p:txBody>
          <a:bodyPr wrap="square" lIns="0" tIns="0" rIns="0" bIns="0" rtlCol="0" anchor="t"/>
          <a:lstStyle/>
          <a:p>
            <a:pPr marL="0" indent="0">
              <a:buNone/>
            </a:pPr>
            <a:r>
              <a:rPr lang="en-US" sz="1600" dirty="0">
                <a:solidFill>
                  <a:schemeClr val="tx1"/>
                </a:solidFill>
              </a:rPr>
              <a:t>A </a:t>
            </a:r>
            <a:r>
              <a:rPr lang="en-US" sz="1600" b="1" dirty="0">
                <a:solidFill>
                  <a:schemeClr val="tx1"/>
                </a:solidFill>
              </a:rPr>
              <a:t>deployment model</a:t>
            </a:r>
            <a:r>
              <a:rPr lang="en-US" sz="1600" dirty="0">
                <a:solidFill>
                  <a:schemeClr val="tx1"/>
                </a:solidFill>
              </a:rPr>
              <a:t> defines who the user of that cloud is and where the cloud infrastructure resides.</a:t>
            </a:r>
            <a:endParaRPr lang="en-US" sz="1600" dirty="0"/>
          </a:p>
        </p:txBody>
      </p:sp>
      <p:sp>
        <p:nvSpPr>
          <p:cNvPr id="5" name="Card"/>
          <p:cNvSpPr/>
          <p:nvPr/>
        </p:nvSpPr>
        <p:spPr>
          <a:xfrm>
            <a:off x="457200" y="1965960"/>
            <a:ext cx="1920240" cy="2651760"/>
          </a:xfrm>
          <a:prstGeom prst="roundRect">
            <a:avLst>
              <a:gd name="adj" fmla="val 5714"/>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6" name="FaCloud circle"/>
          <p:cNvSpPr/>
          <p:nvPr/>
        </p:nvSpPr>
        <p:spPr>
          <a:xfrm>
            <a:off x="1051560" y="2240280"/>
            <a:ext cx="731520" cy="731520"/>
          </a:xfrm>
          <a:prstGeom prst="ellipse">
            <a:avLst/>
          </a:prstGeom>
          <a:solidFill>
            <a:schemeClr val="accent5"/>
          </a:solidFill>
          <a:ln/>
        </p:spPr>
        <p:txBody>
          <a:bodyPr/>
          <a:lstStyle/>
          <a:p>
            <a:endParaRPr lang="en-RW"/>
          </a:p>
        </p:txBody>
      </p:sp>
      <p:pic>
        <p:nvPicPr>
          <p:cNvPr id="7" name="FaCloud icon" descr="preencoded.png"/>
          <p:cNvPicPr>
            <a:picLocks noChangeAspect="1"/>
          </p:cNvPicPr>
          <p:nvPr/>
        </p:nvPicPr>
        <p:blipFill>
          <a:blip r:embed="rId3"/>
          <a:stretch>
            <a:fillRect/>
          </a:stretch>
        </p:blipFill>
        <p:spPr>
          <a:xfrm>
            <a:off x="1234440" y="2423160"/>
            <a:ext cx="365760" cy="365760"/>
          </a:xfrm>
          <a:prstGeom prst="rect">
            <a:avLst/>
          </a:prstGeom>
        </p:spPr>
      </p:pic>
      <p:sp>
        <p:nvSpPr>
          <p:cNvPr id="8" name="Text 5"/>
          <p:cNvSpPr txBox="1"/>
          <p:nvPr/>
        </p:nvSpPr>
        <p:spPr>
          <a:xfrm>
            <a:off x="594360" y="3154680"/>
            <a:ext cx="1645920" cy="411480"/>
          </a:xfrm>
          <a:prstGeom prst="rect">
            <a:avLst/>
          </a:prstGeom>
          <a:noFill/>
          <a:ln/>
        </p:spPr>
        <p:txBody>
          <a:bodyPr wrap="square" lIns="0" tIns="0" rIns="0" bIns="0" rtlCol="0" anchor="t"/>
          <a:lstStyle/>
          <a:p>
            <a:pPr marL="0" indent="0" algn="ctr">
              <a:buNone/>
            </a:pPr>
            <a:r>
              <a:rPr lang="en-US" sz="2000" b="1" dirty="0">
                <a:solidFill>
                  <a:schemeClr val="tx1"/>
                </a:solidFill>
              </a:rPr>
              <a:t>Public</a:t>
            </a:r>
            <a:endParaRPr lang="en-US" sz="2000" dirty="0"/>
          </a:p>
        </p:txBody>
      </p:sp>
      <p:sp>
        <p:nvSpPr>
          <p:cNvPr id="9" name="Text 6"/>
          <p:cNvSpPr txBox="1"/>
          <p:nvPr/>
        </p:nvSpPr>
        <p:spPr>
          <a:xfrm>
            <a:off x="640080" y="3657600"/>
            <a:ext cx="1554480" cy="868680"/>
          </a:xfrm>
          <a:prstGeom prst="rect">
            <a:avLst/>
          </a:prstGeom>
          <a:noFill/>
          <a:ln/>
        </p:spPr>
        <p:txBody>
          <a:bodyPr wrap="square" lIns="0" tIns="0" rIns="0" bIns="0" rtlCol="0" anchor="t"/>
          <a:lstStyle/>
          <a:p>
            <a:pPr marL="0" indent="0" algn="ctr">
              <a:buNone/>
            </a:pPr>
            <a:r>
              <a:rPr lang="en-US" sz="1400" dirty="0">
                <a:solidFill>
                  <a:schemeClr val="tx2"/>
                </a:solidFill>
              </a:rPr>
              <a:t>Open to the general public</a:t>
            </a:r>
            <a:endParaRPr lang="en-US" sz="1400" dirty="0"/>
          </a:p>
        </p:txBody>
      </p:sp>
      <p:sp>
        <p:nvSpPr>
          <p:cNvPr id="10" name="Card"/>
          <p:cNvSpPr/>
          <p:nvPr/>
        </p:nvSpPr>
        <p:spPr>
          <a:xfrm>
            <a:off x="2560320" y="1965960"/>
            <a:ext cx="1920240" cy="2651760"/>
          </a:xfrm>
          <a:prstGeom prst="roundRect">
            <a:avLst>
              <a:gd name="adj" fmla="val 5714"/>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11" name="FaCloud circle"/>
          <p:cNvSpPr/>
          <p:nvPr/>
        </p:nvSpPr>
        <p:spPr>
          <a:xfrm>
            <a:off x="3154680" y="2240280"/>
            <a:ext cx="731520" cy="731520"/>
          </a:xfrm>
          <a:prstGeom prst="ellipse">
            <a:avLst/>
          </a:prstGeom>
          <a:solidFill>
            <a:schemeClr val="accent3"/>
          </a:solidFill>
          <a:ln/>
        </p:spPr>
        <p:txBody>
          <a:bodyPr/>
          <a:lstStyle/>
          <a:p>
            <a:endParaRPr lang="en-RW"/>
          </a:p>
        </p:txBody>
      </p:sp>
      <p:pic>
        <p:nvPicPr>
          <p:cNvPr id="12" name="FaCloud icon" descr="preencoded.png"/>
          <p:cNvPicPr>
            <a:picLocks noChangeAspect="1"/>
          </p:cNvPicPr>
          <p:nvPr/>
        </p:nvPicPr>
        <p:blipFill>
          <a:blip r:embed="rId3"/>
          <a:stretch>
            <a:fillRect/>
          </a:stretch>
        </p:blipFill>
        <p:spPr>
          <a:xfrm>
            <a:off x="3337560" y="2423160"/>
            <a:ext cx="365760" cy="365760"/>
          </a:xfrm>
          <a:prstGeom prst="rect">
            <a:avLst/>
          </a:prstGeom>
        </p:spPr>
      </p:pic>
      <p:sp>
        <p:nvSpPr>
          <p:cNvPr id="13" name="Text 9"/>
          <p:cNvSpPr txBox="1"/>
          <p:nvPr/>
        </p:nvSpPr>
        <p:spPr>
          <a:xfrm>
            <a:off x="2697480" y="3154680"/>
            <a:ext cx="1645920" cy="411480"/>
          </a:xfrm>
          <a:prstGeom prst="rect">
            <a:avLst/>
          </a:prstGeom>
          <a:noFill/>
          <a:ln/>
        </p:spPr>
        <p:txBody>
          <a:bodyPr wrap="square" lIns="0" tIns="0" rIns="0" bIns="0" rtlCol="0" anchor="t"/>
          <a:lstStyle/>
          <a:p>
            <a:pPr marL="0" indent="0" algn="ctr">
              <a:buNone/>
            </a:pPr>
            <a:r>
              <a:rPr lang="en-US" sz="2000" b="1" dirty="0">
                <a:solidFill>
                  <a:schemeClr val="tx1"/>
                </a:solidFill>
              </a:rPr>
              <a:t>Private</a:t>
            </a:r>
            <a:endParaRPr lang="en-US" sz="2000" dirty="0"/>
          </a:p>
        </p:txBody>
      </p:sp>
      <p:sp>
        <p:nvSpPr>
          <p:cNvPr id="14" name="Text 10"/>
          <p:cNvSpPr txBox="1"/>
          <p:nvPr/>
        </p:nvSpPr>
        <p:spPr>
          <a:xfrm>
            <a:off x="2743200" y="3657600"/>
            <a:ext cx="1554480" cy="868680"/>
          </a:xfrm>
          <a:prstGeom prst="rect">
            <a:avLst/>
          </a:prstGeom>
          <a:noFill/>
          <a:ln/>
        </p:spPr>
        <p:txBody>
          <a:bodyPr wrap="square" lIns="0" tIns="0" rIns="0" bIns="0" rtlCol="0" anchor="t"/>
          <a:lstStyle/>
          <a:p>
            <a:pPr marL="0" indent="0" algn="ctr">
              <a:buNone/>
            </a:pPr>
            <a:r>
              <a:rPr lang="en-US" sz="1400" dirty="0">
                <a:solidFill>
                  <a:schemeClr val="tx2"/>
                </a:solidFill>
              </a:rPr>
              <a:t>Exclusive to a single organization</a:t>
            </a:r>
            <a:endParaRPr lang="en-US" sz="1400" dirty="0"/>
          </a:p>
        </p:txBody>
      </p:sp>
      <p:sp>
        <p:nvSpPr>
          <p:cNvPr id="15" name="Card"/>
          <p:cNvSpPr/>
          <p:nvPr/>
        </p:nvSpPr>
        <p:spPr>
          <a:xfrm>
            <a:off x="4663440" y="1965960"/>
            <a:ext cx="1920240" cy="2651760"/>
          </a:xfrm>
          <a:prstGeom prst="roundRect">
            <a:avLst>
              <a:gd name="adj" fmla="val 5714"/>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16" name="FaCloud circle"/>
          <p:cNvSpPr/>
          <p:nvPr/>
        </p:nvSpPr>
        <p:spPr>
          <a:xfrm>
            <a:off x="5257800" y="2240280"/>
            <a:ext cx="731520" cy="731520"/>
          </a:xfrm>
          <a:prstGeom prst="ellipse">
            <a:avLst/>
          </a:prstGeom>
          <a:solidFill>
            <a:schemeClr val="accent1"/>
          </a:solidFill>
          <a:ln/>
        </p:spPr>
        <p:txBody>
          <a:bodyPr/>
          <a:lstStyle/>
          <a:p>
            <a:endParaRPr lang="en-RW"/>
          </a:p>
        </p:txBody>
      </p:sp>
      <p:pic>
        <p:nvPicPr>
          <p:cNvPr id="17" name="FaCloud icon" descr="preencoded.png"/>
          <p:cNvPicPr>
            <a:picLocks noChangeAspect="1"/>
          </p:cNvPicPr>
          <p:nvPr/>
        </p:nvPicPr>
        <p:blipFill>
          <a:blip r:embed="rId4"/>
          <a:stretch>
            <a:fillRect/>
          </a:stretch>
        </p:blipFill>
        <p:spPr>
          <a:xfrm>
            <a:off x="5440680" y="2423160"/>
            <a:ext cx="365760" cy="365760"/>
          </a:xfrm>
          <a:prstGeom prst="rect">
            <a:avLst/>
          </a:prstGeom>
        </p:spPr>
      </p:pic>
      <p:sp>
        <p:nvSpPr>
          <p:cNvPr id="18" name="Text 13"/>
          <p:cNvSpPr txBox="1"/>
          <p:nvPr/>
        </p:nvSpPr>
        <p:spPr>
          <a:xfrm>
            <a:off x="4800600" y="3154680"/>
            <a:ext cx="1645920" cy="411480"/>
          </a:xfrm>
          <a:prstGeom prst="rect">
            <a:avLst/>
          </a:prstGeom>
          <a:noFill/>
          <a:ln/>
        </p:spPr>
        <p:txBody>
          <a:bodyPr wrap="square" lIns="0" tIns="0" rIns="0" bIns="0" rtlCol="0" anchor="t"/>
          <a:lstStyle/>
          <a:p>
            <a:pPr marL="0" indent="0" algn="ctr">
              <a:buNone/>
            </a:pPr>
            <a:r>
              <a:rPr lang="en-US" sz="2000" b="1" dirty="0">
                <a:solidFill>
                  <a:schemeClr val="tx1"/>
                </a:solidFill>
              </a:rPr>
              <a:t>Hybrid</a:t>
            </a:r>
            <a:endParaRPr lang="en-US" sz="2000" dirty="0"/>
          </a:p>
        </p:txBody>
      </p:sp>
      <p:sp>
        <p:nvSpPr>
          <p:cNvPr id="19" name="Text 14"/>
          <p:cNvSpPr txBox="1"/>
          <p:nvPr/>
        </p:nvSpPr>
        <p:spPr>
          <a:xfrm>
            <a:off x="4846320" y="3657600"/>
            <a:ext cx="1554480" cy="868680"/>
          </a:xfrm>
          <a:prstGeom prst="rect">
            <a:avLst/>
          </a:prstGeom>
          <a:noFill/>
          <a:ln/>
        </p:spPr>
        <p:txBody>
          <a:bodyPr wrap="square" lIns="0" tIns="0" rIns="0" bIns="0" rtlCol="0" anchor="t"/>
          <a:lstStyle/>
          <a:p>
            <a:pPr marL="0" indent="0" algn="ctr">
              <a:buNone/>
            </a:pPr>
            <a:r>
              <a:rPr lang="en-US" sz="1400" dirty="0">
                <a:solidFill>
                  <a:schemeClr val="tx2"/>
                </a:solidFill>
              </a:rPr>
              <a:t>Public and private (or other) bridged together</a:t>
            </a:r>
            <a:endParaRPr lang="en-US" sz="1400" dirty="0"/>
          </a:p>
        </p:txBody>
      </p:sp>
      <p:sp>
        <p:nvSpPr>
          <p:cNvPr id="20" name="Card"/>
          <p:cNvSpPr/>
          <p:nvPr/>
        </p:nvSpPr>
        <p:spPr>
          <a:xfrm>
            <a:off x="6766560" y="1965960"/>
            <a:ext cx="1920240" cy="2651760"/>
          </a:xfrm>
          <a:prstGeom prst="roundRect">
            <a:avLst>
              <a:gd name="adj" fmla="val 5714"/>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21" name="FaCloud circle"/>
          <p:cNvSpPr/>
          <p:nvPr/>
        </p:nvSpPr>
        <p:spPr>
          <a:xfrm>
            <a:off x="7360920" y="2240280"/>
            <a:ext cx="731520" cy="731520"/>
          </a:xfrm>
          <a:prstGeom prst="ellipse">
            <a:avLst/>
          </a:prstGeom>
          <a:solidFill>
            <a:schemeClr val="accent2"/>
          </a:solidFill>
          <a:ln/>
        </p:spPr>
        <p:txBody>
          <a:bodyPr/>
          <a:lstStyle/>
          <a:p>
            <a:endParaRPr lang="en-RW"/>
          </a:p>
        </p:txBody>
      </p:sp>
      <p:pic>
        <p:nvPicPr>
          <p:cNvPr id="22" name="FaCloud icon" descr="preencoded.png"/>
          <p:cNvPicPr>
            <a:picLocks noChangeAspect="1"/>
          </p:cNvPicPr>
          <p:nvPr/>
        </p:nvPicPr>
        <p:blipFill>
          <a:blip r:embed="rId3"/>
          <a:stretch>
            <a:fillRect/>
          </a:stretch>
        </p:blipFill>
        <p:spPr>
          <a:xfrm>
            <a:off x="7543800" y="2423160"/>
            <a:ext cx="365760" cy="365760"/>
          </a:xfrm>
          <a:prstGeom prst="rect">
            <a:avLst/>
          </a:prstGeom>
        </p:spPr>
      </p:pic>
      <p:sp>
        <p:nvSpPr>
          <p:cNvPr id="23" name="Text 17"/>
          <p:cNvSpPr txBox="1"/>
          <p:nvPr/>
        </p:nvSpPr>
        <p:spPr>
          <a:xfrm>
            <a:off x="6903720" y="3154680"/>
            <a:ext cx="1645920" cy="411480"/>
          </a:xfrm>
          <a:prstGeom prst="rect">
            <a:avLst/>
          </a:prstGeom>
          <a:noFill/>
          <a:ln/>
        </p:spPr>
        <p:txBody>
          <a:bodyPr wrap="square" lIns="0" tIns="0" rIns="0" bIns="0" rtlCol="0" anchor="t"/>
          <a:lstStyle/>
          <a:p>
            <a:pPr marL="0" indent="0" algn="ctr">
              <a:buNone/>
            </a:pPr>
            <a:r>
              <a:rPr lang="en-US" sz="2000" b="1" dirty="0">
                <a:solidFill>
                  <a:schemeClr val="tx1"/>
                </a:solidFill>
              </a:rPr>
              <a:t>Community</a:t>
            </a:r>
            <a:endParaRPr lang="en-US" sz="2000" dirty="0"/>
          </a:p>
        </p:txBody>
      </p:sp>
      <p:sp>
        <p:nvSpPr>
          <p:cNvPr id="24" name="Text 18"/>
          <p:cNvSpPr txBox="1"/>
          <p:nvPr/>
        </p:nvSpPr>
        <p:spPr>
          <a:xfrm>
            <a:off x="6949440" y="3657600"/>
            <a:ext cx="1554480" cy="868680"/>
          </a:xfrm>
          <a:prstGeom prst="rect">
            <a:avLst/>
          </a:prstGeom>
          <a:noFill/>
          <a:ln/>
        </p:spPr>
        <p:txBody>
          <a:bodyPr wrap="square" lIns="0" tIns="0" rIns="0" bIns="0" rtlCol="0" anchor="t"/>
          <a:lstStyle/>
          <a:p>
            <a:pPr marL="0" indent="0" algn="ctr">
              <a:buNone/>
            </a:pPr>
            <a:r>
              <a:rPr lang="en-US" sz="1400" dirty="0">
                <a:solidFill>
                  <a:schemeClr val="tx2"/>
                </a:solidFill>
              </a:rPr>
              <a:t>Shared by organizations with shared concerns</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5A7E"/>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48640"/>
            <a:ext cx="8229600" cy="640080"/>
          </a:xfrm>
          <a:prstGeom prst="rect">
            <a:avLst/>
          </a:prstGeom>
          <a:noFill/>
          <a:ln/>
        </p:spPr>
        <p:txBody>
          <a:bodyPr wrap="square" lIns="0" tIns="0" rIns="0" bIns="0" rtlCol="0" anchor="ctr"/>
          <a:lstStyle/>
          <a:p>
            <a:pPr marL="0" indent="0" algn="l">
              <a:buNone/>
            </a:pPr>
            <a:r>
              <a:rPr lang="en-US" sz="3400" b="1" dirty="0">
                <a:solidFill>
                  <a:schemeClr val="tx1"/>
                </a:solidFill>
              </a:rPr>
              <a:t>Public Cloud</a:t>
            </a:r>
            <a:endParaRPr lang="en-US" sz="3400" dirty="0"/>
          </a:p>
        </p:txBody>
      </p:sp>
      <p:sp>
        <p:nvSpPr>
          <p:cNvPr id="3" name="Section chip"/>
          <p:cNvSpPr txBox="1"/>
          <p:nvPr/>
        </p:nvSpPr>
        <p:spPr>
          <a:xfrm>
            <a:off x="457200" y="274320"/>
            <a:ext cx="1702613" cy="246888"/>
          </a:xfrm>
          <a:prstGeom prst="roundRect">
            <a:avLst>
              <a:gd name="adj" fmla="val 48148"/>
            </a:avLst>
          </a:prstGeom>
          <a:solidFill>
            <a:schemeClr val="accent5"/>
          </a:solidFill>
          <a:ln/>
        </p:spPr>
        <p:txBody>
          <a:bodyPr wrap="square" lIns="0" tIns="0" rIns="0" bIns="0" rtlCol="0" anchor="ctr"/>
          <a:lstStyle/>
          <a:p>
            <a:pPr marL="0" indent="0" algn="ctr">
              <a:buNone/>
            </a:pPr>
            <a:r>
              <a:rPr lang="en-US" sz="1000" b="1" kern="0" spc="150" dirty="0">
                <a:solidFill>
                  <a:schemeClr val="tx1"/>
                </a:solidFill>
              </a:rPr>
              <a:t>DEPLOYMENT MODELS</a:t>
            </a:r>
            <a:endParaRPr lang="en-US" sz="1000" dirty="0"/>
          </a:p>
        </p:txBody>
      </p:sp>
      <p:sp>
        <p:nvSpPr>
          <p:cNvPr id="4" name="Card"/>
          <p:cNvSpPr/>
          <p:nvPr/>
        </p:nvSpPr>
        <p:spPr>
          <a:xfrm>
            <a:off x="457200" y="1371600"/>
            <a:ext cx="4846320" cy="777240"/>
          </a:xfrm>
          <a:prstGeom prst="roundRect">
            <a:avLst>
              <a:gd name="adj" fmla="val 14118"/>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5" name="FaGlobe circle"/>
          <p:cNvSpPr/>
          <p:nvPr/>
        </p:nvSpPr>
        <p:spPr>
          <a:xfrm>
            <a:off x="594360" y="1554480"/>
            <a:ext cx="411480" cy="411480"/>
          </a:xfrm>
          <a:prstGeom prst="ellipse">
            <a:avLst/>
          </a:prstGeom>
          <a:solidFill>
            <a:schemeClr val="accent5"/>
          </a:solidFill>
          <a:ln/>
        </p:spPr>
        <p:txBody>
          <a:bodyPr/>
          <a:lstStyle/>
          <a:p>
            <a:endParaRPr lang="en-RW"/>
          </a:p>
        </p:txBody>
      </p:sp>
      <p:pic>
        <p:nvPicPr>
          <p:cNvPr id="6" name="FaGlobe icon" descr="preencoded.png"/>
          <p:cNvPicPr>
            <a:picLocks noChangeAspect="1"/>
          </p:cNvPicPr>
          <p:nvPr/>
        </p:nvPicPr>
        <p:blipFill>
          <a:blip r:embed="rId3"/>
          <a:stretch>
            <a:fillRect/>
          </a:stretch>
        </p:blipFill>
        <p:spPr>
          <a:xfrm>
            <a:off x="697230" y="1657350"/>
            <a:ext cx="205740" cy="205740"/>
          </a:xfrm>
          <a:prstGeom prst="rect">
            <a:avLst/>
          </a:prstGeom>
        </p:spPr>
      </p:pic>
      <p:sp>
        <p:nvSpPr>
          <p:cNvPr id="7" name="Text 4"/>
          <p:cNvSpPr txBox="1"/>
          <p:nvPr/>
        </p:nvSpPr>
        <p:spPr>
          <a:xfrm>
            <a:off x="1188720" y="1371600"/>
            <a:ext cx="3977640" cy="777240"/>
          </a:xfrm>
          <a:prstGeom prst="rect">
            <a:avLst/>
          </a:prstGeom>
          <a:noFill/>
          <a:ln/>
        </p:spPr>
        <p:txBody>
          <a:bodyPr wrap="square" lIns="0" tIns="0" rIns="0" bIns="0" rtlCol="0" anchor="ctr"/>
          <a:lstStyle/>
          <a:p>
            <a:pPr marL="0" indent="0">
              <a:buNone/>
            </a:pPr>
            <a:r>
              <a:rPr lang="en-US" sz="1400" dirty="0">
                <a:solidFill>
                  <a:schemeClr val="tx1"/>
                </a:solidFill>
              </a:rPr>
              <a:t>Infrastructure is provisioned for the </a:t>
            </a:r>
            <a:r>
              <a:rPr lang="en-US" sz="1400" b="1" dirty="0">
                <a:solidFill>
                  <a:schemeClr val="tx1"/>
                </a:solidFill>
              </a:rPr>
              <a:t>general public</a:t>
            </a:r>
            <a:r>
              <a:rPr lang="en-US" sz="1400" dirty="0">
                <a:solidFill>
                  <a:schemeClr val="tx1"/>
                </a:solidFill>
              </a:rPr>
              <a:t> to use.</a:t>
            </a:r>
            <a:endParaRPr lang="en-US" sz="1400" dirty="0"/>
          </a:p>
        </p:txBody>
      </p:sp>
      <p:sp>
        <p:nvSpPr>
          <p:cNvPr id="8" name="Card"/>
          <p:cNvSpPr/>
          <p:nvPr/>
        </p:nvSpPr>
        <p:spPr>
          <a:xfrm>
            <a:off x="457200" y="2194560"/>
            <a:ext cx="4846320" cy="777240"/>
          </a:xfrm>
          <a:prstGeom prst="roundRect">
            <a:avLst>
              <a:gd name="adj" fmla="val 14118"/>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9" name="FaBuilding circle"/>
          <p:cNvSpPr/>
          <p:nvPr/>
        </p:nvSpPr>
        <p:spPr>
          <a:xfrm>
            <a:off x="594360" y="2377440"/>
            <a:ext cx="411480" cy="411480"/>
          </a:xfrm>
          <a:prstGeom prst="ellipse">
            <a:avLst/>
          </a:prstGeom>
          <a:solidFill>
            <a:schemeClr val="accent5"/>
          </a:solidFill>
          <a:ln/>
        </p:spPr>
        <p:txBody>
          <a:bodyPr/>
          <a:lstStyle/>
          <a:p>
            <a:endParaRPr lang="en-RW"/>
          </a:p>
        </p:txBody>
      </p:sp>
      <p:pic>
        <p:nvPicPr>
          <p:cNvPr id="10" name="FaBuilding icon" descr="preencoded.png"/>
          <p:cNvPicPr>
            <a:picLocks noChangeAspect="1"/>
          </p:cNvPicPr>
          <p:nvPr/>
        </p:nvPicPr>
        <p:blipFill>
          <a:blip r:embed="rId4"/>
          <a:stretch>
            <a:fillRect/>
          </a:stretch>
        </p:blipFill>
        <p:spPr>
          <a:xfrm>
            <a:off x="697230" y="2480310"/>
            <a:ext cx="205740" cy="205740"/>
          </a:xfrm>
          <a:prstGeom prst="rect">
            <a:avLst/>
          </a:prstGeom>
        </p:spPr>
      </p:pic>
      <p:sp>
        <p:nvSpPr>
          <p:cNvPr id="11" name="Text 7"/>
          <p:cNvSpPr txBox="1"/>
          <p:nvPr/>
        </p:nvSpPr>
        <p:spPr>
          <a:xfrm>
            <a:off x="1188720" y="2194560"/>
            <a:ext cx="3977640" cy="777240"/>
          </a:xfrm>
          <a:prstGeom prst="rect">
            <a:avLst/>
          </a:prstGeom>
          <a:noFill/>
          <a:ln/>
        </p:spPr>
        <p:txBody>
          <a:bodyPr wrap="square" lIns="0" tIns="0" rIns="0" bIns="0" rtlCol="0" anchor="ctr"/>
          <a:lstStyle/>
          <a:p>
            <a:pPr marL="0" indent="0">
              <a:buNone/>
            </a:pPr>
            <a:r>
              <a:rPr lang="en-US" sz="1400" dirty="0">
                <a:solidFill>
                  <a:schemeClr val="tx1"/>
                </a:solidFill>
              </a:rPr>
              <a:t>Exists on the premises of the CSP.</a:t>
            </a:r>
            <a:endParaRPr lang="en-US" sz="1400" dirty="0"/>
          </a:p>
        </p:txBody>
      </p:sp>
      <p:sp>
        <p:nvSpPr>
          <p:cNvPr id="12" name="Card"/>
          <p:cNvSpPr/>
          <p:nvPr/>
        </p:nvSpPr>
        <p:spPr>
          <a:xfrm>
            <a:off x="457200" y="3017520"/>
            <a:ext cx="4846320" cy="777240"/>
          </a:xfrm>
          <a:prstGeom prst="roundRect">
            <a:avLst>
              <a:gd name="adj" fmla="val 14118"/>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13" name="FaWallet circle"/>
          <p:cNvSpPr/>
          <p:nvPr/>
        </p:nvSpPr>
        <p:spPr>
          <a:xfrm>
            <a:off x="594360" y="3200400"/>
            <a:ext cx="411480" cy="411480"/>
          </a:xfrm>
          <a:prstGeom prst="ellipse">
            <a:avLst/>
          </a:prstGeom>
          <a:solidFill>
            <a:schemeClr val="accent5"/>
          </a:solidFill>
          <a:ln/>
        </p:spPr>
        <p:txBody>
          <a:bodyPr/>
          <a:lstStyle/>
          <a:p>
            <a:endParaRPr lang="en-RW"/>
          </a:p>
        </p:txBody>
      </p:sp>
      <p:pic>
        <p:nvPicPr>
          <p:cNvPr id="14" name="FaWallet icon" descr="preencoded.png"/>
          <p:cNvPicPr>
            <a:picLocks noChangeAspect="1"/>
          </p:cNvPicPr>
          <p:nvPr/>
        </p:nvPicPr>
        <p:blipFill>
          <a:blip r:embed="rId5"/>
          <a:stretch>
            <a:fillRect/>
          </a:stretch>
        </p:blipFill>
        <p:spPr>
          <a:xfrm>
            <a:off x="697230" y="3303270"/>
            <a:ext cx="205740" cy="205740"/>
          </a:xfrm>
          <a:prstGeom prst="rect">
            <a:avLst/>
          </a:prstGeom>
        </p:spPr>
      </p:pic>
      <p:sp>
        <p:nvSpPr>
          <p:cNvPr id="15" name="Text 10"/>
          <p:cNvSpPr txBox="1"/>
          <p:nvPr/>
        </p:nvSpPr>
        <p:spPr>
          <a:xfrm>
            <a:off x="1188720" y="3017520"/>
            <a:ext cx="3977640" cy="777240"/>
          </a:xfrm>
          <a:prstGeom prst="rect">
            <a:avLst/>
          </a:prstGeom>
          <a:noFill/>
          <a:ln/>
        </p:spPr>
        <p:txBody>
          <a:bodyPr wrap="square" lIns="0" tIns="0" rIns="0" bIns="0" rtlCol="0" anchor="ctr"/>
          <a:lstStyle/>
          <a:p>
            <a:pPr marL="0" indent="0">
              <a:buNone/>
            </a:pPr>
            <a:r>
              <a:rPr lang="en-US" sz="1400" dirty="0">
                <a:solidFill>
                  <a:schemeClr val="tx1"/>
                </a:solidFill>
              </a:rPr>
              <a:t>Consumers use services via the Internet and pay </a:t>
            </a:r>
            <a:r>
              <a:rPr lang="en-US" sz="1400" b="1" dirty="0">
                <a:solidFill>
                  <a:schemeClr val="tx1"/>
                </a:solidFill>
              </a:rPr>
              <a:t>metered usage charges</a:t>
            </a:r>
            <a:r>
              <a:rPr lang="en-US" sz="1400" dirty="0">
                <a:solidFill>
                  <a:schemeClr val="tx1"/>
                </a:solidFill>
              </a:rPr>
              <a:t> (closest to the utility model).</a:t>
            </a:r>
            <a:endParaRPr lang="en-US" sz="1400" dirty="0"/>
          </a:p>
        </p:txBody>
      </p:sp>
      <p:sp>
        <p:nvSpPr>
          <p:cNvPr id="16" name="Card"/>
          <p:cNvSpPr/>
          <p:nvPr/>
        </p:nvSpPr>
        <p:spPr>
          <a:xfrm>
            <a:off x="5532120" y="1371600"/>
            <a:ext cx="3154680" cy="1188720"/>
          </a:xfrm>
          <a:prstGeom prst="roundRect">
            <a:avLst>
              <a:gd name="adj" fmla="val 9231"/>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17" name="Tint"/>
          <p:cNvSpPr/>
          <p:nvPr/>
        </p:nvSpPr>
        <p:spPr>
          <a:xfrm>
            <a:off x="5669280" y="1499616"/>
            <a:ext cx="1234440" cy="256032"/>
          </a:xfrm>
          <a:prstGeom prst="roundRect">
            <a:avLst>
              <a:gd name="adj" fmla="val 50000"/>
            </a:avLst>
          </a:prstGeom>
          <a:solidFill>
            <a:schemeClr val="accent2"/>
          </a:solidFill>
          <a:ln/>
        </p:spPr>
        <p:txBody>
          <a:bodyPr/>
          <a:lstStyle/>
          <a:p>
            <a:endParaRPr lang="en-RW"/>
          </a:p>
        </p:txBody>
      </p:sp>
      <p:sp>
        <p:nvSpPr>
          <p:cNvPr id="18" name="Text 13"/>
          <p:cNvSpPr txBox="1"/>
          <p:nvPr/>
        </p:nvSpPr>
        <p:spPr>
          <a:xfrm>
            <a:off x="5669280" y="1499616"/>
            <a:ext cx="1234440" cy="256032"/>
          </a:xfrm>
          <a:prstGeom prst="rect">
            <a:avLst/>
          </a:prstGeom>
          <a:noFill/>
          <a:ln/>
        </p:spPr>
        <p:txBody>
          <a:bodyPr wrap="square" lIns="0" tIns="0" rIns="0" bIns="0" rtlCol="0" anchor="ctr"/>
          <a:lstStyle/>
          <a:p>
            <a:pPr marL="0" indent="0" algn="ctr">
              <a:buNone/>
            </a:pPr>
            <a:r>
              <a:rPr lang="en-US" sz="1000" b="1" kern="0" spc="150" dirty="0">
                <a:solidFill>
                  <a:schemeClr val="tx1"/>
                </a:solidFill>
              </a:rPr>
              <a:t>STRENGTH</a:t>
            </a:r>
            <a:endParaRPr lang="en-US" sz="1000" dirty="0"/>
          </a:p>
        </p:txBody>
      </p:sp>
      <p:sp>
        <p:nvSpPr>
          <p:cNvPr id="19" name="Text 14"/>
          <p:cNvSpPr txBox="1"/>
          <p:nvPr/>
        </p:nvSpPr>
        <p:spPr>
          <a:xfrm>
            <a:off x="5669280" y="1847088"/>
            <a:ext cx="2880360" cy="676656"/>
          </a:xfrm>
          <a:prstGeom prst="rect">
            <a:avLst/>
          </a:prstGeom>
          <a:noFill/>
          <a:ln/>
        </p:spPr>
        <p:txBody>
          <a:bodyPr wrap="square" lIns="0" tIns="0" rIns="0" bIns="0" rtlCol="0" anchor="t"/>
          <a:lstStyle/>
          <a:p>
            <a:pPr marL="0" indent="0">
              <a:buNone/>
            </a:pPr>
            <a:r>
              <a:rPr lang="en-US" sz="1400" dirty="0">
                <a:solidFill>
                  <a:schemeClr val="tx1"/>
                </a:solidFill>
              </a:rPr>
              <a:t>Most cost-effective through multitenancy and enormous scalability.</a:t>
            </a:r>
            <a:endParaRPr lang="en-US" sz="1400" dirty="0"/>
          </a:p>
        </p:txBody>
      </p:sp>
      <p:sp>
        <p:nvSpPr>
          <p:cNvPr id="20" name="Card"/>
          <p:cNvSpPr/>
          <p:nvPr/>
        </p:nvSpPr>
        <p:spPr>
          <a:xfrm>
            <a:off x="5532120" y="2651760"/>
            <a:ext cx="3154680" cy="1188720"/>
          </a:xfrm>
          <a:prstGeom prst="roundRect">
            <a:avLst>
              <a:gd name="adj" fmla="val 9231"/>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21" name="Tint"/>
          <p:cNvSpPr/>
          <p:nvPr/>
        </p:nvSpPr>
        <p:spPr>
          <a:xfrm>
            <a:off x="5669280" y="2779776"/>
            <a:ext cx="1234440" cy="256032"/>
          </a:xfrm>
          <a:prstGeom prst="roundRect">
            <a:avLst>
              <a:gd name="adj" fmla="val 50000"/>
            </a:avLst>
          </a:prstGeom>
          <a:solidFill>
            <a:schemeClr val="accent3"/>
          </a:solidFill>
          <a:ln/>
        </p:spPr>
        <p:txBody>
          <a:bodyPr/>
          <a:lstStyle/>
          <a:p>
            <a:endParaRPr lang="en-RW"/>
          </a:p>
        </p:txBody>
      </p:sp>
      <p:sp>
        <p:nvSpPr>
          <p:cNvPr id="22" name="Text 17"/>
          <p:cNvSpPr txBox="1"/>
          <p:nvPr/>
        </p:nvSpPr>
        <p:spPr>
          <a:xfrm>
            <a:off x="5669280" y="2779776"/>
            <a:ext cx="1234440" cy="256032"/>
          </a:xfrm>
          <a:prstGeom prst="rect">
            <a:avLst/>
          </a:prstGeom>
          <a:noFill/>
          <a:ln/>
        </p:spPr>
        <p:txBody>
          <a:bodyPr wrap="square" lIns="0" tIns="0" rIns="0" bIns="0" rtlCol="0" anchor="ctr"/>
          <a:lstStyle/>
          <a:p>
            <a:pPr marL="0" indent="0" algn="ctr">
              <a:buNone/>
            </a:pPr>
            <a:r>
              <a:rPr lang="en-US" sz="1000" b="1" kern="0" spc="150" dirty="0">
                <a:solidFill>
                  <a:schemeClr val="tx1"/>
                </a:solidFill>
              </a:rPr>
              <a:t>WATCH OUT</a:t>
            </a:r>
            <a:endParaRPr lang="en-US" sz="1000" dirty="0"/>
          </a:p>
        </p:txBody>
      </p:sp>
      <p:sp>
        <p:nvSpPr>
          <p:cNvPr id="23" name="Text 18"/>
          <p:cNvSpPr txBox="1"/>
          <p:nvPr/>
        </p:nvSpPr>
        <p:spPr>
          <a:xfrm>
            <a:off x="5669280" y="3127248"/>
            <a:ext cx="2880360" cy="676656"/>
          </a:xfrm>
          <a:prstGeom prst="rect">
            <a:avLst/>
          </a:prstGeom>
          <a:noFill/>
          <a:ln/>
        </p:spPr>
        <p:txBody>
          <a:bodyPr wrap="square" lIns="0" tIns="0" rIns="0" bIns="0" rtlCol="0" anchor="t"/>
          <a:lstStyle/>
          <a:p>
            <a:pPr marL="0" indent="0">
              <a:buNone/>
            </a:pPr>
            <a:r>
              <a:rPr lang="en-US" sz="1400" dirty="0">
                <a:solidFill>
                  <a:schemeClr val="tx1"/>
                </a:solidFill>
              </a:rPr>
              <a:t>You don't control the location of data and equipment: a concern under regulatory mandates.</a:t>
            </a:r>
            <a:endParaRPr lang="en-US" sz="1400" dirty="0"/>
          </a:p>
        </p:txBody>
      </p:sp>
      <p:sp>
        <p:nvSpPr>
          <p:cNvPr id="24" name="Card"/>
          <p:cNvSpPr/>
          <p:nvPr/>
        </p:nvSpPr>
        <p:spPr>
          <a:xfrm>
            <a:off x="457200" y="3931920"/>
            <a:ext cx="8229600" cy="640080"/>
          </a:xfrm>
          <a:prstGeom prst="roundRect">
            <a:avLst>
              <a:gd name="adj" fmla="val 17143"/>
            </a:avLst>
          </a:prstGeom>
          <a:solidFill>
            <a:schemeClr val="accent5"/>
          </a:solidFill>
          <a:ln/>
          <a:effectLst>
            <a:outerShdw blurRad="127000" dist="38100" dir="5400000" algn="bl" rotWithShape="0">
              <a:srgbClr val="1E1B4B">
                <a:alpha val="10000"/>
              </a:srgbClr>
            </a:outerShdw>
          </a:effectLst>
        </p:spPr>
        <p:txBody>
          <a:bodyPr/>
          <a:lstStyle/>
          <a:p>
            <a:endParaRPr lang="en-RW"/>
          </a:p>
        </p:txBody>
      </p:sp>
      <p:sp>
        <p:nvSpPr>
          <p:cNvPr id="25" name="Text 20"/>
          <p:cNvSpPr txBox="1"/>
          <p:nvPr/>
        </p:nvSpPr>
        <p:spPr>
          <a:xfrm>
            <a:off x="685800" y="3931920"/>
            <a:ext cx="7772400" cy="640080"/>
          </a:xfrm>
          <a:prstGeom prst="rect">
            <a:avLst/>
          </a:prstGeom>
          <a:noFill/>
          <a:ln/>
        </p:spPr>
        <p:txBody>
          <a:bodyPr wrap="square" lIns="0" tIns="0" rIns="0" bIns="0" rtlCol="0" anchor="ctr"/>
          <a:lstStyle/>
          <a:p>
            <a:pPr marL="0" indent="0">
              <a:buNone/>
            </a:pPr>
            <a:r>
              <a:rPr lang="en-US" sz="1400" b="1" dirty="0">
                <a:solidFill>
                  <a:schemeClr val="tx1"/>
                </a:solidFill>
              </a:rPr>
              <a:t>For example:</a:t>
            </a:r>
            <a:r>
              <a:rPr lang="en-US" sz="1400" dirty="0">
                <a:solidFill>
                  <a:schemeClr val="tx1"/>
                </a:solidFill>
              </a:rPr>
              <a:t>  AWS  ·  Google  ·  Salesforce</a:t>
            </a:r>
            <a:endParaRPr lang="en-US" sz="1400" dirty="0"/>
          </a:p>
        </p:txBody>
      </p:sp>
      <p:sp>
        <p:nvSpPr>
          <p:cNvPr id="26"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5A7E"/>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48640"/>
            <a:ext cx="8229600" cy="640080"/>
          </a:xfrm>
          <a:prstGeom prst="rect">
            <a:avLst/>
          </a:prstGeom>
          <a:noFill/>
          <a:ln/>
        </p:spPr>
        <p:txBody>
          <a:bodyPr wrap="square" lIns="0" tIns="0" rIns="0" bIns="0" rtlCol="0" anchor="ctr"/>
          <a:lstStyle/>
          <a:p>
            <a:pPr marL="0" indent="0" algn="l">
              <a:buNone/>
            </a:pPr>
            <a:r>
              <a:rPr lang="en-US" sz="3400" b="1" dirty="0">
                <a:solidFill>
                  <a:schemeClr val="tx1"/>
                </a:solidFill>
              </a:rPr>
              <a:t>Private Cloud</a:t>
            </a:r>
            <a:endParaRPr lang="en-US" sz="3400" dirty="0"/>
          </a:p>
        </p:txBody>
      </p:sp>
      <p:sp>
        <p:nvSpPr>
          <p:cNvPr id="3" name="Section chip"/>
          <p:cNvSpPr txBox="1"/>
          <p:nvPr/>
        </p:nvSpPr>
        <p:spPr>
          <a:xfrm>
            <a:off x="457200" y="274320"/>
            <a:ext cx="1702613" cy="246888"/>
          </a:xfrm>
          <a:prstGeom prst="roundRect">
            <a:avLst>
              <a:gd name="adj" fmla="val 48148"/>
            </a:avLst>
          </a:prstGeom>
          <a:solidFill>
            <a:schemeClr val="accent3"/>
          </a:solidFill>
          <a:ln/>
        </p:spPr>
        <p:txBody>
          <a:bodyPr wrap="square" lIns="0" tIns="0" rIns="0" bIns="0" rtlCol="0" anchor="ctr"/>
          <a:lstStyle/>
          <a:p>
            <a:pPr marL="0" indent="0" algn="ctr">
              <a:buNone/>
            </a:pPr>
            <a:r>
              <a:rPr lang="en-US" sz="1000" b="1" kern="0" spc="150" dirty="0">
                <a:solidFill>
                  <a:schemeClr val="tx1"/>
                </a:solidFill>
              </a:rPr>
              <a:t>DEPLOYMENT MODELS</a:t>
            </a:r>
            <a:endParaRPr lang="en-US" sz="1000" dirty="0"/>
          </a:p>
        </p:txBody>
      </p:sp>
      <p:sp>
        <p:nvSpPr>
          <p:cNvPr id="4" name="Card"/>
          <p:cNvSpPr/>
          <p:nvPr/>
        </p:nvSpPr>
        <p:spPr>
          <a:xfrm>
            <a:off x="457200" y="1371600"/>
            <a:ext cx="4846320" cy="777240"/>
          </a:xfrm>
          <a:prstGeom prst="roundRect">
            <a:avLst>
              <a:gd name="adj" fmla="val 14118"/>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5" name="FaLock circle"/>
          <p:cNvSpPr/>
          <p:nvPr/>
        </p:nvSpPr>
        <p:spPr>
          <a:xfrm>
            <a:off x="594360" y="1554480"/>
            <a:ext cx="411480" cy="411480"/>
          </a:xfrm>
          <a:prstGeom prst="ellipse">
            <a:avLst/>
          </a:prstGeom>
          <a:solidFill>
            <a:schemeClr val="accent3"/>
          </a:solidFill>
          <a:ln/>
        </p:spPr>
        <p:txBody>
          <a:bodyPr/>
          <a:lstStyle/>
          <a:p>
            <a:endParaRPr lang="en-RW"/>
          </a:p>
        </p:txBody>
      </p:sp>
      <p:pic>
        <p:nvPicPr>
          <p:cNvPr id="6" name="FaLock icon" descr="preencoded.png"/>
          <p:cNvPicPr>
            <a:picLocks noChangeAspect="1"/>
          </p:cNvPicPr>
          <p:nvPr/>
        </p:nvPicPr>
        <p:blipFill>
          <a:blip r:embed="rId3"/>
          <a:stretch>
            <a:fillRect/>
          </a:stretch>
        </p:blipFill>
        <p:spPr>
          <a:xfrm>
            <a:off x="697230" y="1657350"/>
            <a:ext cx="205740" cy="205740"/>
          </a:xfrm>
          <a:prstGeom prst="rect">
            <a:avLst/>
          </a:prstGeom>
        </p:spPr>
      </p:pic>
      <p:sp>
        <p:nvSpPr>
          <p:cNvPr id="7" name="Text 4"/>
          <p:cNvSpPr txBox="1"/>
          <p:nvPr/>
        </p:nvSpPr>
        <p:spPr>
          <a:xfrm>
            <a:off x="1188720" y="1371600"/>
            <a:ext cx="3977640" cy="777240"/>
          </a:xfrm>
          <a:prstGeom prst="rect">
            <a:avLst/>
          </a:prstGeom>
          <a:noFill/>
          <a:ln/>
        </p:spPr>
        <p:txBody>
          <a:bodyPr wrap="square" lIns="0" tIns="0" rIns="0" bIns="0" rtlCol="0" anchor="ctr"/>
          <a:lstStyle/>
          <a:p>
            <a:pPr marL="0" indent="0">
              <a:buNone/>
            </a:pPr>
            <a:r>
              <a:rPr lang="en-US" sz="1400" dirty="0">
                <a:solidFill>
                  <a:schemeClr val="tx1"/>
                </a:solidFill>
              </a:rPr>
              <a:t>For </a:t>
            </a:r>
            <a:r>
              <a:rPr lang="en-US" sz="1400" b="1" dirty="0">
                <a:solidFill>
                  <a:schemeClr val="tx1"/>
                </a:solidFill>
              </a:rPr>
              <a:t>exclusive use</a:t>
            </a:r>
            <a:r>
              <a:rPr lang="en-US" sz="1400" dirty="0">
                <a:solidFill>
                  <a:schemeClr val="tx1"/>
                </a:solidFill>
              </a:rPr>
              <a:t> by a single organization with multiple consumers (e.g., departments or business units).</a:t>
            </a:r>
            <a:endParaRPr lang="en-US" sz="1400" dirty="0"/>
          </a:p>
        </p:txBody>
      </p:sp>
      <p:sp>
        <p:nvSpPr>
          <p:cNvPr id="8" name="Card"/>
          <p:cNvSpPr/>
          <p:nvPr/>
        </p:nvSpPr>
        <p:spPr>
          <a:xfrm>
            <a:off x="457200" y="2194560"/>
            <a:ext cx="4846320" cy="777240"/>
          </a:xfrm>
          <a:prstGeom prst="roundRect">
            <a:avLst>
              <a:gd name="adj" fmla="val 14118"/>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9" name="FaServer circle"/>
          <p:cNvSpPr/>
          <p:nvPr/>
        </p:nvSpPr>
        <p:spPr>
          <a:xfrm>
            <a:off x="594360" y="2377440"/>
            <a:ext cx="411480" cy="411480"/>
          </a:xfrm>
          <a:prstGeom prst="ellipse">
            <a:avLst/>
          </a:prstGeom>
          <a:solidFill>
            <a:schemeClr val="accent3"/>
          </a:solidFill>
          <a:ln/>
        </p:spPr>
        <p:txBody>
          <a:bodyPr/>
          <a:lstStyle/>
          <a:p>
            <a:endParaRPr lang="en-RW"/>
          </a:p>
        </p:txBody>
      </p:sp>
      <p:pic>
        <p:nvPicPr>
          <p:cNvPr id="10" name="FaServer icon" descr="preencoded.png"/>
          <p:cNvPicPr>
            <a:picLocks noChangeAspect="1"/>
          </p:cNvPicPr>
          <p:nvPr/>
        </p:nvPicPr>
        <p:blipFill>
          <a:blip r:embed="rId4"/>
          <a:stretch>
            <a:fillRect/>
          </a:stretch>
        </p:blipFill>
        <p:spPr>
          <a:xfrm>
            <a:off x="697230" y="2480310"/>
            <a:ext cx="205740" cy="205740"/>
          </a:xfrm>
          <a:prstGeom prst="rect">
            <a:avLst/>
          </a:prstGeom>
        </p:spPr>
      </p:pic>
      <p:sp>
        <p:nvSpPr>
          <p:cNvPr id="11" name="Text 7"/>
          <p:cNvSpPr txBox="1"/>
          <p:nvPr/>
        </p:nvSpPr>
        <p:spPr>
          <a:xfrm>
            <a:off x="1188720" y="2194560"/>
            <a:ext cx="3977640" cy="777240"/>
          </a:xfrm>
          <a:prstGeom prst="rect">
            <a:avLst/>
          </a:prstGeom>
          <a:noFill/>
          <a:ln/>
        </p:spPr>
        <p:txBody>
          <a:bodyPr wrap="square" lIns="0" tIns="0" rIns="0" bIns="0" rtlCol="0" anchor="ctr"/>
          <a:lstStyle/>
          <a:p>
            <a:pPr marL="0" indent="0">
              <a:buNone/>
            </a:pPr>
            <a:r>
              <a:rPr lang="en-US" sz="1400" dirty="0">
                <a:solidFill>
                  <a:schemeClr val="tx1"/>
                </a:solidFill>
              </a:rPr>
              <a:t>Infrastructure is owned and managed by the organization on-premise¹ (cost-intensive).</a:t>
            </a:r>
            <a:endParaRPr lang="en-US" sz="1400" dirty="0"/>
          </a:p>
        </p:txBody>
      </p:sp>
      <p:sp>
        <p:nvSpPr>
          <p:cNvPr id="12" name="Card"/>
          <p:cNvSpPr/>
          <p:nvPr/>
        </p:nvSpPr>
        <p:spPr>
          <a:xfrm>
            <a:off x="457200" y="3017520"/>
            <a:ext cx="4846320" cy="777240"/>
          </a:xfrm>
          <a:prstGeom prst="roundRect">
            <a:avLst>
              <a:gd name="adj" fmla="val 14118"/>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13" name="FaUsers circle"/>
          <p:cNvSpPr/>
          <p:nvPr/>
        </p:nvSpPr>
        <p:spPr>
          <a:xfrm>
            <a:off x="594360" y="3200400"/>
            <a:ext cx="411480" cy="411480"/>
          </a:xfrm>
          <a:prstGeom prst="ellipse">
            <a:avLst/>
          </a:prstGeom>
          <a:solidFill>
            <a:schemeClr val="accent3"/>
          </a:solidFill>
          <a:ln/>
        </p:spPr>
        <p:txBody>
          <a:bodyPr/>
          <a:lstStyle/>
          <a:p>
            <a:endParaRPr lang="en-RW"/>
          </a:p>
        </p:txBody>
      </p:sp>
      <p:pic>
        <p:nvPicPr>
          <p:cNvPr id="14" name="FaUsers icon" descr="preencoded.png"/>
          <p:cNvPicPr>
            <a:picLocks noChangeAspect="1"/>
          </p:cNvPicPr>
          <p:nvPr/>
        </p:nvPicPr>
        <p:blipFill>
          <a:blip r:embed="rId5"/>
          <a:stretch>
            <a:fillRect/>
          </a:stretch>
        </p:blipFill>
        <p:spPr>
          <a:xfrm>
            <a:off x="697230" y="3303270"/>
            <a:ext cx="205740" cy="205740"/>
          </a:xfrm>
          <a:prstGeom prst="rect">
            <a:avLst/>
          </a:prstGeom>
        </p:spPr>
      </p:pic>
      <p:sp>
        <p:nvSpPr>
          <p:cNvPr id="15" name="Text 10"/>
          <p:cNvSpPr txBox="1"/>
          <p:nvPr/>
        </p:nvSpPr>
        <p:spPr>
          <a:xfrm>
            <a:off x="1188720" y="3017520"/>
            <a:ext cx="3977640" cy="777240"/>
          </a:xfrm>
          <a:prstGeom prst="rect">
            <a:avLst/>
          </a:prstGeom>
          <a:noFill/>
          <a:ln/>
        </p:spPr>
        <p:txBody>
          <a:bodyPr wrap="square" lIns="0" tIns="0" rIns="0" bIns="0" rtlCol="0" anchor="ctr"/>
          <a:lstStyle/>
          <a:p>
            <a:pPr marL="0" indent="0">
              <a:buNone/>
            </a:pPr>
            <a:r>
              <a:rPr lang="en-US" sz="1400" dirty="0">
                <a:solidFill>
                  <a:schemeClr val="tx1"/>
                </a:solidFill>
              </a:rPr>
              <a:t>Requires in-house IT skills and expertise.</a:t>
            </a:r>
            <a:endParaRPr lang="en-US" sz="1400" dirty="0"/>
          </a:p>
        </p:txBody>
      </p:sp>
      <p:sp>
        <p:nvSpPr>
          <p:cNvPr id="16" name="Card"/>
          <p:cNvSpPr/>
          <p:nvPr/>
        </p:nvSpPr>
        <p:spPr>
          <a:xfrm>
            <a:off x="5532120" y="1371600"/>
            <a:ext cx="3154680" cy="1188720"/>
          </a:xfrm>
          <a:prstGeom prst="roundRect">
            <a:avLst>
              <a:gd name="adj" fmla="val 9231"/>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17" name="Tint"/>
          <p:cNvSpPr/>
          <p:nvPr/>
        </p:nvSpPr>
        <p:spPr>
          <a:xfrm>
            <a:off x="5669280" y="1499616"/>
            <a:ext cx="1234440" cy="256032"/>
          </a:xfrm>
          <a:prstGeom prst="roundRect">
            <a:avLst>
              <a:gd name="adj" fmla="val 50000"/>
            </a:avLst>
          </a:prstGeom>
          <a:solidFill>
            <a:schemeClr val="accent2"/>
          </a:solidFill>
          <a:ln/>
        </p:spPr>
        <p:txBody>
          <a:bodyPr/>
          <a:lstStyle/>
          <a:p>
            <a:endParaRPr lang="en-RW"/>
          </a:p>
        </p:txBody>
      </p:sp>
      <p:sp>
        <p:nvSpPr>
          <p:cNvPr id="18" name="Text 13"/>
          <p:cNvSpPr txBox="1"/>
          <p:nvPr/>
        </p:nvSpPr>
        <p:spPr>
          <a:xfrm>
            <a:off x="5669280" y="1499616"/>
            <a:ext cx="1234440" cy="256032"/>
          </a:xfrm>
          <a:prstGeom prst="rect">
            <a:avLst/>
          </a:prstGeom>
          <a:noFill/>
          <a:ln/>
        </p:spPr>
        <p:txBody>
          <a:bodyPr wrap="square" lIns="0" tIns="0" rIns="0" bIns="0" rtlCol="0" anchor="ctr"/>
          <a:lstStyle/>
          <a:p>
            <a:pPr marL="0" indent="0" algn="ctr">
              <a:buNone/>
            </a:pPr>
            <a:r>
              <a:rPr lang="en-US" sz="1000" b="1" kern="0" spc="150" dirty="0">
                <a:solidFill>
                  <a:schemeClr val="tx1"/>
                </a:solidFill>
              </a:rPr>
              <a:t>STRENGTH</a:t>
            </a:r>
            <a:endParaRPr lang="en-US" sz="1000" dirty="0"/>
          </a:p>
        </p:txBody>
      </p:sp>
      <p:sp>
        <p:nvSpPr>
          <p:cNvPr id="19" name="Text 14"/>
          <p:cNvSpPr txBox="1"/>
          <p:nvPr/>
        </p:nvSpPr>
        <p:spPr>
          <a:xfrm>
            <a:off x="5669280" y="1847088"/>
            <a:ext cx="2880360" cy="676656"/>
          </a:xfrm>
          <a:prstGeom prst="rect">
            <a:avLst/>
          </a:prstGeom>
          <a:noFill/>
          <a:ln/>
        </p:spPr>
        <p:txBody>
          <a:bodyPr wrap="square" lIns="0" tIns="0" rIns="0" bIns="0" rtlCol="0" anchor="t"/>
          <a:lstStyle/>
          <a:p>
            <a:pPr marL="0" indent="0">
              <a:buNone/>
            </a:pPr>
            <a:r>
              <a:rPr lang="en-US" sz="1400" dirty="0">
                <a:solidFill>
                  <a:schemeClr val="tx1"/>
                </a:solidFill>
              </a:rPr>
              <a:t>Better control over data location and security.</a:t>
            </a:r>
            <a:endParaRPr lang="en-US" sz="1400" dirty="0"/>
          </a:p>
        </p:txBody>
      </p:sp>
      <p:sp>
        <p:nvSpPr>
          <p:cNvPr id="20" name="Card"/>
          <p:cNvSpPr/>
          <p:nvPr/>
        </p:nvSpPr>
        <p:spPr>
          <a:xfrm>
            <a:off x="5532120" y="2651760"/>
            <a:ext cx="3154680" cy="1188720"/>
          </a:xfrm>
          <a:prstGeom prst="roundRect">
            <a:avLst>
              <a:gd name="adj" fmla="val 9231"/>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21" name="Tint"/>
          <p:cNvSpPr/>
          <p:nvPr/>
        </p:nvSpPr>
        <p:spPr>
          <a:xfrm>
            <a:off x="5669280" y="2779776"/>
            <a:ext cx="1234440" cy="256032"/>
          </a:xfrm>
          <a:prstGeom prst="roundRect">
            <a:avLst>
              <a:gd name="adj" fmla="val 50000"/>
            </a:avLst>
          </a:prstGeom>
          <a:solidFill>
            <a:schemeClr val="accent3"/>
          </a:solidFill>
          <a:ln/>
        </p:spPr>
        <p:txBody>
          <a:bodyPr/>
          <a:lstStyle/>
          <a:p>
            <a:endParaRPr lang="en-RW"/>
          </a:p>
        </p:txBody>
      </p:sp>
      <p:sp>
        <p:nvSpPr>
          <p:cNvPr id="22" name="Text 17"/>
          <p:cNvSpPr txBox="1"/>
          <p:nvPr/>
        </p:nvSpPr>
        <p:spPr>
          <a:xfrm>
            <a:off x="5669280" y="2779776"/>
            <a:ext cx="1234440" cy="256032"/>
          </a:xfrm>
          <a:prstGeom prst="rect">
            <a:avLst/>
          </a:prstGeom>
          <a:noFill/>
          <a:ln/>
        </p:spPr>
        <p:txBody>
          <a:bodyPr wrap="square" lIns="0" tIns="0" rIns="0" bIns="0" rtlCol="0" anchor="ctr"/>
          <a:lstStyle/>
          <a:p>
            <a:pPr marL="0" indent="0" algn="ctr">
              <a:buNone/>
            </a:pPr>
            <a:r>
              <a:rPr lang="en-US" sz="1000" b="1" kern="0" spc="150" dirty="0">
                <a:solidFill>
                  <a:schemeClr val="tx1"/>
                </a:solidFill>
              </a:rPr>
              <a:t>WATCH OUT</a:t>
            </a:r>
            <a:endParaRPr lang="en-US" sz="1000" dirty="0"/>
          </a:p>
        </p:txBody>
      </p:sp>
      <p:sp>
        <p:nvSpPr>
          <p:cNvPr id="23" name="Text 18"/>
          <p:cNvSpPr txBox="1"/>
          <p:nvPr/>
        </p:nvSpPr>
        <p:spPr>
          <a:xfrm>
            <a:off x="5669280" y="3127248"/>
            <a:ext cx="2880360" cy="676656"/>
          </a:xfrm>
          <a:prstGeom prst="rect">
            <a:avLst/>
          </a:prstGeom>
          <a:noFill/>
          <a:ln/>
        </p:spPr>
        <p:txBody>
          <a:bodyPr wrap="square" lIns="0" tIns="0" rIns="0" bIns="0" rtlCol="0" anchor="t"/>
          <a:lstStyle/>
          <a:p>
            <a:pPr marL="0" indent="0">
              <a:buNone/>
            </a:pPr>
            <a:r>
              <a:rPr lang="en-US" sz="1400" dirty="0">
                <a:solidFill>
                  <a:schemeClr val="tx1"/>
                </a:solidFill>
              </a:rPr>
              <a:t>Limited scalability.</a:t>
            </a:r>
            <a:endParaRPr lang="en-US" sz="1400" dirty="0"/>
          </a:p>
        </p:txBody>
      </p:sp>
      <p:sp>
        <p:nvSpPr>
          <p:cNvPr id="24" name="Card"/>
          <p:cNvSpPr/>
          <p:nvPr/>
        </p:nvSpPr>
        <p:spPr>
          <a:xfrm>
            <a:off x="457200" y="3931920"/>
            <a:ext cx="8229600" cy="640080"/>
          </a:xfrm>
          <a:prstGeom prst="roundRect">
            <a:avLst>
              <a:gd name="adj" fmla="val 17143"/>
            </a:avLst>
          </a:prstGeom>
          <a:solidFill>
            <a:schemeClr val="accent3"/>
          </a:solidFill>
          <a:ln/>
          <a:effectLst>
            <a:outerShdw blurRad="127000" dist="38100" dir="5400000" algn="bl" rotWithShape="0">
              <a:srgbClr val="1E1B4B">
                <a:alpha val="10000"/>
              </a:srgbClr>
            </a:outerShdw>
          </a:effectLst>
        </p:spPr>
        <p:txBody>
          <a:bodyPr/>
          <a:lstStyle/>
          <a:p>
            <a:endParaRPr lang="en-RW"/>
          </a:p>
        </p:txBody>
      </p:sp>
      <p:sp>
        <p:nvSpPr>
          <p:cNvPr id="25" name="Text 20"/>
          <p:cNvSpPr txBox="1"/>
          <p:nvPr/>
        </p:nvSpPr>
        <p:spPr>
          <a:xfrm>
            <a:off x="685800" y="3931920"/>
            <a:ext cx="7772400" cy="640080"/>
          </a:xfrm>
          <a:prstGeom prst="rect">
            <a:avLst/>
          </a:prstGeom>
          <a:noFill/>
          <a:ln/>
        </p:spPr>
        <p:txBody>
          <a:bodyPr wrap="square" lIns="0" tIns="0" rIns="0" bIns="0" rtlCol="0" anchor="ctr"/>
          <a:lstStyle/>
          <a:p>
            <a:pPr marL="0" indent="0">
              <a:buNone/>
            </a:pPr>
            <a:r>
              <a:rPr lang="en-US" sz="1400" b="1" dirty="0">
                <a:solidFill>
                  <a:schemeClr val="tx1"/>
                </a:solidFill>
              </a:rPr>
              <a:t>Preferred by</a:t>
            </a:r>
            <a:r>
              <a:rPr lang="en-US" sz="1400" dirty="0">
                <a:solidFill>
                  <a:schemeClr val="tx1"/>
                </a:solidFill>
              </a:rPr>
              <a:t> companies that already own a data center and developed IT infrastructure, or are driven by legal and compliance requirements.</a:t>
            </a:r>
            <a:endParaRPr lang="en-US" sz="1400" dirty="0"/>
          </a:p>
        </p:txBody>
      </p:sp>
      <p:sp>
        <p:nvSpPr>
          <p:cNvPr id="26" name="Text 21"/>
          <p:cNvSpPr txBox="1"/>
          <p:nvPr/>
        </p:nvSpPr>
        <p:spPr>
          <a:xfrm>
            <a:off x="457200" y="4645152"/>
            <a:ext cx="7589520" cy="228600"/>
          </a:xfrm>
          <a:prstGeom prst="rect">
            <a:avLst/>
          </a:prstGeom>
          <a:noFill/>
          <a:ln/>
        </p:spPr>
        <p:txBody>
          <a:bodyPr wrap="square" lIns="0" tIns="0" rIns="0" bIns="0" rtlCol="0" anchor="t"/>
          <a:lstStyle/>
          <a:p>
            <a:pPr marL="0" indent="0">
              <a:buNone/>
            </a:pPr>
            <a:r>
              <a:rPr lang="en-US" sz="1000" i="1" dirty="0">
                <a:solidFill>
                  <a:schemeClr val="tx2"/>
                </a:solidFill>
              </a:rPr>
              <a:t>¹ If the organization lacks the expertise, or for cost reasons, a private cloud can also be managed by a third party and hosted off-premise.</a:t>
            </a:r>
            <a:endParaRPr lang="en-US" sz="1000" dirty="0"/>
          </a:p>
        </p:txBody>
      </p:sp>
      <p:sp>
        <p:nvSpPr>
          <p:cNvPr id="27"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5A7E"/>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48640"/>
            <a:ext cx="8229600" cy="640080"/>
          </a:xfrm>
          <a:prstGeom prst="rect">
            <a:avLst/>
          </a:prstGeom>
          <a:noFill/>
          <a:ln/>
        </p:spPr>
        <p:txBody>
          <a:bodyPr wrap="square" lIns="0" tIns="0" rIns="0" bIns="0" rtlCol="0" anchor="ctr"/>
          <a:lstStyle/>
          <a:p>
            <a:pPr marL="0" indent="0" algn="l">
              <a:buNone/>
            </a:pPr>
            <a:r>
              <a:rPr lang="en-US" sz="3400" b="1" dirty="0">
                <a:solidFill>
                  <a:schemeClr val="tx1"/>
                </a:solidFill>
              </a:rPr>
              <a:t>Hybrid Cloud</a:t>
            </a:r>
            <a:endParaRPr lang="en-US" sz="3400" dirty="0"/>
          </a:p>
        </p:txBody>
      </p:sp>
      <p:sp>
        <p:nvSpPr>
          <p:cNvPr id="3" name="Section chip"/>
          <p:cNvSpPr txBox="1"/>
          <p:nvPr/>
        </p:nvSpPr>
        <p:spPr>
          <a:xfrm>
            <a:off x="457200" y="274320"/>
            <a:ext cx="1702613" cy="246888"/>
          </a:xfrm>
          <a:prstGeom prst="roundRect">
            <a:avLst>
              <a:gd name="adj" fmla="val 48148"/>
            </a:avLst>
          </a:prstGeom>
          <a:solidFill>
            <a:schemeClr val="accent1"/>
          </a:solidFill>
          <a:ln/>
        </p:spPr>
        <p:txBody>
          <a:bodyPr wrap="square" lIns="0" tIns="0" rIns="0" bIns="0" rtlCol="0" anchor="ctr"/>
          <a:lstStyle/>
          <a:p>
            <a:pPr marL="0" indent="0" algn="ctr">
              <a:buNone/>
            </a:pPr>
            <a:r>
              <a:rPr lang="en-US" sz="1000" b="1" kern="0" spc="150" dirty="0">
                <a:solidFill>
                  <a:schemeClr val="bg1"/>
                </a:solidFill>
              </a:rPr>
              <a:t>DEPLOYMENT MODELS</a:t>
            </a:r>
            <a:endParaRPr lang="en-US" sz="1000" dirty="0"/>
          </a:p>
        </p:txBody>
      </p:sp>
      <p:sp>
        <p:nvSpPr>
          <p:cNvPr id="4" name="Card"/>
          <p:cNvSpPr/>
          <p:nvPr/>
        </p:nvSpPr>
        <p:spPr>
          <a:xfrm>
            <a:off x="457200" y="1371600"/>
            <a:ext cx="4846320" cy="777240"/>
          </a:xfrm>
          <a:prstGeom prst="roundRect">
            <a:avLst>
              <a:gd name="adj" fmla="val 14118"/>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5" name="FaExchangeAlt circle"/>
          <p:cNvSpPr/>
          <p:nvPr/>
        </p:nvSpPr>
        <p:spPr>
          <a:xfrm>
            <a:off x="594360" y="1554480"/>
            <a:ext cx="411480" cy="411480"/>
          </a:xfrm>
          <a:prstGeom prst="ellipse">
            <a:avLst/>
          </a:prstGeom>
          <a:solidFill>
            <a:schemeClr val="accent1"/>
          </a:solidFill>
          <a:ln/>
        </p:spPr>
        <p:txBody>
          <a:bodyPr/>
          <a:lstStyle/>
          <a:p>
            <a:endParaRPr lang="en-RW"/>
          </a:p>
        </p:txBody>
      </p:sp>
      <p:pic>
        <p:nvPicPr>
          <p:cNvPr id="6" name="FaExchangeAlt icon" descr="preencoded.png"/>
          <p:cNvPicPr>
            <a:picLocks noChangeAspect="1"/>
          </p:cNvPicPr>
          <p:nvPr/>
        </p:nvPicPr>
        <p:blipFill>
          <a:blip r:embed="rId3"/>
          <a:stretch>
            <a:fillRect/>
          </a:stretch>
        </p:blipFill>
        <p:spPr>
          <a:xfrm>
            <a:off x="697230" y="1657350"/>
            <a:ext cx="205740" cy="205740"/>
          </a:xfrm>
          <a:prstGeom prst="rect">
            <a:avLst/>
          </a:prstGeom>
        </p:spPr>
      </p:pic>
      <p:sp>
        <p:nvSpPr>
          <p:cNvPr id="7" name="Text 4"/>
          <p:cNvSpPr txBox="1"/>
          <p:nvPr/>
        </p:nvSpPr>
        <p:spPr>
          <a:xfrm>
            <a:off x="1188720" y="1371600"/>
            <a:ext cx="3977640" cy="777240"/>
          </a:xfrm>
          <a:prstGeom prst="rect">
            <a:avLst/>
          </a:prstGeom>
          <a:noFill/>
          <a:ln/>
        </p:spPr>
        <p:txBody>
          <a:bodyPr wrap="square" lIns="0" tIns="0" rIns="0" bIns="0" rtlCol="0" anchor="ctr"/>
          <a:lstStyle/>
          <a:p>
            <a:pPr marL="0" indent="0">
              <a:buNone/>
            </a:pPr>
            <a:r>
              <a:rPr lang="en-US" sz="1400" dirty="0">
                <a:solidFill>
                  <a:schemeClr val="tx1"/>
                </a:solidFill>
              </a:rPr>
              <a:t>A </a:t>
            </a:r>
            <a:r>
              <a:rPr lang="en-US" sz="1400" b="1" dirty="0">
                <a:solidFill>
                  <a:schemeClr val="tx1"/>
                </a:solidFill>
              </a:rPr>
              <a:t>combination</a:t>
            </a:r>
            <a:r>
              <a:rPr lang="en-US" sz="1400" dirty="0">
                <a:solidFill>
                  <a:schemeClr val="tx1"/>
                </a:solidFill>
              </a:rPr>
              <a:t> of public and private (or other) cloud models.</a:t>
            </a:r>
            <a:endParaRPr lang="en-US" sz="1400" dirty="0"/>
          </a:p>
        </p:txBody>
      </p:sp>
      <p:sp>
        <p:nvSpPr>
          <p:cNvPr id="8" name="Card"/>
          <p:cNvSpPr/>
          <p:nvPr/>
        </p:nvSpPr>
        <p:spPr>
          <a:xfrm>
            <a:off x="457200" y="2194560"/>
            <a:ext cx="4846320" cy="777240"/>
          </a:xfrm>
          <a:prstGeom prst="roundRect">
            <a:avLst>
              <a:gd name="adj" fmla="val 14118"/>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9" name="FaLink circle"/>
          <p:cNvSpPr/>
          <p:nvPr/>
        </p:nvSpPr>
        <p:spPr>
          <a:xfrm>
            <a:off x="594360" y="2377440"/>
            <a:ext cx="411480" cy="411480"/>
          </a:xfrm>
          <a:prstGeom prst="ellipse">
            <a:avLst/>
          </a:prstGeom>
          <a:solidFill>
            <a:schemeClr val="accent1"/>
          </a:solidFill>
          <a:ln/>
        </p:spPr>
        <p:txBody>
          <a:bodyPr/>
          <a:lstStyle/>
          <a:p>
            <a:endParaRPr lang="en-RW"/>
          </a:p>
        </p:txBody>
      </p:sp>
      <p:pic>
        <p:nvPicPr>
          <p:cNvPr id="10" name="FaLink icon" descr="preencoded.png"/>
          <p:cNvPicPr>
            <a:picLocks noChangeAspect="1"/>
          </p:cNvPicPr>
          <p:nvPr/>
        </p:nvPicPr>
        <p:blipFill>
          <a:blip r:embed="rId4"/>
          <a:stretch>
            <a:fillRect/>
          </a:stretch>
        </p:blipFill>
        <p:spPr>
          <a:xfrm>
            <a:off x="697230" y="2480310"/>
            <a:ext cx="205740" cy="205740"/>
          </a:xfrm>
          <a:prstGeom prst="rect">
            <a:avLst/>
          </a:prstGeom>
        </p:spPr>
      </p:pic>
      <p:sp>
        <p:nvSpPr>
          <p:cNvPr id="11" name="Text 7"/>
          <p:cNvSpPr txBox="1"/>
          <p:nvPr/>
        </p:nvSpPr>
        <p:spPr>
          <a:xfrm>
            <a:off x="1188720" y="2194560"/>
            <a:ext cx="3977640" cy="777240"/>
          </a:xfrm>
          <a:prstGeom prst="rect">
            <a:avLst/>
          </a:prstGeom>
          <a:noFill/>
          <a:ln/>
        </p:spPr>
        <p:txBody>
          <a:bodyPr wrap="square" lIns="0" tIns="0" rIns="0" bIns="0" rtlCol="0" anchor="ctr"/>
          <a:lstStyle/>
          <a:p>
            <a:pPr marL="0" indent="0">
              <a:buNone/>
            </a:pPr>
            <a:r>
              <a:rPr lang="en-US" sz="1400" dirty="0">
                <a:solidFill>
                  <a:schemeClr val="tx1"/>
                </a:solidFill>
              </a:rPr>
              <a:t>The models stay unique entities but are bridged by standardized or proprietary technology that enables data and application portability.</a:t>
            </a:r>
            <a:endParaRPr lang="en-US" sz="1400" dirty="0"/>
          </a:p>
        </p:txBody>
      </p:sp>
      <p:sp>
        <p:nvSpPr>
          <p:cNvPr id="12" name="Card"/>
          <p:cNvSpPr/>
          <p:nvPr/>
        </p:nvSpPr>
        <p:spPr>
          <a:xfrm>
            <a:off x="5532120" y="1371600"/>
            <a:ext cx="3154680" cy="1188720"/>
          </a:xfrm>
          <a:prstGeom prst="roundRect">
            <a:avLst>
              <a:gd name="adj" fmla="val 9231"/>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13" name="Tint"/>
          <p:cNvSpPr/>
          <p:nvPr/>
        </p:nvSpPr>
        <p:spPr>
          <a:xfrm>
            <a:off x="5669280" y="1499616"/>
            <a:ext cx="1234440" cy="256032"/>
          </a:xfrm>
          <a:prstGeom prst="roundRect">
            <a:avLst>
              <a:gd name="adj" fmla="val 50000"/>
            </a:avLst>
          </a:prstGeom>
          <a:solidFill>
            <a:schemeClr val="accent2"/>
          </a:solidFill>
          <a:ln/>
        </p:spPr>
        <p:txBody>
          <a:bodyPr/>
          <a:lstStyle/>
          <a:p>
            <a:endParaRPr lang="en-RW"/>
          </a:p>
        </p:txBody>
      </p:sp>
      <p:sp>
        <p:nvSpPr>
          <p:cNvPr id="14" name="Text 10"/>
          <p:cNvSpPr txBox="1"/>
          <p:nvPr/>
        </p:nvSpPr>
        <p:spPr>
          <a:xfrm>
            <a:off x="5669280" y="1499616"/>
            <a:ext cx="1234440" cy="256032"/>
          </a:xfrm>
          <a:prstGeom prst="rect">
            <a:avLst/>
          </a:prstGeom>
          <a:noFill/>
          <a:ln/>
        </p:spPr>
        <p:txBody>
          <a:bodyPr wrap="square" lIns="0" tIns="0" rIns="0" bIns="0" rtlCol="0" anchor="ctr"/>
          <a:lstStyle/>
          <a:p>
            <a:pPr marL="0" indent="0" algn="ctr">
              <a:buNone/>
            </a:pPr>
            <a:r>
              <a:rPr lang="en-US" sz="1000" b="1" kern="0" spc="150" dirty="0">
                <a:solidFill>
                  <a:schemeClr val="tx1"/>
                </a:solidFill>
              </a:rPr>
              <a:t>STRENGTH</a:t>
            </a:r>
            <a:endParaRPr lang="en-US" sz="1000" dirty="0"/>
          </a:p>
        </p:txBody>
      </p:sp>
      <p:sp>
        <p:nvSpPr>
          <p:cNvPr id="15" name="Text 11"/>
          <p:cNvSpPr txBox="1"/>
          <p:nvPr/>
        </p:nvSpPr>
        <p:spPr>
          <a:xfrm>
            <a:off x="5669280" y="1847088"/>
            <a:ext cx="2880360" cy="676656"/>
          </a:xfrm>
          <a:prstGeom prst="rect">
            <a:avLst/>
          </a:prstGeom>
          <a:noFill/>
          <a:ln/>
        </p:spPr>
        <p:txBody>
          <a:bodyPr wrap="square" lIns="0" tIns="0" rIns="0" bIns="0" rtlCol="0" anchor="t"/>
          <a:lstStyle/>
          <a:p>
            <a:pPr marL="0" indent="0">
              <a:buNone/>
            </a:pPr>
            <a:r>
              <a:rPr lang="en-US" sz="1400" dirty="0">
                <a:solidFill>
                  <a:schemeClr val="tx1"/>
                </a:solidFill>
              </a:rPr>
              <a:t>Better alignment to business needs.</a:t>
            </a:r>
            <a:endParaRPr lang="en-US" sz="1400" dirty="0"/>
          </a:p>
        </p:txBody>
      </p:sp>
      <p:sp>
        <p:nvSpPr>
          <p:cNvPr id="16" name="Card"/>
          <p:cNvSpPr/>
          <p:nvPr/>
        </p:nvSpPr>
        <p:spPr>
          <a:xfrm>
            <a:off x="5532120" y="2651760"/>
            <a:ext cx="3154680" cy="1188720"/>
          </a:xfrm>
          <a:prstGeom prst="roundRect">
            <a:avLst>
              <a:gd name="adj" fmla="val 9231"/>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17" name="Tint"/>
          <p:cNvSpPr/>
          <p:nvPr/>
        </p:nvSpPr>
        <p:spPr>
          <a:xfrm>
            <a:off x="5669280" y="2779776"/>
            <a:ext cx="1234440" cy="256032"/>
          </a:xfrm>
          <a:prstGeom prst="roundRect">
            <a:avLst>
              <a:gd name="adj" fmla="val 50000"/>
            </a:avLst>
          </a:prstGeom>
          <a:solidFill>
            <a:schemeClr val="accent3"/>
          </a:solidFill>
          <a:ln/>
        </p:spPr>
        <p:txBody>
          <a:bodyPr/>
          <a:lstStyle/>
          <a:p>
            <a:endParaRPr lang="en-RW"/>
          </a:p>
        </p:txBody>
      </p:sp>
      <p:sp>
        <p:nvSpPr>
          <p:cNvPr id="18" name="Text 14"/>
          <p:cNvSpPr txBox="1"/>
          <p:nvPr/>
        </p:nvSpPr>
        <p:spPr>
          <a:xfrm>
            <a:off x="5669280" y="2779776"/>
            <a:ext cx="1234440" cy="256032"/>
          </a:xfrm>
          <a:prstGeom prst="rect">
            <a:avLst/>
          </a:prstGeom>
          <a:noFill/>
          <a:ln/>
        </p:spPr>
        <p:txBody>
          <a:bodyPr wrap="square" lIns="0" tIns="0" rIns="0" bIns="0" rtlCol="0" anchor="ctr"/>
          <a:lstStyle/>
          <a:p>
            <a:pPr marL="0" indent="0" algn="ctr">
              <a:buNone/>
            </a:pPr>
            <a:r>
              <a:rPr lang="en-US" sz="1000" b="1" kern="0" spc="150" dirty="0">
                <a:solidFill>
                  <a:schemeClr val="tx1"/>
                </a:solidFill>
              </a:rPr>
              <a:t>WATCH OUT</a:t>
            </a:r>
            <a:endParaRPr lang="en-US" sz="1000" dirty="0"/>
          </a:p>
        </p:txBody>
      </p:sp>
      <p:sp>
        <p:nvSpPr>
          <p:cNvPr id="19" name="Text 15"/>
          <p:cNvSpPr txBox="1"/>
          <p:nvPr/>
        </p:nvSpPr>
        <p:spPr>
          <a:xfrm>
            <a:off x="5669280" y="3127248"/>
            <a:ext cx="2880360" cy="676656"/>
          </a:xfrm>
          <a:prstGeom prst="rect">
            <a:avLst/>
          </a:prstGeom>
          <a:noFill/>
          <a:ln/>
        </p:spPr>
        <p:txBody>
          <a:bodyPr wrap="square" lIns="0" tIns="0" rIns="0" bIns="0" rtlCol="0" anchor="t"/>
          <a:lstStyle/>
          <a:p>
            <a:pPr marL="0" indent="0">
              <a:buNone/>
            </a:pPr>
            <a:r>
              <a:rPr lang="en-US" sz="1400" dirty="0">
                <a:solidFill>
                  <a:schemeClr val="tx1"/>
                </a:solidFill>
              </a:rPr>
              <a:t>Harder to manage.</a:t>
            </a:r>
            <a:endParaRPr lang="en-US" sz="1400" dirty="0"/>
          </a:p>
        </p:txBody>
      </p:sp>
      <p:sp>
        <p:nvSpPr>
          <p:cNvPr id="20" name="Card"/>
          <p:cNvSpPr/>
          <p:nvPr/>
        </p:nvSpPr>
        <p:spPr>
          <a:xfrm>
            <a:off x="457200" y="3931920"/>
            <a:ext cx="8229600" cy="640080"/>
          </a:xfrm>
          <a:prstGeom prst="roundRect">
            <a:avLst>
              <a:gd name="adj" fmla="val 17143"/>
            </a:avLst>
          </a:prstGeom>
          <a:solidFill>
            <a:schemeClr val="accent1"/>
          </a:solidFill>
          <a:ln/>
          <a:effectLst>
            <a:outerShdw blurRad="127000" dist="38100" dir="5400000" algn="bl" rotWithShape="0">
              <a:srgbClr val="1E1B4B">
                <a:alpha val="10000"/>
              </a:srgbClr>
            </a:outerShdw>
          </a:effectLst>
        </p:spPr>
        <p:txBody>
          <a:bodyPr/>
          <a:lstStyle/>
          <a:p>
            <a:endParaRPr lang="en-RW"/>
          </a:p>
        </p:txBody>
      </p:sp>
      <p:sp>
        <p:nvSpPr>
          <p:cNvPr id="21" name="Text 17"/>
          <p:cNvSpPr txBox="1"/>
          <p:nvPr/>
        </p:nvSpPr>
        <p:spPr>
          <a:xfrm>
            <a:off x="685800" y="3931920"/>
            <a:ext cx="7772400" cy="640080"/>
          </a:xfrm>
          <a:prstGeom prst="rect">
            <a:avLst/>
          </a:prstGeom>
          <a:noFill/>
          <a:ln/>
        </p:spPr>
        <p:txBody>
          <a:bodyPr wrap="square" lIns="0" tIns="0" rIns="0" bIns="0" rtlCol="0" anchor="ctr"/>
          <a:lstStyle/>
          <a:p>
            <a:pPr marL="0" indent="0">
              <a:buNone/>
            </a:pPr>
            <a:r>
              <a:rPr lang="en-US" sz="1400" b="1" dirty="0">
                <a:solidFill>
                  <a:schemeClr val="bg1"/>
                </a:solidFill>
              </a:rPr>
              <a:t>For example:</a:t>
            </a:r>
            <a:r>
              <a:rPr lang="en-US" sz="1400" dirty="0">
                <a:solidFill>
                  <a:schemeClr val="bg1"/>
                </a:solidFill>
              </a:rPr>
              <a:t> an organization with its own data center may use a public cloud for inexpensive data backup.</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5A7E"/>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48640"/>
            <a:ext cx="8229600" cy="640080"/>
          </a:xfrm>
          <a:prstGeom prst="rect">
            <a:avLst/>
          </a:prstGeom>
          <a:noFill/>
          <a:ln/>
        </p:spPr>
        <p:txBody>
          <a:bodyPr wrap="square" lIns="0" tIns="0" rIns="0" bIns="0" rtlCol="0" anchor="ctr"/>
          <a:lstStyle/>
          <a:p>
            <a:pPr marL="0" indent="0" algn="l">
              <a:buNone/>
            </a:pPr>
            <a:r>
              <a:rPr lang="en-US" sz="3400" b="1" dirty="0">
                <a:solidFill>
                  <a:schemeClr val="tx1"/>
                </a:solidFill>
              </a:rPr>
              <a:t>Cloud Bursting</a:t>
            </a:r>
            <a:endParaRPr lang="en-US" sz="3400" dirty="0"/>
          </a:p>
        </p:txBody>
      </p:sp>
      <p:sp>
        <p:nvSpPr>
          <p:cNvPr id="3" name="Section chip"/>
          <p:cNvSpPr txBox="1"/>
          <p:nvPr/>
        </p:nvSpPr>
        <p:spPr>
          <a:xfrm>
            <a:off x="457200" y="274320"/>
            <a:ext cx="2410358" cy="246888"/>
          </a:xfrm>
          <a:prstGeom prst="roundRect">
            <a:avLst>
              <a:gd name="adj" fmla="val 48148"/>
            </a:avLst>
          </a:prstGeom>
          <a:solidFill>
            <a:schemeClr val="accent1"/>
          </a:solidFill>
          <a:ln/>
        </p:spPr>
        <p:txBody>
          <a:bodyPr wrap="square" lIns="0" tIns="0" rIns="0" bIns="0" rtlCol="0" anchor="ctr"/>
          <a:lstStyle/>
          <a:p>
            <a:pPr marL="0" indent="0" algn="ctr">
              <a:buNone/>
            </a:pPr>
            <a:r>
              <a:rPr lang="en-US" sz="1000" b="1" kern="0" spc="150" dirty="0">
                <a:solidFill>
                  <a:schemeClr val="bg1"/>
                </a:solidFill>
              </a:rPr>
              <a:t>DEPLOYMENT MODELS · HYBRID</a:t>
            </a:r>
            <a:endParaRPr lang="en-US" sz="1000" dirty="0"/>
          </a:p>
        </p:txBody>
      </p:sp>
      <p:sp>
        <p:nvSpPr>
          <p:cNvPr id="4" name="Card"/>
          <p:cNvSpPr/>
          <p:nvPr/>
        </p:nvSpPr>
        <p:spPr>
          <a:xfrm>
            <a:off x="457200" y="1371600"/>
            <a:ext cx="4297680" cy="3291840"/>
          </a:xfrm>
          <a:prstGeom prst="roundRect">
            <a:avLst>
              <a:gd name="adj" fmla="val 3333"/>
            </a:avLst>
          </a:prstGeom>
          <a:solidFill>
            <a:schemeClr val="bg1"/>
          </a:solidFill>
          <a:ln/>
          <a:effectLst>
            <a:outerShdw blurRad="127000" dist="38100" dir="5400000" algn="bl" rotWithShape="0">
              <a:srgbClr val="1E1B4B">
                <a:alpha val="10000"/>
              </a:srgbClr>
            </a:outerShdw>
          </a:effectLst>
        </p:spPr>
        <p:txBody>
          <a:bodyPr/>
          <a:lstStyle/>
          <a:p>
            <a:endParaRPr lang="en-RW"/>
          </a:p>
        </p:txBody>
      </p:sp>
      <p:graphicFrame>
        <p:nvGraphicFramePr>
          <p:cNvPr id="5" name="Chart 0"/>
          <p:cNvGraphicFramePr/>
          <p:nvPr/>
        </p:nvGraphicFramePr>
        <p:xfrm>
          <a:off x="548640" y="1463040"/>
          <a:ext cx="411480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6" name="Card"/>
          <p:cNvSpPr/>
          <p:nvPr/>
        </p:nvSpPr>
        <p:spPr>
          <a:xfrm>
            <a:off x="4937760" y="1371600"/>
            <a:ext cx="3749040" cy="1417320"/>
          </a:xfrm>
          <a:prstGeom prst="roundRect">
            <a:avLst>
              <a:gd name="adj" fmla="val 7742"/>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7" name="Tint"/>
          <p:cNvSpPr/>
          <p:nvPr/>
        </p:nvSpPr>
        <p:spPr>
          <a:xfrm>
            <a:off x="5074920" y="1508760"/>
            <a:ext cx="1234440" cy="274320"/>
          </a:xfrm>
          <a:prstGeom prst="roundRect">
            <a:avLst>
              <a:gd name="adj" fmla="val 50000"/>
            </a:avLst>
          </a:prstGeom>
          <a:solidFill>
            <a:schemeClr val="accent1"/>
          </a:solidFill>
          <a:ln/>
        </p:spPr>
        <p:txBody>
          <a:bodyPr/>
          <a:lstStyle/>
          <a:p>
            <a:endParaRPr lang="en-RW"/>
          </a:p>
        </p:txBody>
      </p:sp>
      <p:sp>
        <p:nvSpPr>
          <p:cNvPr id="8" name="Text 5"/>
          <p:cNvSpPr txBox="1"/>
          <p:nvPr/>
        </p:nvSpPr>
        <p:spPr>
          <a:xfrm>
            <a:off x="5074920" y="1508760"/>
            <a:ext cx="1234440" cy="274320"/>
          </a:xfrm>
          <a:prstGeom prst="rect">
            <a:avLst/>
          </a:prstGeom>
          <a:noFill/>
          <a:ln/>
        </p:spPr>
        <p:txBody>
          <a:bodyPr wrap="square" lIns="0" tIns="0" rIns="0" bIns="0" rtlCol="0" anchor="ctr"/>
          <a:lstStyle/>
          <a:p>
            <a:pPr marL="0" indent="0" algn="ctr">
              <a:buNone/>
            </a:pPr>
            <a:r>
              <a:rPr lang="en-US" sz="1000" b="1" kern="0" spc="150" dirty="0">
                <a:solidFill>
                  <a:schemeClr val="bg1"/>
                </a:solidFill>
              </a:rPr>
              <a:t>HOW IT WORKS</a:t>
            </a:r>
            <a:endParaRPr lang="en-US" sz="1000" dirty="0"/>
          </a:p>
        </p:txBody>
      </p:sp>
      <p:sp>
        <p:nvSpPr>
          <p:cNvPr id="9" name="Text 6"/>
          <p:cNvSpPr txBox="1"/>
          <p:nvPr/>
        </p:nvSpPr>
        <p:spPr>
          <a:xfrm>
            <a:off x="5120640" y="1901952"/>
            <a:ext cx="3383280" cy="777240"/>
          </a:xfrm>
          <a:prstGeom prst="rect">
            <a:avLst/>
          </a:prstGeom>
          <a:noFill/>
          <a:ln/>
        </p:spPr>
        <p:txBody>
          <a:bodyPr wrap="square" lIns="0" tIns="0" rIns="0" bIns="0" rtlCol="0" anchor="t"/>
          <a:lstStyle/>
          <a:p>
            <a:pPr marL="0" indent="0">
              <a:buNone/>
            </a:pPr>
            <a:r>
              <a:rPr lang="en-US" sz="1400" dirty="0">
                <a:solidFill>
                  <a:schemeClr val="tx1"/>
                </a:solidFill>
              </a:rPr>
              <a:t>Use private cloud resources to run applications. When a spike in demand exceeds local limits, the </a:t>
            </a:r>
            <a:r>
              <a:rPr lang="en-US" sz="1400" b="1" dirty="0">
                <a:solidFill>
                  <a:schemeClr val="tx1"/>
                </a:solidFill>
              </a:rPr>
              <a:t>public cloud</a:t>
            </a:r>
            <a:r>
              <a:rPr lang="en-US" sz="1400" dirty="0">
                <a:solidFill>
                  <a:schemeClr val="tx1"/>
                </a:solidFill>
              </a:rPr>
              <a:t> handles the burst.</a:t>
            </a:r>
            <a:endParaRPr lang="en-US" sz="1400" dirty="0"/>
          </a:p>
        </p:txBody>
      </p:sp>
      <p:sp>
        <p:nvSpPr>
          <p:cNvPr id="10" name="Card"/>
          <p:cNvSpPr/>
          <p:nvPr/>
        </p:nvSpPr>
        <p:spPr>
          <a:xfrm>
            <a:off x="4937760" y="2926080"/>
            <a:ext cx="3749040" cy="1737360"/>
          </a:xfrm>
          <a:prstGeom prst="roundRect">
            <a:avLst>
              <a:gd name="adj" fmla="val 6316"/>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11" name="Tint"/>
          <p:cNvSpPr/>
          <p:nvPr/>
        </p:nvSpPr>
        <p:spPr>
          <a:xfrm>
            <a:off x="5074920" y="3063240"/>
            <a:ext cx="914400" cy="274320"/>
          </a:xfrm>
          <a:prstGeom prst="roundRect">
            <a:avLst>
              <a:gd name="adj" fmla="val 50000"/>
            </a:avLst>
          </a:prstGeom>
          <a:solidFill>
            <a:schemeClr val="accent3"/>
          </a:solidFill>
          <a:ln/>
        </p:spPr>
        <p:txBody>
          <a:bodyPr/>
          <a:lstStyle/>
          <a:p>
            <a:endParaRPr lang="en-RW"/>
          </a:p>
        </p:txBody>
      </p:sp>
      <p:sp>
        <p:nvSpPr>
          <p:cNvPr id="12" name="Text 9"/>
          <p:cNvSpPr txBox="1"/>
          <p:nvPr/>
        </p:nvSpPr>
        <p:spPr>
          <a:xfrm>
            <a:off x="5074920" y="3063240"/>
            <a:ext cx="914400" cy="274320"/>
          </a:xfrm>
          <a:prstGeom prst="rect">
            <a:avLst/>
          </a:prstGeom>
          <a:noFill/>
          <a:ln/>
        </p:spPr>
        <p:txBody>
          <a:bodyPr wrap="square" lIns="0" tIns="0" rIns="0" bIns="0" rtlCol="0" anchor="ctr"/>
          <a:lstStyle/>
          <a:p>
            <a:pPr marL="0" indent="0" algn="ctr">
              <a:buNone/>
            </a:pPr>
            <a:r>
              <a:rPr lang="en-US" sz="1000" b="1" kern="0" spc="150" dirty="0">
                <a:solidFill>
                  <a:schemeClr val="tx1"/>
                </a:solidFill>
              </a:rPr>
              <a:t>EXAMPLE</a:t>
            </a:r>
            <a:endParaRPr lang="en-US" sz="1000" dirty="0"/>
          </a:p>
        </p:txBody>
      </p:sp>
      <p:sp>
        <p:nvSpPr>
          <p:cNvPr id="13" name="Text 10"/>
          <p:cNvSpPr txBox="1"/>
          <p:nvPr/>
        </p:nvSpPr>
        <p:spPr>
          <a:xfrm>
            <a:off x="5120640" y="3456432"/>
            <a:ext cx="3383280" cy="1097280"/>
          </a:xfrm>
          <a:prstGeom prst="rect">
            <a:avLst/>
          </a:prstGeom>
          <a:noFill/>
          <a:ln/>
        </p:spPr>
        <p:txBody>
          <a:bodyPr wrap="square" lIns="0" tIns="0" rIns="0" bIns="0" rtlCol="0" anchor="t"/>
          <a:lstStyle/>
          <a:p>
            <a:pPr marL="0" indent="0">
              <a:buNone/>
            </a:pPr>
            <a:r>
              <a:rPr lang="en-US" sz="1300" dirty="0">
                <a:solidFill>
                  <a:schemeClr val="tx1"/>
                </a:solidFill>
              </a:rPr>
              <a:t>A tax preparation company sees 2–3× its usual volume in tax season. Sizing on-premise for the peak leaves resources idle all year. Better: size for typical load and burst to the public cloud at peak.</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5A7E"/>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48640"/>
            <a:ext cx="8229600" cy="640080"/>
          </a:xfrm>
          <a:prstGeom prst="rect">
            <a:avLst/>
          </a:prstGeom>
          <a:noFill/>
          <a:ln/>
        </p:spPr>
        <p:txBody>
          <a:bodyPr wrap="square" lIns="0" tIns="0" rIns="0" bIns="0" rtlCol="0" anchor="ctr"/>
          <a:lstStyle/>
          <a:p>
            <a:pPr marL="0" indent="0" algn="l">
              <a:buNone/>
            </a:pPr>
            <a:r>
              <a:rPr lang="en-US" sz="3400" b="1" dirty="0">
                <a:solidFill>
                  <a:schemeClr val="tx1"/>
                </a:solidFill>
              </a:rPr>
              <a:t>Community Cloud</a:t>
            </a:r>
            <a:endParaRPr lang="en-US" sz="3400" dirty="0"/>
          </a:p>
        </p:txBody>
      </p:sp>
      <p:sp>
        <p:nvSpPr>
          <p:cNvPr id="3" name="Section chip"/>
          <p:cNvSpPr txBox="1"/>
          <p:nvPr/>
        </p:nvSpPr>
        <p:spPr>
          <a:xfrm>
            <a:off x="457200" y="274320"/>
            <a:ext cx="1702613" cy="246888"/>
          </a:xfrm>
          <a:prstGeom prst="roundRect">
            <a:avLst>
              <a:gd name="adj" fmla="val 48148"/>
            </a:avLst>
          </a:prstGeom>
          <a:solidFill>
            <a:schemeClr val="accent2"/>
          </a:solidFill>
          <a:ln/>
        </p:spPr>
        <p:txBody>
          <a:bodyPr wrap="square" lIns="0" tIns="0" rIns="0" bIns="0" rtlCol="0" anchor="ctr"/>
          <a:lstStyle/>
          <a:p>
            <a:pPr marL="0" indent="0" algn="ctr">
              <a:buNone/>
            </a:pPr>
            <a:r>
              <a:rPr lang="en-US" sz="1000" b="1" kern="0" spc="150" dirty="0">
                <a:solidFill>
                  <a:schemeClr val="tx1"/>
                </a:solidFill>
              </a:rPr>
              <a:t>DEPLOYMENT MODELS</a:t>
            </a:r>
            <a:endParaRPr lang="en-US" sz="1000" dirty="0"/>
          </a:p>
        </p:txBody>
      </p:sp>
      <p:sp>
        <p:nvSpPr>
          <p:cNvPr id="4" name="Card"/>
          <p:cNvSpPr/>
          <p:nvPr/>
        </p:nvSpPr>
        <p:spPr>
          <a:xfrm>
            <a:off x="457200" y="1371600"/>
            <a:ext cx="4846320" cy="2377440"/>
          </a:xfrm>
          <a:prstGeom prst="roundRect">
            <a:avLst>
              <a:gd name="adj" fmla="val 4615"/>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5" name="FaHandshake circle"/>
          <p:cNvSpPr/>
          <p:nvPr/>
        </p:nvSpPr>
        <p:spPr>
          <a:xfrm>
            <a:off x="594360" y="2354580"/>
            <a:ext cx="411480" cy="411480"/>
          </a:xfrm>
          <a:prstGeom prst="ellipse">
            <a:avLst/>
          </a:prstGeom>
          <a:solidFill>
            <a:schemeClr val="accent2"/>
          </a:solidFill>
          <a:ln/>
        </p:spPr>
        <p:txBody>
          <a:bodyPr/>
          <a:lstStyle/>
          <a:p>
            <a:endParaRPr lang="en-RW"/>
          </a:p>
        </p:txBody>
      </p:sp>
      <p:pic>
        <p:nvPicPr>
          <p:cNvPr id="6" name="FaHandshake icon" descr="preencoded.png"/>
          <p:cNvPicPr>
            <a:picLocks noChangeAspect="1"/>
          </p:cNvPicPr>
          <p:nvPr/>
        </p:nvPicPr>
        <p:blipFill>
          <a:blip r:embed="rId3"/>
          <a:stretch>
            <a:fillRect/>
          </a:stretch>
        </p:blipFill>
        <p:spPr>
          <a:xfrm>
            <a:off x="697230" y="2457450"/>
            <a:ext cx="205740" cy="205740"/>
          </a:xfrm>
          <a:prstGeom prst="rect">
            <a:avLst/>
          </a:prstGeom>
        </p:spPr>
      </p:pic>
      <p:sp>
        <p:nvSpPr>
          <p:cNvPr id="7" name="Text 4"/>
          <p:cNvSpPr txBox="1"/>
          <p:nvPr/>
        </p:nvSpPr>
        <p:spPr>
          <a:xfrm>
            <a:off x="1188720" y="1371600"/>
            <a:ext cx="3977640" cy="2377440"/>
          </a:xfrm>
          <a:prstGeom prst="rect">
            <a:avLst/>
          </a:prstGeom>
          <a:noFill/>
          <a:ln/>
        </p:spPr>
        <p:txBody>
          <a:bodyPr wrap="square" lIns="0" tIns="0" rIns="0" bIns="0" rtlCol="0" anchor="ctr"/>
          <a:lstStyle/>
          <a:p>
            <a:pPr marL="0" indent="0">
              <a:buNone/>
            </a:pPr>
            <a:r>
              <a:rPr lang="en-US" sz="1800" dirty="0">
                <a:solidFill>
                  <a:schemeClr val="tx1"/>
                </a:solidFill>
              </a:rPr>
              <a:t>Provisioned for use by </a:t>
            </a:r>
            <a:r>
              <a:rPr lang="en-US" sz="1800" b="1" dirty="0">
                <a:solidFill>
                  <a:schemeClr val="tx1"/>
                </a:solidFill>
              </a:rPr>
              <a:t>multiple organizations</a:t>
            </a:r>
            <a:r>
              <a:rPr lang="en-US" sz="1800" dirty="0">
                <a:solidFill>
                  <a:schemeClr val="tx1"/>
                </a:solidFill>
              </a:rPr>
              <a:t> with shared concerns (e.g., mission, security requirements, policy, compliance considerations).</a:t>
            </a:r>
            <a:endParaRPr lang="en-US" sz="1800" dirty="0"/>
          </a:p>
        </p:txBody>
      </p:sp>
      <p:sp>
        <p:nvSpPr>
          <p:cNvPr id="8" name="Card"/>
          <p:cNvSpPr/>
          <p:nvPr/>
        </p:nvSpPr>
        <p:spPr>
          <a:xfrm>
            <a:off x="5532120" y="1371600"/>
            <a:ext cx="3154680" cy="1188720"/>
          </a:xfrm>
          <a:prstGeom prst="roundRect">
            <a:avLst>
              <a:gd name="adj" fmla="val 9231"/>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9" name="Tint"/>
          <p:cNvSpPr/>
          <p:nvPr/>
        </p:nvSpPr>
        <p:spPr>
          <a:xfrm>
            <a:off x="5669280" y="1499616"/>
            <a:ext cx="1234440" cy="256032"/>
          </a:xfrm>
          <a:prstGeom prst="roundRect">
            <a:avLst>
              <a:gd name="adj" fmla="val 50000"/>
            </a:avLst>
          </a:prstGeom>
          <a:solidFill>
            <a:schemeClr val="accent5"/>
          </a:solidFill>
          <a:ln/>
        </p:spPr>
        <p:txBody>
          <a:bodyPr/>
          <a:lstStyle/>
          <a:p>
            <a:endParaRPr lang="en-RW"/>
          </a:p>
        </p:txBody>
      </p:sp>
      <p:sp>
        <p:nvSpPr>
          <p:cNvPr id="10" name="Text 7"/>
          <p:cNvSpPr txBox="1"/>
          <p:nvPr/>
        </p:nvSpPr>
        <p:spPr>
          <a:xfrm>
            <a:off x="5669280" y="1499616"/>
            <a:ext cx="1234440" cy="256032"/>
          </a:xfrm>
          <a:prstGeom prst="rect">
            <a:avLst/>
          </a:prstGeom>
          <a:noFill/>
          <a:ln/>
        </p:spPr>
        <p:txBody>
          <a:bodyPr wrap="square" lIns="0" tIns="0" rIns="0" bIns="0" rtlCol="0" anchor="ctr"/>
          <a:lstStyle/>
          <a:p>
            <a:pPr marL="0" indent="0" algn="ctr">
              <a:buNone/>
            </a:pPr>
            <a:r>
              <a:rPr lang="en-US" sz="1000" b="1" kern="0" spc="150" dirty="0">
                <a:solidFill>
                  <a:schemeClr val="tx1"/>
                </a:solidFill>
              </a:rPr>
              <a:t>RUN BY</a:t>
            </a:r>
            <a:endParaRPr lang="en-US" sz="1000" dirty="0"/>
          </a:p>
        </p:txBody>
      </p:sp>
      <p:sp>
        <p:nvSpPr>
          <p:cNvPr id="11" name="Text 8"/>
          <p:cNvSpPr txBox="1"/>
          <p:nvPr/>
        </p:nvSpPr>
        <p:spPr>
          <a:xfrm>
            <a:off x="5669280" y="1847088"/>
            <a:ext cx="2880360" cy="676656"/>
          </a:xfrm>
          <a:prstGeom prst="rect">
            <a:avLst/>
          </a:prstGeom>
          <a:noFill/>
          <a:ln/>
        </p:spPr>
        <p:txBody>
          <a:bodyPr wrap="square" lIns="0" tIns="0" rIns="0" bIns="0" rtlCol="0" anchor="t"/>
          <a:lstStyle/>
          <a:p>
            <a:pPr marL="0" indent="0">
              <a:buNone/>
            </a:pPr>
            <a:r>
              <a:rPr lang="en-US" sz="1400" dirty="0">
                <a:solidFill>
                  <a:schemeClr val="tx1"/>
                </a:solidFill>
              </a:rPr>
              <a:t>The organizations themselves or a third party.</a:t>
            </a:r>
            <a:endParaRPr lang="en-US" sz="1400" dirty="0"/>
          </a:p>
        </p:txBody>
      </p:sp>
      <p:sp>
        <p:nvSpPr>
          <p:cNvPr id="12" name="Card"/>
          <p:cNvSpPr/>
          <p:nvPr/>
        </p:nvSpPr>
        <p:spPr>
          <a:xfrm>
            <a:off x="5532120" y="2651760"/>
            <a:ext cx="3154680" cy="1188720"/>
          </a:xfrm>
          <a:prstGeom prst="roundRect">
            <a:avLst>
              <a:gd name="adj" fmla="val 9231"/>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13" name="Tint"/>
          <p:cNvSpPr/>
          <p:nvPr/>
        </p:nvSpPr>
        <p:spPr>
          <a:xfrm>
            <a:off x="5669280" y="2779776"/>
            <a:ext cx="1234440" cy="256032"/>
          </a:xfrm>
          <a:prstGeom prst="roundRect">
            <a:avLst>
              <a:gd name="adj" fmla="val 50000"/>
            </a:avLst>
          </a:prstGeom>
          <a:solidFill>
            <a:schemeClr val="accent1"/>
          </a:solidFill>
          <a:ln/>
        </p:spPr>
        <p:txBody>
          <a:bodyPr/>
          <a:lstStyle/>
          <a:p>
            <a:endParaRPr lang="en-RW"/>
          </a:p>
        </p:txBody>
      </p:sp>
      <p:sp>
        <p:nvSpPr>
          <p:cNvPr id="14" name="Text 11"/>
          <p:cNvSpPr txBox="1"/>
          <p:nvPr/>
        </p:nvSpPr>
        <p:spPr>
          <a:xfrm>
            <a:off x="5669280" y="2779776"/>
            <a:ext cx="1234440" cy="256032"/>
          </a:xfrm>
          <a:prstGeom prst="rect">
            <a:avLst/>
          </a:prstGeom>
          <a:noFill/>
          <a:ln/>
        </p:spPr>
        <p:txBody>
          <a:bodyPr wrap="square" lIns="0" tIns="0" rIns="0" bIns="0" rtlCol="0" anchor="ctr"/>
          <a:lstStyle/>
          <a:p>
            <a:pPr marL="0" indent="0" algn="ctr">
              <a:buNone/>
            </a:pPr>
            <a:r>
              <a:rPr lang="en-US" sz="1000" b="1" kern="0" spc="150" dirty="0">
                <a:solidFill>
                  <a:schemeClr val="tx1"/>
                </a:solidFill>
              </a:rPr>
              <a:t>LOCATED</a:t>
            </a:r>
            <a:endParaRPr lang="en-US" sz="1000" dirty="0"/>
          </a:p>
        </p:txBody>
      </p:sp>
      <p:sp>
        <p:nvSpPr>
          <p:cNvPr id="15" name="Text 12"/>
          <p:cNvSpPr txBox="1"/>
          <p:nvPr/>
        </p:nvSpPr>
        <p:spPr>
          <a:xfrm>
            <a:off x="5669280" y="3127248"/>
            <a:ext cx="2880360" cy="676656"/>
          </a:xfrm>
          <a:prstGeom prst="rect">
            <a:avLst/>
          </a:prstGeom>
          <a:noFill/>
          <a:ln/>
        </p:spPr>
        <p:txBody>
          <a:bodyPr wrap="square" lIns="0" tIns="0" rIns="0" bIns="0" rtlCol="0" anchor="t"/>
          <a:lstStyle/>
          <a:p>
            <a:pPr marL="0" indent="0">
              <a:buNone/>
            </a:pPr>
            <a:r>
              <a:rPr lang="en-US" sz="1400" dirty="0">
                <a:solidFill>
                  <a:schemeClr val="tx1"/>
                </a:solidFill>
              </a:rPr>
              <a:t>On- or off-premise.</a:t>
            </a:r>
            <a:endParaRPr lang="en-US" sz="1400" dirty="0"/>
          </a:p>
        </p:txBody>
      </p:sp>
      <p:sp>
        <p:nvSpPr>
          <p:cNvPr id="16" name="Card"/>
          <p:cNvSpPr/>
          <p:nvPr/>
        </p:nvSpPr>
        <p:spPr>
          <a:xfrm>
            <a:off x="457200" y="3931920"/>
            <a:ext cx="8229600" cy="640080"/>
          </a:xfrm>
          <a:prstGeom prst="roundRect">
            <a:avLst>
              <a:gd name="adj" fmla="val 17143"/>
            </a:avLst>
          </a:prstGeom>
          <a:solidFill>
            <a:schemeClr val="accent2"/>
          </a:solidFill>
          <a:ln/>
          <a:effectLst>
            <a:outerShdw blurRad="127000" dist="38100" dir="5400000" algn="bl" rotWithShape="0">
              <a:srgbClr val="1E1B4B">
                <a:alpha val="10000"/>
              </a:srgbClr>
            </a:outerShdw>
          </a:effectLst>
        </p:spPr>
        <p:txBody>
          <a:bodyPr/>
          <a:lstStyle/>
          <a:p>
            <a:endParaRPr lang="en-RW"/>
          </a:p>
        </p:txBody>
      </p:sp>
      <p:sp>
        <p:nvSpPr>
          <p:cNvPr id="17" name="Text 14"/>
          <p:cNvSpPr txBox="1"/>
          <p:nvPr/>
        </p:nvSpPr>
        <p:spPr>
          <a:xfrm>
            <a:off x="685800" y="3931920"/>
            <a:ext cx="7772400" cy="640080"/>
          </a:xfrm>
          <a:prstGeom prst="rect">
            <a:avLst/>
          </a:prstGeom>
          <a:noFill/>
          <a:ln/>
        </p:spPr>
        <p:txBody>
          <a:bodyPr wrap="square" lIns="0" tIns="0" rIns="0" bIns="0" rtlCol="0" anchor="ctr"/>
          <a:lstStyle/>
          <a:p>
            <a:pPr marL="0" indent="0">
              <a:buNone/>
            </a:pPr>
            <a:r>
              <a:rPr lang="en-US" sz="1400" b="1" dirty="0">
                <a:solidFill>
                  <a:schemeClr val="tx1"/>
                </a:solidFill>
              </a:rPr>
              <a:t>For example:</a:t>
            </a:r>
            <a:r>
              <a:rPr lang="en-US" sz="1400" dirty="0">
                <a:solidFill>
                  <a:schemeClr val="tx1"/>
                </a:solidFill>
              </a:rPr>
              <a:t> US Government agencies with similar security, privacy, and audit requirements can use a community cloud.</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5A7E"/>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48640"/>
            <a:ext cx="8229600" cy="640080"/>
          </a:xfrm>
          <a:prstGeom prst="rect">
            <a:avLst/>
          </a:prstGeom>
          <a:noFill/>
          <a:ln/>
        </p:spPr>
        <p:txBody>
          <a:bodyPr wrap="square" lIns="0" tIns="0" rIns="0" bIns="0" rtlCol="0" anchor="ctr"/>
          <a:lstStyle/>
          <a:p>
            <a:pPr marL="0" indent="0" algn="l">
              <a:buNone/>
            </a:pPr>
            <a:r>
              <a:rPr lang="en-US" sz="3400" b="1" dirty="0">
                <a:solidFill>
                  <a:schemeClr val="tx1"/>
                </a:solidFill>
              </a:rPr>
              <a:t>Cloud Service Models</a:t>
            </a:r>
            <a:endParaRPr lang="en-US" sz="3400" dirty="0"/>
          </a:p>
        </p:txBody>
      </p:sp>
      <p:sp>
        <p:nvSpPr>
          <p:cNvPr id="3" name="Section chip"/>
          <p:cNvSpPr txBox="1"/>
          <p:nvPr/>
        </p:nvSpPr>
        <p:spPr>
          <a:xfrm>
            <a:off x="457200" y="274320"/>
            <a:ext cx="1466698" cy="246888"/>
          </a:xfrm>
          <a:prstGeom prst="roundRect">
            <a:avLst>
              <a:gd name="adj" fmla="val 48148"/>
            </a:avLst>
          </a:prstGeom>
          <a:solidFill>
            <a:schemeClr val="accent6"/>
          </a:solidFill>
          <a:ln/>
        </p:spPr>
        <p:txBody>
          <a:bodyPr wrap="square" lIns="0" tIns="0" rIns="0" bIns="0" rtlCol="0" anchor="ctr"/>
          <a:lstStyle/>
          <a:p>
            <a:pPr marL="0" indent="0" algn="ctr">
              <a:buNone/>
            </a:pPr>
            <a:r>
              <a:rPr lang="en-US" sz="1000" b="1" kern="0" spc="150" dirty="0">
                <a:solidFill>
                  <a:schemeClr val="tx1"/>
                </a:solidFill>
              </a:rPr>
              <a:t>SERVICE MODELS</a:t>
            </a:r>
            <a:endParaRPr lang="en-US" sz="1000" dirty="0"/>
          </a:p>
        </p:txBody>
      </p:sp>
      <p:sp>
        <p:nvSpPr>
          <p:cNvPr id="4" name="Text 2"/>
          <p:cNvSpPr txBox="1"/>
          <p:nvPr/>
        </p:nvSpPr>
        <p:spPr>
          <a:xfrm>
            <a:off x="457200" y="1234440"/>
            <a:ext cx="8229600" cy="365760"/>
          </a:xfrm>
          <a:prstGeom prst="rect">
            <a:avLst/>
          </a:prstGeom>
          <a:noFill/>
          <a:ln/>
        </p:spPr>
        <p:txBody>
          <a:bodyPr wrap="square" lIns="0" tIns="0" rIns="0" bIns="0" rtlCol="0" anchor="t"/>
          <a:lstStyle/>
          <a:p>
            <a:pPr marL="0" indent="0">
              <a:buNone/>
            </a:pPr>
            <a:r>
              <a:rPr lang="en-US" sz="1500" dirty="0">
                <a:solidFill>
                  <a:schemeClr val="tx1"/>
                </a:solidFill>
              </a:rPr>
              <a:t>A </a:t>
            </a:r>
            <a:r>
              <a:rPr lang="en-US" sz="1500" b="1" dirty="0">
                <a:solidFill>
                  <a:schemeClr val="tx1"/>
                </a:solidFill>
              </a:rPr>
              <a:t>service model</a:t>
            </a:r>
            <a:r>
              <a:rPr lang="en-US" sz="1500" dirty="0">
                <a:solidFill>
                  <a:schemeClr val="tx1"/>
                </a:solidFill>
              </a:rPr>
              <a:t> defines the type of service that the cloud provider is offering.</a:t>
            </a:r>
            <a:endParaRPr lang="en-US" sz="1500" dirty="0"/>
          </a:p>
        </p:txBody>
      </p:sp>
      <p:sp>
        <p:nvSpPr>
          <p:cNvPr id="5" name="Card"/>
          <p:cNvSpPr/>
          <p:nvPr/>
        </p:nvSpPr>
        <p:spPr>
          <a:xfrm>
            <a:off x="457200" y="1691640"/>
            <a:ext cx="8229600" cy="932688"/>
          </a:xfrm>
          <a:prstGeom prst="roundRect">
            <a:avLst>
              <a:gd name="adj" fmla="val 11765"/>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6" name="Model label"/>
          <p:cNvSpPr/>
          <p:nvPr/>
        </p:nvSpPr>
        <p:spPr>
          <a:xfrm>
            <a:off x="457200" y="1691640"/>
            <a:ext cx="2011680" cy="932688"/>
          </a:xfrm>
          <a:prstGeom prst="roundRect">
            <a:avLst>
              <a:gd name="adj" fmla="val 11765"/>
            </a:avLst>
          </a:prstGeom>
          <a:solidFill>
            <a:schemeClr val="accent6"/>
          </a:solidFill>
          <a:ln/>
        </p:spPr>
        <p:txBody>
          <a:bodyPr/>
          <a:lstStyle/>
          <a:p>
            <a:endParaRPr lang="en-RW"/>
          </a:p>
        </p:txBody>
      </p:sp>
      <p:sp>
        <p:nvSpPr>
          <p:cNvPr id="7" name="Text 5"/>
          <p:cNvSpPr txBox="1"/>
          <p:nvPr/>
        </p:nvSpPr>
        <p:spPr>
          <a:xfrm>
            <a:off x="640080" y="1801368"/>
            <a:ext cx="1645920" cy="457200"/>
          </a:xfrm>
          <a:prstGeom prst="rect">
            <a:avLst/>
          </a:prstGeom>
          <a:noFill/>
          <a:ln/>
        </p:spPr>
        <p:txBody>
          <a:bodyPr wrap="square" lIns="0" tIns="0" rIns="0" bIns="0" rtlCol="0" anchor="t"/>
          <a:lstStyle/>
          <a:p>
            <a:pPr marL="0" indent="0">
              <a:buNone/>
            </a:pPr>
            <a:r>
              <a:rPr lang="en-US" sz="2600" b="1" dirty="0">
                <a:solidFill>
                  <a:schemeClr val="tx1"/>
                </a:solidFill>
              </a:rPr>
              <a:t>SaaS</a:t>
            </a:r>
            <a:endParaRPr lang="en-US" sz="2600" dirty="0"/>
          </a:p>
        </p:txBody>
      </p:sp>
      <p:sp>
        <p:nvSpPr>
          <p:cNvPr id="8" name="Text 6"/>
          <p:cNvSpPr txBox="1"/>
          <p:nvPr/>
        </p:nvSpPr>
        <p:spPr>
          <a:xfrm>
            <a:off x="640080" y="2258568"/>
            <a:ext cx="1737360" cy="274320"/>
          </a:xfrm>
          <a:prstGeom prst="rect">
            <a:avLst/>
          </a:prstGeom>
          <a:noFill/>
          <a:ln/>
        </p:spPr>
        <p:txBody>
          <a:bodyPr wrap="square" lIns="0" tIns="0" rIns="0" bIns="0" rtlCol="0" anchor="t"/>
          <a:lstStyle/>
          <a:p>
            <a:pPr marL="0" indent="0">
              <a:buNone/>
            </a:pPr>
            <a:r>
              <a:rPr lang="en-US" sz="1200" b="1" dirty="0">
                <a:solidFill>
                  <a:schemeClr val="tx1"/>
                </a:solidFill>
              </a:rPr>
              <a:t>Software as a Service</a:t>
            </a:r>
            <a:endParaRPr lang="en-US" sz="1200" dirty="0"/>
          </a:p>
        </p:txBody>
      </p:sp>
      <p:sp>
        <p:nvSpPr>
          <p:cNvPr id="9" name="Text 7"/>
          <p:cNvSpPr txBox="1"/>
          <p:nvPr/>
        </p:nvSpPr>
        <p:spPr>
          <a:xfrm>
            <a:off x="2651760" y="1691640"/>
            <a:ext cx="3840480" cy="932688"/>
          </a:xfrm>
          <a:prstGeom prst="rect">
            <a:avLst/>
          </a:prstGeom>
          <a:noFill/>
          <a:ln/>
        </p:spPr>
        <p:txBody>
          <a:bodyPr wrap="square" lIns="0" tIns="0" rIns="0" bIns="0" rtlCol="0" anchor="ctr"/>
          <a:lstStyle/>
          <a:p>
            <a:pPr marL="0" indent="0">
              <a:buNone/>
            </a:pPr>
            <a:r>
              <a:rPr lang="en-US" sz="1400" dirty="0">
                <a:solidFill>
                  <a:schemeClr val="tx1"/>
                </a:solidFill>
              </a:rPr>
              <a:t>Ready-to-use applications hosted in the cloud for end-users and organizations.</a:t>
            </a:r>
            <a:endParaRPr lang="en-US" sz="1400" dirty="0"/>
          </a:p>
        </p:txBody>
      </p:sp>
      <p:sp>
        <p:nvSpPr>
          <p:cNvPr id="10" name="Tint"/>
          <p:cNvSpPr/>
          <p:nvPr/>
        </p:nvSpPr>
        <p:spPr>
          <a:xfrm>
            <a:off x="6675120" y="1801368"/>
            <a:ext cx="1874520" cy="713232"/>
          </a:xfrm>
          <a:prstGeom prst="roundRect">
            <a:avLst>
              <a:gd name="adj" fmla="val 15385"/>
            </a:avLst>
          </a:prstGeom>
          <a:solidFill>
            <a:schemeClr val="accent6">
              <a:alpha val="22000"/>
            </a:schemeClr>
          </a:solidFill>
          <a:ln/>
        </p:spPr>
        <p:txBody>
          <a:bodyPr/>
          <a:lstStyle/>
          <a:p>
            <a:endParaRPr lang="en-RW"/>
          </a:p>
        </p:txBody>
      </p:sp>
      <p:sp>
        <p:nvSpPr>
          <p:cNvPr id="11" name="Text 9"/>
          <p:cNvSpPr txBox="1"/>
          <p:nvPr/>
        </p:nvSpPr>
        <p:spPr>
          <a:xfrm>
            <a:off x="6766560" y="1801368"/>
            <a:ext cx="1691640" cy="713232"/>
          </a:xfrm>
          <a:prstGeom prst="rect">
            <a:avLst/>
          </a:prstGeom>
          <a:noFill/>
          <a:ln/>
        </p:spPr>
        <p:txBody>
          <a:bodyPr wrap="square" lIns="0" tIns="0" rIns="0" bIns="0" rtlCol="0" anchor="ctr"/>
          <a:lstStyle/>
          <a:p>
            <a:pPr marL="0" indent="0">
              <a:buNone/>
            </a:pPr>
            <a:r>
              <a:rPr lang="en-US" sz="1200" b="1" dirty="0">
                <a:solidFill>
                  <a:schemeClr val="tx1"/>
                </a:solidFill>
              </a:rPr>
              <a:t>e.g., </a:t>
            </a:r>
            <a:r>
              <a:rPr lang="en-US" sz="1200" dirty="0">
                <a:solidFill>
                  <a:schemeClr val="tx1"/>
                </a:solidFill>
              </a:rPr>
              <a:t>Salesforce CRM, Microsoft Office 365</a:t>
            </a:r>
            <a:endParaRPr lang="en-US" sz="1200" dirty="0"/>
          </a:p>
        </p:txBody>
      </p:sp>
      <p:sp>
        <p:nvSpPr>
          <p:cNvPr id="12" name="Card"/>
          <p:cNvSpPr/>
          <p:nvPr/>
        </p:nvSpPr>
        <p:spPr>
          <a:xfrm>
            <a:off x="457200" y="2715768"/>
            <a:ext cx="8229600" cy="932688"/>
          </a:xfrm>
          <a:prstGeom prst="roundRect">
            <a:avLst>
              <a:gd name="adj" fmla="val 11765"/>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13" name="Model label"/>
          <p:cNvSpPr/>
          <p:nvPr/>
        </p:nvSpPr>
        <p:spPr>
          <a:xfrm>
            <a:off x="457200" y="2715768"/>
            <a:ext cx="2011680" cy="932688"/>
          </a:xfrm>
          <a:prstGeom prst="roundRect">
            <a:avLst>
              <a:gd name="adj" fmla="val 11765"/>
            </a:avLst>
          </a:prstGeom>
          <a:solidFill>
            <a:schemeClr val="accent2"/>
          </a:solidFill>
          <a:ln/>
        </p:spPr>
        <p:txBody>
          <a:bodyPr/>
          <a:lstStyle/>
          <a:p>
            <a:endParaRPr lang="en-RW"/>
          </a:p>
        </p:txBody>
      </p:sp>
      <p:sp>
        <p:nvSpPr>
          <p:cNvPr id="14" name="Text 12"/>
          <p:cNvSpPr txBox="1"/>
          <p:nvPr/>
        </p:nvSpPr>
        <p:spPr>
          <a:xfrm>
            <a:off x="640080" y="2825496"/>
            <a:ext cx="1645920" cy="457200"/>
          </a:xfrm>
          <a:prstGeom prst="rect">
            <a:avLst/>
          </a:prstGeom>
          <a:noFill/>
          <a:ln/>
        </p:spPr>
        <p:txBody>
          <a:bodyPr wrap="square" lIns="0" tIns="0" rIns="0" bIns="0" rtlCol="0" anchor="t"/>
          <a:lstStyle/>
          <a:p>
            <a:pPr marL="0" indent="0">
              <a:buNone/>
            </a:pPr>
            <a:r>
              <a:rPr lang="en-US" sz="2600" b="1" dirty="0">
                <a:solidFill>
                  <a:schemeClr val="tx1"/>
                </a:solidFill>
              </a:rPr>
              <a:t>PaaS</a:t>
            </a:r>
            <a:endParaRPr lang="en-US" sz="2600" dirty="0"/>
          </a:p>
        </p:txBody>
      </p:sp>
      <p:sp>
        <p:nvSpPr>
          <p:cNvPr id="15" name="Text 13"/>
          <p:cNvSpPr txBox="1"/>
          <p:nvPr/>
        </p:nvSpPr>
        <p:spPr>
          <a:xfrm>
            <a:off x="640080" y="3282696"/>
            <a:ext cx="1737360" cy="274320"/>
          </a:xfrm>
          <a:prstGeom prst="rect">
            <a:avLst/>
          </a:prstGeom>
          <a:noFill/>
          <a:ln/>
        </p:spPr>
        <p:txBody>
          <a:bodyPr wrap="square" lIns="0" tIns="0" rIns="0" bIns="0" rtlCol="0" anchor="t"/>
          <a:lstStyle/>
          <a:p>
            <a:pPr marL="0" indent="0">
              <a:buNone/>
            </a:pPr>
            <a:r>
              <a:rPr lang="en-US" sz="1200" b="1" dirty="0">
                <a:solidFill>
                  <a:schemeClr val="tx1"/>
                </a:solidFill>
              </a:rPr>
              <a:t>Platform as a Service</a:t>
            </a:r>
            <a:endParaRPr lang="en-US" sz="1200" dirty="0"/>
          </a:p>
        </p:txBody>
      </p:sp>
      <p:sp>
        <p:nvSpPr>
          <p:cNvPr id="16" name="Text 14"/>
          <p:cNvSpPr txBox="1"/>
          <p:nvPr/>
        </p:nvSpPr>
        <p:spPr>
          <a:xfrm>
            <a:off x="2651760" y="2715768"/>
            <a:ext cx="3840480" cy="932688"/>
          </a:xfrm>
          <a:prstGeom prst="rect">
            <a:avLst/>
          </a:prstGeom>
          <a:noFill/>
          <a:ln/>
        </p:spPr>
        <p:txBody>
          <a:bodyPr wrap="square" lIns="0" tIns="0" rIns="0" bIns="0" rtlCol="0" anchor="ctr"/>
          <a:lstStyle/>
          <a:p>
            <a:pPr marL="0" indent="0">
              <a:buNone/>
            </a:pPr>
            <a:r>
              <a:rPr lang="en-US" sz="1400" dirty="0">
                <a:solidFill>
                  <a:schemeClr val="tx1"/>
                </a:solidFill>
              </a:rPr>
              <a:t>A software platform (languages, libraries, services, tools) for developers to quickly create and deploy custom applications.</a:t>
            </a:r>
            <a:endParaRPr lang="en-US" sz="1400" dirty="0"/>
          </a:p>
        </p:txBody>
      </p:sp>
      <p:sp>
        <p:nvSpPr>
          <p:cNvPr id="17" name="Tint"/>
          <p:cNvSpPr/>
          <p:nvPr/>
        </p:nvSpPr>
        <p:spPr>
          <a:xfrm>
            <a:off x="6675120" y="2825496"/>
            <a:ext cx="1874520" cy="713232"/>
          </a:xfrm>
          <a:prstGeom prst="roundRect">
            <a:avLst>
              <a:gd name="adj" fmla="val 15385"/>
            </a:avLst>
          </a:prstGeom>
          <a:solidFill>
            <a:schemeClr val="accent2">
              <a:alpha val="22000"/>
            </a:schemeClr>
          </a:solidFill>
          <a:ln/>
        </p:spPr>
        <p:txBody>
          <a:bodyPr/>
          <a:lstStyle/>
          <a:p>
            <a:endParaRPr lang="en-RW"/>
          </a:p>
        </p:txBody>
      </p:sp>
      <p:sp>
        <p:nvSpPr>
          <p:cNvPr id="18" name="Text 16"/>
          <p:cNvSpPr txBox="1"/>
          <p:nvPr/>
        </p:nvSpPr>
        <p:spPr>
          <a:xfrm>
            <a:off x="6766560" y="2825496"/>
            <a:ext cx="1691640" cy="713232"/>
          </a:xfrm>
          <a:prstGeom prst="rect">
            <a:avLst/>
          </a:prstGeom>
          <a:noFill/>
          <a:ln/>
        </p:spPr>
        <p:txBody>
          <a:bodyPr wrap="square" lIns="0" tIns="0" rIns="0" bIns="0" rtlCol="0" anchor="ctr"/>
          <a:lstStyle/>
          <a:p>
            <a:pPr marL="0" indent="0">
              <a:buNone/>
            </a:pPr>
            <a:r>
              <a:rPr lang="en-US" sz="1200" b="1" dirty="0">
                <a:solidFill>
                  <a:schemeClr val="tx1"/>
                </a:solidFill>
              </a:rPr>
              <a:t>e.g., </a:t>
            </a:r>
            <a:r>
              <a:rPr lang="en-US" sz="1200" dirty="0">
                <a:solidFill>
                  <a:schemeClr val="tx1"/>
                </a:solidFill>
              </a:rPr>
              <a:t>Microsoft Azure, Google App Engine</a:t>
            </a:r>
            <a:endParaRPr lang="en-US" sz="1200" dirty="0"/>
          </a:p>
        </p:txBody>
      </p:sp>
      <p:sp>
        <p:nvSpPr>
          <p:cNvPr id="19" name="Card"/>
          <p:cNvSpPr/>
          <p:nvPr/>
        </p:nvSpPr>
        <p:spPr>
          <a:xfrm>
            <a:off x="457200" y="3739896"/>
            <a:ext cx="8229600" cy="932688"/>
          </a:xfrm>
          <a:prstGeom prst="roundRect">
            <a:avLst>
              <a:gd name="adj" fmla="val 11765"/>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20" name="Model label"/>
          <p:cNvSpPr/>
          <p:nvPr/>
        </p:nvSpPr>
        <p:spPr>
          <a:xfrm>
            <a:off x="457200" y="3739896"/>
            <a:ext cx="2011680" cy="932688"/>
          </a:xfrm>
          <a:prstGeom prst="roundRect">
            <a:avLst>
              <a:gd name="adj" fmla="val 11765"/>
            </a:avLst>
          </a:prstGeom>
          <a:solidFill>
            <a:schemeClr val="accent4"/>
          </a:solidFill>
          <a:ln/>
        </p:spPr>
        <p:txBody>
          <a:bodyPr/>
          <a:lstStyle/>
          <a:p>
            <a:endParaRPr lang="en-RW"/>
          </a:p>
        </p:txBody>
      </p:sp>
      <p:sp>
        <p:nvSpPr>
          <p:cNvPr id="21" name="Text 19"/>
          <p:cNvSpPr txBox="1"/>
          <p:nvPr/>
        </p:nvSpPr>
        <p:spPr>
          <a:xfrm>
            <a:off x="640080" y="3849624"/>
            <a:ext cx="1645920" cy="457200"/>
          </a:xfrm>
          <a:prstGeom prst="rect">
            <a:avLst/>
          </a:prstGeom>
          <a:noFill/>
          <a:ln/>
        </p:spPr>
        <p:txBody>
          <a:bodyPr wrap="square" lIns="0" tIns="0" rIns="0" bIns="0" rtlCol="0" anchor="t"/>
          <a:lstStyle/>
          <a:p>
            <a:pPr marL="0" indent="0">
              <a:buNone/>
            </a:pPr>
            <a:r>
              <a:rPr lang="en-US" sz="2600" b="1" dirty="0">
                <a:solidFill>
                  <a:schemeClr val="tx1"/>
                </a:solidFill>
              </a:rPr>
              <a:t>IaaS</a:t>
            </a:r>
            <a:endParaRPr lang="en-US" sz="2600" dirty="0"/>
          </a:p>
        </p:txBody>
      </p:sp>
      <p:sp>
        <p:nvSpPr>
          <p:cNvPr id="22" name="Text 20"/>
          <p:cNvSpPr txBox="1"/>
          <p:nvPr/>
        </p:nvSpPr>
        <p:spPr>
          <a:xfrm>
            <a:off x="640080" y="4306824"/>
            <a:ext cx="1737360" cy="274320"/>
          </a:xfrm>
          <a:prstGeom prst="rect">
            <a:avLst/>
          </a:prstGeom>
          <a:noFill/>
          <a:ln/>
        </p:spPr>
        <p:txBody>
          <a:bodyPr wrap="square" lIns="0" tIns="0" rIns="0" bIns="0" rtlCol="0" anchor="t"/>
          <a:lstStyle/>
          <a:p>
            <a:pPr marL="0" indent="0">
              <a:buNone/>
            </a:pPr>
            <a:r>
              <a:rPr lang="en-US" sz="1200" b="1" dirty="0">
                <a:solidFill>
                  <a:schemeClr val="tx1"/>
                </a:solidFill>
              </a:rPr>
              <a:t>Infrastructure as a Service</a:t>
            </a:r>
            <a:endParaRPr lang="en-US" sz="1200" dirty="0"/>
          </a:p>
        </p:txBody>
      </p:sp>
      <p:sp>
        <p:nvSpPr>
          <p:cNvPr id="23" name="Text 21"/>
          <p:cNvSpPr txBox="1"/>
          <p:nvPr/>
        </p:nvSpPr>
        <p:spPr>
          <a:xfrm>
            <a:off x="2651760" y="3739896"/>
            <a:ext cx="3840480" cy="932688"/>
          </a:xfrm>
          <a:prstGeom prst="rect">
            <a:avLst/>
          </a:prstGeom>
          <a:noFill/>
          <a:ln/>
        </p:spPr>
        <p:txBody>
          <a:bodyPr wrap="square" lIns="0" tIns="0" rIns="0" bIns="0" rtlCol="0" anchor="ctr"/>
          <a:lstStyle/>
          <a:p>
            <a:pPr marL="0" indent="0">
              <a:buNone/>
            </a:pPr>
            <a:r>
              <a:rPr lang="en-US" sz="1400" dirty="0">
                <a:solidFill>
                  <a:schemeClr val="tx1"/>
                </a:solidFill>
              </a:rPr>
              <a:t>Processing, storage, networks, and other fundamental computing resources for system administrators (IT Operations).</a:t>
            </a:r>
            <a:endParaRPr lang="en-US" sz="1400" dirty="0"/>
          </a:p>
        </p:txBody>
      </p:sp>
      <p:sp>
        <p:nvSpPr>
          <p:cNvPr id="24" name="Tint"/>
          <p:cNvSpPr/>
          <p:nvPr/>
        </p:nvSpPr>
        <p:spPr>
          <a:xfrm>
            <a:off x="6675120" y="3849624"/>
            <a:ext cx="1874520" cy="713232"/>
          </a:xfrm>
          <a:prstGeom prst="roundRect">
            <a:avLst>
              <a:gd name="adj" fmla="val 15385"/>
            </a:avLst>
          </a:prstGeom>
          <a:solidFill>
            <a:schemeClr val="accent4">
              <a:alpha val="22000"/>
            </a:schemeClr>
          </a:solidFill>
          <a:ln/>
        </p:spPr>
        <p:txBody>
          <a:bodyPr/>
          <a:lstStyle/>
          <a:p>
            <a:endParaRPr lang="en-RW"/>
          </a:p>
        </p:txBody>
      </p:sp>
      <p:sp>
        <p:nvSpPr>
          <p:cNvPr id="25" name="Text 23"/>
          <p:cNvSpPr txBox="1"/>
          <p:nvPr/>
        </p:nvSpPr>
        <p:spPr>
          <a:xfrm>
            <a:off x="6766560" y="3849624"/>
            <a:ext cx="1691640" cy="713232"/>
          </a:xfrm>
          <a:prstGeom prst="rect">
            <a:avLst/>
          </a:prstGeom>
          <a:noFill/>
          <a:ln/>
        </p:spPr>
        <p:txBody>
          <a:bodyPr wrap="square" lIns="0" tIns="0" rIns="0" bIns="0" rtlCol="0" anchor="ctr"/>
          <a:lstStyle/>
          <a:p>
            <a:pPr marL="0" indent="0">
              <a:buNone/>
            </a:pPr>
            <a:r>
              <a:rPr lang="en-US" sz="1200" b="1" dirty="0">
                <a:solidFill>
                  <a:schemeClr val="tx1"/>
                </a:solidFill>
              </a:rPr>
              <a:t>e.g., </a:t>
            </a:r>
            <a:r>
              <a:rPr lang="en-US" sz="1200" dirty="0">
                <a:solidFill>
                  <a:schemeClr val="tx1"/>
                </a:solidFill>
              </a:rPr>
              <a:t>Amazon EC2 (Elastic Compute Cloud)</a:t>
            </a:r>
            <a:endParaRPr lang="en-US" sz="1200" dirty="0"/>
          </a:p>
        </p:txBody>
      </p:sp>
      <p:sp>
        <p:nvSpPr>
          <p:cNvPr id="26" name="Text 24"/>
          <p:cNvSpPr txBox="1"/>
          <p:nvPr/>
        </p:nvSpPr>
        <p:spPr>
          <a:xfrm>
            <a:off x="457200" y="4800600"/>
            <a:ext cx="7498080" cy="228600"/>
          </a:xfrm>
          <a:prstGeom prst="rect">
            <a:avLst/>
          </a:prstGeom>
          <a:noFill/>
          <a:ln/>
        </p:spPr>
        <p:txBody>
          <a:bodyPr wrap="square" lIns="0" tIns="0" rIns="0" bIns="0" rtlCol="0" anchor="t"/>
          <a:lstStyle/>
          <a:p>
            <a:pPr marL="0" indent="0">
              <a:buNone/>
            </a:pPr>
            <a:r>
              <a:rPr lang="en-US" sz="1000" i="1" dirty="0">
                <a:solidFill>
                  <a:schemeClr val="tx2"/>
                </a:solidFill>
              </a:rPr>
              <a:t>“As a service” implies that SaaS, PaaS, and IaaS are delivered by way of software.</a:t>
            </a:r>
            <a:endParaRPr lang="en-US" sz="1000" dirty="0"/>
          </a:p>
        </p:txBody>
      </p:sp>
      <p:sp>
        <p:nvSpPr>
          <p:cNvPr id="27"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5A7E"/>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48640"/>
            <a:ext cx="8229600" cy="640080"/>
          </a:xfrm>
          <a:prstGeom prst="rect">
            <a:avLst/>
          </a:prstGeom>
          <a:noFill/>
          <a:ln/>
        </p:spPr>
        <p:txBody>
          <a:bodyPr wrap="square" lIns="0" tIns="0" rIns="0" bIns="0" rtlCol="0" anchor="ctr"/>
          <a:lstStyle/>
          <a:p>
            <a:pPr marL="0" indent="0" algn="l">
              <a:buNone/>
            </a:pPr>
            <a:r>
              <a:rPr lang="en-US" sz="3400" b="1" dirty="0">
                <a:solidFill>
                  <a:schemeClr val="tx1"/>
                </a:solidFill>
              </a:rPr>
              <a:t>Characteristics of IaaS</a:t>
            </a:r>
            <a:endParaRPr lang="en-US" sz="3400" dirty="0"/>
          </a:p>
        </p:txBody>
      </p:sp>
      <p:sp>
        <p:nvSpPr>
          <p:cNvPr id="3" name="Section chip"/>
          <p:cNvSpPr txBox="1"/>
          <p:nvPr/>
        </p:nvSpPr>
        <p:spPr>
          <a:xfrm>
            <a:off x="457200" y="274320"/>
            <a:ext cx="2017166" cy="246888"/>
          </a:xfrm>
          <a:prstGeom prst="roundRect">
            <a:avLst>
              <a:gd name="adj" fmla="val 48148"/>
            </a:avLst>
          </a:prstGeom>
          <a:solidFill>
            <a:schemeClr val="accent4"/>
          </a:solidFill>
          <a:ln/>
        </p:spPr>
        <p:txBody>
          <a:bodyPr wrap="square" lIns="0" tIns="0" rIns="0" bIns="0" rtlCol="0" anchor="ctr"/>
          <a:lstStyle/>
          <a:p>
            <a:pPr marL="0" indent="0" algn="ctr">
              <a:buNone/>
            </a:pPr>
            <a:r>
              <a:rPr lang="en-US" sz="1000" b="1" kern="0" spc="150" dirty="0">
                <a:solidFill>
                  <a:schemeClr val="tx1"/>
                </a:solidFill>
              </a:rPr>
              <a:t>SERVICE MODELS · IAAS</a:t>
            </a:r>
            <a:endParaRPr lang="en-US" sz="1000" dirty="0"/>
          </a:p>
        </p:txBody>
      </p:sp>
      <p:sp>
        <p:nvSpPr>
          <p:cNvPr id="4" name="Service panel"/>
          <p:cNvSpPr/>
          <p:nvPr/>
        </p:nvSpPr>
        <p:spPr>
          <a:xfrm>
            <a:off x="457200" y="1371600"/>
            <a:ext cx="2743200" cy="3291840"/>
          </a:xfrm>
          <a:prstGeom prst="roundRect">
            <a:avLst>
              <a:gd name="adj" fmla="val 4000"/>
            </a:avLst>
          </a:prstGeom>
          <a:solidFill>
            <a:schemeClr val="tx1"/>
          </a:solidFill>
          <a:ln/>
          <a:effectLst>
            <a:outerShdw blurRad="127000" dist="38100" dir="5400000" algn="bl" rotWithShape="0">
              <a:srgbClr val="1E1B4B">
                <a:alpha val="10000"/>
              </a:srgbClr>
            </a:outerShdw>
          </a:effectLst>
        </p:spPr>
        <p:txBody>
          <a:bodyPr/>
          <a:lstStyle/>
          <a:p>
            <a:endParaRPr lang="en-RW"/>
          </a:p>
        </p:txBody>
      </p:sp>
      <p:sp>
        <p:nvSpPr>
          <p:cNvPr id="5" name="FaServer circle"/>
          <p:cNvSpPr/>
          <p:nvPr/>
        </p:nvSpPr>
        <p:spPr>
          <a:xfrm>
            <a:off x="731520" y="1600200"/>
            <a:ext cx="640080" cy="640080"/>
          </a:xfrm>
          <a:prstGeom prst="ellipse">
            <a:avLst/>
          </a:prstGeom>
          <a:solidFill>
            <a:schemeClr val="accent4"/>
          </a:solidFill>
          <a:ln/>
        </p:spPr>
        <p:txBody>
          <a:bodyPr/>
          <a:lstStyle/>
          <a:p>
            <a:endParaRPr lang="en-RW"/>
          </a:p>
        </p:txBody>
      </p:sp>
      <p:pic>
        <p:nvPicPr>
          <p:cNvPr id="6" name="FaServer icon" descr="preencoded.png"/>
          <p:cNvPicPr>
            <a:picLocks noChangeAspect="1"/>
          </p:cNvPicPr>
          <p:nvPr/>
        </p:nvPicPr>
        <p:blipFill>
          <a:blip r:embed="rId3"/>
          <a:stretch>
            <a:fillRect/>
          </a:stretch>
        </p:blipFill>
        <p:spPr>
          <a:xfrm>
            <a:off x="891540" y="1760220"/>
            <a:ext cx="320040" cy="320040"/>
          </a:xfrm>
          <a:prstGeom prst="rect">
            <a:avLst/>
          </a:prstGeom>
        </p:spPr>
      </p:pic>
      <p:sp>
        <p:nvSpPr>
          <p:cNvPr id="7" name="Text 4"/>
          <p:cNvSpPr txBox="1"/>
          <p:nvPr/>
        </p:nvSpPr>
        <p:spPr>
          <a:xfrm>
            <a:off x="1508760" y="1572768"/>
            <a:ext cx="1554480" cy="685800"/>
          </a:xfrm>
          <a:prstGeom prst="rect">
            <a:avLst/>
          </a:prstGeom>
          <a:noFill/>
          <a:ln/>
        </p:spPr>
        <p:txBody>
          <a:bodyPr wrap="square" lIns="0" tIns="0" rIns="0" bIns="0" rtlCol="0" anchor="ctr"/>
          <a:lstStyle/>
          <a:p>
            <a:pPr marL="0" indent="0">
              <a:buNone/>
            </a:pPr>
            <a:r>
              <a:rPr lang="en-US" sz="3600" b="1" dirty="0">
                <a:solidFill>
                  <a:schemeClr val="bg1"/>
                </a:solidFill>
              </a:rPr>
              <a:t>IaaS</a:t>
            </a:r>
            <a:endParaRPr lang="en-US" sz="3600" dirty="0"/>
          </a:p>
        </p:txBody>
      </p:sp>
      <p:sp>
        <p:nvSpPr>
          <p:cNvPr id="8" name="Text 5"/>
          <p:cNvSpPr txBox="1"/>
          <p:nvPr/>
        </p:nvSpPr>
        <p:spPr>
          <a:xfrm>
            <a:off x="731520" y="2377440"/>
            <a:ext cx="2286000" cy="594360"/>
          </a:xfrm>
          <a:prstGeom prst="rect">
            <a:avLst/>
          </a:prstGeom>
          <a:noFill/>
          <a:ln/>
        </p:spPr>
        <p:txBody>
          <a:bodyPr wrap="square" lIns="0" tIns="0" rIns="0" bIns="0" rtlCol="0" anchor="t"/>
          <a:lstStyle/>
          <a:p>
            <a:pPr marL="0" indent="0">
              <a:buNone/>
            </a:pPr>
            <a:r>
              <a:rPr lang="en-US" sz="1400" b="1" dirty="0">
                <a:solidFill>
                  <a:schemeClr val="bg1"/>
                </a:solidFill>
              </a:rPr>
              <a:t>Infrastructure as a Service</a:t>
            </a:r>
            <a:endParaRPr lang="en-US" sz="1400" dirty="0"/>
          </a:p>
        </p:txBody>
      </p:sp>
      <p:sp>
        <p:nvSpPr>
          <p:cNvPr id="9" name="Text 6"/>
          <p:cNvSpPr txBox="1"/>
          <p:nvPr/>
        </p:nvSpPr>
        <p:spPr>
          <a:xfrm>
            <a:off x="731520" y="2880360"/>
            <a:ext cx="2286000" cy="274320"/>
          </a:xfrm>
          <a:prstGeom prst="rect">
            <a:avLst/>
          </a:prstGeom>
          <a:noFill/>
          <a:ln/>
        </p:spPr>
        <p:txBody>
          <a:bodyPr wrap="square" lIns="0" tIns="0" rIns="0" bIns="0" rtlCol="0" anchor="t"/>
          <a:lstStyle/>
          <a:p>
            <a:pPr marL="0" indent="0">
              <a:buNone/>
            </a:pPr>
            <a:r>
              <a:rPr lang="en-US" sz="1300" i="1" dirty="0">
                <a:solidFill>
                  <a:schemeClr val="accent4"/>
                </a:solidFill>
              </a:rPr>
              <a:t>Provision of hardware</a:t>
            </a:r>
            <a:endParaRPr lang="en-US" sz="1300" dirty="0"/>
          </a:p>
        </p:txBody>
      </p:sp>
      <p:sp>
        <p:nvSpPr>
          <p:cNvPr id="10" name="Stack layer SaaS"/>
          <p:cNvSpPr/>
          <p:nvPr/>
        </p:nvSpPr>
        <p:spPr>
          <a:xfrm>
            <a:off x="731520" y="3200400"/>
            <a:ext cx="2194560" cy="384048"/>
          </a:xfrm>
          <a:prstGeom prst="roundRect">
            <a:avLst>
              <a:gd name="adj" fmla="val 19048"/>
            </a:avLst>
          </a:prstGeom>
          <a:solidFill>
            <a:schemeClr val="bg1">
              <a:alpha val="20000"/>
            </a:schemeClr>
          </a:solidFill>
          <a:ln/>
        </p:spPr>
        <p:txBody>
          <a:bodyPr/>
          <a:lstStyle/>
          <a:p>
            <a:endParaRPr lang="en-RW"/>
          </a:p>
        </p:txBody>
      </p:sp>
      <p:sp>
        <p:nvSpPr>
          <p:cNvPr id="11" name="Text 8"/>
          <p:cNvSpPr txBox="1"/>
          <p:nvPr/>
        </p:nvSpPr>
        <p:spPr>
          <a:xfrm>
            <a:off x="731520" y="3200400"/>
            <a:ext cx="2194560" cy="384048"/>
          </a:xfrm>
          <a:prstGeom prst="rect">
            <a:avLst/>
          </a:prstGeom>
          <a:noFill/>
          <a:ln/>
        </p:spPr>
        <p:txBody>
          <a:bodyPr wrap="square" lIns="0" tIns="0" rIns="0" bIns="0" rtlCol="0" anchor="ctr"/>
          <a:lstStyle/>
          <a:p>
            <a:pPr marL="0" indent="0" algn="ctr">
              <a:buNone/>
            </a:pPr>
            <a:r>
              <a:rPr lang="en-US" sz="1400" b="1" dirty="0">
                <a:solidFill>
                  <a:schemeClr val="bg1"/>
                </a:solidFill>
              </a:rPr>
              <a:t>SaaS</a:t>
            </a:r>
            <a:endParaRPr lang="en-US" sz="1400" dirty="0"/>
          </a:p>
        </p:txBody>
      </p:sp>
      <p:sp>
        <p:nvSpPr>
          <p:cNvPr id="12" name="Stack layer PaaS"/>
          <p:cNvSpPr/>
          <p:nvPr/>
        </p:nvSpPr>
        <p:spPr>
          <a:xfrm>
            <a:off x="731520" y="3657600"/>
            <a:ext cx="2194560" cy="384048"/>
          </a:xfrm>
          <a:prstGeom prst="roundRect">
            <a:avLst>
              <a:gd name="adj" fmla="val 19048"/>
            </a:avLst>
          </a:prstGeom>
          <a:solidFill>
            <a:schemeClr val="bg1">
              <a:alpha val="20000"/>
            </a:schemeClr>
          </a:solidFill>
          <a:ln/>
        </p:spPr>
        <p:txBody>
          <a:bodyPr/>
          <a:lstStyle/>
          <a:p>
            <a:endParaRPr lang="en-RW"/>
          </a:p>
        </p:txBody>
      </p:sp>
      <p:sp>
        <p:nvSpPr>
          <p:cNvPr id="13" name="Text 10"/>
          <p:cNvSpPr txBox="1"/>
          <p:nvPr/>
        </p:nvSpPr>
        <p:spPr>
          <a:xfrm>
            <a:off x="731520" y="3657600"/>
            <a:ext cx="2194560" cy="384048"/>
          </a:xfrm>
          <a:prstGeom prst="rect">
            <a:avLst/>
          </a:prstGeom>
          <a:noFill/>
          <a:ln/>
        </p:spPr>
        <p:txBody>
          <a:bodyPr wrap="square" lIns="0" tIns="0" rIns="0" bIns="0" rtlCol="0" anchor="ctr"/>
          <a:lstStyle/>
          <a:p>
            <a:pPr marL="0" indent="0" algn="ctr">
              <a:buNone/>
            </a:pPr>
            <a:r>
              <a:rPr lang="en-US" sz="1400" b="1" dirty="0">
                <a:solidFill>
                  <a:schemeClr val="bg1"/>
                </a:solidFill>
              </a:rPr>
              <a:t>PaaS</a:t>
            </a:r>
            <a:endParaRPr lang="en-US" sz="1400" dirty="0"/>
          </a:p>
        </p:txBody>
      </p:sp>
      <p:sp>
        <p:nvSpPr>
          <p:cNvPr id="14" name="Stack layer IaaS"/>
          <p:cNvSpPr/>
          <p:nvPr/>
        </p:nvSpPr>
        <p:spPr>
          <a:xfrm>
            <a:off x="731520" y="4114800"/>
            <a:ext cx="2194560" cy="384048"/>
          </a:xfrm>
          <a:prstGeom prst="roundRect">
            <a:avLst>
              <a:gd name="adj" fmla="val 19048"/>
            </a:avLst>
          </a:prstGeom>
          <a:solidFill>
            <a:schemeClr val="accent4"/>
          </a:solidFill>
          <a:ln/>
        </p:spPr>
        <p:txBody>
          <a:bodyPr/>
          <a:lstStyle/>
          <a:p>
            <a:endParaRPr lang="en-RW"/>
          </a:p>
        </p:txBody>
      </p:sp>
      <p:sp>
        <p:nvSpPr>
          <p:cNvPr id="15" name="Text 12"/>
          <p:cNvSpPr txBox="1"/>
          <p:nvPr/>
        </p:nvSpPr>
        <p:spPr>
          <a:xfrm>
            <a:off x="731520" y="4114800"/>
            <a:ext cx="2194560" cy="384048"/>
          </a:xfrm>
          <a:prstGeom prst="rect">
            <a:avLst/>
          </a:prstGeom>
          <a:noFill/>
          <a:ln/>
        </p:spPr>
        <p:txBody>
          <a:bodyPr wrap="square" lIns="0" tIns="0" rIns="0" bIns="0" rtlCol="0" anchor="ctr"/>
          <a:lstStyle/>
          <a:p>
            <a:pPr marL="0" indent="0" algn="ctr">
              <a:buNone/>
            </a:pPr>
            <a:r>
              <a:rPr lang="en-US" sz="1400" b="1" dirty="0">
                <a:solidFill>
                  <a:schemeClr val="tx1"/>
                </a:solidFill>
              </a:rPr>
              <a:t>IaaS</a:t>
            </a:r>
            <a:endParaRPr lang="en-US" sz="1400" dirty="0"/>
          </a:p>
        </p:txBody>
      </p:sp>
      <p:sp>
        <p:nvSpPr>
          <p:cNvPr id="16" name="Card"/>
          <p:cNvSpPr/>
          <p:nvPr/>
        </p:nvSpPr>
        <p:spPr>
          <a:xfrm>
            <a:off x="3429000" y="1371600"/>
            <a:ext cx="5257800" cy="1005840"/>
          </a:xfrm>
          <a:prstGeom prst="roundRect">
            <a:avLst>
              <a:gd name="adj" fmla="val 10909"/>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17" name="FaPiggyBank circle"/>
          <p:cNvSpPr/>
          <p:nvPr/>
        </p:nvSpPr>
        <p:spPr>
          <a:xfrm>
            <a:off x="3611880" y="1645920"/>
            <a:ext cx="457200" cy="457200"/>
          </a:xfrm>
          <a:prstGeom prst="ellipse">
            <a:avLst/>
          </a:prstGeom>
          <a:solidFill>
            <a:schemeClr val="accent4"/>
          </a:solidFill>
          <a:ln/>
        </p:spPr>
        <p:txBody>
          <a:bodyPr/>
          <a:lstStyle/>
          <a:p>
            <a:endParaRPr lang="en-RW"/>
          </a:p>
        </p:txBody>
      </p:sp>
      <p:pic>
        <p:nvPicPr>
          <p:cNvPr id="18" name="FaPiggyBank icon" descr="preencoded.png"/>
          <p:cNvPicPr>
            <a:picLocks noChangeAspect="1"/>
          </p:cNvPicPr>
          <p:nvPr/>
        </p:nvPicPr>
        <p:blipFill>
          <a:blip r:embed="rId4"/>
          <a:stretch>
            <a:fillRect/>
          </a:stretch>
        </p:blipFill>
        <p:spPr>
          <a:xfrm>
            <a:off x="3726180" y="1760220"/>
            <a:ext cx="228600" cy="228600"/>
          </a:xfrm>
          <a:prstGeom prst="rect">
            <a:avLst/>
          </a:prstGeom>
        </p:spPr>
      </p:pic>
      <p:sp>
        <p:nvSpPr>
          <p:cNvPr id="19" name="Text 15"/>
          <p:cNvSpPr txBox="1"/>
          <p:nvPr/>
        </p:nvSpPr>
        <p:spPr>
          <a:xfrm>
            <a:off x="4251960" y="1371600"/>
            <a:ext cx="4251960" cy="1005840"/>
          </a:xfrm>
          <a:prstGeom prst="rect">
            <a:avLst/>
          </a:prstGeom>
          <a:noFill/>
          <a:ln/>
        </p:spPr>
        <p:txBody>
          <a:bodyPr wrap="square" lIns="0" tIns="0" rIns="0" bIns="0" rtlCol="0" anchor="ctr"/>
          <a:lstStyle/>
          <a:p>
            <a:pPr marL="0" indent="0">
              <a:buNone/>
            </a:pPr>
            <a:r>
              <a:rPr lang="en-US" sz="1400" dirty="0">
                <a:solidFill>
                  <a:schemeClr val="tx1"/>
                </a:solidFill>
              </a:rPr>
              <a:t>Reduces or eliminates the </a:t>
            </a:r>
            <a:r>
              <a:rPr lang="en-US" sz="1400" b="1" dirty="0">
                <a:solidFill>
                  <a:schemeClr val="tx1"/>
                </a:solidFill>
              </a:rPr>
              <a:t>capital costs</a:t>
            </a:r>
            <a:r>
              <a:rPr lang="en-US" sz="1400" dirty="0">
                <a:solidFill>
                  <a:schemeClr val="tx1"/>
                </a:solidFill>
              </a:rPr>
              <a:t> and complexity of owning hardware. Why buy servers when you can rent them?</a:t>
            </a:r>
            <a:endParaRPr lang="en-US" sz="1400" dirty="0"/>
          </a:p>
        </p:txBody>
      </p:sp>
      <p:sp>
        <p:nvSpPr>
          <p:cNvPr id="20" name="Card"/>
          <p:cNvSpPr/>
          <p:nvPr/>
        </p:nvSpPr>
        <p:spPr>
          <a:xfrm>
            <a:off x="3429000" y="2514600"/>
            <a:ext cx="5257800" cy="1005840"/>
          </a:xfrm>
          <a:prstGeom prst="roundRect">
            <a:avLst>
              <a:gd name="adj" fmla="val 10909"/>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21" name="FaCogs circle"/>
          <p:cNvSpPr/>
          <p:nvPr/>
        </p:nvSpPr>
        <p:spPr>
          <a:xfrm>
            <a:off x="3611880" y="2788920"/>
            <a:ext cx="457200" cy="457200"/>
          </a:xfrm>
          <a:prstGeom prst="ellipse">
            <a:avLst/>
          </a:prstGeom>
          <a:solidFill>
            <a:schemeClr val="accent2"/>
          </a:solidFill>
          <a:ln/>
        </p:spPr>
        <p:txBody>
          <a:bodyPr/>
          <a:lstStyle/>
          <a:p>
            <a:endParaRPr lang="en-RW"/>
          </a:p>
        </p:txBody>
      </p:sp>
      <p:pic>
        <p:nvPicPr>
          <p:cNvPr id="22" name="FaCogs icon" descr="preencoded.png"/>
          <p:cNvPicPr>
            <a:picLocks noChangeAspect="1"/>
          </p:cNvPicPr>
          <p:nvPr/>
        </p:nvPicPr>
        <p:blipFill>
          <a:blip r:embed="rId5"/>
          <a:stretch>
            <a:fillRect/>
          </a:stretch>
        </p:blipFill>
        <p:spPr>
          <a:xfrm>
            <a:off x="3726180" y="2903220"/>
            <a:ext cx="228600" cy="228600"/>
          </a:xfrm>
          <a:prstGeom prst="rect">
            <a:avLst/>
          </a:prstGeom>
        </p:spPr>
      </p:pic>
      <p:sp>
        <p:nvSpPr>
          <p:cNvPr id="23" name="Text 18"/>
          <p:cNvSpPr txBox="1"/>
          <p:nvPr/>
        </p:nvSpPr>
        <p:spPr>
          <a:xfrm>
            <a:off x="4251960" y="2514600"/>
            <a:ext cx="4251960" cy="1005840"/>
          </a:xfrm>
          <a:prstGeom prst="rect">
            <a:avLst/>
          </a:prstGeom>
          <a:noFill/>
          <a:ln/>
        </p:spPr>
        <p:txBody>
          <a:bodyPr wrap="square" lIns="0" tIns="0" rIns="0" bIns="0" rtlCol="0" anchor="ctr"/>
          <a:lstStyle/>
          <a:p>
            <a:pPr marL="0" indent="0">
              <a:buNone/>
            </a:pPr>
            <a:r>
              <a:rPr lang="en-US" sz="1400" dirty="0">
                <a:solidFill>
                  <a:schemeClr val="tx1"/>
                </a:solidFill>
              </a:rPr>
              <a:t>The </a:t>
            </a:r>
            <a:r>
              <a:rPr lang="en-US" sz="1400" b="1" dirty="0">
                <a:solidFill>
                  <a:schemeClr val="tx1"/>
                </a:solidFill>
              </a:rPr>
              <a:t>CSP manages the infrastructure</a:t>
            </a:r>
            <a:r>
              <a:rPr lang="en-US" sz="1400" dirty="0">
                <a:solidFill>
                  <a:schemeClr val="tx1"/>
                </a:solidFill>
              </a:rPr>
              <a:t>; the client is responsible for other aspects of the deployment, such as the operating system and applications.</a:t>
            </a:r>
            <a:endParaRPr lang="en-US" sz="1400" dirty="0"/>
          </a:p>
        </p:txBody>
      </p:sp>
      <p:sp>
        <p:nvSpPr>
          <p:cNvPr id="24" name="Card"/>
          <p:cNvSpPr/>
          <p:nvPr/>
        </p:nvSpPr>
        <p:spPr>
          <a:xfrm>
            <a:off x="3429000" y="3657600"/>
            <a:ext cx="5257800" cy="1005840"/>
          </a:xfrm>
          <a:prstGeom prst="roundRect">
            <a:avLst>
              <a:gd name="adj" fmla="val 10909"/>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25" name="FaLayerGroup circle"/>
          <p:cNvSpPr/>
          <p:nvPr/>
        </p:nvSpPr>
        <p:spPr>
          <a:xfrm>
            <a:off x="3611880" y="3931920"/>
            <a:ext cx="457200" cy="457200"/>
          </a:xfrm>
          <a:prstGeom prst="ellipse">
            <a:avLst/>
          </a:prstGeom>
          <a:solidFill>
            <a:schemeClr val="accent5"/>
          </a:solidFill>
          <a:ln/>
        </p:spPr>
        <p:txBody>
          <a:bodyPr/>
          <a:lstStyle/>
          <a:p>
            <a:endParaRPr lang="en-RW"/>
          </a:p>
        </p:txBody>
      </p:sp>
      <p:pic>
        <p:nvPicPr>
          <p:cNvPr id="26" name="FaLayerGroup icon" descr="preencoded.png"/>
          <p:cNvPicPr>
            <a:picLocks noChangeAspect="1"/>
          </p:cNvPicPr>
          <p:nvPr/>
        </p:nvPicPr>
        <p:blipFill>
          <a:blip r:embed="rId6"/>
          <a:stretch>
            <a:fillRect/>
          </a:stretch>
        </p:blipFill>
        <p:spPr>
          <a:xfrm>
            <a:off x="3726180" y="4046220"/>
            <a:ext cx="228600" cy="228600"/>
          </a:xfrm>
          <a:prstGeom prst="rect">
            <a:avLst/>
          </a:prstGeom>
        </p:spPr>
      </p:pic>
      <p:sp>
        <p:nvSpPr>
          <p:cNvPr id="27" name="Text 21"/>
          <p:cNvSpPr txBox="1"/>
          <p:nvPr/>
        </p:nvSpPr>
        <p:spPr>
          <a:xfrm>
            <a:off x="4251960" y="3657600"/>
            <a:ext cx="4251960" cy="1005840"/>
          </a:xfrm>
          <a:prstGeom prst="rect">
            <a:avLst/>
          </a:prstGeom>
          <a:noFill/>
          <a:ln/>
        </p:spPr>
        <p:txBody>
          <a:bodyPr wrap="square" lIns="0" tIns="0" rIns="0" bIns="0" rtlCol="0" anchor="ctr"/>
          <a:lstStyle/>
          <a:p>
            <a:pPr marL="0" indent="0">
              <a:buNone/>
            </a:pPr>
            <a:r>
              <a:rPr lang="en-US" sz="1400" dirty="0">
                <a:solidFill>
                  <a:schemeClr val="tx1"/>
                </a:solidFill>
              </a:rPr>
              <a:t>IaaS is the </a:t>
            </a:r>
            <a:r>
              <a:rPr lang="en-US" sz="1400" b="1" dirty="0">
                <a:solidFill>
                  <a:schemeClr val="tx1"/>
                </a:solidFill>
              </a:rPr>
              <a:t>base layer</a:t>
            </a:r>
            <a:r>
              <a:rPr lang="en-US" sz="1400" dirty="0">
                <a:solidFill>
                  <a:schemeClr val="tx1"/>
                </a:solidFill>
              </a:rPr>
              <a:t> of the cloud services stack and the foundation for both PaaS and SaaS.</a:t>
            </a:r>
            <a:endParaRPr lang="en-US" sz="1400" dirty="0"/>
          </a:p>
        </p:txBody>
      </p:sp>
      <p:sp>
        <p:nvSpPr>
          <p:cNvPr id="28"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5A7E"/>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48640"/>
            <a:ext cx="8229600" cy="640080"/>
          </a:xfrm>
          <a:prstGeom prst="rect">
            <a:avLst/>
          </a:prstGeom>
          <a:noFill/>
          <a:ln/>
        </p:spPr>
        <p:txBody>
          <a:bodyPr wrap="square" lIns="0" tIns="0" rIns="0" bIns="0" rtlCol="0" anchor="ctr"/>
          <a:lstStyle/>
          <a:p>
            <a:pPr marL="0" indent="0" algn="l">
              <a:buNone/>
            </a:pPr>
            <a:r>
              <a:rPr lang="en-US" sz="3400" b="1" dirty="0">
                <a:solidFill>
                  <a:schemeClr val="tx1"/>
                </a:solidFill>
              </a:rPr>
              <a:t>Characteristics of PaaS</a:t>
            </a:r>
            <a:endParaRPr lang="en-US" sz="3400" dirty="0"/>
          </a:p>
        </p:txBody>
      </p:sp>
      <p:sp>
        <p:nvSpPr>
          <p:cNvPr id="3" name="Section chip"/>
          <p:cNvSpPr txBox="1"/>
          <p:nvPr/>
        </p:nvSpPr>
        <p:spPr>
          <a:xfrm>
            <a:off x="457200" y="274320"/>
            <a:ext cx="2017166" cy="246888"/>
          </a:xfrm>
          <a:prstGeom prst="roundRect">
            <a:avLst>
              <a:gd name="adj" fmla="val 48148"/>
            </a:avLst>
          </a:prstGeom>
          <a:solidFill>
            <a:schemeClr val="accent2"/>
          </a:solidFill>
          <a:ln/>
        </p:spPr>
        <p:txBody>
          <a:bodyPr wrap="square" lIns="0" tIns="0" rIns="0" bIns="0" rtlCol="0" anchor="ctr"/>
          <a:lstStyle/>
          <a:p>
            <a:pPr marL="0" indent="0" algn="ctr">
              <a:buNone/>
            </a:pPr>
            <a:r>
              <a:rPr lang="en-US" sz="1000" b="1" kern="0" spc="150" dirty="0">
                <a:solidFill>
                  <a:schemeClr val="tx1"/>
                </a:solidFill>
              </a:rPr>
              <a:t>SERVICE MODELS · PAAS</a:t>
            </a:r>
            <a:endParaRPr lang="en-US" sz="1000" dirty="0"/>
          </a:p>
        </p:txBody>
      </p:sp>
      <p:sp>
        <p:nvSpPr>
          <p:cNvPr id="4" name="Service panel"/>
          <p:cNvSpPr/>
          <p:nvPr/>
        </p:nvSpPr>
        <p:spPr>
          <a:xfrm>
            <a:off x="457200" y="1371600"/>
            <a:ext cx="2743200" cy="3291840"/>
          </a:xfrm>
          <a:prstGeom prst="roundRect">
            <a:avLst>
              <a:gd name="adj" fmla="val 4000"/>
            </a:avLst>
          </a:prstGeom>
          <a:solidFill>
            <a:schemeClr val="tx1"/>
          </a:solidFill>
          <a:ln/>
          <a:effectLst>
            <a:outerShdw blurRad="127000" dist="38100" dir="5400000" algn="bl" rotWithShape="0">
              <a:srgbClr val="1E1B4B">
                <a:alpha val="10000"/>
              </a:srgbClr>
            </a:outerShdw>
          </a:effectLst>
        </p:spPr>
        <p:txBody>
          <a:bodyPr/>
          <a:lstStyle/>
          <a:p>
            <a:endParaRPr lang="en-RW"/>
          </a:p>
        </p:txBody>
      </p:sp>
      <p:sp>
        <p:nvSpPr>
          <p:cNvPr id="5" name="FaCode circle"/>
          <p:cNvSpPr/>
          <p:nvPr/>
        </p:nvSpPr>
        <p:spPr>
          <a:xfrm>
            <a:off x="731520" y="1600200"/>
            <a:ext cx="640080" cy="640080"/>
          </a:xfrm>
          <a:prstGeom prst="ellipse">
            <a:avLst/>
          </a:prstGeom>
          <a:solidFill>
            <a:schemeClr val="accent2"/>
          </a:solidFill>
          <a:ln/>
        </p:spPr>
        <p:txBody>
          <a:bodyPr/>
          <a:lstStyle/>
          <a:p>
            <a:endParaRPr lang="en-RW"/>
          </a:p>
        </p:txBody>
      </p:sp>
      <p:pic>
        <p:nvPicPr>
          <p:cNvPr id="6" name="FaCode icon" descr="preencoded.png"/>
          <p:cNvPicPr>
            <a:picLocks noChangeAspect="1"/>
          </p:cNvPicPr>
          <p:nvPr/>
        </p:nvPicPr>
        <p:blipFill>
          <a:blip r:embed="rId3"/>
          <a:stretch>
            <a:fillRect/>
          </a:stretch>
        </p:blipFill>
        <p:spPr>
          <a:xfrm>
            <a:off x="891540" y="1760220"/>
            <a:ext cx="320040" cy="320040"/>
          </a:xfrm>
          <a:prstGeom prst="rect">
            <a:avLst/>
          </a:prstGeom>
        </p:spPr>
      </p:pic>
      <p:sp>
        <p:nvSpPr>
          <p:cNvPr id="7" name="Text 4"/>
          <p:cNvSpPr txBox="1"/>
          <p:nvPr/>
        </p:nvSpPr>
        <p:spPr>
          <a:xfrm>
            <a:off x="1508760" y="1572768"/>
            <a:ext cx="1554480" cy="685800"/>
          </a:xfrm>
          <a:prstGeom prst="rect">
            <a:avLst/>
          </a:prstGeom>
          <a:noFill/>
          <a:ln/>
        </p:spPr>
        <p:txBody>
          <a:bodyPr wrap="square" lIns="0" tIns="0" rIns="0" bIns="0" rtlCol="0" anchor="ctr"/>
          <a:lstStyle/>
          <a:p>
            <a:pPr marL="0" indent="0">
              <a:buNone/>
            </a:pPr>
            <a:r>
              <a:rPr lang="en-US" sz="3600" b="1" dirty="0">
                <a:solidFill>
                  <a:schemeClr val="bg1"/>
                </a:solidFill>
              </a:rPr>
              <a:t>PaaS</a:t>
            </a:r>
            <a:endParaRPr lang="en-US" sz="3600" dirty="0"/>
          </a:p>
        </p:txBody>
      </p:sp>
      <p:sp>
        <p:nvSpPr>
          <p:cNvPr id="8" name="Text 5"/>
          <p:cNvSpPr txBox="1"/>
          <p:nvPr/>
        </p:nvSpPr>
        <p:spPr>
          <a:xfrm>
            <a:off x="731520" y="2377440"/>
            <a:ext cx="2286000" cy="594360"/>
          </a:xfrm>
          <a:prstGeom prst="rect">
            <a:avLst/>
          </a:prstGeom>
          <a:noFill/>
          <a:ln/>
        </p:spPr>
        <p:txBody>
          <a:bodyPr wrap="square" lIns="0" tIns="0" rIns="0" bIns="0" rtlCol="0" anchor="t"/>
          <a:lstStyle/>
          <a:p>
            <a:pPr marL="0" indent="0">
              <a:buNone/>
            </a:pPr>
            <a:r>
              <a:rPr lang="en-US" sz="1400" b="1" dirty="0">
                <a:solidFill>
                  <a:schemeClr val="bg1"/>
                </a:solidFill>
              </a:rPr>
              <a:t>Platform as a Service</a:t>
            </a:r>
            <a:endParaRPr lang="en-US" sz="1400" dirty="0"/>
          </a:p>
        </p:txBody>
      </p:sp>
      <p:sp>
        <p:nvSpPr>
          <p:cNvPr id="9" name="Text 6"/>
          <p:cNvSpPr txBox="1"/>
          <p:nvPr/>
        </p:nvSpPr>
        <p:spPr>
          <a:xfrm>
            <a:off x="731520" y="2880360"/>
            <a:ext cx="2286000" cy="274320"/>
          </a:xfrm>
          <a:prstGeom prst="rect">
            <a:avLst/>
          </a:prstGeom>
          <a:noFill/>
          <a:ln/>
        </p:spPr>
        <p:txBody>
          <a:bodyPr wrap="square" lIns="0" tIns="0" rIns="0" bIns="0" rtlCol="0" anchor="t"/>
          <a:lstStyle/>
          <a:p>
            <a:pPr marL="0" indent="0">
              <a:buNone/>
            </a:pPr>
            <a:r>
              <a:rPr lang="en-US" sz="1300" i="1" dirty="0">
                <a:solidFill>
                  <a:schemeClr val="accent2"/>
                </a:solidFill>
              </a:rPr>
              <a:t>A platform to build on</a:t>
            </a:r>
            <a:endParaRPr lang="en-US" sz="1300" dirty="0"/>
          </a:p>
        </p:txBody>
      </p:sp>
      <p:sp>
        <p:nvSpPr>
          <p:cNvPr id="10" name="Stack layer SaaS"/>
          <p:cNvSpPr/>
          <p:nvPr/>
        </p:nvSpPr>
        <p:spPr>
          <a:xfrm>
            <a:off x="731520" y="3200400"/>
            <a:ext cx="2194560" cy="384048"/>
          </a:xfrm>
          <a:prstGeom prst="roundRect">
            <a:avLst>
              <a:gd name="adj" fmla="val 19048"/>
            </a:avLst>
          </a:prstGeom>
          <a:solidFill>
            <a:schemeClr val="bg1">
              <a:alpha val="20000"/>
            </a:schemeClr>
          </a:solidFill>
          <a:ln/>
        </p:spPr>
        <p:txBody>
          <a:bodyPr/>
          <a:lstStyle/>
          <a:p>
            <a:endParaRPr lang="en-RW"/>
          </a:p>
        </p:txBody>
      </p:sp>
      <p:sp>
        <p:nvSpPr>
          <p:cNvPr id="11" name="Text 8"/>
          <p:cNvSpPr txBox="1"/>
          <p:nvPr/>
        </p:nvSpPr>
        <p:spPr>
          <a:xfrm>
            <a:off x="731520" y="3200400"/>
            <a:ext cx="2194560" cy="384048"/>
          </a:xfrm>
          <a:prstGeom prst="rect">
            <a:avLst/>
          </a:prstGeom>
          <a:noFill/>
          <a:ln/>
        </p:spPr>
        <p:txBody>
          <a:bodyPr wrap="square" lIns="0" tIns="0" rIns="0" bIns="0" rtlCol="0" anchor="ctr"/>
          <a:lstStyle/>
          <a:p>
            <a:pPr marL="0" indent="0" algn="ctr">
              <a:buNone/>
            </a:pPr>
            <a:r>
              <a:rPr lang="en-US" sz="1400" b="1" dirty="0">
                <a:solidFill>
                  <a:schemeClr val="bg1"/>
                </a:solidFill>
              </a:rPr>
              <a:t>SaaS</a:t>
            </a:r>
            <a:endParaRPr lang="en-US" sz="1400" dirty="0"/>
          </a:p>
        </p:txBody>
      </p:sp>
      <p:sp>
        <p:nvSpPr>
          <p:cNvPr id="12" name="Stack layer PaaS"/>
          <p:cNvSpPr/>
          <p:nvPr/>
        </p:nvSpPr>
        <p:spPr>
          <a:xfrm>
            <a:off x="731520" y="3657600"/>
            <a:ext cx="2194560" cy="384048"/>
          </a:xfrm>
          <a:prstGeom prst="roundRect">
            <a:avLst>
              <a:gd name="adj" fmla="val 19048"/>
            </a:avLst>
          </a:prstGeom>
          <a:solidFill>
            <a:schemeClr val="accent2"/>
          </a:solidFill>
          <a:ln/>
        </p:spPr>
        <p:txBody>
          <a:bodyPr/>
          <a:lstStyle/>
          <a:p>
            <a:endParaRPr lang="en-RW"/>
          </a:p>
        </p:txBody>
      </p:sp>
      <p:sp>
        <p:nvSpPr>
          <p:cNvPr id="13" name="Text 10"/>
          <p:cNvSpPr txBox="1"/>
          <p:nvPr/>
        </p:nvSpPr>
        <p:spPr>
          <a:xfrm>
            <a:off x="731520" y="3657600"/>
            <a:ext cx="2194560" cy="384048"/>
          </a:xfrm>
          <a:prstGeom prst="rect">
            <a:avLst/>
          </a:prstGeom>
          <a:noFill/>
          <a:ln/>
        </p:spPr>
        <p:txBody>
          <a:bodyPr wrap="square" lIns="0" tIns="0" rIns="0" bIns="0" rtlCol="0" anchor="ctr"/>
          <a:lstStyle/>
          <a:p>
            <a:pPr marL="0" indent="0" algn="ctr">
              <a:buNone/>
            </a:pPr>
            <a:r>
              <a:rPr lang="en-US" sz="1400" b="1" dirty="0">
                <a:solidFill>
                  <a:schemeClr val="tx1"/>
                </a:solidFill>
              </a:rPr>
              <a:t>PaaS</a:t>
            </a:r>
            <a:endParaRPr lang="en-US" sz="1400" dirty="0"/>
          </a:p>
        </p:txBody>
      </p:sp>
      <p:sp>
        <p:nvSpPr>
          <p:cNvPr id="14" name="Stack layer IaaS"/>
          <p:cNvSpPr/>
          <p:nvPr/>
        </p:nvSpPr>
        <p:spPr>
          <a:xfrm>
            <a:off x="731520" y="4114800"/>
            <a:ext cx="2194560" cy="384048"/>
          </a:xfrm>
          <a:prstGeom prst="roundRect">
            <a:avLst>
              <a:gd name="adj" fmla="val 19048"/>
            </a:avLst>
          </a:prstGeom>
          <a:solidFill>
            <a:schemeClr val="bg1">
              <a:alpha val="20000"/>
            </a:schemeClr>
          </a:solidFill>
          <a:ln/>
        </p:spPr>
        <p:txBody>
          <a:bodyPr/>
          <a:lstStyle/>
          <a:p>
            <a:endParaRPr lang="en-RW"/>
          </a:p>
        </p:txBody>
      </p:sp>
      <p:sp>
        <p:nvSpPr>
          <p:cNvPr id="15" name="Text 12"/>
          <p:cNvSpPr txBox="1"/>
          <p:nvPr/>
        </p:nvSpPr>
        <p:spPr>
          <a:xfrm>
            <a:off x="731520" y="4114800"/>
            <a:ext cx="2194560" cy="384048"/>
          </a:xfrm>
          <a:prstGeom prst="rect">
            <a:avLst/>
          </a:prstGeom>
          <a:noFill/>
          <a:ln/>
        </p:spPr>
        <p:txBody>
          <a:bodyPr wrap="square" lIns="0" tIns="0" rIns="0" bIns="0" rtlCol="0" anchor="ctr"/>
          <a:lstStyle/>
          <a:p>
            <a:pPr marL="0" indent="0" algn="ctr">
              <a:buNone/>
            </a:pPr>
            <a:r>
              <a:rPr lang="en-US" sz="1400" b="1" dirty="0">
                <a:solidFill>
                  <a:schemeClr val="bg1"/>
                </a:solidFill>
              </a:rPr>
              <a:t>IaaS</a:t>
            </a:r>
            <a:endParaRPr lang="en-US" sz="1400" dirty="0"/>
          </a:p>
        </p:txBody>
      </p:sp>
      <p:sp>
        <p:nvSpPr>
          <p:cNvPr id="16" name="Card"/>
          <p:cNvSpPr/>
          <p:nvPr/>
        </p:nvSpPr>
        <p:spPr>
          <a:xfrm>
            <a:off x="3429000" y="1371600"/>
            <a:ext cx="5257800" cy="731520"/>
          </a:xfrm>
          <a:prstGeom prst="roundRect">
            <a:avLst>
              <a:gd name="adj" fmla="val 15000"/>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17" name="FaRocket circle"/>
          <p:cNvSpPr/>
          <p:nvPr/>
        </p:nvSpPr>
        <p:spPr>
          <a:xfrm>
            <a:off x="3611880" y="1508760"/>
            <a:ext cx="457200" cy="457200"/>
          </a:xfrm>
          <a:prstGeom prst="ellipse">
            <a:avLst/>
          </a:prstGeom>
          <a:solidFill>
            <a:schemeClr val="accent2"/>
          </a:solidFill>
          <a:ln/>
        </p:spPr>
        <p:txBody>
          <a:bodyPr/>
          <a:lstStyle/>
          <a:p>
            <a:endParaRPr lang="en-RW"/>
          </a:p>
        </p:txBody>
      </p:sp>
      <p:pic>
        <p:nvPicPr>
          <p:cNvPr id="18" name="FaRocket icon" descr="preencoded.png"/>
          <p:cNvPicPr>
            <a:picLocks noChangeAspect="1"/>
          </p:cNvPicPr>
          <p:nvPr/>
        </p:nvPicPr>
        <p:blipFill>
          <a:blip r:embed="rId4"/>
          <a:stretch>
            <a:fillRect/>
          </a:stretch>
        </p:blipFill>
        <p:spPr>
          <a:xfrm>
            <a:off x="3726180" y="1623060"/>
            <a:ext cx="228600" cy="228600"/>
          </a:xfrm>
          <a:prstGeom prst="rect">
            <a:avLst/>
          </a:prstGeom>
        </p:spPr>
      </p:pic>
      <p:sp>
        <p:nvSpPr>
          <p:cNvPr id="19" name="Text 15"/>
          <p:cNvSpPr txBox="1"/>
          <p:nvPr/>
        </p:nvSpPr>
        <p:spPr>
          <a:xfrm>
            <a:off x="4251960" y="1371600"/>
            <a:ext cx="4251960" cy="731520"/>
          </a:xfrm>
          <a:prstGeom prst="rect">
            <a:avLst/>
          </a:prstGeom>
          <a:noFill/>
          <a:ln/>
        </p:spPr>
        <p:txBody>
          <a:bodyPr wrap="square" lIns="0" tIns="0" rIns="0" bIns="0" rtlCol="0" anchor="ctr"/>
          <a:lstStyle/>
          <a:p>
            <a:pPr marL="0" indent="0">
              <a:buNone/>
            </a:pPr>
            <a:r>
              <a:rPr lang="en-US" sz="1400" dirty="0">
                <a:solidFill>
                  <a:schemeClr val="tx1"/>
                </a:solidFill>
              </a:rPr>
              <a:t>An environment for </a:t>
            </a:r>
            <a:r>
              <a:rPr lang="en-US" sz="1400" b="1" dirty="0">
                <a:solidFill>
                  <a:schemeClr val="tx1"/>
                </a:solidFill>
              </a:rPr>
              <a:t>low-cost, rapid development</a:t>
            </a:r>
            <a:r>
              <a:rPr lang="en-US" sz="1400" dirty="0">
                <a:solidFill>
                  <a:schemeClr val="tx1"/>
                </a:solidFill>
              </a:rPr>
              <a:t> of new applications (e.g., web and mobile).</a:t>
            </a:r>
            <a:endParaRPr lang="en-US" sz="1400" dirty="0"/>
          </a:p>
        </p:txBody>
      </p:sp>
      <p:sp>
        <p:nvSpPr>
          <p:cNvPr id="20" name="Card"/>
          <p:cNvSpPr/>
          <p:nvPr/>
        </p:nvSpPr>
        <p:spPr>
          <a:xfrm>
            <a:off x="3429000" y="2194560"/>
            <a:ext cx="5257800" cy="731520"/>
          </a:xfrm>
          <a:prstGeom prst="roundRect">
            <a:avLst>
              <a:gd name="adj" fmla="val 15000"/>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21" name="FaPlug circle"/>
          <p:cNvSpPr/>
          <p:nvPr/>
        </p:nvSpPr>
        <p:spPr>
          <a:xfrm>
            <a:off x="3611880" y="2331720"/>
            <a:ext cx="457200" cy="457200"/>
          </a:xfrm>
          <a:prstGeom prst="ellipse">
            <a:avLst/>
          </a:prstGeom>
          <a:solidFill>
            <a:schemeClr val="accent5"/>
          </a:solidFill>
          <a:ln/>
        </p:spPr>
        <p:txBody>
          <a:bodyPr/>
          <a:lstStyle/>
          <a:p>
            <a:endParaRPr lang="en-RW"/>
          </a:p>
        </p:txBody>
      </p:sp>
      <p:pic>
        <p:nvPicPr>
          <p:cNvPr id="22" name="FaPlug icon" descr="preencoded.png"/>
          <p:cNvPicPr>
            <a:picLocks noChangeAspect="1"/>
          </p:cNvPicPr>
          <p:nvPr/>
        </p:nvPicPr>
        <p:blipFill>
          <a:blip r:embed="rId5"/>
          <a:stretch>
            <a:fillRect/>
          </a:stretch>
        </p:blipFill>
        <p:spPr>
          <a:xfrm>
            <a:off x="3726180" y="2446020"/>
            <a:ext cx="228600" cy="228600"/>
          </a:xfrm>
          <a:prstGeom prst="rect">
            <a:avLst/>
          </a:prstGeom>
        </p:spPr>
      </p:pic>
      <p:sp>
        <p:nvSpPr>
          <p:cNvPr id="23" name="Text 18"/>
          <p:cNvSpPr txBox="1"/>
          <p:nvPr/>
        </p:nvSpPr>
        <p:spPr>
          <a:xfrm>
            <a:off x="4251960" y="2194560"/>
            <a:ext cx="4251960" cy="731520"/>
          </a:xfrm>
          <a:prstGeom prst="rect">
            <a:avLst/>
          </a:prstGeom>
          <a:noFill/>
          <a:ln/>
        </p:spPr>
        <p:txBody>
          <a:bodyPr wrap="square" lIns="0" tIns="0" rIns="0" bIns="0" rtlCol="0" anchor="ctr"/>
          <a:lstStyle/>
          <a:p>
            <a:pPr marL="0" indent="0">
              <a:buNone/>
            </a:pPr>
            <a:r>
              <a:rPr lang="en-US" sz="1400" dirty="0">
                <a:solidFill>
                  <a:schemeClr val="tx1"/>
                </a:solidFill>
              </a:rPr>
              <a:t>Most platforms are accessed through an </a:t>
            </a:r>
            <a:r>
              <a:rPr lang="en-US" sz="1400" b="1" dirty="0">
                <a:solidFill>
                  <a:schemeClr val="tx1"/>
                </a:solidFill>
              </a:rPr>
              <a:t>Application Programming Interface (API)</a:t>
            </a:r>
            <a:r>
              <a:rPr lang="en-US" sz="1400" dirty="0">
                <a:solidFill>
                  <a:schemeClr val="tx1"/>
                </a:solidFill>
              </a:rPr>
              <a:t>.</a:t>
            </a:r>
            <a:endParaRPr lang="en-US" sz="1400" dirty="0"/>
          </a:p>
        </p:txBody>
      </p:sp>
      <p:sp>
        <p:nvSpPr>
          <p:cNvPr id="24" name="Card"/>
          <p:cNvSpPr/>
          <p:nvPr/>
        </p:nvSpPr>
        <p:spPr>
          <a:xfrm>
            <a:off x="3429000" y="3017520"/>
            <a:ext cx="5257800" cy="914400"/>
          </a:xfrm>
          <a:prstGeom prst="roundRect">
            <a:avLst>
              <a:gd name="adj" fmla="val 12000"/>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25" name="FaSlidersH circle"/>
          <p:cNvSpPr/>
          <p:nvPr/>
        </p:nvSpPr>
        <p:spPr>
          <a:xfrm>
            <a:off x="3611880" y="3246120"/>
            <a:ext cx="457200" cy="457200"/>
          </a:xfrm>
          <a:prstGeom prst="ellipse">
            <a:avLst/>
          </a:prstGeom>
          <a:solidFill>
            <a:schemeClr val="accent1"/>
          </a:solidFill>
          <a:ln/>
        </p:spPr>
        <p:txBody>
          <a:bodyPr/>
          <a:lstStyle/>
          <a:p>
            <a:endParaRPr lang="en-RW"/>
          </a:p>
        </p:txBody>
      </p:sp>
      <p:pic>
        <p:nvPicPr>
          <p:cNvPr id="26" name="FaSlidersH icon" descr="preencoded.png"/>
          <p:cNvPicPr>
            <a:picLocks noChangeAspect="1"/>
          </p:cNvPicPr>
          <p:nvPr/>
        </p:nvPicPr>
        <p:blipFill>
          <a:blip r:embed="rId6"/>
          <a:stretch>
            <a:fillRect/>
          </a:stretch>
        </p:blipFill>
        <p:spPr>
          <a:xfrm>
            <a:off x="3726180" y="3360420"/>
            <a:ext cx="228600" cy="228600"/>
          </a:xfrm>
          <a:prstGeom prst="rect">
            <a:avLst/>
          </a:prstGeom>
        </p:spPr>
      </p:pic>
      <p:sp>
        <p:nvSpPr>
          <p:cNvPr id="27" name="Text 21"/>
          <p:cNvSpPr txBox="1"/>
          <p:nvPr/>
        </p:nvSpPr>
        <p:spPr>
          <a:xfrm>
            <a:off x="4251960" y="3017520"/>
            <a:ext cx="4251960" cy="914400"/>
          </a:xfrm>
          <a:prstGeom prst="rect">
            <a:avLst/>
          </a:prstGeom>
          <a:noFill/>
          <a:ln/>
        </p:spPr>
        <p:txBody>
          <a:bodyPr wrap="square" lIns="0" tIns="0" rIns="0" bIns="0" rtlCol="0" anchor="ctr"/>
          <a:lstStyle/>
          <a:p>
            <a:pPr marL="0" indent="0">
              <a:buNone/>
            </a:pPr>
            <a:r>
              <a:rPr lang="en-US" sz="1400" dirty="0">
                <a:solidFill>
                  <a:schemeClr val="tx1"/>
                </a:solidFill>
              </a:rPr>
              <a:t>Developers fully control deployed applications and hosting settings, but don't manage the underlying networks, servers, storage, or operating systems.</a:t>
            </a:r>
            <a:endParaRPr lang="en-US" sz="1400" dirty="0"/>
          </a:p>
        </p:txBody>
      </p:sp>
      <p:sp>
        <p:nvSpPr>
          <p:cNvPr id="28" name="Card"/>
          <p:cNvSpPr/>
          <p:nvPr/>
        </p:nvSpPr>
        <p:spPr>
          <a:xfrm>
            <a:off x="3429000" y="4069080"/>
            <a:ext cx="5257800" cy="594360"/>
          </a:xfrm>
          <a:prstGeom prst="roundRect">
            <a:avLst>
              <a:gd name="adj" fmla="val 18462"/>
            </a:avLst>
          </a:prstGeom>
          <a:solidFill>
            <a:schemeClr val="accent3"/>
          </a:solidFill>
          <a:ln/>
          <a:effectLst>
            <a:outerShdw blurRad="127000" dist="38100" dir="5400000" algn="bl" rotWithShape="0">
              <a:srgbClr val="1E1B4B">
                <a:alpha val="10000"/>
              </a:srgbClr>
            </a:outerShdw>
          </a:effectLst>
        </p:spPr>
        <p:txBody>
          <a:bodyPr/>
          <a:lstStyle/>
          <a:p>
            <a:endParaRPr lang="en-RW"/>
          </a:p>
        </p:txBody>
      </p:sp>
      <p:pic>
        <p:nvPicPr>
          <p:cNvPr id="29" name="Warning icon" descr="preencoded.png"/>
          <p:cNvPicPr>
            <a:picLocks noChangeAspect="1"/>
          </p:cNvPicPr>
          <p:nvPr/>
        </p:nvPicPr>
        <p:blipFill>
          <a:blip r:embed="rId7"/>
          <a:stretch>
            <a:fillRect/>
          </a:stretch>
        </p:blipFill>
        <p:spPr>
          <a:xfrm>
            <a:off x="3611880" y="4206240"/>
            <a:ext cx="320040" cy="320040"/>
          </a:xfrm>
          <a:prstGeom prst="rect">
            <a:avLst/>
          </a:prstGeom>
        </p:spPr>
      </p:pic>
      <p:sp>
        <p:nvSpPr>
          <p:cNvPr id="30" name="Text 23"/>
          <p:cNvSpPr txBox="1"/>
          <p:nvPr/>
        </p:nvSpPr>
        <p:spPr>
          <a:xfrm>
            <a:off x="4114800" y="4069080"/>
            <a:ext cx="4389120" cy="594360"/>
          </a:xfrm>
          <a:prstGeom prst="rect">
            <a:avLst/>
          </a:prstGeom>
          <a:noFill/>
          <a:ln/>
        </p:spPr>
        <p:txBody>
          <a:bodyPr wrap="square" lIns="0" tIns="0" rIns="0" bIns="0" rtlCol="0" anchor="ctr"/>
          <a:lstStyle/>
          <a:p>
            <a:pPr marL="0" indent="0">
              <a:buNone/>
            </a:pPr>
            <a:r>
              <a:rPr lang="en-US" sz="1600" b="1" dirty="0">
                <a:solidFill>
                  <a:schemeClr val="tx1"/>
                </a:solidFill>
              </a:rPr>
              <a:t>High risk of vendor lock-in</a:t>
            </a:r>
            <a:endParaRPr lang="en-US" sz="1600" dirty="0"/>
          </a:p>
        </p:txBody>
      </p:sp>
      <p:sp>
        <p:nvSpPr>
          <p:cNvPr id="31"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5A7E"/>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48640"/>
            <a:ext cx="8229600" cy="640080"/>
          </a:xfrm>
          <a:prstGeom prst="rect">
            <a:avLst/>
          </a:prstGeom>
          <a:noFill/>
          <a:ln/>
        </p:spPr>
        <p:txBody>
          <a:bodyPr wrap="square" lIns="0" tIns="0" rIns="0" bIns="0" rtlCol="0" anchor="ctr"/>
          <a:lstStyle/>
          <a:p>
            <a:pPr marL="0" indent="0" algn="l">
              <a:buNone/>
            </a:pPr>
            <a:r>
              <a:rPr lang="en-US" sz="3400" b="1" dirty="0">
                <a:solidFill>
                  <a:schemeClr val="tx1"/>
                </a:solidFill>
              </a:rPr>
              <a:t>What is an API?</a:t>
            </a:r>
            <a:endParaRPr lang="en-US" sz="3400" dirty="0"/>
          </a:p>
        </p:txBody>
      </p:sp>
      <p:sp>
        <p:nvSpPr>
          <p:cNvPr id="3" name="Section chip"/>
          <p:cNvSpPr txBox="1"/>
          <p:nvPr/>
        </p:nvSpPr>
        <p:spPr>
          <a:xfrm>
            <a:off x="457200" y="274320"/>
            <a:ext cx="2017166" cy="246888"/>
          </a:xfrm>
          <a:prstGeom prst="roundRect">
            <a:avLst>
              <a:gd name="adj" fmla="val 48148"/>
            </a:avLst>
          </a:prstGeom>
          <a:solidFill>
            <a:schemeClr val="accent2"/>
          </a:solidFill>
          <a:ln/>
        </p:spPr>
        <p:txBody>
          <a:bodyPr wrap="square" lIns="0" tIns="0" rIns="0" bIns="0" rtlCol="0" anchor="ctr"/>
          <a:lstStyle/>
          <a:p>
            <a:pPr marL="0" indent="0" algn="ctr">
              <a:buNone/>
            </a:pPr>
            <a:r>
              <a:rPr lang="en-US" sz="1000" b="1" kern="0" spc="150" dirty="0">
                <a:solidFill>
                  <a:schemeClr val="tx1"/>
                </a:solidFill>
              </a:rPr>
              <a:t>SERVICE MODELS · PAAS</a:t>
            </a:r>
            <a:endParaRPr lang="en-US" sz="1000" dirty="0"/>
          </a:p>
        </p:txBody>
      </p:sp>
      <p:sp>
        <p:nvSpPr>
          <p:cNvPr id="4" name="Card"/>
          <p:cNvSpPr/>
          <p:nvPr/>
        </p:nvSpPr>
        <p:spPr>
          <a:xfrm>
            <a:off x="457200" y="1371600"/>
            <a:ext cx="5120640" cy="1463040"/>
          </a:xfrm>
          <a:prstGeom prst="roundRect">
            <a:avLst>
              <a:gd name="adj" fmla="val 7500"/>
            </a:avLst>
          </a:prstGeom>
          <a:solidFill>
            <a:schemeClr val="accent1"/>
          </a:solidFill>
          <a:ln/>
          <a:effectLst>
            <a:outerShdw blurRad="127000" dist="38100" dir="5400000" algn="bl" rotWithShape="0">
              <a:srgbClr val="1E1B4B">
                <a:alpha val="10000"/>
              </a:srgbClr>
            </a:outerShdw>
          </a:effectLst>
        </p:spPr>
        <p:txBody>
          <a:bodyPr/>
          <a:lstStyle/>
          <a:p>
            <a:endParaRPr lang="en-RW"/>
          </a:p>
        </p:txBody>
      </p:sp>
      <p:pic>
        <p:nvPicPr>
          <p:cNvPr id="5" name="Plug icon" descr="preencoded.png"/>
          <p:cNvPicPr>
            <a:picLocks noChangeAspect="1"/>
          </p:cNvPicPr>
          <p:nvPr/>
        </p:nvPicPr>
        <p:blipFill>
          <a:blip r:embed="rId3"/>
          <a:stretch>
            <a:fillRect/>
          </a:stretch>
        </p:blipFill>
        <p:spPr>
          <a:xfrm>
            <a:off x="731520" y="1600200"/>
            <a:ext cx="457200" cy="457200"/>
          </a:xfrm>
          <a:prstGeom prst="rect">
            <a:avLst/>
          </a:prstGeom>
        </p:spPr>
      </p:pic>
      <p:sp>
        <p:nvSpPr>
          <p:cNvPr id="6" name="Text 3"/>
          <p:cNvSpPr txBox="1"/>
          <p:nvPr/>
        </p:nvSpPr>
        <p:spPr>
          <a:xfrm>
            <a:off x="1371600" y="1371600"/>
            <a:ext cx="4023360" cy="1463040"/>
          </a:xfrm>
          <a:prstGeom prst="rect">
            <a:avLst/>
          </a:prstGeom>
          <a:noFill/>
          <a:ln/>
        </p:spPr>
        <p:txBody>
          <a:bodyPr wrap="square" lIns="0" tIns="0" rIns="0" bIns="0" rtlCol="0" anchor="ctr"/>
          <a:lstStyle/>
          <a:p>
            <a:pPr marL="0" indent="0">
              <a:buNone/>
            </a:pPr>
            <a:r>
              <a:rPr lang="en-US" sz="2200" b="1" dirty="0">
                <a:solidFill>
                  <a:schemeClr val="bg1"/>
                </a:solidFill>
              </a:rPr>
              <a:t>An API allows one piece of software to talk to another.</a:t>
            </a:r>
            <a:endParaRPr lang="en-US" sz="2200" dirty="0"/>
          </a:p>
        </p:txBody>
      </p:sp>
      <p:sp>
        <p:nvSpPr>
          <p:cNvPr id="7" name="Card"/>
          <p:cNvSpPr/>
          <p:nvPr/>
        </p:nvSpPr>
        <p:spPr>
          <a:xfrm>
            <a:off x="457200" y="3017520"/>
            <a:ext cx="5120640" cy="1645920"/>
          </a:xfrm>
          <a:prstGeom prst="roundRect">
            <a:avLst>
              <a:gd name="adj" fmla="val 6667"/>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8" name="Text 5"/>
          <p:cNvSpPr txBox="1"/>
          <p:nvPr/>
        </p:nvSpPr>
        <p:spPr>
          <a:xfrm>
            <a:off x="731520" y="3017520"/>
            <a:ext cx="4572000" cy="1645920"/>
          </a:xfrm>
          <a:prstGeom prst="rect">
            <a:avLst/>
          </a:prstGeom>
          <a:noFill/>
          <a:ln/>
        </p:spPr>
        <p:txBody>
          <a:bodyPr wrap="square" lIns="0" tIns="0" rIns="0" bIns="0" rtlCol="0" anchor="ctr"/>
          <a:lstStyle/>
          <a:p>
            <a:pPr marL="0" indent="0">
              <a:buNone/>
            </a:pPr>
            <a:r>
              <a:rPr lang="en-US" sz="1700" dirty="0">
                <a:solidFill>
                  <a:schemeClr val="tx1"/>
                </a:solidFill>
              </a:rPr>
              <a:t>An API defines how a programmer can write software to extend an existing application's features, or even build entirely new applications.</a:t>
            </a:r>
            <a:endParaRPr lang="en-US" sz="1700" dirty="0"/>
          </a:p>
        </p:txBody>
      </p:sp>
      <p:sp>
        <p:nvSpPr>
          <p:cNvPr id="9" name="Card"/>
          <p:cNvSpPr/>
          <p:nvPr/>
        </p:nvSpPr>
        <p:spPr>
          <a:xfrm>
            <a:off x="5852160" y="1371600"/>
            <a:ext cx="2834640" cy="3291840"/>
          </a:xfrm>
          <a:prstGeom prst="roundRect">
            <a:avLst>
              <a:gd name="adj" fmla="val 3871"/>
            </a:avLst>
          </a:prstGeom>
          <a:solidFill>
            <a:schemeClr val="bg1"/>
          </a:solidFill>
          <a:ln/>
          <a:effectLst>
            <a:outerShdw blurRad="127000" dist="38100" dir="5400000" algn="bl" rotWithShape="0">
              <a:srgbClr val="1E1B4B">
                <a:alpha val="10000"/>
              </a:srgbClr>
            </a:outerShdw>
          </a:effectLst>
        </p:spPr>
        <p:txBody>
          <a:bodyPr/>
          <a:lstStyle/>
          <a:p>
            <a:endParaRPr lang="en-RW"/>
          </a:p>
        </p:txBody>
      </p:sp>
      <p:pic>
        <p:nvPicPr>
          <p:cNvPr id="10" name="Phone with map" descr="A smartphone showing a map app, an everyday example of an application built on APIs."/>
          <p:cNvPicPr>
            <a:picLocks noChangeAspect="1"/>
          </p:cNvPicPr>
          <p:nvPr/>
        </p:nvPicPr>
        <p:blipFill>
          <a:blip r:embed="rId4"/>
          <a:stretch>
            <a:fillRect/>
          </a:stretch>
        </p:blipFill>
        <p:spPr>
          <a:xfrm>
            <a:off x="6355080" y="1508760"/>
            <a:ext cx="1828800" cy="2743200"/>
          </a:xfrm>
          <a:prstGeom prst="rect">
            <a:avLst/>
          </a:prstGeom>
        </p:spPr>
      </p:pic>
      <p:sp>
        <p:nvSpPr>
          <p:cNvPr id="11" name="Text 7"/>
          <p:cNvSpPr txBox="1"/>
          <p:nvPr/>
        </p:nvSpPr>
        <p:spPr>
          <a:xfrm>
            <a:off x="6035040" y="4343400"/>
            <a:ext cx="2377440" cy="228600"/>
          </a:xfrm>
          <a:prstGeom prst="rect">
            <a:avLst/>
          </a:prstGeom>
          <a:noFill/>
          <a:ln/>
        </p:spPr>
        <p:txBody>
          <a:bodyPr wrap="square" lIns="0" tIns="0" rIns="0" bIns="0" rtlCol="0" anchor="t"/>
          <a:lstStyle/>
          <a:p>
            <a:pPr marL="0" indent="0" algn="ctr">
              <a:buNone/>
            </a:pPr>
            <a:r>
              <a:rPr lang="en-US" sz="1000" i="1" dirty="0">
                <a:solidFill>
                  <a:schemeClr val="tx2"/>
                </a:solidFill>
              </a:rPr>
              <a:t>Source: Cisco</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5A7E"/>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48640"/>
            <a:ext cx="8229600" cy="640080"/>
          </a:xfrm>
          <a:prstGeom prst="rect">
            <a:avLst/>
          </a:prstGeom>
          <a:noFill/>
          <a:ln/>
        </p:spPr>
        <p:txBody>
          <a:bodyPr wrap="square" lIns="0" tIns="0" rIns="0" bIns="0" rtlCol="0" anchor="ctr"/>
          <a:lstStyle/>
          <a:p>
            <a:pPr marL="0" indent="0" algn="l">
              <a:buNone/>
            </a:pPr>
            <a:r>
              <a:rPr lang="en-US" sz="3400" b="1" dirty="0">
                <a:solidFill>
                  <a:schemeClr val="tx1"/>
                </a:solidFill>
              </a:rPr>
              <a:t>API Using HTTP</a:t>
            </a:r>
            <a:endParaRPr lang="en-US" sz="3400" dirty="0"/>
          </a:p>
        </p:txBody>
      </p:sp>
      <p:sp>
        <p:nvSpPr>
          <p:cNvPr id="3" name="Section chip"/>
          <p:cNvSpPr txBox="1"/>
          <p:nvPr/>
        </p:nvSpPr>
        <p:spPr>
          <a:xfrm>
            <a:off x="457200" y="274320"/>
            <a:ext cx="2017166" cy="246888"/>
          </a:xfrm>
          <a:prstGeom prst="roundRect">
            <a:avLst>
              <a:gd name="adj" fmla="val 48148"/>
            </a:avLst>
          </a:prstGeom>
          <a:solidFill>
            <a:schemeClr val="accent2"/>
          </a:solidFill>
          <a:ln/>
        </p:spPr>
        <p:txBody>
          <a:bodyPr wrap="square" lIns="0" tIns="0" rIns="0" bIns="0" rtlCol="0" anchor="ctr"/>
          <a:lstStyle/>
          <a:p>
            <a:pPr marL="0" indent="0" algn="ctr">
              <a:buNone/>
            </a:pPr>
            <a:r>
              <a:rPr lang="en-US" sz="1000" b="1" kern="0" spc="150" dirty="0">
                <a:solidFill>
                  <a:schemeClr val="tx1"/>
                </a:solidFill>
              </a:rPr>
              <a:t>SERVICE MODELS · PAAS</a:t>
            </a:r>
            <a:endParaRPr lang="en-US" sz="1000" dirty="0"/>
          </a:p>
        </p:txBody>
      </p:sp>
      <p:sp>
        <p:nvSpPr>
          <p:cNvPr id="4" name="Card"/>
          <p:cNvSpPr/>
          <p:nvPr/>
        </p:nvSpPr>
        <p:spPr>
          <a:xfrm>
            <a:off x="457200" y="1371600"/>
            <a:ext cx="4023360" cy="960120"/>
          </a:xfrm>
          <a:prstGeom prst="roundRect">
            <a:avLst>
              <a:gd name="adj" fmla="val 11429"/>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5" name="Step number"/>
          <p:cNvSpPr/>
          <p:nvPr/>
        </p:nvSpPr>
        <p:spPr>
          <a:xfrm>
            <a:off x="640080" y="1600200"/>
            <a:ext cx="502920" cy="502920"/>
          </a:xfrm>
          <a:prstGeom prst="ellipse">
            <a:avLst/>
          </a:prstGeom>
          <a:solidFill>
            <a:schemeClr val="accent1"/>
          </a:solidFill>
          <a:ln/>
        </p:spPr>
        <p:txBody>
          <a:bodyPr/>
          <a:lstStyle/>
          <a:p>
            <a:endParaRPr lang="en-RW"/>
          </a:p>
        </p:txBody>
      </p:sp>
      <p:sp>
        <p:nvSpPr>
          <p:cNvPr id="6" name="Text 4"/>
          <p:cNvSpPr txBox="1"/>
          <p:nvPr/>
        </p:nvSpPr>
        <p:spPr>
          <a:xfrm>
            <a:off x="640080" y="160020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7" name="Text 5"/>
          <p:cNvSpPr txBox="1"/>
          <p:nvPr/>
        </p:nvSpPr>
        <p:spPr>
          <a:xfrm>
            <a:off x="1325880" y="1371600"/>
            <a:ext cx="3063240" cy="960120"/>
          </a:xfrm>
          <a:prstGeom prst="rect">
            <a:avLst/>
          </a:prstGeom>
          <a:noFill/>
          <a:ln/>
        </p:spPr>
        <p:txBody>
          <a:bodyPr wrap="square" lIns="0" tIns="0" rIns="0" bIns="0" rtlCol="0" anchor="ctr"/>
          <a:lstStyle/>
          <a:p>
            <a:pPr marL="0" indent="0">
              <a:buNone/>
            </a:pPr>
            <a:r>
              <a:rPr lang="en-US" sz="1400" dirty="0">
                <a:solidFill>
                  <a:schemeClr val="tx1"/>
                </a:solidFill>
              </a:rPr>
              <a:t>Developers construct API requests using </a:t>
            </a:r>
            <a:r>
              <a:rPr lang="en-US" sz="1400" b="1" dirty="0">
                <a:solidFill>
                  <a:schemeClr val="tx1"/>
                </a:solidFill>
              </a:rPr>
              <a:t>HyperText Transfer Protocol (HTTP)</a:t>
            </a:r>
            <a:r>
              <a:rPr lang="en-US" sz="1400" dirty="0">
                <a:solidFill>
                  <a:schemeClr val="tx1"/>
                </a:solidFill>
              </a:rPr>
              <a:t>.</a:t>
            </a:r>
            <a:endParaRPr lang="en-US" sz="1400" dirty="0"/>
          </a:p>
        </p:txBody>
      </p:sp>
      <p:sp>
        <p:nvSpPr>
          <p:cNvPr id="8" name="Card"/>
          <p:cNvSpPr/>
          <p:nvPr/>
        </p:nvSpPr>
        <p:spPr>
          <a:xfrm>
            <a:off x="457200" y="2468880"/>
            <a:ext cx="4023360" cy="960120"/>
          </a:xfrm>
          <a:prstGeom prst="roundRect">
            <a:avLst>
              <a:gd name="adj" fmla="val 11429"/>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9" name="Step number"/>
          <p:cNvSpPr/>
          <p:nvPr/>
        </p:nvSpPr>
        <p:spPr>
          <a:xfrm>
            <a:off x="640080" y="2697480"/>
            <a:ext cx="502920" cy="502920"/>
          </a:xfrm>
          <a:prstGeom prst="ellipse">
            <a:avLst/>
          </a:prstGeom>
          <a:solidFill>
            <a:schemeClr val="accent1"/>
          </a:solidFill>
          <a:ln/>
        </p:spPr>
        <p:txBody>
          <a:bodyPr/>
          <a:lstStyle/>
          <a:p>
            <a:endParaRPr lang="en-RW"/>
          </a:p>
        </p:txBody>
      </p:sp>
      <p:sp>
        <p:nvSpPr>
          <p:cNvPr id="10" name="Text 8"/>
          <p:cNvSpPr txBox="1"/>
          <p:nvPr/>
        </p:nvSpPr>
        <p:spPr>
          <a:xfrm>
            <a:off x="640080" y="269748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1" name="Text 9"/>
          <p:cNvSpPr txBox="1"/>
          <p:nvPr/>
        </p:nvSpPr>
        <p:spPr>
          <a:xfrm>
            <a:off x="1325880" y="2468880"/>
            <a:ext cx="3063240" cy="960120"/>
          </a:xfrm>
          <a:prstGeom prst="rect">
            <a:avLst/>
          </a:prstGeom>
          <a:noFill/>
          <a:ln/>
        </p:spPr>
        <p:txBody>
          <a:bodyPr wrap="square" lIns="0" tIns="0" rIns="0" bIns="0" rtlCol="0" anchor="ctr"/>
          <a:lstStyle/>
          <a:p>
            <a:pPr marL="0" indent="0">
              <a:buNone/>
            </a:pPr>
            <a:r>
              <a:rPr lang="en-US" sz="1400" dirty="0">
                <a:solidFill>
                  <a:schemeClr val="tx1"/>
                </a:solidFill>
              </a:rPr>
              <a:t>The HTTP request asks for </a:t>
            </a:r>
            <a:r>
              <a:rPr lang="en-US" sz="1400" b="1" dirty="0">
                <a:solidFill>
                  <a:schemeClr val="tx1"/>
                </a:solidFill>
              </a:rPr>
              <a:t>JSON-formatted</a:t>
            </a:r>
            <a:r>
              <a:rPr lang="en-US" sz="1400" dirty="0">
                <a:solidFill>
                  <a:schemeClr val="tx1"/>
                </a:solidFill>
              </a:rPr>
              <a:t> data.</a:t>
            </a:r>
            <a:endParaRPr lang="en-US" sz="1400" dirty="0"/>
          </a:p>
        </p:txBody>
      </p:sp>
      <p:sp>
        <p:nvSpPr>
          <p:cNvPr id="12" name="Card"/>
          <p:cNvSpPr/>
          <p:nvPr/>
        </p:nvSpPr>
        <p:spPr>
          <a:xfrm>
            <a:off x="457200" y="3566160"/>
            <a:ext cx="4023360" cy="960120"/>
          </a:xfrm>
          <a:prstGeom prst="roundRect">
            <a:avLst>
              <a:gd name="adj" fmla="val 11429"/>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13" name="Step number"/>
          <p:cNvSpPr/>
          <p:nvPr/>
        </p:nvSpPr>
        <p:spPr>
          <a:xfrm>
            <a:off x="640080" y="3794760"/>
            <a:ext cx="502920" cy="502920"/>
          </a:xfrm>
          <a:prstGeom prst="ellipse">
            <a:avLst/>
          </a:prstGeom>
          <a:solidFill>
            <a:schemeClr val="accent1"/>
          </a:solidFill>
          <a:ln/>
        </p:spPr>
        <p:txBody>
          <a:bodyPr/>
          <a:lstStyle/>
          <a:p>
            <a:endParaRPr lang="en-RW"/>
          </a:p>
        </p:txBody>
      </p:sp>
      <p:sp>
        <p:nvSpPr>
          <p:cNvPr id="14" name="Text 12"/>
          <p:cNvSpPr txBox="1"/>
          <p:nvPr/>
        </p:nvSpPr>
        <p:spPr>
          <a:xfrm>
            <a:off x="640080" y="379476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5" name="Text 13"/>
          <p:cNvSpPr txBox="1"/>
          <p:nvPr/>
        </p:nvSpPr>
        <p:spPr>
          <a:xfrm>
            <a:off x="1325880" y="3566160"/>
            <a:ext cx="3063240" cy="960120"/>
          </a:xfrm>
          <a:prstGeom prst="rect">
            <a:avLst/>
          </a:prstGeom>
          <a:noFill/>
          <a:ln/>
        </p:spPr>
        <p:txBody>
          <a:bodyPr wrap="square" lIns="0" tIns="0" rIns="0" bIns="0" rtlCol="0" anchor="ctr"/>
          <a:lstStyle/>
          <a:p>
            <a:pPr marL="0" indent="0">
              <a:buNone/>
            </a:pPr>
            <a:r>
              <a:rPr lang="en-US" sz="1400" dirty="0">
                <a:solidFill>
                  <a:schemeClr val="tx1"/>
                </a:solidFill>
              </a:rPr>
              <a:t>If correctly formatted per the API documentation, the server responds with JSON data.</a:t>
            </a:r>
            <a:endParaRPr lang="en-US" sz="1400" dirty="0"/>
          </a:p>
        </p:txBody>
      </p:sp>
      <p:sp>
        <p:nvSpPr>
          <p:cNvPr id="16" name="Card"/>
          <p:cNvSpPr/>
          <p:nvPr/>
        </p:nvSpPr>
        <p:spPr>
          <a:xfrm>
            <a:off x="4663440" y="1371600"/>
            <a:ext cx="4023360" cy="2286000"/>
          </a:xfrm>
          <a:prstGeom prst="roundRect">
            <a:avLst>
              <a:gd name="adj" fmla="val 4800"/>
            </a:avLst>
          </a:prstGeom>
          <a:solidFill>
            <a:schemeClr val="bg1"/>
          </a:solidFill>
          <a:ln/>
          <a:effectLst>
            <a:outerShdw blurRad="127000" dist="38100" dir="5400000" algn="bl" rotWithShape="0">
              <a:srgbClr val="1E1B4B">
                <a:alpha val="10000"/>
              </a:srgbClr>
            </a:outerShdw>
          </a:effectLst>
        </p:spPr>
        <p:txBody>
          <a:bodyPr/>
          <a:lstStyle/>
          <a:p>
            <a:endParaRPr lang="en-RW"/>
          </a:p>
        </p:txBody>
      </p:sp>
      <p:pic>
        <p:nvPicPr>
          <p:cNvPr id="17" name="API HTTP diagram" descr="Diagram: a client sends an HTTP GET request to an API endpoint asking for an address in JSON; the endpoint responds with HTTP 200 OK and the JSON data."/>
          <p:cNvPicPr>
            <a:picLocks noChangeAspect="1"/>
          </p:cNvPicPr>
          <p:nvPr/>
        </p:nvPicPr>
        <p:blipFill>
          <a:blip r:embed="rId3"/>
          <a:stretch>
            <a:fillRect/>
          </a:stretch>
        </p:blipFill>
        <p:spPr>
          <a:xfrm>
            <a:off x="4800600" y="1554480"/>
            <a:ext cx="3749040" cy="1692424"/>
          </a:xfrm>
          <a:prstGeom prst="rect">
            <a:avLst/>
          </a:prstGeom>
        </p:spPr>
      </p:pic>
      <p:sp>
        <p:nvSpPr>
          <p:cNvPr id="18" name="Text 15"/>
          <p:cNvSpPr txBox="1"/>
          <p:nvPr/>
        </p:nvSpPr>
        <p:spPr>
          <a:xfrm>
            <a:off x="4800600" y="3337560"/>
            <a:ext cx="1828800" cy="228600"/>
          </a:xfrm>
          <a:prstGeom prst="rect">
            <a:avLst/>
          </a:prstGeom>
          <a:noFill/>
          <a:ln/>
        </p:spPr>
        <p:txBody>
          <a:bodyPr wrap="square" lIns="0" tIns="0" rIns="0" bIns="0" rtlCol="0" anchor="t"/>
          <a:lstStyle/>
          <a:p>
            <a:pPr marL="0" indent="0">
              <a:buNone/>
            </a:pPr>
            <a:r>
              <a:rPr lang="en-US" sz="1000" i="1" dirty="0">
                <a:solidFill>
                  <a:schemeClr val="tx2"/>
                </a:solidFill>
              </a:rPr>
              <a:t>Source: Cisco</a:t>
            </a:r>
            <a:endParaRPr lang="en-US" sz="1000" dirty="0"/>
          </a:p>
        </p:txBody>
      </p:sp>
      <p:sp>
        <p:nvSpPr>
          <p:cNvPr id="19" name="Tint"/>
          <p:cNvSpPr/>
          <p:nvPr/>
        </p:nvSpPr>
        <p:spPr>
          <a:xfrm>
            <a:off x="4663440" y="3840480"/>
            <a:ext cx="4023360" cy="822960"/>
          </a:xfrm>
          <a:prstGeom prst="roundRect">
            <a:avLst>
              <a:gd name="adj" fmla="val 13333"/>
            </a:avLst>
          </a:prstGeom>
          <a:solidFill>
            <a:schemeClr val="accent4">
              <a:alpha val="30000"/>
            </a:schemeClr>
          </a:solidFill>
          <a:ln/>
        </p:spPr>
        <p:txBody>
          <a:bodyPr/>
          <a:lstStyle/>
          <a:p>
            <a:endParaRPr lang="en-RW"/>
          </a:p>
        </p:txBody>
      </p:sp>
      <p:sp>
        <p:nvSpPr>
          <p:cNvPr id="20" name="Text 17"/>
          <p:cNvSpPr txBox="1"/>
          <p:nvPr/>
        </p:nvSpPr>
        <p:spPr>
          <a:xfrm>
            <a:off x="4846320" y="3840480"/>
            <a:ext cx="3657600" cy="822960"/>
          </a:xfrm>
          <a:prstGeom prst="rect">
            <a:avLst/>
          </a:prstGeom>
          <a:noFill/>
          <a:ln/>
        </p:spPr>
        <p:txBody>
          <a:bodyPr wrap="square" lIns="0" tIns="0" rIns="0" bIns="0" rtlCol="0" anchor="ctr"/>
          <a:lstStyle/>
          <a:p>
            <a:pPr marL="0" indent="0" algn="ctr">
              <a:buNone/>
            </a:pPr>
            <a:r>
              <a:rPr lang="en-US" sz="1600" b="1" dirty="0">
                <a:solidFill>
                  <a:schemeClr val="tx1"/>
                </a:solidFill>
              </a:rPr>
              <a:t>JSON</a:t>
            </a:r>
            <a:r>
              <a:rPr lang="en-US" sz="1600" dirty="0">
                <a:solidFill>
                  <a:schemeClr val="tx1"/>
                </a:solidFill>
              </a:rPr>
              <a:t> = JavaScript Object Notation</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5A7E"/>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48640"/>
            <a:ext cx="8229600" cy="640080"/>
          </a:xfrm>
          <a:prstGeom prst="rect">
            <a:avLst/>
          </a:prstGeom>
          <a:noFill/>
          <a:ln/>
        </p:spPr>
        <p:txBody>
          <a:bodyPr wrap="square" lIns="0" tIns="0" rIns="0" bIns="0" rtlCol="0" anchor="ctr"/>
          <a:lstStyle/>
          <a:p>
            <a:pPr marL="0" indent="0" algn="l">
              <a:buNone/>
            </a:pPr>
            <a:r>
              <a:rPr lang="en-US" sz="3400" b="1" dirty="0">
                <a:solidFill>
                  <a:schemeClr val="tx1"/>
                </a:solidFill>
              </a:rPr>
              <a:t>Characteristics of SaaS</a:t>
            </a:r>
            <a:endParaRPr lang="en-US" sz="3400" dirty="0"/>
          </a:p>
        </p:txBody>
      </p:sp>
      <p:sp>
        <p:nvSpPr>
          <p:cNvPr id="3" name="Section chip"/>
          <p:cNvSpPr txBox="1"/>
          <p:nvPr/>
        </p:nvSpPr>
        <p:spPr>
          <a:xfrm>
            <a:off x="457200" y="274320"/>
            <a:ext cx="2017166" cy="246888"/>
          </a:xfrm>
          <a:prstGeom prst="roundRect">
            <a:avLst>
              <a:gd name="adj" fmla="val 48148"/>
            </a:avLst>
          </a:prstGeom>
          <a:solidFill>
            <a:schemeClr val="accent6"/>
          </a:solidFill>
          <a:ln/>
        </p:spPr>
        <p:txBody>
          <a:bodyPr wrap="square" lIns="0" tIns="0" rIns="0" bIns="0" rtlCol="0" anchor="ctr"/>
          <a:lstStyle/>
          <a:p>
            <a:pPr marL="0" indent="0" algn="ctr">
              <a:buNone/>
            </a:pPr>
            <a:r>
              <a:rPr lang="en-US" sz="1000" b="1" kern="0" spc="150" dirty="0">
                <a:solidFill>
                  <a:schemeClr val="tx1"/>
                </a:solidFill>
              </a:rPr>
              <a:t>SERVICE MODELS · SAAS</a:t>
            </a:r>
            <a:endParaRPr lang="en-US" sz="1000" dirty="0"/>
          </a:p>
        </p:txBody>
      </p:sp>
      <p:sp>
        <p:nvSpPr>
          <p:cNvPr id="4" name="Card"/>
          <p:cNvSpPr/>
          <p:nvPr/>
        </p:nvSpPr>
        <p:spPr>
          <a:xfrm>
            <a:off x="457200" y="1371600"/>
            <a:ext cx="2560320" cy="1554480"/>
          </a:xfrm>
          <a:prstGeom prst="roundRect">
            <a:avLst>
              <a:gd name="adj" fmla="val 7059"/>
            </a:avLst>
          </a:prstGeom>
          <a:solidFill>
            <a:schemeClr val="accent6"/>
          </a:solidFill>
          <a:ln/>
          <a:effectLst>
            <a:outerShdw blurRad="127000" dist="38100" dir="5400000" algn="bl" rotWithShape="0">
              <a:srgbClr val="1E1B4B">
                <a:alpha val="10000"/>
              </a:srgbClr>
            </a:outerShdw>
          </a:effectLst>
        </p:spPr>
        <p:txBody>
          <a:bodyPr/>
          <a:lstStyle/>
          <a:p>
            <a:endParaRPr lang="en-RW"/>
          </a:p>
        </p:txBody>
      </p:sp>
      <p:pic>
        <p:nvPicPr>
          <p:cNvPr id="5" name="Star icon" descr="preencoded.png"/>
          <p:cNvPicPr>
            <a:picLocks noChangeAspect="1"/>
          </p:cNvPicPr>
          <p:nvPr/>
        </p:nvPicPr>
        <p:blipFill>
          <a:blip r:embed="rId3"/>
          <a:stretch>
            <a:fillRect/>
          </a:stretch>
        </p:blipFill>
        <p:spPr>
          <a:xfrm>
            <a:off x="685800" y="1572768"/>
            <a:ext cx="502920" cy="502920"/>
          </a:xfrm>
          <a:prstGeom prst="rect">
            <a:avLst/>
          </a:prstGeom>
        </p:spPr>
      </p:pic>
      <p:sp>
        <p:nvSpPr>
          <p:cNvPr id="6" name="Text 3"/>
          <p:cNvSpPr txBox="1"/>
          <p:nvPr/>
        </p:nvSpPr>
        <p:spPr>
          <a:xfrm>
            <a:off x="685800" y="2194560"/>
            <a:ext cx="2103120" cy="640080"/>
          </a:xfrm>
          <a:prstGeom prst="rect">
            <a:avLst/>
          </a:prstGeom>
          <a:noFill/>
          <a:ln/>
        </p:spPr>
        <p:txBody>
          <a:bodyPr wrap="square" lIns="0" tIns="0" rIns="0" bIns="0" rtlCol="0" anchor="t"/>
          <a:lstStyle/>
          <a:p>
            <a:pPr marL="0" indent="0">
              <a:buNone/>
            </a:pPr>
            <a:r>
              <a:rPr lang="en-US" sz="2000" b="1" dirty="0">
                <a:solidFill>
                  <a:schemeClr val="tx1"/>
                </a:solidFill>
              </a:rPr>
              <a:t>Most popular service</a:t>
            </a:r>
            <a:endParaRPr lang="en-US" sz="2000" dirty="0"/>
          </a:p>
        </p:txBody>
      </p:sp>
      <p:sp>
        <p:nvSpPr>
          <p:cNvPr id="7" name="Card"/>
          <p:cNvSpPr/>
          <p:nvPr/>
        </p:nvSpPr>
        <p:spPr>
          <a:xfrm>
            <a:off x="3291840" y="1371600"/>
            <a:ext cx="2560320" cy="1554480"/>
          </a:xfrm>
          <a:prstGeom prst="roundRect">
            <a:avLst>
              <a:gd name="adj" fmla="val 7059"/>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8" name="FaCloud circle"/>
          <p:cNvSpPr/>
          <p:nvPr/>
        </p:nvSpPr>
        <p:spPr>
          <a:xfrm>
            <a:off x="3474720" y="1536192"/>
            <a:ext cx="457200" cy="457200"/>
          </a:xfrm>
          <a:prstGeom prst="ellipse">
            <a:avLst/>
          </a:prstGeom>
          <a:solidFill>
            <a:schemeClr val="accent5"/>
          </a:solidFill>
          <a:ln/>
        </p:spPr>
        <p:txBody>
          <a:bodyPr/>
          <a:lstStyle/>
          <a:p>
            <a:endParaRPr lang="en-RW"/>
          </a:p>
        </p:txBody>
      </p:sp>
      <p:pic>
        <p:nvPicPr>
          <p:cNvPr id="9" name="FaCloud icon" descr="preencoded.png"/>
          <p:cNvPicPr>
            <a:picLocks noChangeAspect="1"/>
          </p:cNvPicPr>
          <p:nvPr/>
        </p:nvPicPr>
        <p:blipFill>
          <a:blip r:embed="rId4"/>
          <a:stretch>
            <a:fillRect/>
          </a:stretch>
        </p:blipFill>
        <p:spPr>
          <a:xfrm>
            <a:off x="3589020" y="1650492"/>
            <a:ext cx="228600" cy="228600"/>
          </a:xfrm>
          <a:prstGeom prst="rect">
            <a:avLst/>
          </a:prstGeom>
        </p:spPr>
      </p:pic>
      <p:sp>
        <p:nvSpPr>
          <p:cNvPr id="10" name="Text 6"/>
          <p:cNvSpPr txBox="1"/>
          <p:nvPr/>
        </p:nvSpPr>
        <p:spPr>
          <a:xfrm>
            <a:off x="4069080" y="1499616"/>
            <a:ext cx="1691640" cy="530352"/>
          </a:xfrm>
          <a:prstGeom prst="rect">
            <a:avLst/>
          </a:prstGeom>
          <a:noFill/>
          <a:ln/>
        </p:spPr>
        <p:txBody>
          <a:bodyPr wrap="square" lIns="0" tIns="0" rIns="0" bIns="0" rtlCol="0" anchor="ctr"/>
          <a:lstStyle/>
          <a:p>
            <a:pPr marL="0" indent="0">
              <a:buNone/>
            </a:pPr>
            <a:r>
              <a:rPr lang="en-US" sz="1400" b="1" dirty="0">
                <a:solidFill>
                  <a:schemeClr val="tx1"/>
                </a:solidFill>
              </a:rPr>
              <a:t>Cloud-native &amp; multitenant</a:t>
            </a:r>
            <a:endParaRPr lang="en-US" sz="1400" dirty="0"/>
          </a:p>
        </p:txBody>
      </p:sp>
      <p:sp>
        <p:nvSpPr>
          <p:cNvPr id="11" name="Text 7"/>
          <p:cNvSpPr txBox="1"/>
          <p:nvPr/>
        </p:nvSpPr>
        <p:spPr>
          <a:xfrm>
            <a:off x="3474720" y="2121408"/>
            <a:ext cx="2194560" cy="749808"/>
          </a:xfrm>
          <a:prstGeom prst="rect">
            <a:avLst/>
          </a:prstGeom>
          <a:noFill/>
          <a:ln/>
        </p:spPr>
        <p:txBody>
          <a:bodyPr wrap="square" lIns="0" tIns="0" rIns="0" bIns="0" rtlCol="0" anchor="t"/>
          <a:lstStyle/>
          <a:p>
            <a:pPr marL="0" indent="0">
              <a:buNone/>
            </a:pPr>
            <a:r>
              <a:rPr lang="en-US" sz="1400" dirty="0">
                <a:solidFill>
                  <a:schemeClr val="tx1"/>
                </a:solidFill>
              </a:rPr>
              <a:t>SaaS applications are cloud-native and multitenant.</a:t>
            </a:r>
            <a:endParaRPr lang="en-US" sz="1400" dirty="0"/>
          </a:p>
        </p:txBody>
      </p:sp>
      <p:sp>
        <p:nvSpPr>
          <p:cNvPr id="12" name="Card"/>
          <p:cNvSpPr/>
          <p:nvPr/>
        </p:nvSpPr>
        <p:spPr>
          <a:xfrm>
            <a:off x="6126480" y="1371600"/>
            <a:ext cx="2560320" cy="1554480"/>
          </a:xfrm>
          <a:prstGeom prst="roundRect">
            <a:avLst>
              <a:gd name="adj" fmla="val 7059"/>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13" name="FaBoxes circle"/>
          <p:cNvSpPr/>
          <p:nvPr/>
        </p:nvSpPr>
        <p:spPr>
          <a:xfrm>
            <a:off x="6309360" y="1536192"/>
            <a:ext cx="457200" cy="457200"/>
          </a:xfrm>
          <a:prstGeom prst="ellipse">
            <a:avLst/>
          </a:prstGeom>
          <a:solidFill>
            <a:schemeClr val="accent2"/>
          </a:solidFill>
          <a:ln/>
        </p:spPr>
        <p:txBody>
          <a:bodyPr/>
          <a:lstStyle/>
          <a:p>
            <a:endParaRPr lang="en-RW"/>
          </a:p>
        </p:txBody>
      </p:sp>
      <p:pic>
        <p:nvPicPr>
          <p:cNvPr id="14" name="FaBoxes icon" descr="preencoded.png"/>
          <p:cNvPicPr>
            <a:picLocks noChangeAspect="1"/>
          </p:cNvPicPr>
          <p:nvPr/>
        </p:nvPicPr>
        <p:blipFill>
          <a:blip r:embed="rId5"/>
          <a:stretch>
            <a:fillRect/>
          </a:stretch>
        </p:blipFill>
        <p:spPr>
          <a:xfrm>
            <a:off x="6423660" y="1650492"/>
            <a:ext cx="228600" cy="228600"/>
          </a:xfrm>
          <a:prstGeom prst="rect">
            <a:avLst/>
          </a:prstGeom>
        </p:spPr>
      </p:pic>
      <p:sp>
        <p:nvSpPr>
          <p:cNvPr id="15" name="Text 10"/>
          <p:cNvSpPr txBox="1"/>
          <p:nvPr/>
        </p:nvSpPr>
        <p:spPr>
          <a:xfrm>
            <a:off x="6903720" y="1499616"/>
            <a:ext cx="1691640" cy="530352"/>
          </a:xfrm>
          <a:prstGeom prst="rect">
            <a:avLst/>
          </a:prstGeom>
          <a:noFill/>
          <a:ln/>
        </p:spPr>
        <p:txBody>
          <a:bodyPr wrap="square" lIns="0" tIns="0" rIns="0" bIns="0" rtlCol="0" anchor="ctr"/>
          <a:lstStyle/>
          <a:p>
            <a:pPr marL="0" indent="0">
              <a:buNone/>
            </a:pPr>
            <a:r>
              <a:rPr lang="en-US" sz="1400" b="1" dirty="0">
                <a:solidFill>
                  <a:schemeClr val="tx1"/>
                </a:solidFill>
              </a:rPr>
              <a:t>Prebuilt</a:t>
            </a:r>
            <a:endParaRPr lang="en-US" sz="1400" dirty="0"/>
          </a:p>
        </p:txBody>
      </p:sp>
      <p:sp>
        <p:nvSpPr>
          <p:cNvPr id="16" name="Text 11"/>
          <p:cNvSpPr txBox="1"/>
          <p:nvPr/>
        </p:nvSpPr>
        <p:spPr>
          <a:xfrm>
            <a:off x="6309360" y="2121408"/>
            <a:ext cx="2194560" cy="749808"/>
          </a:xfrm>
          <a:prstGeom prst="rect">
            <a:avLst/>
          </a:prstGeom>
          <a:noFill/>
          <a:ln/>
        </p:spPr>
        <p:txBody>
          <a:bodyPr wrap="square" lIns="0" tIns="0" rIns="0" bIns="0" rtlCol="0" anchor="t"/>
          <a:lstStyle/>
          <a:p>
            <a:pPr marL="0" indent="0">
              <a:buNone/>
            </a:pPr>
            <a:r>
              <a:rPr lang="en-US" sz="1400" dirty="0">
                <a:solidFill>
                  <a:schemeClr val="tx1"/>
                </a:solidFill>
              </a:rPr>
              <a:t>Applications are prebuilt and consumed without significant customization.</a:t>
            </a:r>
            <a:endParaRPr lang="en-US" sz="1400" dirty="0"/>
          </a:p>
        </p:txBody>
      </p:sp>
      <p:sp>
        <p:nvSpPr>
          <p:cNvPr id="17" name="Card"/>
          <p:cNvSpPr/>
          <p:nvPr/>
        </p:nvSpPr>
        <p:spPr>
          <a:xfrm>
            <a:off x="457200" y="3063240"/>
            <a:ext cx="2560320" cy="1554480"/>
          </a:xfrm>
          <a:prstGeom prst="roundRect">
            <a:avLst>
              <a:gd name="adj" fmla="val 7059"/>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18" name="FaTools circle"/>
          <p:cNvSpPr/>
          <p:nvPr/>
        </p:nvSpPr>
        <p:spPr>
          <a:xfrm>
            <a:off x="640080" y="3227832"/>
            <a:ext cx="457200" cy="457200"/>
          </a:xfrm>
          <a:prstGeom prst="ellipse">
            <a:avLst/>
          </a:prstGeom>
          <a:solidFill>
            <a:schemeClr val="accent3"/>
          </a:solidFill>
          <a:ln/>
        </p:spPr>
        <p:txBody>
          <a:bodyPr/>
          <a:lstStyle/>
          <a:p>
            <a:endParaRPr lang="en-RW"/>
          </a:p>
        </p:txBody>
      </p:sp>
      <p:pic>
        <p:nvPicPr>
          <p:cNvPr id="19" name="FaTools icon" descr="preencoded.png"/>
          <p:cNvPicPr>
            <a:picLocks noChangeAspect="1"/>
          </p:cNvPicPr>
          <p:nvPr/>
        </p:nvPicPr>
        <p:blipFill>
          <a:blip r:embed="rId6"/>
          <a:stretch>
            <a:fillRect/>
          </a:stretch>
        </p:blipFill>
        <p:spPr>
          <a:xfrm>
            <a:off x="754380" y="3342132"/>
            <a:ext cx="228600" cy="228600"/>
          </a:xfrm>
          <a:prstGeom prst="rect">
            <a:avLst/>
          </a:prstGeom>
        </p:spPr>
      </p:pic>
      <p:sp>
        <p:nvSpPr>
          <p:cNvPr id="20" name="Text 14"/>
          <p:cNvSpPr txBox="1"/>
          <p:nvPr/>
        </p:nvSpPr>
        <p:spPr>
          <a:xfrm>
            <a:off x="1234440" y="3191256"/>
            <a:ext cx="1691640" cy="530352"/>
          </a:xfrm>
          <a:prstGeom prst="rect">
            <a:avLst/>
          </a:prstGeom>
          <a:noFill/>
          <a:ln/>
        </p:spPr>
        <p:txBody>
          <a:bodyPr wrap="square" lIns="0" tIns="0" rIns="0" bIns="0" rtlCol="0" anchor="ctr"/>
          <a:lstStyle/>
          <a:p>
            <a:pPr marL="0" indent="0">
              <a:buNone/>
            </a:pPr>
            <a:r>
              <a:rPr lang="en-US" sz="1400" b="1" dirty="0">
                <a:solidFill>
                  <a:schemeClr val="tx1"/>
                </a:solidFill>
              </a:rPr>
              <a:t>CSP does the upkeep</a:t>
            </a:r>
            <a:endParaRPr lang="en-US" sz="1400" dirty="0"/>
          </a:p>
        </p:txBody>
      </p:sp>
      <p:sp>
        <p:nvSpPr>
          <p:cNvPr id="21" name="Text 15"/>
          <p:cNvSpPr txBox="1"/>
          <p:nvPr/>
        </p:nvSpPr>
        <p:spPr>
          <a:xfrm>
            <a:off x="640080" y="3813048"/>
            <a:ext cx="2194560" cy="749808"/>
          </a:xfrm>
          <a:prstGeom prst="rect">
            <a:avLst/>
          </a:prstGeom>
          <a:noFill/>
          <a:ln/>
        </p:spPr>
        <p:txBody>
          <a:bodyPr wrap="square" lIns="0" tIns="0" rIns="0" bIns="0" rtlCol="0" anchor="t"/>
          <a:lstStyle/>
          <a:p>
            <a:pPr marL="0" indent="0">
              <a:buNone/>
            </a:pPr>
            <a:r>
              <a:rPr lang="en-US" sz="1400" dirty="0">
                <a:solidFill>
                  <a:schemeClr val="tx1"/>
                </a:solidFill>
              </a:rPr>
              <a:t>Deployment, maintenance, patches, and updates are handled by the CSP.</a:t>
            </a:r>
            <a:endParaRPr lang="en-US" sz="1400" dirty="0"/>
          </a:p>
        </p:txBody>
      </p:sp>
      <p:sp>
        <p:nvSpPr>
          <p:cNvPr id="22" name="Card"/>
          <p:cNvSpPr/>
          <p:nvPr/>
        </p:nvSpPr>
        <p:spPr>
          <a:xfrm>
            <a:off x="3291840" y="3063240"/>
            <a:ext cx="2560320" cy="1554480"/>
          </a:xfrm>
          <a:prstGeom prst="roundRect">
            <a:avLst>
              <a:gd name="adj" fmla="val 7059"/>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23" name="FaEye circle"/>
          <p:cNvSpPr/>
          <p:nvPr/>
        </p:nvSpPr>
        <p:spPr>
          <a:xfrm>
            <a:off x="3474720" y="3227832"/>
            <a:ext cx="457200" cy="457200"/>
          </a:xfrm>
          <a:prstGeom prst="ellipse">
            <a:avLst/>
          </a:prstGeom>
          <a:solidFill>
            <a:schemeClr val="accent1"/>
          </a:solidFill>
          <a:ln/>
        </p:spPr>
        <p:txBody>
          <a:bodyPr/>
          <a:lstStyle/>
          <a:p>
            <a:endParaRPr lang="en-RW"/>
          </a:p>
        </p:txBody>
      </p:sp>
      <p:pic>
        <p:nvPicPr>
          <p:cNvPr id="24" name="FaEye icon" descr="preencoded.png"/>
          <p:cNvPicPr>
            <a:picLocks noChangeAspect="1"/>
          </p:cNvPicPr>
          <p:nvPr/>
        </p:nvPicPr>
        <p:blipFill>
          <a:blip r:embed="rId7"/>
          <a:stretch>
            <a:fillRect/>
          </a:stretch>
        </p:blipFill>
        <p:spPr>
          <a:xfrm>
            <a:off x="3589020" y="3342132"/>
            <a:ext cx="228600" cy="228600"/>
          </a:xfrm>
          <a:prstGeom prst="rect">
            <a:avLst/>
          </a:prstGeom>
        </p:spPr>
      </p:pic>
      <p:sp>
        <p:nvSpPr>
          <p:cNvPr id="25" name="Text 18"/>
          <p:cNvSpPr txBox="1"/>
          <p:nvPr/>
        </p:nvSpPr>
        <p:spPr>
          <a:xfrm>
            <a:off x="4069080" y="3191256"/>
            <a:ext cx="1691640" cy="530352"/>
          </a:xfrm>
          <a:prstGeom prst="rect">
            <a:avLst/>
          </a:prstGeom>
          <a:noFill/>
          <a:ln/>
        </p:spPr>
        <p:txBody>
          <a:bodyPr wrap="square" lIns="0" tIns="0" rIns="0" bIns="0" rtlCol="0" anchor="ctr"/>
          <a:lstStyle/>
          <a:p>
            <a:pPr marL="0" indent="0">
              <a:buNone/>
            </a:pPr>
            <a:r>
              <a:rPr lang="en-US" sz="1400" b="1" dirty="0">
                <a:solidFill>
                  <a:schemeClr val="tx1"/>
                </a:solidFill>
              </a:rPr>
              <a:t>Just use it</a:t>
            </a:r>
            <a:endParaRPr lang="en-US" sz="1400" dirty="0"/>
          </a:p>
        </p:txBody>
      </p:sp>
      <p:sp>
        <p:nvSpPr>
          <p:cNvPr id="26" name="Text 19"/>
          <p:cNvSpPr txBox="1"/>
          <p:nvPr/>
        </p:nvSpPr>
        <p:spPr>
          <a:xfrm>
            <a:off x="3474720" y="3813048"/>
            <a:ext cx="2194560" cy="749808"/>
          </a:xfrm>
          <a:prstGeom prst="rect">
            <a:avLst/>
          </a:prstGeom>
          <a:noFill/>
          <a:ln/>
        </p:spPr>
        <p:txBody>
          <a:bodyPr wrap="square" lIns="0" tIns="0" rIns="0" bIns="0" rtlCol="0" anchor="t"/>
          <a:lstStyle/>
          <a:p>
            <a:pPr marL="0" indent="0">
              <a:buNone/>
            </a:pPr>
            <a:r>
              <a:rPr lang="en-US" sz="1400" dirty="0">
                <a:solidFill>
                  <a:schemeClr val="tx1"/>
                </a:solidFill>
              </a:rPr>
              <a:t>Users simply use the software; they don't manage the underlying infrastructure.</a:t>
            </a:r>
            <a:endParaRPr lang="en-US" sz="1400" dirty="0"/>
          </a:p>
        </p:txBody>
      </p:sp>
      <p:sp>
        <p:nvSpPr>
          <p:cNvPr id="27" name="Card"/>
          <p:cNvSpPr/>
          <p:nvPr/>
        </p:nvSpPr>
        <p:spPr>
          <a:xfrm>
            <a:off x="6126480" y="3063240"/>
            <a:ext cx="2560320" cy="1554480"/>
          </a:xfrm>
          <a:prstGeom prst="roundRect">
            <a:avLst>
              <a:gd name="adj" fmla="val 7059"/>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28" name="FaGlobe circle"/>
          <p:cNvSpPr/>
          <p:nvPr/>
        </p:nvSpPr>
        <p:spPr>
          <a:xfrm>
            <a:off x="6309360" y="3227832"/>
            <a:ext cx="457200" cy="457200"/>
          </a:xfrm>
          <a:prstGeom prst="ellipse">
            <a:avLst/>
          </a:prstGeom>
          <a:solidFill>
            <a:schemeClr val="accent4"/>
          </a:solidFill>
          <a:ln/>
        </p:spPr>
        <p:txBody>
          <a:bodyPr/>
          <a:lstStyle/>
          <a:p>
            <a:endParaRPr lang="en-RW"/>
          </a:p>
        </p:txBody>
      </p:sp>
      <p:pic>
        <p:nvPicPr>
          <p:cNvPr id="29" name="FaGlobe icon" descr="preencoded.png"/>
          <p:cNvPicPr>
            <a:picLocks noChangeAspect="1"/>
          </p:cNvPicPr>
          <p:nvPr/>
        </p:nvPicPr>
        <p:blipFill>
          <a:blip r:embed="rId8"/>
          <a:stretch>
            <a:fillRect/>
          </a:stretch>
        </p:blipFill>
        <p:spPr>
          <a:xfrm>
            <a:off x="6423660" y="3342132"/>
            <a:ext cx="228600" cy="228600"/>
          </a:xfrm>
          <a:prstGeom prst="rect">
            <a:avLst/>
          </a:prstGeom>
        </p:spPr>
      </p:pic>
      <p:sp>
        <p:nvSpPr>
          <p:cNvPr id="30" name="Text 22"/>
          <p:cNvSpPr txBox="1"/>
          <p:nvPr/>
        </p:nvSpPr>
        <p:spPr>
          <a:xfrm>
            <a:off x="6903720" y="3191256"/>
            <a:ext cx="1691640" cy="530352"/>
          </a:xfrm>
          <a:prstGeom prst="rect">
            <a:avLst/>
          </a:prstGeom>
          <a:noFill/>
          <a:ln/>
        </p:spPr>
        <p:txBody>
          <a:bodyPr wrap="square" lIns="0" tIns="0" rIns="0" bIns="0" rtlCol="0" anchor="ctr"/>
          <a:lstStyle/>
          <a:p>
            <a:pPr marL="0" indent="0">
              <a:buNone/>
            </a:pPr>
            <a:r>
              <a:rPr lang="en-US" sz="1400" b="1" dirty="0">
                <a:solidFill>
                  <a:schemeClr val="tx1"/>
                </a:solidFill>
              </a:rPr>
              <a:t>Anytime, anywhere</a:t>
            </a:r>
            <a:endParaRPr lang="en-US" sz="1400" dirty="0"/>
          </a:p>
        </p:txBody>
      </p:sp>
      <p:sp>
        <p:nvSpPr>
          <p:cNvPr id="31" name="Text 23"/>
          <p:cNvSpPr txBox="1"/>
          <p:nvPr/>
        </p:nvSpPr>
        <p:spPr>
          <a:xfrm>
            <a:off x="6309360" y="3813048"/>
            <a:ext cx="2194560" cy="749808"/>
          </a:xfrm>
          <a:prstGeom prst="rect">
            <a:avLst/>
          </a:prstGeom>
          <a:noFill/>
          <a:ln/>
        </p:spPr>
        <p:txBody>
          <a:bodyPr wrap="square" lIns="0" tIns="0" rIns="0" bIns="0" rtlCol="0" anchor="t"/>
          <a:lstStyle/>
          <a:p>
            <a:pPr marL="0" indent="0">
              <a:buNone/>
            </a:pPr>
            <a:r>
              <a:rPr lang="en-US" sz="1400" dirty="0">
                <a:solidFill>
                  <a:schemeClr val="tx1"/>
                </a:solidFill>
              </a:rPr>
              <a:t>Access from any client device (device and location independence).</a:t>
            </a:r>
            <a:endParaRPr lang="en-US" sz="1400" dirty="0"/>
          </a:p>
        </p:txBody>
      </p:sp>
      <p:sp>
        <p:nvSpPr>
          <p:cNvPr id="32"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5A7E"/>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48640"/>
            <a:ext cx="8229600" cy="640080"/>
          </a:xfrm>
          <a:prstGeom prst="rect">
            <a:avLst/>
          </a:prstGeom>
          <a:noFill/>
          <a:ln/>
        </p:spPr>
        <p:txBody>
          <a:bodyPr wrap="square" lIns="0" tIns="0" rIns="0" bIns="0" rtlCol="0" anchor="ctr"/>
          <a:lstStyle/>
          <a:p>
            <a:pPr marL="0" indent="0" algn="l">
              <a:buNone/>
            </a:pPr>
            <a:r>
              <a:rPr lang="en-US" sz="3400" b="1" dirty="0">
                <a:solidFill>
                  <a:schemeClr val="tx1"/>
                </a:solidFill>
              </a:rPr>
              <a:t>Shared Responsibility Model</a:t>
            </a:r>
            <a:endParaRPr lang="en-US" sz="3400" dirty="0"/>
          </a:p>
        </p:txBody>
      </p:sp>
      <p:sp>
        <p:nvSpPr>
          <p:cNvPr id="3" name="Section chip"/>
          <p:cNvSpPr txBox="1"/>
          <p:nvPr/>
        </p:nvSpPr>
        <p:spPr>
          <a:xfrm>
            <a:off x="457200" y="274320"/>
            <a:ext cx="1466698" cy="246888"/>
          </a:xfrm>
          <a:prstGeom prst="roundRect">
            <a:avLst>
              <a:gd name="adj" fmla="val 48148"/>
            </a:avLst>
          </a:prstGeom>
          <a:solidFill>
            <a:schemeClr val="accent6"/>
          </a:solidFill>
          <a:ln/>
        </p:spPr>
        <p:txBody>
          <a:bodyPr wrap="square" lIns="0" tIns="0" rIns="0" bIns="0" rtlCol="0" anchor="ctr"/>
          <a:lstStyle/>
          <a:p>
            <a:pPr marL="0" indent="0" algn="ctr">
              <a:buNone/>
            </a:pPr>
            <a:r>
              <a:rPr lang="en-US" sz="1000" b="1" kern="0" spc="150" dirty="0">
                <a:solidFill>
                  <a:schemeClr val="tx1"/>
                </a:solidFill>
              </a:rPr>
              <a:t>SERVICE MODELS</a:t>
            </a:r>
            <a:endParaRPr lang="en-US" sz="1000" dirty="0"/>
          </a:p>
        </p:txBody>
      </p:sp>
      <p:sp>
        <p:nvSpPr>
          <p:cNvPr id="4" name="Card"/>
          <p:cNvSpPr/>
          <p:nvPr/>
        </p:nvSpPr>
        <p:spPr>
          <a:xfrm>
            <a:off x="457200" y="1371600"/>
            <a:ext cx="5029200" cy="3291840"/>
          </a:xfrm>
          <a:prstGeom prst="roundRect">
            <a:avLst>
              <a:gd name="adj" fmla="val 3333"/>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5" name="Text 3"/>
          <p:cNvSpPr txBox="1"/>
          <p:nvPr/>
        </p:nvSpPr>
        <p:spPr>
          <a:xfrm>
            <a:off x="640080" y="1481328"/>
            <a:ext cx="1097280" cy="256032"/>
          </a:xfrm>
          <a:prstGeom prst="rect">
            <a:avLst/>
          </a:prstGeom>
          <a:noFill/>
          <a:ln/>
        </p:spPr>
        <p:txBody>
          <a:bodyPr wrap="square" lIns="0" tIns="0" rIns="0" bIns="0" rtlCol="0" anchor="ctr"/>
          <a:lstStyle/>
          <a:p>
            <a:pPr marL="0" indent="0" algn="ctr">
              <a:buNone/>
            </a:pPr>
            <a:r>
              <a:rPr lang="en-US" sz="1200" b="1" dirty="0">
                <a:solidFill>
                  <a:schemeClr val="tx1"/>
                </a:solidFill>
              </a:rPr>
              <a:t>On-Premise</a:t>
            </a:r>
            <a:endParaRPr lang="en-US" sz="1200" dirty="0"/>
          </a:p>
        </p:txBody>
      </p:sp>
      <p:sp>
        <p:nvSpPr>
          <p:cNvPr id="6" name="Layer On-Premise Data"/>
          <p:cNvSpPr txBox="1"/>
          <p:nvPr/>
        </p:nvSpPr>
        <p:spPr>
          <a:xfrm>
            <a:off x="640080" y="1773936"/>
            <a:ext cx="1097280" cy="246888"/>
          </a:xfrm>
          <a:prstGeom prst="roundRect">
            <a:avLst>
              <a:gd name="adj" fmla="val 18519"/>
            </a:avLst>
          </a:prstGeom>
          <a:solidFill>
            <a:schemeClr val="accent5"/>
          </a:solidFill>
          <a:ln/>
        </p:spPr>
        <p:txBody>
          <a:bodyPr wrap="square" lIns="0" tIns="0" rIns="0" bIns="0" rtlCol="0" anchor="ctr"/>
          <a:lstStyle/>
          <a:p>
            <a:pPr marL="0" indent="0" algn="ctr">
              <a:buNone/>
            </a:pPr>
            <a:r>
              <a:rPr lang="en-US" sz="1100" dirty="0">
                <a:solidFill>
                  <a:schemeClr val="tx1"/>
                </a:solidFill>
              </a:rPr>
              <a:t>Data</a:t>
            </a:r>
            <a:endParaRPr lang="en-US" sz="1100" dirty="0"/>
          </a:p>
        </p:txBody>
      </p:sp>
      <p:sp>
        <p:nvSpPr>
          <p:cNvPr id="7" name="Layer On-Premise Applications"/>
          <p:cNvSpPr txBox="1"/>
          <p:nvPr/>
        </p:nvSpPr>
        <p:spPr>
          <a:xfrm>
            <a:off x="640080" y="2048256"/>
            <a:ext cx="1097280" cy="246888"/>
          </a:xfrm>
          <a:prstGeom prst="roundRect">
            <a:avLst>
              <a:gd name="adj" fmla="val 18519"/>
            </a:avLst>
          </a:prstGeom>
          <a:solidFill>
            <a:schemeClr val="accent5"/>
          </a:solidFill>
          <a:ln/>
        </p:spPr>
        <p:txBody>
          <a:bodyPr wrap="square" lIns="0" tIns="0" rIns="0" bIns="0" rtlCol="0" anchor="ctr"/>
          <a:lstStyle/>
          <a:p>
            <a:pPr marL="0" indent="0" algn="ctr">
              <a:buNone/>
            </a:pPr>
            <a:r>
              <a:rPr lang="en-US" sz="1100" dirty="0">
                <a:solidFill>
                  <a:schemeClr val="tx1"/>
                </a:solidFill>
              </a:rPr>
              <a:t>Applications</a:t>
            </a:r>
            <a:endParaRPr lang="en-US" sz="1100" dirty="0"/>
          </a:p>
        </p:txBody>
      </p:sp>
      <p:sp>
        <p:nvSpPr>
          <p:cNvPr id="8" name="Layer On-Premise Runtime"/>
          <p:cNvSpPr txBox="1"/>
          <p:nvPr/>
        </p:nvSpPr>
        <p:spPr>
          <a:xfrm>
            <a:off x="640080" y="2322576"/>
            <a:ext cx="1097280" cy="246888"/>
          </a:xfrm>
          <a:prstGeom prst="roundRect">
            <a:avLst>
              <a:gd name="adj" fmla="val 18519"/>
            </a:avLst>
          </a:prstGeom>
          <a:solidFill>
            <a:schemeClr val="accent5"/>
          </a:solidFill>
          <a:ln/>
        </p:spPr>
        <p:txBody>
          <a:bodyPr wrap="square" lIns="0" tIns="0" rIns="0" bIns="0" rtlCol="0" anchor="ctr"/>
          <a:lstStyle/>
          <a:p>
            <a:pPr marL="0" indent="0" algn="ctr">
              <a:buNone/>
            </a:pPr>
            <a:r>
              <a:rPr lang="en-US" sz="1100" dirty="0">
                <a:solidFill>
                  <a:schemeClr val="tx1"/>
                </a:solidFill>
              </a:rPr>
              <a:t>Runtime</a:t>
            </a:r>
            <a:endParaRPr lang="en-US" sz="1100" dirty="0"/>
          </a:p>
        </p:txBody>
      </p:sp>
      <p:sp>
        <p:nvSpPr>
          <p:cNvPr id="9" name="Layer On-Premise Middleware"/>
          <p:cNvSpPr txBox="1"/>
          <p:nvPr/>
        </p:nvSpPr>
        <p:spPr>
          <a:xfrm>
            <a:off x="640080" y="2596896"/>
            <a:ext cx="1097280" cy="246888"/>
          </a:xfrm>
          <a:prstGeom prst="roundRect">
            <a:avLst>
              <a:gd name="adj" fmla="val 18519"/>
            </a:avLst>
          </a:prstGeom>
          <a:solidFill>
            <a:schemeClr val="accent5"/>
          </a:solidFill>
          <a:ln/>
        </p:spPr>
        <p:txBody>
          <a:bodyPr wrap="square" lIns="0" tIns="0" rIns="0" bIns="0" rtlCol="0" anchor="ctr"/>
          <a:lstStyle/>
          <a:p>
            <a:pPr marL="0" indent="0" algn="ctr">
              <a:buNone/>
            </a:pPr>
            <a:r>
              <a:rPr lang="en-US" sz="1100" dirty="0">
                <a:solidFill>
                  <a:schemeClr val="tx1"/>
                </a:solidFill>
              </a:rPr>
              <a:t>Middleware</a:t>
            </a:r>
            <a:endParaRPr lang="en-US" sz="1100" dirty="0"/>
          </a:p>
        </p:txBody>
      </p:sp>
      <p:sp>
        <p:nvSpPr>
          <p:cNvPr id="10" name="Layer On-Premise OS"/>
          <p:cNvSpPr txBox="1"/>
          <p:nvPr/>
        </p:nvSpPr>
        <p:spPr>
          <a:xfrm>
            <a:off x="640080" y="2871216"/>
            <a:ext cx="1097280" cy="246888"/>
          </a:xfrm>
          <a:prstGeom prst="roundRect">
            <a:avLst>
              <a:gd name="adj" fmla="val 18519"/>
            </a:avLst>
          </a:prstGeom>
          <a:solidFill>
            <a:schemeClr val="accent5"/>
          </a:solidFill>
          <a:ln/>
        </p:spPr>
        <p:txBody>
          <a:bodyPr wrap="square" lIns="0" tIns="0" rIns="0" bIns="0" rtlCol="0" anchor="ctr"/>
          <a:lstStyle/>
          <a:p>
            <a:pPr marL="0" indent="0" algn="ctr">
              <a:buNone/>
            </a:pPr>
            <a:r>
              <a:rPr lang="en-US" sz="1100" dirty="0">
                <a:solidFill>
                  <a:schemeClr val="tx1"/>
                </a:solidFill>
              </a:rPr>
              <a:t>OS</a:t>
            </a:r>
            <a:endParaRPr lang="en-US" sz="1100" dirty="0"/>
          </a:p>
        </p:txBody>
      </p:sp>
      <p:sp>
        <p:nvSpPr>
          <p:cNvPr id="11" name="Layer On-Premise Virtualization"/>
          <p:cNvSpPr txBox="1"/>
          <p:nvPr/>
        </p:nvSpPr>
        <p:spPr>
          <a:xfrm>
            <a:off x="640080" y="3145536"/>
            <a:ext cx="1097280" cy="246888"/>
          </a:xfrm>
          <a:prstGeom prst="roundRect">
            <a:avLst>
              <a:gd name="adj" fmla="val 18519"/>
            </a:avLst>
          </a:prstGeom>
          <a:solidFill>
            <a:schemeClr val="accent5"/>
          </a:solidFill>
          <a:ln/>
        </p:spPr>
        <p:txBody>
          <a:bodyPr wrap="square" lIns="0" tIns="0" rIns="0" bIns="0" rtlCol="0" anchor="ctr"/>
          <a:lstStyle/>
          <a:p>
            <a:pPr marL="0" indent="0" algn="ctr">
              <a:buNone/>
            </a:pPr>
            <a:r>
              <a:rPr lang="en-US" sz="1100" dirty="0">
                <a:solidFill>
                  <a:schemeClr val="tx1"/>
                </a:solidFill>
              </a:rPr>
              <a:t>Virtualization</a:t>
            </a:r>
            <a:endParaRPr lang="en-US" sz="1100" dirty="0"/>
          </a:p>
        </p:txBody>
      </p:sp>
      <p:sp>
        <p:nvSpPr>
          <p:cNvPr id="12" name="Layer On-Premise Servers"/>
          <p:cNvSpPr txBox="1"/>
          <p:nvPr/>
        </p:nvSpPr>
        <p:spPr>
          <a:xfrm>
            <a:off x="640080" y="3419856"/>
            <a:ext cx="1097280" cy="246888"/>
          </a:xfrm>
          <a:prstGeom prst="roundRect">
            <a:avLst>
              <a:gd name="adj" fmla="val 18519"/>
            </a:avLst>
          </a:prstGeom>
          <a:solidFill>
            <a:schemeClr val="accent5"/>
          </a:solidFill>
          <a:ln/>
        </p:spPr>
        <p:txBody>
          <a:bodyPr wrap="square" lIns="0" tIns="0" rIns="0" bIns="0" rtlCol="0" anchor="ctr"/>
          <a:lstStyle/>
          <a:p>
            <a:pPr marL="0" indent="0" algn="ctr">
              <a:buNone/>
            </a:pPr>
            <a:r>
              <a:rPr lang="en-US" sz="1100" dirty="0">
                <a:solidFill>
                  <a:schemeClr val="tx1"/>
                </a:solidFill>
              </a:rPr>
              <a:t>Servers</a:t>
            </a:r>
            <a:endParaRPr lang="en-US" sz="1100" dirty="0"/>
          </a:p>
        </p:txBody>
      </p:sp>
      <p:sp>
        <p:nvSpPr>
          <p:cNvPr id="13" name="Layer On-Premise Storage"/>
          <p:cNvSpPr txBox="1"/>
          <p:nvPr/>
        </p:nvSpPr>
        <p:spPr>
          <a:xfrm>
            <a:off x="640080" y="3694176"/>
            <a:ext cx="1097280" cy="246888"/>
          </a:xfrm>
          <a:prstGeom prst="roundRect">
            <a:avLst>
              <a:gd name="adj" fmla="val 18519"/>
            </a:avLst>
          </a:prstGeom>
          <a:solidFill>
            <a:schemeClr val="accent5"/>
          </a:solidFill>
          <a:ln/>
        </p:spPr>
        <p:txBody>
          <a:bodyPr wrap="square" lIns="0" tIns="0" rIns="0" bIns="0" rtlCol="0" anchor="ctr"/>
          <a:lstStyle/>
          <a:p>
            <a:pPr marL="0" indent="0" algn="ctr">
              <a:buNone/>
            </a:pPr>
            <a:r>
              <a:rPr lang="en-US" sz="1100" dirty="0">
                <a:solidFill>
                  <a:schemeClr val="tx1"/>
                </a:solidFill>
              </a:rPr>
              <a:t>Storage</a:t>
            </a:r>
            <a:endParaRPr lang="en-US" sz="1100" dirty="0"/>
          </a:p>
        </p:txBody>
      </p:sp>
      <p:sp>
        <p:nvSpPr>
          <p:cNvPr id="14" name="Layer On-Premise Networking"/>
          <p:cNvSpPr txBox="1"/>
          <p:nvPr/>
        </p:nvSpPr>
        <p:spPr>
          <a:xfrm>
            <a:off x="640080" y="3968496"/>
            <a:ext cx="1097280" cy="246888"/>
          </a:xfrm>
          <a:prstGeom prst="roundRect">
            <a:avLst>
              <a:gd name="adj" fmla="val 18519"/>
            </a:avLst>
          </a:prstGeom>
          <a:solidFill>
            <a:schemeClr val="accent5"/>
          </a:solidFill>
          <a:ln/>
        </p:spPr>
        <p:txBody>
          <a:bodyPr wrap="square" lIns="0" tIns="0" rIns="0" bIns="0" rtlCol="0" anchor="ctr"/>
          <a:lstStyle/>
          <a:p>
            <a:pPr marL="0" indent="0" algn="ctr">
              <a:buNone/>
            </a:pPr>
            <a:r>
              <a:rPr lang="en-US" sz="1100" dirty="0">
                <a:solidFill>
                  <a:schemeClr val="tx1"/>
                </a:solidFill>
              </a:rPr>
              <a:t>Networking</a:t>
            </a:r>
            <a:endParaRPr lang="en-US" sz="1100" dirty="0"/>
          </a:p>
        </p:txBody>
      </p:sp>
      <p:sp>
        <p:nvSpPr>
          <p:cNvPr id="15" name="Text 13"/>
          <p:cNvSpPr txBox="1"/>
          <p:nvPr/>
        </p:nvSpPr>
        <p:spPr>
          <a:xfrm>
            <a:off x="1819656" y="1481328"/>
            <a:ext cx="1097280" cy="256032"/>
          </a:xfrm>
          <a:prstGeom prst="rect">
            <a:avLst/>
          </a:prstGeom>
          <a:noFill/>
          <a:ln/>
        </p:spPr>
        <p:txBody>
          <a:bodyPr wrap="square" lIns="0" tIns="0" rIns="0" bIns="0" rtlCol="0" anchor="ctr"/>
          <a:lstStyle/>
          <a:p>
            <a:pPr marL="0" indent="0" algn="ctr">
              <a:buNone/>
            </a:pPr>
            <a:r>
              <a:rPr lang="en-US" sz="1200" b="1" dirty="0">
                <a:solidFill>
                  <a:schemeClr val="tx1"/>
                </a:solidFill>
              </a:rPr>
              <a:t>IaaS</a:t>
            </a:r>
            <a:endParaRPr lang="en-US" sz="1200" dirty="0"/>
          </a:p>
        </p:txBody>
      </p:sp>
      <p:sp>
        <p:nvSpPr>
          <p:cNvPr id="16" name="Layer IaaS Data"/>
          <p:cNvSpPr txBox="1"/>
          <p:nvPr/>
        </p:nvSpPr>
        <p:spPr>
          <a:xfrm>
            <a:off x="1819656" y="1773936"/>
            <a:ext cx="1097280" cy="246888"/>
          </a:xfrm>
          <a:prstGeom prst="roundRect">
            <a:avLst>
              <a:gd name="adj" fmla="val 18519"/>
            </a:avLst>
          </a:prstGeom>
          <a:solidFill>
            <a:schemeClr val="accent5"/>
          </a:solidFill>
          <a:ln/>
        </p:spPr>
        <p:txBody>
          <a:bodyPr wrap="square" lIns="0" tIns="0" rIns="0" bIns="0" rtlCol="0" anchor="ctr"/>
          <a:lstStyle/>
          <a:p>
            <a:pPr marL="0" indent="0" algn="ctr">
              <a:buNone/>
            </a:pPr>
            <a:r>
              <a:rPr lang="en-US" sz="1100" dirty="0">
                <a:solidFill>
                  <a:schemeClr val="tx1"/>
                </a:solidFill>
              </a:rPr>
              <a:t>Data</a:t>
            </a:r>
            <a:endParaRPr lang="en-US" sz="1100" dirty="0"/>
          </a:p>
        </p:txBody>
      </p:sp>
      <p:sp>
        <p:nvSpPr>
          <p:cNvPr id="17" name="Layer IaaS Applications"/>
          <p:cNvSpPr txBox="1"/>
          <p:nvPr/>
        </p:nvSpPr>
        <p:spPr>
          <a:xfrm>
            <a:off x="1819656" y="2048256"/>
            <a:ext cx="1097280" cy="246888"/>
          </a:xfrm>
          <a:prstGeom prst="roundRect">
            <a:avLst>
              <a:gd name="adj" fmla="val 18519"/>
            </a:avLst>
          </a:prstGeom>
          <a:solidFill>
            <a:schemeClr val="accent5"/>
          </a:solidFill>
          <a:ln/>
        </p:spPr>
        <p:txBody>
          <a:bodyPr wrap="square" lIns="0" tIns="0" rIns="0" bIns="0" rtlCol="0" anchor="ctr"/>
          <a:lstStyle/>
          <a:p>
            <a:pPr marL="0" indent="0" algn="ctr">
              <a:buNone/>
            </a:pPr>
            <a:r>
              <a:rPr lang="en-US" sz="1100" dirty="0">
                <a:solidFill>
                  <a:schemeClr val="tx1"/>
                </a:solidFill>
              </a:rPr>
              <a:t>Applications</a:t>
            </a:r>
            <a:endParaRPr lang="en-US" sz="1100" dirty="0"/>
          </a:p>
        </p:txBody>
      </p:sp>
      <p:sp>
        <p:nvSpPr>
          <p:cNvPr id="18" name="Layer IaaS Runtime"/>
          <p:cNvSpPr txBox="1"/>
          <p:nvPr/>
        </p:nvSpPr>
        <p:spPr>
          <a:xfrm>
            <a:off x="1819656" y="2322576"/>
            <a:ext cx="1097280" cy="246888"/>
          </a:xfrm>
          <a:prstGeom prst="roundRect">
            <a:avLst>
              <a:gd name="adj" fmla="val 18519"/>
            </a:avLst>
          </a:prstGeom>
          <a:solidFill>
            <a:schemeClr val="accent5"/>
          </a:solidFill>
          <a:ln/>
        </p:spPr>
        <p:txBody>
          <a:bodyPr wrap="square" lIns="0" tIns="0" rIns="0" bIns="0" rtlCol="0" anchor="ctr"/>
          <a:lstStyle/>
          <a:p>
            <a:pPr marL="0" indent="0" algn="ctr">
              <a:buNone/>
            </a:pPr>
            <a:r>
              <a:rPr lang="en-US" sz="1100" dirty="0">
                <a:solidFill>
                  <a:schemeClr val="tx1"/>
                </a:solidFill>
              </a:rPr>
              <a:t>Runtime</a:t>
            </a:r>
            <a:endParaRPr lang="en-US" sz="1100" dirty="0"/>
          </a:p>
        </p:txBody>
      </p:sp>
      <p:sp>
        <p:nvSpPr>
          <p:cNvPr id="19" name="Layer IaaS Middleware"/>
          <p:cNvSpPr txBox="1"/>
          <p:nvPr/>
        </p:nvSpPr>
        <p:spPr>
          <a:xfrm>
            <a:off x="1819656" y="2596896"/>
            <a:ext cx="1097280" cy="246888"/>
          </a:xfrm>
          <a:prstGeom prst="roundRect">
            <a:avLst>
              <a:gd name="adj" fmla="val 18519"/>
            </a:avLst>
          </a:prstGeom>
          <a:solidFill>
            <a:schemeClr val="accent5"/>
          </a:solidFill>
          <a:ln/>
        </p:spPr>
        <p:txBody>
          <a:bodyPr wrap="square" lIns="0" tIns="0" rIns="0" bIns="0" rtlCol="0" anchor="ctr"/>
          <a:lstStyle/>
          <a:p>
            <a:pPr marL="0" indent="0" algn="ctr">
              <a:buNone/>
            </a:pPr>
            <a:r>
              <a:rPr lang="en-US" sz="1100" dirty="0">
                <a:solidFill>
                  <a:schemeClr val="tx1"/>
                </a:solidFill>
              </a:rPr>
              <a:t>Middleware</a:t>
            </a:r>
            <a:endParaRPr lang="en-US" sz="1100" dirty="0"/>
          </a:p>
        </p:txBody>
      </p:sp>
      <p:sp>
        <p:nvSpPr>
          <p:cNvPr id="20" name="Layer IaaS OS"/>
          <p:cNvSpPr txBox="1"/>
          <p:nvPr/>
        </p:nvSpPr>
        <p:spPr>
          <a:xfrm>
            <a:off x="1819656" y="2871216"/>
            <a:ext cx="1097280" cy="246888"/>
          </a:xfrm>
          <a:prstGeom prst="roundRect">
            <a:avLst>
              <a:gd name="adj" fmla="val 18519"/>
            </a:avLst>
          </a:prstGeom>
          <a:solidFill>
            <a:schemeClr val="accent5"/>
          </a:solidFill>
          <a:ln/>
        </p:spPr>
        <p:txBody>
          <a:bodyPr wrap="square" lIns="0" tIns="0" rIns="0" bIns="0" rtlCol="0" anchor="ctr"/>
          <a:lstStyle/>
          <a:p>
            <a:pPr marL="0" indent="0" algn="ctr">
              <a:buNone/>
            </a:pPr>
            <a:r>
              <a:rPr lang="en-US" sz="1100" dirty="0">
                <a:solidFill>
                  <a:schemeClr val="tx1"/>
                </a:solidFill>
              </a:rPr>
              <a:t>OS</a:t>
            </a:r>
            <a:endParaRPr lang="en-US" sz="1100" dirty="0"/>
          </a:p>
        </p:txBody>
      </p:sp>
      <p:sp>
        <p:nvSpPr>
          <p:cNvPr id="21" name="Layer IaaS Virtualization"/>
          <p:cNvSpPr txBox="1"/>
          <p:nvPr/>
        </p:nvSpPr>
        <p:spPr>
          <a:xfrm>
            <a:off x="1819656" y="3145536"/>
            <a:ext cx="1097280" cy="246888"/>
          </a:xfrm>
          <a:prstGeom prst="roundRect">
            <a:avLst>
              <a:gd name="adj" fmla="val 18519"/>
            </a:avLst>
          </a:prstGeom>
          <a:solidFill>
            <a:schemeClr val="accent4"/>
          </a:solidFill>
          <a:ln/>
        </p:spPr>
        <p:txBody>
          <a:bodyPr wrap="square" lIns="0" tIns="0" rIns="0" bIns="0" rtlCol="0" anchor="ctr"/>
          <a:lstStyle/>
          <a:p>
            <a:pPr marL="0" indent="0" algn="ctr">
              <a:buNone/>
            </a:pPr>
            <a:r>
              <a:rPr lang="en-US" sz="1100" dirty="0">
                <a:solidFill>
                  <a:schemeClr val="tx1"/>
                </a:solidFill>
              </a:rPr>
              <a:t>Virtualization</a:t>
            </a:r>
            <a:endParaRPr lang="en-US" sz="1100" dirty="0"/>
          </a:p>
        </p:txBody>
      </p:sp>
      <p:sp>
        <p:nvSpPr>
          <p:cNvPr id="22" name="Layer IaaS Servers"/>
          <p:cNvSpPr txBox="1"/>
          <p:nvPr/>
        </p:nvSpPr>
        <p:spPr>
          <a:xfrm>
            <a:off x="1819656" y="3419856"/>
            <a:ext cx="1097280" cy="246888"/>
          </a:xfrm>
          <a:prstGeom prst="roundRect">
            <a:avLst>
              <a:gd name="adj" fmla="val 18519"/>
            </a:avLst>
          </a:prstGeom>
          <a:solidFill>
            <a:schemeClr val="accent4"/>
          </a:solidFill>
          <a:ln/>
        </p:spPr>
        <p:txBody>
          <a:bodyPr wrap="square" lIns="0" tIns="0" rIns="0" bIns="0" rtlCol="0" anchor="ctr"/>
          <a:lstStyle/>
          <a:p>
            <a:pPr marL="0" indent="0" algn="ctr">
              <a:buNone/>
            </a:pPr>
            <a:r>
              <a:rPr lang="en-US" sz="1100" dirty="0">
                <a:solidFill>
                  <a:schemeClr val="tx1"/>
                </a:solidFill>
              </a:rPr>
              <a:t>Servers</a:t>
            </a:r>
            <a:endParaRPr lang="en-US" sz="1100" dirty="0"/>
          </a:p>
        </p:txBody>
      </p:sp>
      <p:sp>
        <p:nvSpPr>
          <p:cNvPr id="23" name="Layer IaaS Storage"/>
          <p:cNvSpPr txBox="1"/>
          <p:nvPr/>
        </p:nvSpPr>
        <p:spPr>
          <a:xfrm>
            <a:off x="1819656" y="3694176"/>
            <a:ext cx="1097280" cy="246888"/>
          </a:xfrm>
          <a:prstGeom prst="roundRect">
            <a:avLst>
              <a:gd name="adj" fmla="val 18519"/>
            </a:avLst>
          </a:prstGeom>
          <a:solidFill>
            <a:schemeClr val="accent4"/>
          </a:solidFill>
          <a:ln/>
        </p:spPr>
        <p:txBody>
          <a:bodyPr wrap="square" lIns="0" tIns="0" rIns="0" bIns="0" rtlCol="0" anchor="ctr"/>
          <a:lstStyle/>
          <a:p>
            <a:pPr marL="0" indent="0" algn="ctr">
              <a:buNone/>
            </a:pPr>
            <a:r>
              <a:rPr lang="en-US" sz="1100" dirty="0">
                <a:solidFill>
                  <a:schemeClr val="tx1"/>
                </a:solidFill>
              </a:rPr>
              <a:t>Storage</a:t>
            </a:r>
            <a:endParaRPr lang="en-US" sz="1100" dirty="0"/>
          </a:p>
        </p:txBody>
      </p:sp>
      <p:sp>
        <p:nvSpPr>
          <p:cNvPr id="24" name="Layer IaaS Networking"/>
          <p:cNvSpPr txBox="1"/>
          <p:nvPr/>
        </p:nvSpPr>
        <p:spPr>
          <a:xfrm>
            <a:off x="1819656" y="3968496"/>
            <a:ext cx="1097280" cy="246888"/>
          </a:xfrm>
          <a:prstGeom prst="roundRect">
            <a:avLst>
              <a:gd name="adj" fmla="val 18519"/>
            </a:avLst>
          </a:prstGeom>
          <a:solidFill>
            <a:schemeClr val="accent4"/>
          </a:solidFill>
          <a:ln/>
        </p:spPr>
        <p:txBody>
          <a:bodyPr wrap="square" lIns="0" tIns="0" rIns="0" bIns="0" rtlCol="0" anchor="ctr"/>
          <a:lstStyle/>
          <a:p>
            <a:pPr marL="0" indent="0" algn="ctr">
              <a:buNone/>
            </a:pPr>
            <a:r>
              <a:rPr lang="en-US" sz="1100" dirty="0">
                <a:solidFill>
                  <a:schemeClr val="tx1"/>
                </a:solidFill>
              </a:rPr>
              <a:t>Networking</a:t>
            </a:r>
            <a:endParaRPr lang="en-US" sz="1100" dirty="0"/>
          </a:p>
        </p:txBody>
      </p:sp>
      <p:sp>
        <p:nvSpPr>
          <p:cNvPr id="25" name="Text 23"/>
          <p:cNvSpPr txBox="1"/>
          <p:nvPr/>
        </p:nvSpPr>
        <p:spPr>
          <a:xfrm>
            <a:off x="2999232" y="1481328"/>
            <a:ext cx="1097280" cy="256032"/>
          </a:xfrm>
          <a:prstGeom prst="rect">
            <a:avLst/>
          </a:prstGeom>
          <a:noFill/>
          <a:ln/>
        </p:spPr>
        <p:txBody>
          <a:bodyPr wrap="square" lIns="0" tIns="0" rIns="0" bIns="0" rtlCol="0" anchor="ctr"/>
          <a:lstStyle/>
          <a:p>
            <a:pPr marL="0" indent="0" algn="ctr">
              <a:buNone/>
            </a:pPr>
            <a:r>
              <a:rPr lang="en-US" sz="1200" b="1" dirty="0">
                <a:solidFill>
                  <a:schemeClr val="tx1"/>
                </a:solidFill>
              </a:rPr>
              <a:t>PaaS</a:t>
            </a:r>
            <a:endParaRPr lang="en-US" sz="1200" dirty="0"/>
          </a:p>
        </p:txBody>
      </p:sp>
      <p:sp>
        <p:nvSpPr>
          <p:cNvPr id="26" name="Layer PaaS Data"/>
          <p:cNvSpPr txBox="1"/>
          <p:nvPr/>
        </p:nvSpPr>
        <p:spPr>
          <a:xfrm>
            <a:off x="2999232" y="1773936"/>
            <a:ext cx="1097280" cy="246888"/>
          </a:xfrm>
          <a:prstGeom prst="roundRect">
            <a:avLst>
              <a:gd name="adj" fmla="val 18519"/>
            </a:avLst>
          </a:prstGeom>
          <a:solidFill>
            <a:schemeClr val="accent5"/>
          </a:solidFill>
          <a:ln/>
        </p:spPr>
        <p:txBody>
          <a:bodyPr wrap="square" lIns="0" tIns="0" rIns="0" bIns="0" rtlCol="0" anchor="ctr"/>
          <a:lstStyle/>
          <a:p>
            <a:pPr marL="0" indent="0" algn="ctr">
              <a:buNone/>
            </a:pPr>
            <a:r>
              <a:rPr lang="en-US" sz="1100" dirty="0">
                <a:solidFill>
                  <a:schemeClr val="tx1"/>
                </a:solidFill>
              </a:rPr>
              <a:t>Data</a:t>
            </a:r>
            <a:endParaRPr lang="en-US" sz="1100" dirty="0"/>
          </a:p>
        </p:txBody>
      </p:sp>
      <p:sp>
        <p:nvSpPr>
          <p:cNvPr id="27" name="Layer PaaS Applications"/>
          <p:cNvSpPr txBox="1"/>
          <p:nvPr/>
        </p:nvSpPr>
        <p:spPr>
          <a:xfrm>
            <a:off x="2999232" y="2048256"/>
            <a:ext cx="1097280" cy="246888"/>
          </a:xfrm>
          <a:prstGeom prst="roundRect">
            <a:avLst>
              <a:gd name="adj" fmla="val 18519"/>
            </a:avLst>
          </a:prstGeom>
          <a:solidFill>
            <a:schemeClr val="accent5"/>
          </a:solidFill>
          <a:ln/>
        </p:spPr>
        <p:txBody>
          <a:bodyPr wrap="square" lIns="0" tIns="0" rIns="0" bIns="0" rtlCol="0" anchor="ctr"/>
          <a:lstStyle/>
          <a:p>
            <a:pPr marL="0" indent="0" algn="ctr">
              <a:buNone/>
            </a:pPr>
            <a:r>
              <a:rPr lang="en-US" sz="1100" dirty="0">
                <a:solidFill>
                  <a:schemeClr val="tx1"/>
                </a:solidFill>
              </a:rPr>
              <a:t>Applications</a:t>
            </a:r>
            <a:endParaRPr lang="en-US" sz="1100" dirty="0"/>
          </a:p>
        </p:txBody>
      </p:sp>
      <p:sp>
        <p:nvSpPr>
          <p:cNvPr id="28" name="Layer PaaS Runtime"/>
          <p:cNvSpPr txBox="1"/>
          <p:nvPr/>
        </p:nvSpPr>
        <p:spPr>
          <a:xfrm>
            <a:off x="2999232" y="2322576"/>
            <a:ext cx="1097280" cy="246888"/>
          </a:xfrm>
          <a:prstGeom prst="roundRect">
            <a:avLst>
              <a:gd name="adj" fmla="val 18519"/>
            </a:avLst>
          </a:prstGeom>
          <a:solidFill>
            <a:schemeClr val="accent4"/>
          </a:solidFill>
          <a:ln/>
        </p:spPr>
        <p:txBody>
          <a:bodyPr wrap="square" lIns="0" tIns="0" rIns="0" bIns="0" rtlCol="0" anchor="ctr"/>
          <a:lstStyle/>
          <a:p>
            <a:pPr marL="0" indent="0" algn="ctr">
              <a:buNone/>
            </a:pPr>
            <a:r>
              <a:rPr lang="en-US" sz="1100" dirty="0">
                <a:solidFill>
                  <a:schemeClr val="tx1"/>
                </a:solidFill>
              </a:rPr>
              <a:t>Runtime</a:t>
            </a:r>
            <a:endParaRPr lang="en-US" sz="1100" dirty="0"/>
          </a:p>
        </p:txBody>
      </p:sp>
      <p:sp>
        <p:nvSpPr>
          <p:cNvPr id="29" name="Layer PaaS Middleware"/>
          <p:cNvSpPr txBox="1"/>
          <p:nvPr/>
        </p:nvSpPr>
        <p:spPr>
          <a:xfrm>
            <a:off x="2999232" y="2596896"/>
            <a:ext cx="1097280" cy="246888"/>
          </a:xfrm>
          <a:prstGeom prst="roundRect">
            <a:avLst>
              <a:gd name="adj" fmla="val 18519"/>
            </a:avLst>
          </a:prstGeom>
          <a:solidFill>
            <a:schemeClr val="accent4"/>
          </a:solidFill>
          <a:ln/>
        </p:spPr>
        <p:txBody>
          <a:bodyPr wrap="square" lIns="0" tIns="0" rIns="0" bIns="0" rtlCol="0" anchor="ctr"/>
          <a:lstStyle/>
          <a:p>
            <a:pPr marL="0" indent="0" algn="ctr">
              <a:buNone/>
            </a:pPr>
            <a:r>
              <a:rPr lang="en-US" sz="1100" dirty="0">
                <a:solidFill>
                  <a:schemeClr val="tx1"/>
                </a:solidFill>
              </a:rPr>
              <a:t>Middleware</a:t>
            </a:r>
            <a:endParaRPr lang="en-US" sz="1100" dirty="0"/>
          </a:p>
        </p:txBody>
      </p:sp>
      <p:sp>
        <p:nvSpPr>
          <p:cNvPr id="30" name="Layer PaaS OS"/>
          <p:cNvSpPr txBox="1"/>
          <p:nvPr/>
        </p:nvSpPr>
        <p:spPr>
          <a:xfrm>
            <a:off x="2999232" y="2871216"/>
            <a:ext cx="1097280" cy="246888"/>
          </a:xfrm>
          <a:prstGeom prst="roundRect">
            <a:avLst>
              <a:gd name="adj" fmla="val 18519"/>
            </a:avLst>
          </a:prstGeom>
          <a:solidFill>
            <a:schemeClr val="accent4"/>
          </a:solidFill>
          <a:ln/>
        </p:spPr>
        <p:txBody>
          <a:bodyPr wrap="square" lIns="0" tIns="0" rIns="0" bIns="0" rtlCol="0" anchor="ctr"/>
          <a:lstStyle/>
          <a:p>
            <a:pPr marL="0" indent="0" algn="ctr">
              <a:buNone/>
            </a:pPr>
            <a:r>
              <a:rPr lang="en-US" sz="1100" dirty="0">
                <a:solidFill>
                  <a:schemeClr val="tx1"/>
                </a:solidFill>
              </a:rPr>
              <a:t>OS</a:t>
            </a:r>
            <a:endParaRPr lang="en-US" sz="1100" dirty="0"/>
          </a:p>
        </p:txBody>
      </p:sp>
      <p:sp>
        <p:nvSpPr>
          <p:cNvPr id="31" name="Layer PaaS Virtualization"/>
          <p:cNvSpPr txBox="1"/>
          <p:nvPr/>
        </p:nvSpPr>
        <p:spPr>
          <a:xfrm>
            <a:off x="2999232" y="3145536"/>
            <a:ext cx="1097280" cy="246888"/>
          </a:xfrm>
          <a:prstGeom prst="roundRect">
            <a:avLst>
              <a:gd name="adj" fmla="val 18519"/>
            </a:avLst>
          </a:prstGeom>
          <a:solidFill>
            <a:schemeClr val="accent4"/>
          </a:solidFill>
          <a:ln/>
        </p:spPr>
        <p:txBody>
          <a:bodyPr wrap="square" lIns="0" tIns="0" rIns="0" bIns="0" rtlCol="0" anchor="ctr"/>
          <a:lstStyle/>
          <a:p>
            <a:pPr marL="0" indent="0" algn="ctr">
              <a:buNone/>
            </a:pPr>
            <a:r>
              <a:rPr lang="en-US" sz="1100" dirty="0">
                <a:solidFill>
                  <a:schemeClr val="tx1"/>
                </a:solidFill>
              </a:rPr>
              <a:t>Virtualization</a:t>
            </a:r>
            <a:endParaRPr lang="en-US" sz="1100" dirty="0"/>
          </a:p>
        </p:txBody>
      </p:sp>
      <p:sp>
        <p:nvSpPr>
          <p:cNvPr id="32" name="Layer PaaS Servers"/>
          <p:cNvSpPr txBox="1"/>
          <p:nvPr/>
        </p:nvSpPr>
        <p:spPr>
          <a:xfrm>
            <a:off x="2999232" y="3419856"/>
            <a:ext cx="1097280" cy="246888"/>
          </a:xfrm>
          <a:prstGeom prst="roundRect">
            <a:avLst>
              <a:gd name="adj" fmla="val 18519"/>
            </a:avLst>
          </a:prstGeom>
          <a:solidFill>
            <a:schemeClr val="accent4"/>
          </a:solidFill>
          <a:ln/>
        </p:spPr>
        <p:txBody>
          <a:bodyPr wrap="square" lIns="0" tIns="0" rIns="0" bIns="0" rtlCol="0" anchor="ctr"/>
          <a:lstStyle/>
          <a:p>
            <a:pPr marL="0" indent="0" algn="ctr">
              <a:buNone/>
            </a:pPr>
            <a:r>
              <a:rPr lang="en-US" sz="1100" dirty="0">
                <a:solidFill>
                  <a:schemeClr val="tx1"/>
                </a:solidFill>
              </a:rPr>
              <a:t>Servers</a:t>
            </a:r>
            <a:endParaRPr lang="en-US" sz="1100" dirty="0"/>
          </a:p>
        </p:txBody>
      </p:sp>
      <p:sp>
        <p:nvSpPr>
          <p:cNvPr id="33" name="Layer PaaS Storage"/>
          <p:cNvSpPr txBox="1"/>
          <p:nvPr/>
        </p:nvSpPr>
        <p:spPr>
          <a:xfrm>
            <a:off x="2999232" y="3694176"/>
            <a:ext cx="1097280" cy="246888"/>
          </a:xfrm>
          <a:prstGeom prst="roundRect">
            <a:avLst>
              <a:gd name="adj" fmla="val 18519"/>
            </a:avLst>
          </a:prstGeom>
          <a:solidFill>
            <a:schemeClr val="accent4"/>
          </a:solidFill>
          <a:ln/>
        </p:spPr>
        <p:txBody>
          <a:bodyPr wrap="square" lIns="0" tIns="0" rIns="0" bIns="0" rtlCol="0" anchor="ctr"/>
          <a:lstStyle/>
          <a:p>
            <a:pPr marL="0" indent="0" algn="ctr">
              <a:buNone/>
            </a:pPr>
            <a:r>
              <a:rPr lang="en-US" sz="1100" dirty="0">
                <a:solidFill>
                  <a:schemeClr val="tx1"/>
                </a:solidFill>
              </a:rPr>
              <a:t>Storage</a:t>
            </a:r>
            <a:endParaRPr lang="en-US" sz="1100" dirty="0"/>
          </a:p>
        </p:txBody>
      </p:sp>
      <p:sp>
        <p:nvSpPr>
          <p:cNvPr id="34" name="Layer PaaS Networking"/>
          <p:cNvSpPr txBox="1"/>
          <p:nvPr/>
        </p:nvSpPr>
        <p:spPr>
          <a:xfrm>
            <a:off x="2999232" y="3968496"/>
            <a:ext cx="1097280" cy="246888"/>
          </a:xfrm>
          <a:prstGeom prst="roundRect">
            <a:avLst>
              <a:gd name="adj" fmla="val 18519"/>
            </a:avLst>
          </a:prstGeom>
          <a:solidFill>
            <a:schemeClr val="accent4"/>
          </a:solidFill>
          <a:ln/>
        </p:spPr>
        <p:txBody>
          <a:bodyPr wrap="square" lIns="0" tIns="0" rIns="0" bIns="0" rtlCol="0" anchor="ctr"/>
          <a:lstStyle/>
          <a:p>
            <a:pPr marL="0" indent="0" algn="ctr">
              <a:buNone/>
            </a:pPr>
            <a:r>
              <a:rPr lang="en-US" sz="1100" dirty="0">
                <a:solidFill>
                  <a:schemeClr val="tx1"/>
                </a:solidFill>
              </a:rPr>
              <a:t>Networking</a:t>
            </a:r>
            <a:endParaRPr lang="en-US" sz="1100" dirty="0"/>
          </a:p>
        </p:txBody>
      </p:sp>
      <p:sp>
        <p:nvSpPr>
          <p:cNvPr id="35" name="Text 33"/>
          <p:cNvSpPr txBox="1"/>
          <p:nvPr/>
        </p:nvSpPr>
        <p:spPr>
          <a:xfrm>
            <a:off x="4178808" y="1481328"/>
            <a:ext cx="1097280" cy="256032"/>
          </a:xfrm>
          <a:prstGeom prst="rect">
            <a:avLst/>
          </a:prstGeom>
          <a:noFill/>
          <a:ln/>
        </p:spPr>
        <p:txBody>
          <a:bodyPr wrap="square" lIns="0" tIns="0" rIns="0" bIns="0" rtlCol="0" anchor="ctr"/>
          <a:lstStyle/>
          <a:p>
            <a:pPr marL="0" indent="0" algn="ctr">
              <a:buNone/>
            </a:pPr>
            <a:r>
              <a:rPr lang="en-US" sz="1200" b="1" dirty="0">
                <a:solidFill>
                  <a:schemeClr val="tx1"/>
                </a:solidFill>
              </a:rPr>
              <a:t>SaaS</a:t>
            </a:r>
            <a:endParaRPr lang="en-US" sz="1200" dirty="0"/>
          </a:p>
        </p:txBody>
      </p:sp>
      <p:sp>
        <p:nvSpPr>
          <p:cNvPr id="36" name="Layer SaaS Data"/>
          <p:cNvSpPr txBox="1"/>
          <p:nvPr/>
        </p:nvSpPr>
        <p:spPr>
          <a:xfrm>
            <a:off x="4178808" y="1773936"/>
            <a:ext cx="1097280" cy="246888"/>
          </a:xfrm>
          <a:prstGeom prst="roundRect">
            <a:avLst>
              <a:gd name="adj" fmla="val 18519"/>
            </a:avLst>
          </a:prstGeom>
          <a:solidFill>
            <a:schemeClr val="accent5"/>
          </a:solidFill>
          <a:ln/>
        </p:spPr>
        <p:txBody>
          <a:bodyPr wrap="square" lIns="0" tIns="0" rIns="0" bIns="0" rtlCol="0" anchor="ctr"/>
          <a:lstStyle/>
          <a:p>
            <a:pPr marL="0" indent="0" algn="ctr">
              <a:buNone/>
            </a:pPr>
            <a:r>
              <a:rPr lang="en-US" sz="1100" dirty="0">
                <a:solidFill>
                  <a:schemeClr val="tx1"/>
                </a:solidFill>
              </a:rPr>
              <a:t>Data</a:t>
            </a:r>
            <a:endParaRPr lang="en-US" sz="1100" dirty="0"/>
          </a:p>
        </p:txBody>
      </p:sp>
      <p:sp>
        <p:nvSpPr>
          <p:cNvPr id="37" name="Layer SaaS Applications"/>
          <p:cNvSpPr txBox="1"/>
          <p:nvPr/>
        </p:nvSpPr>
        <p:spPr>
          <a:xfrm>
            <a:off x="4178808" y="2048256"/>
            <a:ext cx="1097280" cy="246888"/>
          </a:xfrm>
          <a:prstGeom prst="roundRect">
            <a:avLst>
              <a:gd name="adj" fmla="val 18519"/>
            </a:avLst>
          </a:prstGeom>
          <a:solidFill>
            <a:schemeClr val="accent4"/>
          </a:solidFill>
          <a:ln/>
        </p:spPr>
        <p:txBody>
          <a:bodyPr wrap="square" lIns="0" tIns="0" rIns="0" bIns="0" rtlCol="0" anchor="ctr"/>
          <a:lstStyle/>
          <a:p>
            <a:pPr marL="0" indent="0" algn="ctr">
              <a:buNone/>
            </a:pPr>
            <a:r>
              <a:rPr lang="en-US" sz="1100" dirty="0">
                <a:solidFill>
                  <a:schemeClr val="tx1"/>
                </a:solidFill>
              </a:rPr>
              <a:t>Applications</a:t>
            </a:r>
            <a:endParaRPr lang="en-US" sz="1100" dirty="0"/>
          </a:p>
        </p:txBody>
      </p:sp>
      <p:sp>
        <p:nvSpPr>
          <p:cNvPr id="38" name="Layer SaaS Runtime"/>
          <p:cNvSpPr txBox="1"/>
          <p:nvPr/>
        </p:nvSpPr>
        <p:spPr>
          <a:xfrm>
            <a:off x="4178808" y="2322576"/>
            <a:ext cx="1097280" cy="246888"/>
          </a:xfrm>
          <a:prstGeom prst="roundRect">
            <a:avLst>
              <a:gd name="adj" fmla="val 18519"/>
            </a:avLst>
          </a:prstGeom>
          <a:solidFill>
            <a:schemeClr val="accent4"/>
          </a:solidFill>
          <a:ln/>
        </p:spPr>
        <p:txBody>
          <a:bodyPr wrap="square" lIns="0" tIns="0" rIns="0" bIns="0" rtlCol="0" anchor="ctr"/>
          <a:lstStyle/>
          <a:p>
            <a:pPr marL="0" indent="0" algn="ctr">
              <a:buNone/>
            </a:pPr>
            <a:r>
              <a:rPr lang="en-US" sz="1100" dirty="0">
                <a:solidFill>
                  <a:schemeClr val="tx1"/>
                </a:solidFill>
              </a:rPr>
              <a:t>Runtime</a:t>
            </a:r>
            <a:endParaRPr lang="en-US" sz="1100" dirty="0"/>
          </a:p>
        </p:txBody>
      </p:sp>
      <p:sp>
        <p:nvSpPr>
          <p:cNvPr id="39" name="Layer SaaS Middleware"/>
          <p:cNvSpPr txBox="1"/>
          <p:nvPr/>
        </p:nvSpPr>
        <p:spPr>
          <a:xfrm>
            <a:off x="4178808" y="2596896"/>
            <a:ext cx="1097280" cy="246888"/>
          </a:xfrm>
          <a:prstGeom prst="roundRect">
            <a:avLst>
              <a:gd name="adj" fmla="val 18519"/>
            </a:avLst>
          </a:prstGeom>
          <a:solidFill>
            <a:schemeClr val="accent4"/>
          </a:solidFill>
          <a:ln/>
        </p:spPr>
        <p:txBody>
          <a:bodyPr wrap="square" lIns="0" tIns="0" rIns="0" bIns="0" rtlCol="0" anchor="ctr"/>
          <a:lstStyle/>
          <a:p>
            <a:pPr marL="0" indent="0" algn="ctr">
              <a:buNone/>
            </a:pPr>
            <a:r>
              <a:rPr lang="en-US" sz="1100" dirty="0">
                <a:solidFill>
                  <a:schemeClr val="tx1"/>
                </a:solidFill>
              </a:rPr>
              <a:t>Middleware</a:t>
            </a:r>
            <a:endParaRPr lang="en-US" sz="1100" dirty="0"/>
          </a:p>
        </p:txBody>
      </p:sp>
      <p:sp>
        <p:nvSpPr>
          <p:cNvPr id="40" name="Layer SaaS OS"/>
          <p:cNvSpPr txBox="1"/>
          <p:nvPr/>
        </p:nvSpPr>
        <p:spPr>
          <a:xfrm>
            <a:off x="4178808" y="2871216"/>
            <a:ext cx="1097280" cy="246888"/>
          </a:xfrm>
          <a:prstGeom prst="roundRect">
            <a:avLst>
              <a:gd name="adj" fmla="val 18519"/>
            </a:avLst>
          </a:prstGeom>
          <a:solidFill>
            <a:schemeClr val="accent4"/>
          </a:solidFill>
          <a:ln/>
        </p:spPr>
        <p:txBody>
          <a:bodyPr wrap="square" lIns="0" tIns="0" rIns="0" bIns="0" rtlCol="0" anchor="ctr"/>
          <a:lstStyle/>
          <a:p>
            <a:pPr marL="0" indent="0" algn="ctr">
              <a:buNone/>
            </a:pPr>
            <a:r>
              <a:rPr lang="en-US" sz="1100" dirty="0">
                <a:solidFill>
                  <a:schemeClr val="tx1"/>
                </a:solidFill>
              </a:rPr>
              <a:t>OS</a:t>
            </a:r>
            <a:endParaRPr lang="en-US" sz="1100" dirty="0"/>
          </a:p>
        </p:txBody>
      </p:sp>
      <p:sp>
        <p:nvSpPr>
          <p:cNvPr id="41" name="Layer SaaS Virtualization"/>
          <p:cNvSpPr txBox="1"/>
          <p:nvPr/>
        </p:nvSpPr>
        <p:spPr>
          <a:xfrm>
            <a:off x="4178808" y="3145536"/>
            <a:ext cx="1097280" cy="246888"/>
          </a:xfrm>
          <a:prstGeom prst="roundRect">
            <a:avLst>
              <a:gd name="adj" fmla="val 18519"/>
            </a:avLst>
          </a:prstGeom>
          <a:solidFill>
            <a:schemeClr val="accent4"/>
          </a:solidFill>
          <a:ln/>
        </p:spPr>
        <p:txBody>
          <a:bodyPr wrap="square" lIns="0" tIns="0" rIns="0" bIns="0" rtlCol="0" anchor="ctr"/>
          <a:lstStyle/>
          <a:p>
            <a:pPr marL="0" indent="0" algn="ctr">
              <a:buNone/>
            </a:pPr>
            <a:r>
              <a:rPr lang="en-US" sz="1100" dirty="0">
                <a:solidFill>
                  <a:schemeClr val="tx1"/>
                </a:solidFill>
              </a:rPr>
              <a:t>Virtualization</a:t>
            </a:r>
            <a:endParaRPr lang="en-US" sz="1100" dirty="0"/>
          </a:p>
        </p:txBody>
      </p:sp>
      <p:sp>
        <p:nvSpPr>
          <p:cNvPr id="42" name="Layer SaaS Servers"/>
          <p:cNvSpPr txBox="1"/>
          <p:nvPr/>
        </p:nvSpPr>
        <p:spPr>
          <a:xfrm>
            <a:off x="4178808" y="3419856"/>
            <a:ext cx="1097280" cy="246888"/>
          </a:xfrm>
          <a:prstGeom prst="roundRect">
            <a:avLst>
              <a:gd name="adj" fmla="val 18519"/>
            </a:avLst>
          </a:prstGeom>
          <a:solidFill>
            <a:schemeClr val="accent4"/>
          </a:solidFill>
          <a:ln/>
        </p:spPr>
        <p:txBody>
          <a:bodyPr wrap="square" lIns="0" tIns="0" rIns="0" bIns="0" rtlCol="0" anchor="ctr"/>
          <a:lstStyle/>
          <a:p>
            <a:pPr marL="0" indent="0" algn="ctr">
              <a:buNone/>
            </a:pPr>
            <a:r>
              <a:rPr lang="en-US" sz="1100" dirty="0">
                <a:solidFill>
                  <a:schemeClr val="tx1"/>
                </a:solidFill>
              </a:rPr>
              <a:t>Servers</a:t>
            </a:r>
            <a:endParaRPr lang="en-US" sz="1100" dirty="0"/>
          </a:p>
        </p:txBody>
      </p:sp>
      <p:sp>
        <p:nvSpPr>
          <p:cNvPr id="43" name="Layer SaaS Storage"/>
          <p:cNvSpPr txBox="1"/>
          <p:nvPr/>
        </p:nvSpPr>
        <p:spPr>
          <a:xfrm>
            <a:off x="4178808" y="3694176"/>
            <a:ext cx="1097280" cy="246888"/>
          </a:xfrm>
          <a:prstGeom prst="roundRect">
            <a:avLst>
              <a:gd name="adj" fmla="val 18519"/>
            </a:avLst>
          </a:prstGeom>
          <a:solidFill>
            <a:schemeClr val="accent4"/>
          </a:solidFill>
          <a:ln/>
        </p:spPr>
        <p:txBody>
          <a:bodyPr wrap="square" lIns="0" tIns="0" rIns="0" bIns="0" rtlCol="0" anchor="ctr"/>
          <a:lstStyle/>
          <a:p>
            <a:pPr marL="0" indent="0" algn="ctr">
              <a:buNone/>
            </a:pPr>
            <a:r>
              <a:rPr lang="en-US" sz="1100" dirty="0">
                <a:solidFill>
                  <a:schemeClr val="tx1"/>
                </a:solidFill>
              </a:rPr>
              <a:t>Storage</a:t>
            </a:r>
            <a:endParaRPr lang="en-US" sz="1100" dirty="0"/>
          </a:p>
        </p:txBody>
      </p:sp>
      <p:sp>
        <p:nvSpPr>
          <p:cNvPr id="44" name="Layer SaaS Networking"/>
          <p:cNvSpPr txBox="1"/>
          <p:nvPr/>
        </p:nvSpPr>
        <p:spPr>
          <a:xfrm>
            <a:off x="4178808" y="3968496"/>
            <a:ext cx="1097280" cy="246888"/>
          </a:xfrm>
          <a:prstGeom prst="roundRect">
            <a:avLst>
              <a:gd name="adj" fmla="val 18519"/>
            </a:avLst>
          </a:prstGeom>
          <a:solidFill>
            <a:schemeClr val="accent4"/>
          </a:solidFill>
          <a:ln/>
        </p:spPr>
        <p:txBody>
          <a:bodyPr wrap="square" lIns="0" tIns="0" rIns="0" bIns="0" rtlCol="0" anchor="ctr"/>
          <a:lstStyle/>
          <a:p>
            <a:pPr marL="0" indent="0" algn="ctr">
              <a:buNone/>
            </a:pPr>
            <a:r>
              <a:rPr lang="en-US" sz="1100" dirty="0">
                <a:solidFill>
                  <a:schemeClr val="tx1"/>
                </a:solidFill>
              </a:rPr>
              <a:t>Networking</a:t>
            </a:r>
            <a:endParaRPr lang="en-US" sz="1100" dirty="0"/>
          </a:p>
        </p:txBody>
      </p:sp>
      <p:sp>
        <p:nvSpPr>
          <p:cNvPr id="45" name="Legend customer"/>
          <p:cNvSpPr/>
          <p:nvPr/>
        </p:nvSpPr>
        <p:spPr>
          <a:xfrm>
            <a:off x="1280160" y="4370832"/>
            <a:ext cx="274320" cy="182880"/>
          </a:xfrm>
          <a:prstGeom prst="roundRect">
            <a:avLst>
              <a:gd name="adj" fmla="val 20000"/>
            </a:avLst>
          </a:prstGeom>
          <a:solidFill>
            <a:schemeClr val="accent5"/>
          </a:solidFill>
          <a:ln/>
        </p:spPr>
        <p:txBody>
          <a:bodyPr/>
          <a:lstStyle/>
          <a:p>
            <a:endParaRPr lang="en-RW"/>
          </a:p>
        </p:txBody>
      </p:sp>
      <p:sp>
        <p:nvSpPr>
          <p:cNvPr id="46" name="Text 44"/>
          <p:cNvSpPr txBox="1"/>
          <p:nvPr/>
        </p:nvSpPr>
        <p:spPr>
          <a:xfrm>
            <a:off x="1645920" y="4352544"/>
            <a:ext cx="1280160" cy="219456"/>
          </a:xfrm>
          <a:prstGeom prst="rect">
            <a:avLst/>
          </a:prstGeom>
          <a:noFill/>
          <a:ln/>
        </p:spPr>
        <p:txBody>
          <a:bodyPr wrap="square" lIns="0" tIns="0" rIns="0" bIns="0" rtlCol="0" anchor="ctr"/>
          <a:lstStyle/>
          <a:p>
            <a:pPr marL="0" indent="0">
              <a:buNone/>
            </a:pPr>
            <a:r>
              <a:rPr lang="en-US" sz="1100" dirty="0">
                <a:solidFill>
                  <a:schemeClr val="tx1"/>
                </a:solidFill>
              </a:rPr>
              <a:t>Cloud customer</a:t>
            </a:r>
            <a:endParaRPr lang="en-US" sz="1100" dirty="0"/>
          </a:p>
        </p:txBody>
      </p:sp>
      <p:sp>
        <p:nvSpPr>
          <p:cNvPr id="47" name="Legend CSP"/>
          <p:cNvSpPr/>
          <p:nvPr/>
        </p:nvSpPr>
        <p:spPr>
          <a:xfrm>
            <a:off x="3200400" y="4370832"/>
            <a:ext cx="274320" cy="182880"/>
          </a:xfrm>
          <a:prstGeom prst="roundRect">
            <a:avLst>
              <a:gd name="adj" fmla="val 20000"/>
            </a:avLst>
          </a:prstGeom>
          <a:solidFill>
            <a:schemeClr val="accent4"/>
          </a:solidFill>
          <a:ln/>
        </p:spPr>
        <p:txBody>
          <a:bodyPr/>
          <a:lstStyle/>
          <a:p>
            <a:endParaRPr lang="en-RW"/>
          </a:p>
        </p:txBody>
      </p:sp>
      <p:sp>
        <p:nvSpPr>
          <p:cNvPr id="48" name="Text 46"/>
          <p:cNvSpPr txBox="1"/>
          <p:nvPr/>
        </p:nvSpPr>
        <p:spPr>
          <a:xfrm>
            <a:off x="3566160" y="4352544"/>
            <a:ext cx="914400" cy="219456"/>
          </a:xfrm>
          <a:prstGeom prst="rect">
            <a:avLst/>
          </a:prstGeom>
          <a:noFill/>
          <a:ln/>
        </p:spPr>
        <p:txBody>
          <a:bodyPr wrap="square" lIns="0" tIns="0" rIns="0" bIns="0" rtlCol="0" anchor="ctr"/>
          <a:lstStyle/>
          <a:p>
            <a:pPr marL="0" indent="0">
              <a:buNone/>
            </a:pPr>
            <a:r>
              <a:rPr lang="en-US" sz="1100" dirty="0">
                <a:solidFill>
                  <a:schemeClr val="tx1"/>
                </a:solidFill>
              </a:rPr>
              <a:t>CSP</a:t>
            </a:r>
            <a:endParaRPr lang="en-US" sz="1100" dirty="0"/>
          </a:p>
        </p:txBody>
      </p:sp>
      <p:sp>
        <p:nvSpPr>
          <p:cNvPr id="49" name="Card"/>
          <p:cNvSpPr/>
          <p:nvPr/>
        </p:nvSpPr>
        <p:spPr>
          <a:xfrm>
            <a:off x="5669280" y="1371600"/>
            <a:ext cx="3017520" cy="731520"/>
          </a:xfrm>
          <a:prstGeom prst="roundRect">
            <a:avLst>
              <a:gd name="adj" fmla="val 15000"/>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50" name="Text 48"/>
          <p:cNvSpPr txBox="1"/>
          <p:nvPr/>
        </p:nvSpPr>
        <p:spPr>
          <a:xfrm>
            <a:off x="5852160" y="1371600"/>
            <a:ext cx="2697480" cy="731520"/>
          </a:xfrm>
          <a:prstGeom prst="rect">
            <a:avLst/>
          </a:prstGeom>
          <a:noFill/>
          <a:ln/>
        </p:spPr>
        <p:txBody>
          <a:bodyPr wrap="square" lIns="0" tIns="0" rIns="0" bIns="0" rtlCol="0" anchor="ctr"/>
          <a:lstStyle/>
          <a:p>
            <a:pPr marL="0" indent="0">
              <a:buNone/>
            </a:pPr>
            <a:r>
              <a:rPr lang="en-US" sz="1400" b="1" dirty="0">
                <a:solidFill>
                  <a:schemeClr val="tx1"/>
                </a:solidFill>
              </a:rPr>
              <a:t>On-premise:</a:t>
            </a:r>
            <a:r>
              <a:rPr lang="en-US" sz="1400" dirty="0">
                <a:solidFill>
                  <a:schemeClr val="tx1"/>
                </a:solidFill>
              </a:rPr>
              <a:t> the organization manages everything.</a:t>
            </a:r>
            <a:endParaRPr lang="en-US" sz="1400" dirty="0"/>
          </a:p>
        </p:txBody>
      </p:sp>
      <p:sp>
        <p:nvSpPr>
          <p:cNvPr id="51" name="Card"/>
          <p:cNvSpPr/>
          <p:nvPr/>
        </p:nvSpPr>
        <p:spPr>
          <a:xfrm>
            <a:off x="5669280" y="2240280"/>
            <a:ext cx="3017520" cy="1371600"/>
          </a:xfrm>
          <a:prstGeom prst="roundRect">
            <a:avLst>
              <a:gd name="adj" fmla="val 8000"/>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52" name="Text 50"/>
          <p:cNvSpPr txBox="1"/>
          <p:nvPr/>
        </p:nvSpPr>
        <p:spPr>
          <a:xfrm>
            <a:off x="5852160" y="2240280"/>
            <a:ext cx="2697480" cy="1371600"/>
          </a:xfrm>
          <a:prstGeom prst="rect">
            <a:avLst/>
          </a:prstGeom>
          <a:noFill/>
          <a:ln/>
        </p:spPr>
        <p:txBody>
          <a:bodyPr wrap="square" lIns="0" tIns="0" rIns="0" bIns="0" rtlCol="0" anchor="ctr"/>
          <a:lstStyle/>
          <a:p>
            <a:pPr marL="0" indent="0">
              <a:buNone/>
            </a:pPr>
            <a:r>
              <a:rPr lang="en-US" sz="1400" b="1" dirty="0">
                <a:solidFill>
                  <a:schemeClr val="tx1"/>
                </a:solidFill>
              </a:rPr>
              <a:t>IaaS:</a:t>
            </a:r>
            <a:r>
              <a:rPr lang="en-US" sz="1400" dirty="0">
                <a:solidFill>
                  <a:schemeClr val="tx1"/>
                </a:solidFill>
              </a:rPr>
              <a:t> the CSP manages servers, storage, networking and virtualization. You manage the OS (patching and upgrades), applications, and data.</a:t>
            </a:r>
            <a:endParaRPr lang="en-US" sz="1400" dirty="0"/>
          </a:p>
        </p:txBody>
      </p:sp>
      <p:sp>
        <p:nvSpPr>
          <p:cNvPr id="53" name="Card"/>
          <p:cNvSpPr/>
          <p:nvPr/>
        </p:nvSpPr>
        <p:spPr>
          <a:xfrm>
            <a:off x="5669280" y="3749040"/>
            <a:ext cx="3017520" cy="914400"/>
          </a:xfrm>
          <a:prstGeom prst="roundRect">
            <a:avLst>
              <a:gd name="adj" fmla="val 12000"/>
            </a:avLst>
          </a:prstGeom>
          <a:solidFill>
            <a:schemeClr val="accent3"/>
          </a:solidFill>
          <a:ln/>
          <a:effectLst>
            <a:outerShdw blurRad="127000" dist="38100" dir="5400000" algn="bl" rotWithShape="0">
              <a:srgbClr val="1E1B4B">
                <a:alpha val="10000"/>
              </a:srgbClr>
            </a:outerShdw>
          </a:effectLst>
        </p:spPr>
        <p:txBody>
          <a:bodyPr/>
          <a:lstStyle/>
          <a:p>
            <a:endParaRPr lang="en-RW"/>
          </a:p>
        </p:txBody>
      </p:sp>
      <p:sp>
        <p:nvSpPr>
          <p:cNvPr id="54" name="Text 52"/>
          <p:cNvSpPr txBox="1"/>
          <p:nvPr/>
        </p:nvSpPr>
        <p:spPr>
          <a:xfrm>
            <a:off x="5852160" y="3749040"/>
            <a:ext cx="2697480" cy="914400"/>
          </a:xfrm>
          <a:prstGeom prst="rect">
            <a:avLst/>
          </a:prstGeom>
          <a:noFill/>
          <a:ln/>
        </p:spPr>
        <p:txBody>
          <a:bodyPr wrap="square" lIns="0" tIns="0" rIns="0" bIns="0" rtlCol="0" anchor="ctr"/>
          <a:lstStyle/>
          <a:p>
            <a:pPr marL="0" indent="0">
              <a:buNone/>
            </a:pPr>
            <a:r>
              <a:rPr lang="en-US" sz="1400" b="1" dirty="0">
                <a:solidFill>
                  <a:schemeClr val="tx1"/>
                </a:solidFill>
              </a:rPr>
              <a:t>Your duties shrink</a:t>
            </a:r>
            <a:r>
              <a:rPr lang="en-US" sz="1400" dirty="0">
                <a:solidFill>
                  <a:schemeClr val="tx1"/>
                </a:solidFill>
              </a:rPr>
              <a:t> from IaaS to PaaS to SaaS, but you are always responsible for your </a:t>
            </a:r>
            <a:r>
              <a:rPr lang="en-US" sz="1400" b="1" dirty="0">
                <a:solidFill>
                  <a:schemeClr val="tx1"/>
                </a:solidFill>
              </a:rPr>
              <a:t>data</a:t>
            </a:r>
            <a:r>
              <a:rPr lang="en-US" sz="1400" dirty="0">
                <a:solidFill>
                  <a:schemeClr val="tx1"/>
                </a:solidFill>
              </a:rPr>
              <a:t>.</a:t>
            </a:r>
            <a:endParaRPr lang="en-US" sz="1400" dirty="0"/>
          </a:p>
        </p:txBody>
      </p:sp>
      <p:sp>
        <p:nvSpPr>
          <p:cNvPr id="5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5A7E"/>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48640"/>
            <a:ext cx="8229600" cy="640080"/>
          </a:xfrm>
          <a:prstGeom prst="rect">
            <a:avLst/>
          </a:prstGeom>
          <a:noFill/>
          <a:ln/>
        </p:spPr>
        <p:txBody>
          <a:bodyPr wrap="square" lIns="0" tIns="0" rIns="0" bIns="0" rtlCol="0" anchor="ctr"/>
          <a:lstStyle/>
          <a:p>
            <a:pPr marL="0" indent="0" algn="l">
              <a:buNone/>
            </a:pPr>
            <a:r>
              <a:rPr lang="en-US" sz="3400" b="1" dirty="0">
                <a:solidFill>
                  <a:schemeClr val="tx1"/>
                </a:solidFill>
              </a:rPr>
              <a:t>Business Drivers for Cloud</a:t>
            </a:r>
            <a:endParaRPr lang="en-US" sz="3400" dirty="0"/>
          </a:p>
        </p:txBody>
      </p:sp>
      <p:sp>
        <p:nvSpPr>
          <p:cNvPr id="3" name="Section chip"/>
          <p:cNvSpPr txBox="1"/>
          <p:nvPr/>
        </p:nvSpPr>
        <p:spPr>
          <a:xfrm>
            <a:off x="457200" y="274320"/>
            <a:ext cx="1623974" cy="246888"/>
          </a:xfrm>
          <a:prstGeom prst="roundRect">
            <a:avLst>
              <a:gd name="adj" fmla="val 48148"/>
            </a:avLst>
          </a:prstGeom>
          <a:solidFill>
            <a:schemeClr val="accent3"/>
          </a:solidFill>
          <a:ln/>
        </p:spPr>
        <p:txBody>
          <a:bodyPr wrap="square" lIns="0" tIns="0" rIns="0" bIns="0" rtlCol="0" anchor="ctr"/>
          <a:lstStyle/>
          <a:p>
            <a:pPr marL="0" indent="0" algn="ctr">
              <a:buNone/>
            </a:pPr>
            <a:r>
              <a:rPr lang="en-US" sz="1000" b="1" kern="0" spc="150" dirty="0">
                <a:solidFill>
                  <a:schemeClr val="tx1"/>
                </a:solidFill>
              </a:rPr>
              <a:t>BUSINESS DRIVERS</a:t>
            </a:r>
            <a:endParaRPr lang="en-US" sz="1000" dirty="0"/>
          </a:p>
        </p:txBody>
      </p:sp>
      <p:sp>
        <p:nvSpPr>
          <p:cNvPr id="4" name="Card"/>
          <p:cNvSpPr/>
          <p:nvPr/>
        </p:nvSpPr>
        <p:spPr>
          <a:xfrm>
            <a:off x="457200" y="1371600"/>
            <a:ext cx="8229600" cy="1188720"/>
          </a:xfrm>
          <a:prstGeom prst="roundRect">
            <a:avLst>
              <a:gd name="adj" fmla="val 9231"/>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5" name="FaBriefcase circle"/>
          <p:cNvSpPr/>
          <p:nvPr/>
        </p:nvSpPr>
        <p:spPr>
          <a:xfrm>
            <a:off x="685800" y="1737360"/>
            <a:ext cx="457200" cy="457200"/>
          </a:xfrm>
          <a:prstGeom prst="ellipse">
            <a:avLst/>
          </a:prstGeom>
          <a:solidFill>
            <a:schemeClr val="accent1"/>
          </a:solidFill>
          <a:ln/>
        </p:spPr>
        <p:txBody>
          <a:bodyPr/>
          <a:lstStyle/>
          <a:p>
            <a:endParaRPr lang="en-RW"/>
          </a:p>
        </p:txBody>
      </p:sp>
      <p:pic>
        <p:nvPicPr>
          <p:cNvPr id="6" name="FaBriefcase icon" descr="preencoded.png"/>
          <p:cNvPicPr>
            <a:picLocks noChangeAspect="1"/>
          </p:cNvPicPr>
          <p:nvPr/>
        </p:nvPicPr>
        <p:blipFill>
          <a:blip r:embed="rId3"/>
          <a:stretch>
            <a:fillRect/>
          </a:stretch>
        </p:blipFill>
        <p:spPr>
          <a:xfrm>
            <a:off x="800100" y="1851660"/>
            <a:ext cx="228600" cy="228600"/>
          </a:xfrm>
          <a:prstGeom prst="rect">
            <a:avLst/>
          </a:prstGeom>
        </p:spPr>
      </p:pic>
      <p:sp>
        <p:nvSpPr>
          <p:cNvPr id="7" name="Text 4"/>
          <p:cNvSpPr txBox="1"/>
          <p:nvPr/>
        </p:nvSpPr>
        <p:spPr>
          <a:xfrm>
            <a:off x="1371600" y="1371600"/>
            <a:ext cx="7132320" cy="1188720"/>
          </a:xfrm>
          <a:prstGeom prst="rect">
            <a:avLst/>
          </a:prstGeom>
          <a:noFill/>
          <a:ln/>
        </p:spPr>
        <p:txBody>
          <a:bodyPr wrap="square" lIns="0" tIns="0" rIns="0" bIns="0" rtlCol="0" anchor="ctr"/>
          <a:lstStyle/>
          <a:p>
            <a:pPr marL="0" indent="0">
              <a:buNone/>
            </a:pPr>
            <a:r>
              <a:rPr lang="en-US" sz="1600" dirty="0">
                <a:solidFill>
                  <a:schemeClr val="tx1"/>
                </a:solidFill>
              </a:rPr>
              <a:t>For most businesses, IT has become a necessity. Hosting IT services in-house can be costly and distract businesses from focusing on their core competencies.</a:t>
            </a:r>
            <a:endParaRPr lang="en-US" sz="1600" dirty="0"/>
          </a:p>
        </p:txBody>
      </p:sp>
      <p:sp>
        <p:nvSpPr>
          <p:cNvPr id="8" name="Text 5"/>
          <p:cNvSpPr txBox="1"/>
          <p:nvPr/>
        </p:nvSpPr>
        <p:spPr>
          <a:xfrm>
            <a:off x="457200" y="2743200"/>
            <a:ext cx="8229600" cy="320040"/>
          </a:xfrm>
          <a:prstGeom prst="rect">
            <a:avLst/>
          </a:prstGeom>
          <a:noFill/>
          <a:ln/>
        </p:spPr>
        <p:txBody>
          <a:bodyPr wrap="square" lIns="0" tIns="0" rIns="0" bIns="0" rtlCol="0" anchor="t"/>
          <a:lstStyle/>
          <a:p>
            <a:pPr marL="0" indent="0">
              <a:buNone/>
            </a:pPr>
            <a:r>
              <a:rPr lang="en-US" sz="1400" b="1" dirty="0">
                <a:solidFill>
                  <a:schemeClr val="tx2"/>
                </a:solidFill>
              </a:rPr>
              <a:t>Two major business drivers for the cloud:</a:t>
            </a:r>
            <a:endParaRPr lang="en-US" sz="1400" dirty="0"/>
          </a:p>
        </p:txBody>
      </p:sp>
      <p:sp>
        <p:nvSpPr>
          <p:cNvPr id="9" name="Card"/>
          <p:cNvSpPr/>
          <p:nvPr/>
        </p:nvSpPr>
        <p:spPr>
          <a:xfrm>
            <a:off x="457200" y="3154680"/>
            <a:ext cx="4023360" cy="1508760"/>
          </a:xfrm>
          <a:prstGeom prst="roundRect">
            <a:avLst>
              <a:gd name="adj" fmla="val 7273"/>
            </a:avLst>
          </a:prstGeom>
          <a:solidFill>
            <a:schemeClr val="accent3"/>
          </a:solidFill>
          <a:ln/>
          <a:effectLst>
            <a:outerShdw blurRad="127000" dist="38100" dir="5400000" algn="bl" rotWithShape="0">
              <a:srgbClr val="1E1B4B">
                <a:alpha val="10000"/>
              </a:srgbClr>
            </a:outerShdw>
          </a:effectLst>
        </p:spPr>
        <p:txBody>
          <a:bodyPr/>
          <a:lstStyle/>
          <a:p>
            <a:endParaRPr lang="en-RW"/>
          </a:p>
        </p:txBody>
      </p:sp>
      <p:sp>
        <p:nvSpPr>
          <p:cNvPr id="10" name="Driver circle"/>
          <p:cNvSpPr/>
          <p:nvPr/>
        </p:nvSpPr>
        <p:spPr>
          <a:xfrm>
            <a:off x="731520" y="3611880"/>
            <a:ext cx="594360" cy="594360"/>
          </a:xfrm>
          <a:prstGeom prst="ellipse">
            <a:avLst/>
          </a:prstGeom>
          <a:solidFill>
            <a:schemeClr val="tx1"/>
          </a:solidFill>
          <a:ln/>
        </p:spPr>
        <p:txBody>
          <a:bodyPr/>
          <a:lstStyle/>
          <a:p>
            <a:endParaRPr lang="en-RW"/>
          </a:p>
        </p:txBody>
      </p:sp>
      <p:pic>
        <p:nvPicPr>
          <p:cNvPr id="11" name="FaDollarSign" descr="preencoded.png"/>
          <p:cNvPicPr>
            <a:picLocks noChangeAspect="1"/>
          </p:cNvPicPr>
          <p:nvPr/>
        </p:nvPicPr>
        <p:blipFill>
          <a:blip r:embed="rId4"/>
          <a:stretch>
            <a:fillRect/>
          </a:stretch>
        </p:blipFill>
        <p:spPr>
          <a:xfrm>
            <a:off x="877824" y="3758184"/>
            <a:ext cx="301752" cy="301752"/>
          </a:xfrm>
          <a:prstGeom prst="rect">
            <a:avLst/>
          </a:prstGeom>
        </p:spPr>
      </p:pic>
      <p:sp>
        <p:nvSpPr>
          <p:cNvPr id="12" name="Text 8"/>
          <p:cNvSpPr txBox="1"/>
          <p:nvPr/>
        </p:nvSpPr>
        <p:spPr>
          <a:xfrm>
            <a:off x="1554480" y="3154680"/>
            <a:ext cx="2743200" cy="1508760"/>
          </a:xfrm>
          <a:prstGeom prst="rect">
            <a:avLst/>
          </a:prstGeom>
          <a:noFill/>
          <a:ln/>
        </p:spPr>
        <p:txBody>
          <a:bodyPr wrap="square" lIns="0" tIns="0" rIns="0" bIns="0" rtlCol="0" anchor="ctr"/>
          <a:lstStyle/>
          <a:p>
            <a:pPr marL="0" indent="0">
              <a:buNone/>
            </a:pPr>
            <a:r>
              <a:rPr lang="en-US" sz="2600" b="1" dirty="0">
                <a:solidFill>
                  <a:schemeClr val="tx1"/>
                </a:solidFill>
              </a:rPr>
              <a:t>Lower costs</a:t>
            </a:r>
            <a:endParaRPr lang="en-US" sz="2600" dirty="0"/>
          </a:p>
        </p:txBody>
      </p:sp>
      <p:sp>
        <p:nvSpPr>
          <p:cNvPr id="13" name="Card"/>
          <p:cNvSpPr/>
          <p:nvPr/>
        </p:nvSpPr>
        <p:spPr>
          <a:xfrm>
            <a:off x="4663440" y="3154680"/>
            <a:ext cx="4023360" cy="1508760"/>
          </a:xfrm>
          <a:prstGeom prst="roundRect">
            <a:avLst>
              <a:gd name="adj" fmla="val 7273"/>
            </a:avLst>
          </a:prstGeom>
          <a:solidFill>
            <a:schemeClr val="accent2"/>
          </a:solidFill>
          <a:ln/>
          <a:effectLst>
            <a:outerShdw blurRad="127000" dist="38100" dir="5400000" algn="bl" rotWithShape="0">
              <a:srgbClr val="1E1B4B">
                <a:alpha val="10000"/>
              </a:srgbClr>
            </a:outerShdw>
          </a:effectLst>
        </p:spPr>
        <p:txBody>
          <a:bodyPr/>
          <a:lstStyle/>
          <a:p>
            <a:endParaRPr lang="en-RW"/>
          </a:p>
        </p:txBody>
      </p:sp>
      <p:sp>
        <p:nvSpPr>
          <p:cNvPr id="14" name="Driver circle"/>
          <p:cNvSpPr/>
          <p:nvPr/>
        </p:nvSpPr>
        <p:spPr>
          <a:xfrm>
            <a:off x="4937760" y="3611880"/>
            <a:ext cx="594360" cy="594360"/>
          </a:xfrm>
          <a:prstGeom prst="ellipse">
            <a:avLst/>
          </a:prstGeom>
          <a:solidFill>
            <a:schemeClr val="tx1"/>
          </a:solidFill>
          <a:ln/>
        </p:spPr>
        <p:txBody>
          <a:bodyPr/>
          <a:lstStyle/>
          <a:p>
            <a:endParaRPr lang="en-RW"/>
          </a:p>
        </p:txBody>
      </p:sp>
      <p:pic>
        <p:nvPicPr>
          <p:cNvPr id="15" name="FaRocket" descr="preencoded.png"/>
          <p:cNvPicPr>
            <a:picLocks noChangeAspect="1"/>
          </p:cNvPicPr>
          <p:nvPr/>
        </p:nvPicPr>
        <p:blipFill>
          <a:blip r:embed="rId5"/>
          <a:stretch>
            <a:fillRect/>
          </a:stretch>
        </p:blipFill>
        <p:spPr>
          <a:xfrm>
            <a:off x="5084064" y="3758184"/>
            <a:ext cx="301752" cy="301752"/>
          </a:xfrm>
          <a:prstGeom prst="rect">
            <a:avLst/>
          </a:prstGeom>
        </p:spPr>
      </p:pic>
      <p:sp>
        <p:nvSpPr>
          <p:cNvPr id="16" name="Text 11"/>
          <p:cNvSpPr txBox="1"/>
          <p:nvPr/>
        </p:nvSpPr>
        <p:spPr>
          <a:xfrm>
            <a:off x="5760720" y="3154680"/>
            <a:ext cx="2743200" cy="1508760"/>
          </a:xfrm>
          <a:prstGeom prst="rect">
            <a:avLst/>
          </a:prstGeom>
          <a:noFill/>
          <a:ln/>
        </p:spPr>
        <p:txBody>
          <a:bodyPr wrap="square" lIns="0" tIns="0" rIns="0" bIns="0" rtlCol="0" anchor="ctr"/>
          <a:lstStyle/>
          <a:p>
            <a:pPr marL="0" indent="0">
              <a:buNone/>
            </a:pPr>
            <a:r>
              <a:rPr lang="en-US" sz="2600" b="1" dirty="0">
                <a:solidFill>
                  <a:schemeClr val="tx1"/>
                </a:solidFill>
              </a:rPr>
              <a:t>Increased agility</a:t>
            </a:r>
            <a:endParaRPr lang="en-US" sz="2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5A7E"/>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48640"/>
            <a:ext cx="8229600" cy="640080"/>
          </a:xfrm>
          <a:prstGeom prst="rect">
            <a:avLst/>
          </a:prstGeom>
          <a:noFill/>
          <a:ln/>
        </p:spPr>
        <p:txBody>
          <a:bodyPr wrap="square" lIns="0" tIns="0" rIns="0" bIns="0" rtlCol="0" anchor="ctr"/>
          <a:lstStyle/>
          <a:p>
            <a:pPr marL="0" indent="0" algn="l">
              <a:buNone/>
            </a:pPr>
            <a:r>
              <a:rPr lang="en-US" sz="3400" b="1" dirty="0">
                <a:solidFill>
                  <a:schemeClr val="tx1"/>
                </a:solidFill>
              </a:rPr>
              <a:t>Reducing Costs</a:t>
            </a:r>
            <a:endParaRPr lang="en-US" sz="3400" dirty="0"/>
          </a:p>
        </p:txBody>
      </p:sp>
      <p:sp>
        <p:nvSpPr>
          <p:cNvPr id="3" name="Section chip"/>
          <p:cNvSpPr txBox="1"/>
          <p:nvPr/>
        </p:nvSpPr>
        <p:spPr>
          <a:xfrm>
            <a:off x="457200" y="274320"/>
            <a:ext cx="1623974" cy="246888"/>
          </a:xfrm>
          <a:prstGeom prst="roundRect">
            <a:avLst>
              <a:gd name="adj" fmla="val 48148"/>
            </a:avLst>
          </a:prstGeom>
          <a:solidFill>
            <a:schemeClr val="accent3"/>
          </a:solidFill>
          <a:ln/>
        </p:spPr>
        <p:txBody>
          <a:bodyPr wrap="square" lIns="0" tIns="0" rIns="0" bIns="0" rtlCol="0" anchor="ctr"/>
          <a:lstStyle/>
          <a:p>
            <a:pPr marL="0" indent="0" algn="ctr">
              <a:buNone/>
            </a:pPr>
            <a:r>
              <a:rPr lang="en-US" sz="1000" b="1" kern="0" spc="150" dirty="0">
                <a:solidFill>
                  <a:schemeClr val="tx1"/>
                </a:solidFill>
              </a:rPr>
              <a:t>BUSINESS DRIVERS</a:t>
            </a:r>
            <a:endParaRPr lang="en-US" sz="1000" dirty="0"/>
          </a:p>
        </p:txBody>
      </p:sp>
      <p:sp>
        <p:nvSpPr>
          <p:cNvPr id="4" name="Card"/>
          <p:cNvSpPr/>
          <p:nvPr/>
        </p:nvSpPr>
        <p:spPr>
          <a:xfrm>
            <a:off x="457200" y="1371600"/>
            <a:ext cx="4023360" cy="3291840"/>
          </a:xfrm>
          <a:prstGeom prst="roundRect">
            <a:avLst>
              <a:gd name="adj" fmla="val 3333"/>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5" name="FaChartLine circle"/>
          <p:cNvSpPr/>
          <p:nvPr/>
        </p:nvSpPr>
        <p:spPr>
          <a:xfrm>
            <a:off x="685800" y="1600200"/>
            <a:ext cx="548640" cy="548640"/>
          </a:xfrm>
          <a:prstGeom prst="ellipse">
            <a:avLst/>
          </a:prstGeom>
          <a:solidFill>
            <a:schemeClr val="accent3"/>
          </a:solidFill>
          <a:ln/>
        </p:spPr>
        <p:txBody>
          <a:bodyPr/>
          <a:lstStyle/>
          <a:p>
            <a:endParaRPr lang="en-RW"/>
          </a:p>
        </p:txBody>
      </p:sp>
      <p:pic>
        <p:nvPicPr>
          <p:cNvPr id="6" name="FaChartLine icon" descr="preencoded.png"/>
          <p:cNvPicPr>
            <a:picLocks noChangeAspect="1"/>
          </p:cNvPicPr>
          <p:nvPr/>
        </p:nvPicPr>
        <p:blipFill>
          <a:blip r:embed="rId3"/>
          <a:stretch>
            <a:fillRect/>
          </a:stretch>
        </p:blipFill>
        <p:spPr>
          <a:xfrm>
            <a:off x="822960" y="1737360"/>
            <a:ext cx="274320" cy="274320"/>
          </a:xfrm>
          <a:prstGeom prst="rect">
            <a:avLst/>
          </a:prstGeom>
        </p:spPr>
      </p:pic>
      <p:sp>
        <p:nvSpPr>
          <p:cNvPr id="7" name="Text 4"/>
          <p:cNvSpPr txBox="1"/>
          <p:nvPr/>
        </p:nvSpPr>
        <p:spPr>
          <a:xfrm>
            <a:off x="1417320" y="1554480"/>
            <a:ext cx="2926080" cy="640080"/>
          </a:xfrm>
          <a:prstGeom prst="rect">
            <a:avLst/>
          </a:prstGeom>
          <a:noFill/>
          <a:ln/>
        </p:spPr>
        <p:txBody>
          <a:bodyPr wrap="square" lIns="0" tIns="0" rIns="0" bIns="0" rtlCol="0" anchor="ctr"/>
          <a:lstStyle/>
          <a:p>
            <a:pPr marL="0" indent="0">
              <a:buNone/>
            </a:pPr>
            <a:r>
              <a:rPr lang="en-US" sz="1700" b="1" dirty="0">
                <a:solidFill>
                  <a:schemeClr val="tx1"/>
                </a:solidFill>
              </a:rPr>
              <a:t>Lower costs from economies of scale</a:t>
            </a:r>
            <a:endParaRPr lang="en-US" sz="1700" dirty="0"/>
          </a:p>
        </p:txBody>
      </p:sp>
      <p:sp>
        <p:nvSpPr>
          <p:cNvPr id="8" name="Text 5"/>
          <p:cNvSpPr txBox="1"/>
          <p:nvPr/>
        </p:nvSpPr>
        <p:spPr>
          <a:xfrm>
            <a:off x="731520" y="2423160"/>
            <a:ext cx="3566160" cy="21488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Public CSPs support thousands of customers.</a:t>
            </a:r>
            <a:endParaRPr lang="en-US" sz="1400" dirty="0"/>
          </a:p>
          <a:p>
            <a:pPr marL="342900" indent="-342900">
              <a:spcAft>
                <a:spcPts val="800"/>
              </a:spcAft>
              <a:buSzPct val="100000"/>
              <a:buChar char="•"/>
            </a:pPr>
            <a:r>
              <a:rPr lang="en-US" sz="1400" dirty="0">
                <a:solidFill>
                  <a:schemeClr val="tx1"/>
                </a:solidFill>
              </a:rPr>
              <a:t>Economies of scale let them offer services at reasonable prices.</a:t>
            </a:r>
            <a:endParaRPr lang="en-US" sz="1400" dirty="0"/>
          </a:p>
          <a:p>
            <a:pPr marL="342900" indent="-342900">
              <a:buSzPct val="100000"/>
              <a:buChar char="•"/>
            </a:pPr>
            <a:r>
              <a:rPr lang="en-US" sz="1400" dirty="0">
                <a:solidFill>
                  <a:schemeClr val="tx1"/>
                </a:solidFill>
              </a:rPr>
              <a:t>Customers can choose from multiple pricing options based on workload requirements.</a:t>
            </a:r>
            <a:endParaRPr lang="en-US" sz="1400" dirty="0"/>
          </a:p>
        </p:txBody>
      </p:sp>
      <p:sp>
        <p:nvSpPr>
          <p:cNvPr id="9" name="Card"/>
          <p:cNvSpPr/>
          <p:nvPr/>
        </p:nvSpPr>
        <p:spPr>
          <a:xfrm>
            <a:off x="4663440" y="1371600"/>
            <a:ext cx="4023360" cy="3291840"/>
          </a:xfrm>
          <a:prstGeom prst="roundRect">
            <a:avLst>
              <a:gd name="adj" fmla="val 3333"/>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10" name="FaExchangeAlt circle"/>
          <p:cNvSpPr/>
          <p:nvPr/>
        </p:nvSpPr>
        <p:spPr>
          <a:xfrm>
            <a:off x="4892040" y="1600200"/>
            <a:ext cx="548640" cy="548640"/>
          </a:xfrm>
          <a:prstGeom prst="ellipse">
            <a:avLst/>
          </a:prstGeom>
          <a:solidFill>
            <a:schemeClr val="accent1"/>
          </a:solidFill>
          <a:ln/>
        </p:spPr>
        <p:txBody>
          <a:bodyPr/>
          <a:lstStyle/>
          <a:p>
            <a:endParaRPr lang="en-RW"/>
          </a:p>
        </p:txBody>
      </p:sp>
      <p:pic>
        <p:nvPicPr>
          <p:cNvPr id="11" name="FaExchangeAlt icon" descr="preencoded.png"/>
          <p:cNvPicPr>
            <a:picLocks noChangeAspect="1"/>
          </p:cNvPicPr>
          <p:nvPr/>
        </p:nvPicPr>
        <p:blipFill>
          <a:blip r:embed="rId4"/>
          <a:stretch>
            <a:fillRect/>
          </a:stretch>
        </p:blipFill>
        <p:spPr>
          <a:xfrm>
            <a:off x="5029200" y="1737360"/>
            <a:ext cx="274320" cy="274320"/>
          </a:xfrm>
          <a:prstGeom prst="rect">
            <a:avLst/>
          </a:prstGeom>
        </p:spPr>
      </p:pic>
      <p:sp>
        <p:nvSpPr>
          <p:cNvPr id="12" name="Text 8"/>
          <p:cNvSpPr txBox="1"/>
          <p:nvPr/>
        </p:nvSpPr>
        <p:spPr>
          <a:xfrm>
            <a:off x="5623560" y="1554480"/>
            <a:ext cx="2926080" cy="640080"/>
          </a:xfrm>
          <a:prstGeom prst="rect">
            <a:avLst/>
          </a:prstGeom>
          <a:noFill/>
          <a:ln/>
        </p:spPr>
        <p:txBody>
          <a:bodyPr wrap="square" lIns="0" tIns="0" rIns="0" bIns="0" rtlCol="0" anchor="ctr"/>
          <a:lstStyle/>
          <a:p>
            <a:pPr marL="0" indent="0">
              <a:buNone/>
            </a:pPr>
            <a:r>
              <a:rPr lang="en-US" sz="1700" b="1" dirty="0">
                <a:solidFill>
                  <a:schemeClr val="tx1"/>
                </a:solidFill>
              </a:rPr>
              <a:t>Shift from CAPEX to OPEX (variable)</a:t>
            </a:r>
            <a:endParaRPr lang="en-US" sz="1700" dirty="0"/>
          </a:p>
        </p:txBody>
      </p:sp>
      <p:sp>
        <p:nvSpPr>
          <p:cNvPr id="13" name="Pill"/>
          <p:cNvSpPr txBox="1"/>
          <p:nvPr/>
        </p:nvSpPr>
        <p:spPr>
          <a:xfrm>
            <a:off x="4937760" y="2377440"/>
            <a:ext cx="1188720" cy="292608"/>
          </a:xfrm>
          <a:prstGeom prst="roundRect">
            <a:avLst>
              <a:gd name="adj" fmla="val 46875"/>
            </a:avLst>
          </a:prstGeom>
          <a:solidFill>
            <a:schemeClr val="accent1"/>
          </a:solidFill>
          <a:ln/>
        </p:spPr>
        <p:txBody>
          <a:bodyPr wrap="square" lIns="0" tIns="0" rIns="0" bIns="0" rtlCol="0" anchor="ctr"/>
          <a:lstStyle/>
          <a:p>
            <a:pPr marL="0" indent="0" algn="ctr">
              <a:buNone/>
            </a:pPr>
            <a:r>
              <a:rPr lang="en-US" sz="1300" b="1" dirty="0">
                <a:solidFill>
                  <a:schemeClr val="bg1"/>
                </a:solidFill>
              </a:rPr>
              <a:t>CAPEX</a:t>
            </a:r>
            <a:endParaRPr lang="en-US" sz="1300" dirty="0"/>
          </a:p>
        </p:txBody>
      </p:sp>
      <p:pic>
        <p:nvPicPr>
          <p:cNvPr id="14" name="Arrow" descr="becomes"/>
          <p:cNvPicPr>
            <a:picLocks noChangeAspect="1"/>
          </p:cNvPicPr>
          <p:nvPr/>
        </p:nvPicPr>
        <p:blipFill>
          <a:blip r:embed="rId5"/>
          <a:stretch>
            <a:fillRect/>
          </a:stretch>
        </p:blipFill>
        <p:spPr>
          <a:xfrm>
            <a:off x="6263640" y="2414016"/>
            <a:ext cx="228600" cy="228600"/>
          </a:xfrm>
          <a:prstGeom prst="rect">
            <a:avLst/>
          </a:prstGeom>
        </p:spPr>
      </p:pic>
      <p:sp>
        <p:nvSpPr>
          <p:cNvPr id="15" name="Pill"/>
          <p:cNvSpPr txBox="1"/>
          <p:nvPr/>
        </p:nvSpPr>
        <p:spPr>
          <a:xfrm>
            <a:off x="6629400" y="2377440"/>
            <a:ext cx="1188720" cy="292608"/>
          </a:xfrm>
          <a:prstGeom prst="roundRect">
            <a:avLst>
              <a:gd name="adj" fmla="val 46875"/>
            </a:avLst>
          </a:prstGeom>
          <a:solidFill>
            <a:schemeClr val="accent2"/>
          </a:solidFill>
          <a:ln/>
        </p:spPr>
        <p:txBody>
          <a:bodyPr wrap="square" lIns="0" tIns="0" rIns="0" bIns="0" rtlCol="0" anchor="ctr"/>
          <a:lstStyle/>
          <a:p>
            <a:pPr marL="0" indent="0" algn="ctr">
              <a:buNone/>
            </a:pPr>
            <a:r>
              <a:rPr lang="en-US" sz="1300" b="1" dirty="0">
                <a:solidFill>
                  <a:schemeClr val="tx1"/>
                </a:solidFill>
              </a:rPr>
              <a:t>OPEX</a:t>
            </a:r>
            <a:endParaRPr lang="en-US" sz="1300" dirty="0"/>
          </a:p>
        </p:txBody>
      </p:sp>
      <p:sp>
        <p:nvSpPr>
          <p:cNvPr id="16" name="Text 11"/>
          <p:cNvSpPr txBox="1"/>
          <p:nvPr/>
        </p:nvSpPr>
        <p:spPr>
          <a:xfrm>
            <a:off x="4937760" y="2926080"/>
            <a:ext cx="3566160" cy="16459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No upfront cost of purchasing and maintaining hardware (except when on-premise).</a:t>
            </a:r>
            <a:endParaRPr lang="en-US" sz="1400" dirty="0"/>
          </a:p>
          <a:p>
            <a:pPr marL="342900" indent="-342900">
              <a:buSzPct val="100000"/>
              <a:buChar char="•"/>
            </a:pPr>
            <a:r>
              <a:rPr lang="en-US" sz="1400" dirty="0">
                <a:solidFill>
                  <a:schemeClr val="tx1"/>
                </a:solidFill>
              </a:rPr>
              <a:t>Pay only for resources or services consumed (pay-per-use).</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5A7E"/>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48640"/>
            <a:ext cx="8229600" cy="640080"/>
          </a:xfrm>
          <a:prstGeom prst="rect">
            <a:avLst/>
          </a:prstGeom>
          <a:noFill/>
          <a:ln/>
        </p:spPr>
        <p:txBody>
          <a:bodyPr wrap="square" lIns="0" tIns="0" rIns="0" bIns="0" rtlCol="0" anchor="ctr"/>
          <a:lstStyle/>
          <a:p>
            <a:pPr marL="0" indent="0" algn="l">
              <a:buNone/>
            </a:pPr>
            <a:r>
              <a:rPr lang="en-US" sz="3400" b="1" dirty="0">
                <a:solidFill>
                  <a:schemeClr val="tx1"/>
                </a:solidFill>
              </a:rPr>
              <a:t>Increasing Agility</a:t>
            </a:r>
            <a:endParaRPr lang="en-US" sz="3400" dirty="0"/>
          </a:p>
        </p:txBody>
      </p:sp>
      <p:sp>
        <p:nvSpPr>
          <p:cNvPr id="3" name="Section chip"/>
          <p:cNvSpPr txBox="1"/>
          <p:nvPr/>
        </p:nvSpPr>
        <p:spPr>
          <a:xfrm>
            <a:off x="457200" y="274320"/>
            <a:ext cx="1623974" cy="246888"/>
          </a:xfrm>
          <a:prstGeom prst="roundRect">
            <a:avLst>
              <a:gd name="adj" fmla="val 48148"/>
            </a:avLst>
          </a:prstGeom>
          <a:solidFill>
            <a:schemeClr val="accent3"/>
          </a:solidFill>
          <a:ln/>
        </p:spPr>
        <p:txBody>
          <a:bodyPr wrap="square" lIns="0" tIns="0" rIns="0" bIns="0" rtlCol="0" anchor="ctr"/>
          <a:lstStyle/>
          <a:p>
            <a:pPr marL="0" indent="0" algn="ctr">
              <a:buNone/>
            </a:pPr>
            <a:r>
              <a:rPr lang="en-US" sz="1000" b="1" kern="0" spc="150" dirty="0">
                <a:solidFill>
                  <a:schemeClr val="tx1"/>
                </a:solidFill>
              </a:rPr>
              <a:t>BUSINESS DRIVERS</a:t>
            </a:r>
            <a:endParaRPr lang="en-US" sz="1000" dirty="0"/>
          </a:p>
        </p:txBody>
      </p:sp>
      <p:sp>
        <p:nvSpPr>
          <p:cNvPr id="4" name="Card"/>
          <p:cNvSpPr/>
          <p:nvPr/>
        </p:nvSpPr>
        <p:spPr>
          <a:xfrm>
            <a:off x="457200" y="1371600"/>
            <a:ext cx="4023360" cy="1417320"/>
          </a:xfrm>
          <a:prstGeom prst="roundRect">
            <a:avLst>
              <a:gd name="adj" fmla="val 7742"/>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5" name="FaArrowsAltV circle"/>
          <p:cNvSpPr/>
          <p:nvPr/>
        </p:nvSpPr>
        <p:spPr>
          <a:xfrm>
            <a:off x="640080" y="1536192"/>
            <a:ext cx="457200" cy="457200"/>
          </a:xfrm>
          <a:prstGeom prst="ellipse">
            <a:avLst/>
          </a:prstGeom>
          <a:solidFill>
            <a:schemeClr val="accent2"/>
          </a:solidFill>
          <a:ln/>
        </p:spPr>
        <p:txBody>
          <a:bodyPr/>
          <a:lstStyle/>
          <a:p>
            <a:endParaRPr lang="en-RW"/>
          </a:p>
        </p:txBody>
      </p:sp>
      <p:pic>
        <p:nvPicPr>
          <p:cNvPr id="6" name="FaArrowsAltV icon" descr="preencoded.png"/>
          <p:cNvPicPr>
            <a:picLocks noChangeAspect="1"/>
          </p:cNvPicPr>
          <p:nvPr/>
        </p:nvPicPr>
        <p:blipFill>
          <a:blip r:embed="rId3"/>
          <a:stretch>
            <a:fillRect/>
          </a:stretch>
        </p:blipFill>
        <p:spPr>
          <a:xfrm>
            <a:off x="754380" y="1650492"/>
            <a:ext cx="228600" cy="228600"/>
          </a:xfrm>
          <a:prstGeom prst="rect">
            <a:avLst/>
          </a:prstGeom>
        </p:spPr>
      </p:pic>
      <p:sp>
        <p:nvSpPr>
          <p:cNvPr id="7" name="Text 4"/>
          <p:cNvSpPr txBox="1"/>
          <p:nvPr/>
        </p:nvSpPr>
        <p:spPr>
          <a:xfrm>
            <a:off x="1234440" y="1536192"/>
            <a:ext cx="3108960" cy="457200"/>
          </a:xfrm>
          <a:prstGeom prst="rect">
            <a:avLst/>
          </a:prstGeom>
          <a:noFill/>
          <a:ln/>
        </p:spPr>
        <p:txBody>
          <a:bodyPr wrap="square" lIns="0" tIns="0" rIns="0" bIns="0" rtlCol="0" anchor="ctr"/>
          <a:lstStyle/>
          <a:p>
            <a:pPr marL="0" indent="0">
              <a:buNone/>
            </a:pPr>
            <a:r>
              <a:rPr lang="en-US" sz="1600" b="1" dirty="0">
                <a:solidFill>
                  <a:schemeClr val="tx1"/>
                </a:solidFill>
              </a:rPr>
              <a:t>Scalability &amp; elasticity</a:t>
            </a:r>
            <a:endParaRPr lang="en-US" sz="1600" dirty="0"/>
          </a:p>
        </p:txBody>
      </p:sp>
      <p:sp>
        <p:nvSpPr>
          <p:cNvPr id="8" name="Text 5"/>
          <p:cNvSpPr txBox="1"/>
          <p:nvPr/>
        </p:nvSpPr>
        <p:spPr>
          <a:xfrm>
            <a:off x="640080" y="2084832"/>
            <a:ext cx="3657600" cy="685800"/>
          </a:xfrm>
          <a:prstGeom prst="rect">
            <a:avLst/>
          </a:prstGeom>
          <a:noFill/>
          <a:ln/>
        </p:spPr>
        <p:txBody>
          <a:bodyPr wrap="square" lIns="0" tIns="0" rIns="0" bIns="0" rtlCol="0" anchor="t"/>
          <a:lstStyle/>
          <a:p>
            <a:pPr marL="0" indent="0">
              <a:buNone/>
            </a:pPr>
            <a:r>
              <a:rPr lang="en-US" sz="1300" dirty="0">
                <a:solidFill>
                  <a:schemeClr val="tx1"/>
                </a:solidFill>
              </a:rPr>
              <a:t>Scale resources up¹ or down and out² or in as needed. No more guessing, planning, or provisioning capacity.</a:t>
            </a:r>
            <a:endParaRPr lang="en-US" sz="1300" dirty="0"/>
          </a:p>
        </p:txBody>
      </p:sp>
      <p:sp>
        <p:nvSpPr>
          <p:cNvPr id="9" name="Card"/>
          <p:cNvSpPr/>
          <p:nvPr/>
        </p:nvSpPr>
        <p:spPr>
          <a:xfrm>
            <a:off x="4663440" y="1371600"/>
            <a:ext cx="4023360" cy="1417320"/>
          </a:xfrm>
          <a:prstGeom prst="roundRect">
            <a:avLst>
              <a:gd name="adj" fmla="val 7742"/>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10" name="FaRocket circle"/>
          <p:cNvSpPr/>
          <p:nvPr/>
        </p:nvSpPr>
        <p:spPr>
          <a:xfrm>
            <a:off x="4846320" y="1536192"/>
            <a:ext cx="457200" cy="457200"/>
          </a:xfrm>
          <a:prstGeom prst="ellipse">
            <a:avLst/>
          </a:prstGeom>
          <a:solidFill>
            <a:schemeClr val="accent1"/>
          </a:solidFill>
          <a:ln/>
        </p:spPr>
        <p:txBody>
          <a:bodyPr/>
          <a:lstStyle/>
          <a:p>
            <a:endParaRPr lang="en-RW"/>
          </a:p>
        </p:txBody>
      </p:sp>
      <p:pic>
        <p:nvPicPr>
          <p:cNvPr id="11" name="FaRocket icon" descr="preencoded.png"/>
          <p:cNvPicPr>
            <a:picLocks noChangeAspect="1"/>
          </p:cNvPicPr>
          <p:nvPr/>
        </p:nvPicPr>
        <p:blipFill>
          <a:blip r:embed="rId4"/>
          <a:stretch>
            <a:fillRect/>
          </a:stretch>
        </p:blipFill>
        <p:spPr>
          <a:xfrm>
            <a:off x="4960620" y="1650492"/>
            <a:ext cx="228600" cy="228600"/>
          </a:xfrm>
          <a:prstGeom prst="rect">
            <a:avLst/>
          </a:prstGeom>
        </p:spPr>
      </p:pic>
      <p:sp>
        <p:nvSpPr>
          <p:cNvPr id="12" name="Text 8"/>
          <p:cNvSpPr txBox="1"/>
          <p:nvPr/>
        </p:nvSpPr>
        <p:spPr>
          <a:xfrm>
            <a:off x="5440680" y="1536192"/>
            <a:ext cx="3108960" cy="457200"/>
          </a:xfrm>
          <a:prstGeom prst="rect">
            <a:avLst/>
          </a:prstGeom>
          <a:noFill/>
          <a:ln/>
        </p:spPr>
        <p:txBody>
          <a:bodyPr wrap="square" lIns="0" tIns="0" rIns="0" bIns="0" rtlCol="0" anchor="ctr"/>
          <a:lstStyle/>
          <a:p>
            <a:pPr marL="0" indent="0">
              <a:buNone/>
            </a:pPr>
            <a:r>
              <a:rPr lang="en-US" sz="1600" b="1" dirty="0">
                <a:solidFill>
                  <a:schemeClr val="tx1"/>
                </a:solidFill>
              </a:rPr>
              <a:t>Faster time to market</a:t>
            </a:r>
            <a:endParaRPr lang="en-US" sz="1600" dirty="0"/>
          </a:p>
        </p:txBody>
      </p:sp>
      <p:sp>
        <p:nvSpPr>
          <p:cNvPr id="13" name="Text 9"/>
          <p:cNvSpPr txBox="1"/>
          <p:nvPr/>
        </p:nvSpPr>
        <p:spPr>
          <a:xfrm>
            <a:off x="4846320" y="2084832"/>
            <a:ext cx="3657600" cy="685800"/>
          </a:xfrm>
          <a:prstGeom prst="rect">
            <a:avLst/>
          </a:prstGeom>
          <a:noFill/>
          <a:ln/>
        </p:spPr>
        <p:txBody>
          <a:bodyPr wrap="square" lIns="0" tIns="0" rIns="0" bIns="0" rtlCol="0" anchor="t"/>
          <a:lstStyle/>
          <a:p>
            <a:pPr marL="0" indent="0">
              <a:buNone/>
            </a:pPr>
            <a:r>
              <a:rPr lang="en-US" sz="1300" dirty="0">
                <a:solidFill>
                  <a:schemeClr val="tx1"/>
                </a:solidFill>
              </a:rPr>
              <a:t>Quickly deploy development and testing environments, and rapidly experiment, innovate, and build new products.</a:t>
            </a:r>
            <a:endParaRPr lang="en-US" sz="1300" dirty="0"/>
          </a:p>
        </p:txBody>
      </p:sp>
      <p:sp>
        <p:nvSpPr>
          <p:cNvPr id="14" name="Card"/>
          <p:cNvSpPr/>
          <p:nvPr/>
        </p:nvSpPr>
        <p:spPr>
          <a:xfrm>
            <a:off x="457200" y="2926080"/>
            <a:ext cx="4023360" cy="1417320"/>
          </a:xfrm>
          <a:prstGeom prst="roundRect">
            <a:avLst>
              <a:gd name="adj" fmla="val 7742"/>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15" name="FaBullseye circle"/>
          <p:cNvSpPr/>
          <p:nvPr/>
        </p:nvSpPr>
        <p:spPr>
          <a:xfrm>
            <a:off x="640080" y="3090672"/>
            <a:ext cx="457200" cy="457200"/>
          </a:xfrm>
          <a:prstGeom prst="ellipse">
            <a:avLst/>
          </a:prstGeom>
          <a:solidFill>
            <a:schemeClr val="accent4"/>
          </a:solidFill>
          <a:ln/>
        </p:spPr>
        <p:txBody>
          <a:bodyPr/>
          <a:lstStyle/>
          <a:p>
            <a:endParaRPr lang="en-RW"/>
          </a:p>
        </p:txBody>
      </p:sp>
      <p:pic>
        <p:nvPicPr>
          <p:cNvPr id="16" name="FaBullseye icon" descr="preencoded.png"/>
          <p:cNvPicPr>
            <a:picLocks noChangeAspect="1"/>
          </p:cNvPicPr>
          <p:nvPr/>
        </p:nvPicPr>
        <p:blipFill>
          <a:blip r:embed="rId5"/>
          <a:stretch>
            <a:fillRect/>
          </a:stretch>
        </p:blipFill>
        <p:spPr>
          <a:xfrm>
            <a:off x="754380" y="3204972"/>
            <a:ext cx="228600" cy="228600"/>
          </a:xfrm>
          <a:prstGeom prst="rect">
            <a:avLst/>
          </a:prstGeom>
        </p:spPr>
      </p:pic>
      <p:sp>
        <p:nvSpPr>
          <p:cNvPr id="17" name="Text 12"/>
          <p:cNvSpPr txBox="1"/>
          <p:nvPr/>
        </p:nvSpPr>
        <p:spPr>
          <a:xfrm>
            <a:off x="1234440" y="3090672"/>
            <a:ext cx="3108960" cy="457200"/>
          </a:xfrm>
          <a:prstGeom prst="rect">
            <a:avLst/>
          </a:prstGeom>
          <a:noFill/>
          <a:ln/>
        </p:spPr>
        <p:txBody>
          <a:bodyPr wrap="square" lIns="0" tIns="0" rIns="0" bIns="0" rtlCol="0" anchor="ctr"/>
          <a:lstStyle/>
          <a:p>
            <a:pPr marL="0" indent="0">
              <a:buNone/>
            </a:pPr>
            <a:r>
              <a:rPr lang="en-US" sz="1600" b="1" dirty="0">
                <a:solidFill>
                  <a:schemeClr val="tx1"/>
                </a:solidFill>
              </a:rPr>
              <a:t>More focus on core business</a:t>
            </a:r>
            <a:endParaRPr lang="en-US" sz="1600" dirty="0"/>
          </a:p>
        </p:txBody>
      </p:sp>
      <p:sp>
        <p:nvSpPr>
          <p:cNvPr id="18" name="Text 13"/>
          <p:cNvSpPr txBox="1"/>
          <p:nvPr/>
        </p:nvSpPr>
        <p:spPr>
          <a:xfrm>
            <a:off x="640080" y="3639312"/>
            <a:ext cx="3657600" cy="685800"/>
          </a:xfrm>
          <a:prstGeom prst="rect">
            <a:avLst/>
          </a:prstGeom>
          <a:noFill/>
          <a:ln/>
        </p:spPr>
        <p:txBody>
          <a:bodyPr wrap="square" lIns="0" tIns="0" rIns="0" bIns="0" rtlCol="0" anchor="t"/>
          <a:lstStyle/>
          <a:p>
            <a:pPr marL="0" indent="0">
              <a:buNone/>
            </a:pPr>
            <a:r>
              <a:rPr lang="en-US" sz="1300" dirty="0">
                <a:solidFill>
                  <a:schemeClr val="tx1"/>
                </a:solidFill>
              </a:rPr>
              <a:t>The CSP takes over routine administrative duties, so IT staff can focus on bigger business goals.</a:t>
            </a:r>
            <a:endParaRPr lang="en-US" sz="1300" dirty="0"/>
          </a:p>
        </p:txBody>
      </p:sp>
      <p:sp>
        <p:nvSpPr>
          <p:cNvPr id="19" name="Card"/>
          <p:cNvSpPr/>
          <p:nvPr/>
        </p:nvSpPr>
        <p:spPr>
          <a:xfrm>
            <a:off x="4663440" y="2926080"/>
            <a:ext cx="4023360" cy="1417320"/>
          </a:xfrm>
          <a:prstGeom prst="roundRect">
            <a:avLst>
              <a:gd name="adj" fmla="val 7742"/>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20" name="FaGlobe circle"/>
          <p:cNvSpPr/>
          <p:nvPr/>
        </p:nvSpPr>
        <p:spPr>
          <a:xfrm>
            <a:off x="4846320" y="3090672"/>
            <a:ext cx="457200" cy="457200"/>
          </a:xfrm>
          <a:prstGeom prst="ellipse">
            <a:avLst/>
          </a:prstGeom>
          <a:solidFill>
            <a:schemeClr val="accent5"/>
          </a:solidFill>
          <a:ln/>
        </p:spPr>
        <p:txBody>
          <a:bodyPr/>
          <a:lstStyle/>
          <a:p>
            <a:endParaRPr lang="en-RW"/>
          </a:p>
        </p:txBody>
      </p:sp>
      <p:pic>
        <p:nvPicPr>
          <p:cNvPr id="21" name="FaGlobe icon" descr="preencoded.png"/>
          <p:cNvPicPr>
            <a:picLocks noChangeAspect="1"/>
          </p:cNvPicPr>
          <p:nvPr/>
        </p:nvPicPr>
        <p:blipFill>
          <a:blip r:embed="rId6"/>
          <a:stretch>
            <a:fillRect/>
          </a:stretch>
        </p:blipFill>
        <p:spPr>
          <a:xfrm>
            <a:off x="4960620" y="3204972"/>
            <a:ext cx="228600" cy="228600"/>
          </a:xfrm>
          <a:prstGeom prst="rect">
            <a:avLst/>
          </a:prstGeom>
        </p:spPr>
      </p:pic>
      <p:sp>
        <p:nvSpPr>
          <p:cNvPr id="22" name="Text 16"/>
          <p:cNvSpPr txBox="1"/>
          <p:nvPr/>
        </p:nvSpPr>
        <p:spPr>
          <a:xfrm>
            <a:off x="5440680" y="3090672"/>
            <a:ext cx="3108960" cy="457200"/>
          </a:xfrm>
          <a:prstGeom prst="rect">
            <a:avLst/>
          </a:prstGeom>
          <a:noFill/>
          <a:ln/>
        </p:spPr>
        <p:txBody>
          <a:bodyPr wrap="square" lIns="0" tIns="0" rIns="0" bIns="0" rtlCol="0" anchor="ctr"/>
          <a:lstStyle/>
          <a:p>
            <a:pPr marL="0" indent="0">
              <a:buNone/>
            </a:pPr>
            <a:r>
              <a:rPr lang="en-US" sz="1600" b="1" dirty="0">
                <a:solidFill>
                  <a:schemeClr val="tx1"/>
                </a:solidFill>
              </a:rPr>
              <a:t>Global access</a:t>
            </a:r>
            <a:endParaRPr lang="en-US" sz="1600" dirty="0"/>
          </a:p>
        </p:txBody>
      </p:sp>
      <p:sp>
        <p:nvSpPr>
          <p:cNvPr id="23" name="Text 17"/>
          <p:cNvSpPr txBox="1"/>
          <p:nvPr/>
        </p:nvSpPr>
        <p:spPr>
          <a:xfrm>
            <a:off x="4846320" y="3639312"/>
            <a:ext cx="3657600" cy="685800"/>
          </a:xfrm>
          <a:prstGeom prst="rect">
            <a:avLst/>
          </a:prstGeom>
          <a:noFill/>
          <a:ln/>
        </p:spPr>
        <p:txBody>
          <a:bodyPr wrap="square" lIns="0" tIns="0" rIns="0" bIns="0" rtlCol="0" anchor="t"/>
          <a:lstStyle/>
          <a:p>
            <a:pPr marL="0" indent="0">
              <a:buNone/>
            </a:pPr>
            <a:r>
              <a:rPr lang="en-US" sz="1300" dirty="0">
                <a:solidFill>
                  <a:schemeClr val="tx1"/>
                </a:solidFill>
              </a:rPr>
              <a:t>Deploy applications in multiple regions worldwide for lower latency and a better user experience.</a:t>
            </a:r>
            <a:endParaRPr lang="en-US" sz="1300" dirty="0"/>
          </a:p>
        </p:txBody>
      </p:sp>
      <p:sp>
        <p:nvSpPr>
          <p:cNvPr id="24" name="Text 18"/>
          <p:cNvSpPr txBox="1"/>
          <p:nvPr/>
        </p:nvSpPr>
        <p:spPr>
          <a:xfrm>
            <a:off x="457200" y="4526280"/>
            <a:ext cx="7589520" cy="228600"/>
          </a:xfrm>
          <a:prstGeom prst="rect">
            <a:avLst/>
          </a:prstGeom>
          <a:noFill/>
          <a:ln/>
        </p:spPr>
        <p:txBody>
          <a:bodyPr wrap="square" lIns="0" tIns="0" rIns="0" bIns="0" rtlCol="0" anchor="t"/>
          <a:lstStyle/>
          <a:p>
            <a:pPr marL="0" indent="0">
              <a:buNone/>
            </a:pPr>
            <a:r>
              <a:rPr lang="en-US" sz="1000" i="1" dirty="0">
                <a:solidFill>
                  <a:schemeClr val="tx2"/>
                </a:solidFill>
              </a:rPr>
              <a:t>¹ Scaling up = vertical scaling.  ² Scaling out = horizontal scaling.  Using both is called diagonal scaling.</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5A7E"/>
                </a:solidFil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48640"/>
            <a:ext cx="8229600" cy="640080"/>
          </a:xfrm>
          <a:prstGeom prst="rect">
            <a:avLst/>
          </a:prstGeom>
          <a:noFill/>
          <a:ln/>
        </p:spPr>
        <p:txBody>
          <a:bodyPr wrap="square" lIns="0" tIns="0" rIns="0" bIns="0" rtlCol="0" anchor="ctr"/>
          <a:lstStyle/>
          <a:p>
            <a:pPr marL="0" indent="0" algn="l">
              <a:buNone/>
            </a:pPr>
            <a:r>
              <a:rPr lang="en-US" sz="3400" b="1" dirty="0">
                <a:solidFill>
                  <a:schemeClr val="tx1"/>
                </a:solidFill>
              </a:rPr>
              <a:t>Capacity Provisioning</a:t>
            </a:r>
            <a:endParaRPr lang="en-US" sz="3400" dirty="0"/>
          </a:p>
        </p:txBody>
      </p:sp>
      <p:sp>
        <p:nvSpPr>
          <p:cNvPr id="3" name="Section chip"/>
          <p:cNvSpPr txBox="1"/>
          <p:nvPr/>
        </p:nvSpPr>
        <p:spPr>
          <a:xfrm>
            <a:off x="457200" y="274320"/>
            <a:ext cx="1623974" cy="246888"/>
          </a:xfrm>
          <a:prstGeom prst="roundRect">
            <a:avLst>
              <a:gd name="adj" fmla="val 48148"/>
            </a:avLst>
          </a:prstGeom>
          <a:solidFill>
            <a:schemeClr val="accent3"/>
          </a:solidFill>
          <a:ln/>
        </p:spPr>
        <p:txBody>
          <a:bodyPr wrap="square" lIns="0" tIns="0" rIns="0" bIns="0" rtlCol="0" anchor="ctr"/>
          <a:lstStyle/>
          <a:p>
            <a:pPr marL="0" indent="0" algn="ctr">
              <a:buNone/>
            </a:pPr>
            <a:r>
              <a:rPr lang="en-US" sz="1000" b="1" kern="0" spc="150" dirty="0">
                <a:solidFill>
                  <a:schemeClr val="tx1"/>
                </a:solidFill>
              </a:rPr>
              <a:t>BUSINESS DRIVERS</a:t>
            </a:r>
            <a:endParaRPr lang="en-US" sz="1000" dirty="0"/>
          </a:p>
        </p:txBody>
      </p:sp>
      <p:sp>
        <p:nvSpPr>
          <p:cNvPr id="4" name="Card"/>
          <p:cNvSpPr/>
          <p:nvPr/>
        </p:nvSpPr>
        <p:spPr>
          <a:xfrm>
            <a:off x="457200" y="1371600"/>
            <a:ext cx="4023360" cy="2926080"/>
          </a:xfrm>
          <a:prstGeom prst="roundRect">
            <a:avLst>
              <a:gd name="adj" fmla="val 3750"/>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5" name="Pill"/>
          <p:cNvSpPr txBox="1"/>
          <p:nvPr/>
        </p:nvSpPr>
        <p:spPr>
          <a:xfrm>
            <a:off x="594360" y="1481328"/>
            <a:ext cx="2194560" cy="292608"/>
          </a:xfrm>
          <a:prstGeom prst="roundRect">
            <a:avLst>
              <a:gd name="adj" fmla="val 46875"/>
            </a:avLst>
          </a:prstGeom>
          <a:solidFill>
            <a:schemeClr val="accent3"/>
          </a:solidFill>
          <a:ln/>
        </p:spPr>
        <p:txBody>
          <a:bodyPr wrap="square" lIns="0" tIns="0" rIns="0" bIns="0" rtlCol="0" anchor="ctr"/>
          <a:lstStyle/>
          <a:p>
            <a:pPr marL="0" indent="0" algn="ctr">
              <a:buNone/>
            </a:pPr>
            <a:r>
              <a:rPr lang="en-US" sz="1200" b="1" dirty="0">
                <a:solidFill>
                  <a:schemeClr val="tx1"/>
                </a:solidFill>
              </a:rPr>
              <a:t>Traditional data center</a:t>
            </a:r>
            <a:endParaRPr lang="en-US" sz="1200" dirty="0"/>
          </a:p>
        </p:txBody>
      </p:sp>
      <p:pic>
        <p:nvPicPr>
          <p:cNvPr id="6" name="Traditional data center chart" descr="Capacity vs. usage chart for a traditional data center: planned capacity moves in steps, leaving waste and customer dissatisfaction."/>
          <p:cNvPicPr>
            <a:picLocks noChangeAspect="1"/>
          </p:cNvPicPr>
          <p:nvPr/>
        </p:nvPicPr>
        <p:blipFill>
          <a:blip r:embed="rId3"/>
          <a:stretch>
            <a:fillRect/>
          </a:stretch>
        </p:blipFill>
        <p:spPr>
          <a:xfrm>
            <a:off x="914400" y="1874520"/>
            <a:ext cx="3108960" cy="2308099"/>
          </a:xfrm>
          <a:prstGeom prst="rect">
            <a:avLst/>
          </a:prstGeom>
        </p:spPr>
      </p:pic>
      <p:sp>
        <p:nvSpPr>
          <p:cNvPr id="7" name="Card"/>
          <p:cNvSpPr/>
          <p:nvPr/>
        </p:nvSpPr>
        <p:spPr>
          <a:xfrm>
            <a:off x="4663440" y="1371600"/>
            <a:ext cx="4023360" cy="2926080"/>
          </a:xfrm>
          <a:prstGeom prst="roundRect">
            <a:avLst>
              <a:gd name="adj" fmla="val 3750"/>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8" name="Pill"/>
          <p:cNvSpPr txBox="1"/>
          <p:nvPr/>
        </p:nvSpPr>
        <p:spPr>
          <a:xfrm>
            <a:off x="4800600" y="1481328"/>
            <a:ext cx="2194560" cy="292608"/>
          </a:xfrm>
          <a:prstGeom prst="roundRect">
            <a:avLst>
              <a:gd name="adj" fmla="val 46875"/>
            </a:avLst>
          </a:prstGeom>
          <a:solidFill>
            <a:schemeClr val="accent2"/>
          </a:solidFill>
          <a:ln/>
        </p:spPr>
        <p:txBody>
          <a:bodyPr wrap="square" lIns="0" tIns="0" rIns="0" bIns="0" rtlCol="0" anchor="ctr"/>
          <a:lstStyle/>
          <a:p>
            <a:pPr marL="0" indent="0" algn="ctr">
              <a:buNone/>
            </a:pPr>
            <a:r>
              <a:rPr lang="en-US" sz="1200" b="1" dirty="0">
                <a:solidFill>
                  <a:schemeClr val="tx1"/>
                </a:solidFill>
              </a:rPr>
              <a:t>Cloud (AWS)</a:t>
            </a:r>
            <a:endParaRPr lang="en-US" sz="1200" dirty="0"/>
          </a:p>
        </p:txBody>
      </p:sp>
      <p:pic>
        <p:nvPicPr>
          <p:cNvPr id="9" name="Cloud (AWS) chart" descr="Capacity vs. usage chart for AWS: on-demand capacity closely follows actual usage with no waste."/>
          <p:cNvPicPr>
            <a:picLocks noChangeAspect="1"/>
          </p:cNvPicPr>
          <p:nvPr/>
        </p:nvPicPr>
        <p:blipFill>
          <a:blip r:embed="rId4"/>
          <a:stretch>
            <a:fillRect/>
          </a:stretch>
        </p:blipFill>
        <p:spPr>
          <a:xfrm>
            <a:off x="5120640" y="1874520"/>
            <a:ext cx="3108960" cy="2308099"/>
          </a:xfrm>
          <a:prstGeom prst="rect">
            <a:avLst/>
          </a:prstGeom>
        </p:spPr>
      </p:pic>
      <p:sp>
        <p:nvSpPr>
          <p:cNvPr id="10" name="Card"/>
          <p:cNvSpPr/>
          <p:nvPr/>
        </p:nvSpPr>
        <p:spPr>
          <a:xfrm>
            <a:off x="457200" y="4389120"/>
            <a:ext cx="8229600" cy="365760"/>
          </a:xfrm>
          <a:prstGeom prst="roundRect">
            <a:avLst>
              <a:gd name="adj" fmla="val 30000"/>
            </a:avLst>
          </a:prstGeom>
          <a:solidFill>
            <a:schemeClr val="accent1"/>
          </a:solidFill>
          <a:ln/>
          <a:effectLst>
            <a:outerShdw blurRad="127000" dist="38100" dir="5400000" algn="bl" rotWithShape="0">
              <a:srgbClr val="1E1B4B">
                <a:alpha val="10000"/>
              </a:srgbClr>
            </a:outerShdw>
          </a:effectLst>
        </p:spPr>
        <p:txBody>
          <a:bodyPr/>
          <a:lstStyle/>
          <a:p>
            <a:endParaRPr lang="en-RW"/>
          </a:p>
        </p:txBody>
      </p:sp>
      <p:sp>
        <p:nvSpPr>
          <p:cNvPr id="11" name="Text 7"/>
          <p:cNvSpPr txBox="1"/>
          <p:nvPr/>
        </p:nvSpPr>
        <p:spPr>
          <a:xfrm>
            <a:off x="457200" y="4389120"/>
            <a:ext cx="8229600" cy="365760"/>
          </a:xfrm>
          <a:prstGeom prst="rect">
            <a:avLst/>
          </a:prstGeom>
          <a:noFill/>
          <a:ln/>
        </p:spPr>
        <p:txBody>
          <a:bodyPr wrap="square" lIns="0" tIns="0" rIns="0" bIns="0" rtlCol="0" anchor="ctr"/>
          <a:lstStyle/>
          <a:p>
            <a:pPr marL="0" indent="0" algn="ctr">
              <a:buNone/>
            </a:pPr>
            <a:r>
              <a:rPr lang="en-US" sz="1400" b="1" dirty="0">
                <a:solidFill>
                  <a:schemeClr val="bg1"/>
                </a:solidFill>
              </a:rPr>
              <a:t>AWS closely follows the demand curve: no waste, no customer dissatisfaction.</a:t>
            </a:r>
            <a:endParaRPr lang="en-US" sz="1400" dirty="0"/>
          </a:p>
        </p:txBody>
      </p:sp>
      <p:sp>
        <p:nvSpPr>
          <p:cNvPr id="12" name="Text 8"/>
          <p:cNvSpPr txBox="1"/>
          <p:nvPr/>
        </p:nvSpPr>
        <p:spPr>
          <a:xfrm>
            <a:off x="457200" y="4818888"/>
            <a:ext cx="1828800" cy="228600"/>
          </a:xfrm>
          <a:prstGeom prst="rect">
            <a:avLst/>
          </a:prstGeom>
          <a:noFill/>
          <a:ln/>
        </p:spPr>
        <p:txBody>
          <a:bodyPr wrap="square" lIns="0" tIns="0" rIns="0" bIns="0" rtlCol="0" anchor="t"/>
          <a:lstStyle/>
          <a:p>
            <a:pPr marL="0" indent="0">
              <a:buNone/>
            </a:pPr>
            <a:r>
              <a:rPr lang="en-US" sz="1000" i="1" dirty="0">
                <a:solidFill>
                  <a:schemeClr val="tx2"/>
                </a:solidFill>
              </a:rPr>
              <a:t>Source: AWS</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5A7E"/>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48640"/>
            <a:ext cx="8229600" cy="640080"/>
          </a:xfrm>
          <a:prstGeom prst="rect">
            <a:avLst/>
          </a:prstGeom>
          <a:noFill/>
          <a:ln/>
        </p:spPr>
        <p:txBody>
          <a:bodyPr wrap="square" lIns="0" tIns="0" rIns="0" bIns="0" rtlCol="0" anchor="ctr"/>
          <a:lstStyle/>
          <a:p>
            <a:pPr marL="0" indent="0" algn="l">
              <a:buNone/>
            </a:pPr>
            <a:r>
              <a:rPr lang="en-US" sz="3400" b="1" dirty="0">
                <a:solidFill>
                  <a:schemeClr val="tx1"/>
                </a:solidFill>
              </a:rPr>
              <a:t>Choosing a Deployment Model</a:t>
            </a:r>
            <a:endParaRPr lang="en-US" sz="3400" dirty="0"/>
          </a:p>
        </p:txBody>
      </p:sp>
      <p:sp>
        <p:nvSpPr>
          <p:cNvPr id="3" name="Section chip"/>
          <p:cNvSpPr txBox="1"/>
          <p:nvPr/>
        </p:nvSpPr>
        <p:spPr>
          <a:xfrm>
            <a:off x="457200" y="274320"/>
            <a:ext cx="2488997" cy="246888"/>
          </a:xfrm>
          <a:prstGeom prst="roundRect">
            <a:avLst>
              <a:gd name="adj" fmla="val 48148"/>
            </a:avLst>
          </a:prstGeom>
          <a:solidFill>
            <a:schemeClr val="accent1"/>
          </a:solidFill>
          <a:ln/>
        </p:spPr>
        <p:txBody>
          <a:bodyPr wrap="square" lIns="0" tIns="0" rIns="0" bIns="0" rtlCol="0" anchor="ctr"/>
          <a:lstStyle/>
          <a:p>
            <a:pPr marL="0" indent="0" algn="ctr">
              <a:buNone/>
            </a:pPr>
            <a:r>
              <a:rPr lang="en-US" sz="1000" b="1" kern="0" spc="150" dirty="0">
                <a:solidFill>
                  <a:schemeClr val="bg1"/>
                </a:solidFill>
              </a:rPr>
              <a:t>CONSIDERATIONS FOR ADOPTION</a:t>
            </a:r>
            <a:endParaRPr lang="en-US" sz="1000" dirty="0"/>
          </a:p>
        </p:txBody>
      </p:sp>
      <p:sp>
        <p:nvSpPr>
          <p:cNvPr id="4" name="Text 2"/>
          <p:cNvSpPr txBox="1"/>
          <p:nvPr/>
        </p:nvSpPr>
        <p:spPr>
          <a:xfrm>
            <a:off x="457200" y="1234440"/>
            <a:ext cx="8229600" cy="365760"/>
          </a:xfrm>
          <a:prstGeom prst="rect">
            <a:avLst/>
          </a:prstGeom>
          <a:noFill/>
          <a:ln/>
        </p:spPr>
        <p:txBody>
          <a:bodyPr wrap="square" lIns="0" tIns="0" rIns="0" bIns="0" rtlCol="0" anchor="t"/>
          <a:lstStyle/>
          <a:p>
            <a:pPr marL="0" indent="0">
              <a:buNone/>
            </a:pPr>
            <a:r>
              <a:rPr lang="en-US" sz="1500" dirty="0">
                <a:solidFill>
                  <a:schemeClr val="tx1"/>
                </a:solidFill>
              </a:rPr>
              <a:t>Organizations must consider various factors before moving their business processes to the cloud.</a:t>
            </a:r>
            <a:endParaRPr lang="en-US" sz="1500" dirty="0"/>
          </a:p>
        </p:txBody>
      </p:sp>
      <p:sp>
        <p:nvSpPr>
          <p:cNvPr id="5" name="Card"/>
          <p:cNvSpPr/>
          <p:nvPr/>
        </p:nvSpPr>
        <p:spPr>
          <a:xfrm>
            <a:off x="457200" y="1783080"/>
            <a:ext cx="2560320" cy="2880360"/>
          </a:xfrm>
          <a:prstGeom prst="roundRect">
            <a:avLst>
              <a:gd name="adj" fmla="val 4286"/>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6" name="FaRocket circle"/>
          <p:cNvSpPr/>
          <p:nvPr/>
        </p:nvSpPr>
        <p:spPr>
          <a:xfrm>
            <a:off x="685800" y="1984248"/>
            <a:ext cx="548640" cy="548640"/>
          </a:xfrm>
          <a:prstGeom prst="ellipse">
            <a:avLst/>
          </a:prstGeom>
          <a:solidFill>
            <a:schemeClr val="accent5"/>
          </a:solidFill>
          <a:ln/>
        </p:spPr>
        <p:txBody>
          <a:bodyPr/>
          <a:lstStyle/>
          <a:p>
            <a:endParaRPr lang="en-RW"/>
          </a:p>
        </p:txBody>
      </p:sp>
      <p:pic>
        <p:nvPicPr>
          <p:cNvPr id="7" name="FaRocket icon" descr="preencoded.png"/>
          <p:cNvPicPr>
            <a:picLocks noChangeAspect="1"/>
          </p:cNvPicPr>
          <p:nvPr/>
        </p:nvPicPr>
        <p:blipFill>
          <a:blip r:embed="rId3"/>
          <a:stretch>
            <a:fillRect/>
          </a:stretch>
        </p:blipFill>
        <p:spPr>
          <a:xfrm>
            <a:off x="822960" y="2121408"/>
            <a:ext cx="274320" cy="274320"/>
          </a:xfrm>
          <a:prstGeom prst="rect">
            <a:avLst/>
          </a:prstGeom>
        </p:spPr>
      </p:pic>
      <p:sp>
        <p:nvSpPr>
          <p:cNvPr id="8" name="Pill"/>
          <p:cNvSpPr txBox="1"/>
          <p:nvPr/>
        </p:nvSpPr>
        <p:spPr>
          <a:xfrm>
            <a:off x="1828800" y="2112264"/>
            <a:ext cx="1005840" cy="292608"/>
          </a:xfrm>
          <a:prstGeom prst="roundRect">
            <a:avLst>
              <a:gd name="adj" fmla="val 46875"/>
            </a:avLst>
          </a:prstGeom>
          <a:solidFill>
            <a:schemeClr val="accent5"/>
          </a:solidFill>
          <a:ln/>
        </p:spPr>
        <p:txBody>
          <a:bodyPr wrap="square" lIns="0" tIns="0" rIns="0" bIns="0" rtlCol="0" anchor="ctr"/>
          <a:lstStyle/>
          <a:p>
            <a:pPr marL="0" indent="0" algn="ctr">
              <a:buNone/>
            </a:pPr>
            <a:r>
              <a:rPr lang="en-US" sz="1100" b="1" dirty="0">
                <a:solidFill>
                  <a:schemeClr val="tx1"/>
                </a:solidFill>
              </a:rPr>
              <a:t>PUBLIC</a:t>
            </a:r>
            <a:endParaRPr lang="en-US" sz="1100" dirty="0"/>
          </a:p>
        </p:txBody>
      </p:sp>
      <p:sp>
        <p:nvSpPr>
          <p:cNvPr id="9" name="Text 6"/>
          <p:cNvSpPr txBox="1"/>
          <p:nvPr/>
        </p:nvSpPr>
        <p:spPr>
          <a:xfrm>
            <a:off x="685800" y="2697480"/>
            <a:ext cx="2103120" cy="594360"/>
          </a:xfrm>
          <a:prstGeom prst="rect">
            <a:avLst/>
          </a:prstGeom>
          <a:noFill/>
          <a:ln/>
        </p:spPr>
        <p:txBody>
          <a:bodyPr wrap="square" lIns="0" tIns="0" rIns="0" bIns="0" rtlCol="0" anchor="t"/>
          <a:lstStyle/>
          <a:p>
            <a:pPr marL="0" indent="0">
              <a:buNone/>
            </a:pPr>
            <a:r>
              <a:rPr lang="en-US" sz="1700" b="1" dirty="0">
                <a:solidFill>
                  <a:schemeClr val="tx1"/>
                </a:solidFill>
              </a:rPr>
              <a:t>Startups</a:t>
            </a:r>
            <a:endParaRPr lang="en-US" sz="1700" dirty="0"/>
          </a:p>
        </p:txBody>
      </p:sp>
      <p:sp>
        <p:nvSpPr>
          <p:cNvPr id="10" name="Text 7"/>
          <p:cNvSpPr txBox="1"/>
          <p:nvPr/>
        </p:nvSpPr>
        <p:spPr>
          <a:xfrm>
            <a:off x="685800" y="3291840"/>
            <a:ext cx="2103120" cy="1325880"/>
          </a:xfrm>
          <a:prstGeom prst="rect">
            <a:avLst/>
          </a:prstGeom>
          <a:noFill/>
          <a:ln/>
        </p:spPr>
        <p:txBody>
          <a:bodyPr wrap="square" lIns="0" tIns="0" rIns="0" bIns="0" rtlCol="0" anchor="t"/>
          <a:lstStyle/>
          <a:p>
            <a:pPr marL="0" indent="0">
              <a:buNone/>
            </a:pPr>
            <a:r>
              <a:rPr lang="en-US" sz="1300" dirty="0">
                <a:solidFill>
                  <a:schemeClr val="tx1"/>
                </a:solidFill>
              </a:rPr>
              <a:t>The greatest barrier to entry for startups is capital. Public cloud's reduced costs outweigh other risks.</a:t>
            </a:r>
            <a:endParaRPr lang="en-US" sz="1300" dirty="0"/>
          </a:p>
        </p:txBody>
      </p:sp>
      <p:sp>
        <p:nvSpPr>
          <p:cNvPr id="11" name="Card"/>
          <p:cNvSpPr/>
          <p:nvPr/>
        </p:nvSpPr>
        <p:spPr>
          <a:xfrm>
            <a:off x="3291840" y="1783080"/>
            <a:ext cx="2560320" cy="2880360"/>
          </a:xfrm>
          <a:prstGeom prst="roundRect">
            <a:avLst>
              <a:gd name="adj" fmla="val 4286"/>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12" name="FaStore circle"/>
          <p:cNvSpPr/>
          <p:nvPr/>
        </p:nvSpPr>
        <p:spPr>
          <a:xfrm>
            <a:off x="3520440" y="1984248"/>
            <a:ext cx="548640" cy="548640"/>
          </a:xfrm>
          <a:prstGeom prst="ellipse">
            <a:avLst/>
          </a:prstGeom>
          <a:solidFill>
            <a:schemeClr val="accent1"/>
          </a:solidFill>
          <a:ln/>
        </p:spPr>
        <p:txBody>
          <a:bodyPr/>
          <a:lstStyle/>
          <a:p>
            <a:endParaRPr lang="en-RW"/>
          </a:p>
        </p:txBody>
      </p:sp>
      <p:pic>
        <p:nvPicPr>
          <p:cNvPr id="13" name="FaStore icon" descr="preencoded.png"/>
          <p:cNvPicPr>
            <a:picLocks noChangeAspect="1"/>
          </p:cNvPicPr>
          <p:nvPr/>
        </p:nvPicPr>
        <p:blipFill>
          <a:blip r:embed="rId4"/>
          <a:stretch>
            <a:fillRect/>
          </a:stretch>
        </p:blipFill>
        <p:spPr>
          <a:xfrm>
            <a:off x="3657600" y="2121408"/>
            <a:ext cx="274320" cy="274320"/>
          </a:xfrm>
          <a:prstGeom prst="rect">
            <a:avLst/>
          </a:prstGeom>
        </p:spPr>
      </p:pic>
      <p:sp>
        <p:nvSpPr>
          <p:cNvPr id="14" name="Pill"/>
          <p:cNvSpPr txBox="1"/>
          <p:nvPr/>
        </p:nvSpPr>
        <p:spPr>
          <a:xfrm>
            <a:off x="4663440" y="2112264"/>
            <a:ext cx="1005840" cy="292608"/>
          </a:xfrm>
          <a:prstGeom prst="roundRect">
            <a:avLst>
              <a:gd name="adj" fmla="val 46875"/>
            </a:avLst>
          </a:prstGeom>
          <a:solidFill>
            <a:schemeClr val="accent1"/>
          </a:solidFill>
          <a:ln/>
        </p:spPr>
        <p:txBody>
          <a:bodyPr wrap="square" lIns="0" tIns="0" rIns="0" bIns="0" rtlCol="0" anchor="ctr"/>
          <a:lstStyle/>
          <a:p>
            <a:pPr marL="0" indent="0" algn="ctr">
              <a:buNone/>
            </a:pPr>
            <a:r>
              <a:rPr lang="en-US" sz="1100" b="1" dirty="0">
                <a:solidFill>
                  <a:schemeClr val="bg1"/>
                </a:solidFill>
              </a:rPr>
              <a:t>HYBRID</a:t>
            </a:r>
            <a:endParaRPr lang="en-US" sz="1100" dirty="0"/>
          </a:p>
        </p:txBody>
      </p:sp>
      <p:sp>
        <p:nvSpPr>
          <p:cNvPr id="15" name="Text 11"/>
          <p:cNvSpPr txBox="1"/>
          <p:nvPr/>
        </p:nvSpPr>
        <p:spPr>
          <a:xfrm>
            <a:off x="3520440" y="2697480"/>
            <a:ext cx="2103120" cy="594360"/>
          </a:xfrm>
          <a:prstGeom prst="rect">
            <a:avLst/>
          </a:prstGeom>
          <a:noFill/>
          <a:ln/>
        </p:spPr>
        <p:txBody>
          <a:bodyPr wrap="square" lIns="0" tIns="0" rIns="0" bIns="0" rtlCol="0" anchor="t"/>
          <a:lstStyle/>
          <a:p>
            <a:pPr marL="0" indent="0">
              <a:buNone/>
            </a:pPr>
            <a:r>
              <a:rPr lang="en-US" sz="1700" b="1" dirty="0">
                <a:solidFill>
                  <a:schemeClr val="tx1"/>
                </a:solidFill>
              </a:rPr>
              <a:t>Small-to-medium businesses</a:t>
            </a:r>
            <a:endParaRPr lang="en-US" sz="1700" dirty="0"/>
          </a:p>
        </p:txBody>
      </p:sp>
      <p:sp>
        <p:nvSpPr>
          <p:cNvPr id="16" name="Text 12"/>
          <p:cNvSpPr txBox="1"/>
          <p:nvPr/>
        </p:nvSpPr>
        <p:spPr>
          <a:xfrm>
            <a:off x="3520440" y="3291840"/>
            <a:ext cx="2103120" cy="1325880"/>
          </a:xfrm>
          <a:prstGeom prst="rect">
            <a:avLst/>
          </a:prstGeom>
          <a:noFill/>
          <a:ln/>
        </p:spPr>
        <p:txBody>
          <a:bodyPr wrap="square" lIns="0" tIns="0" rIns="0" bIns="0" rtlCol="0" anchor="t"/>
          <a:lstStyle/>
          <a:p>
            <a:pPr marL="0" indent="0">
              <a:buNone/>
            </a:pPr>
            <a:r>
              <a:rPr lang="en-US" sz="1300" dirty="0">
                <a:solidFill>
                  <a:schemeClr val="tx1"/>
                </a:solidFill>
              </a:rPr>
              <a:t>With a moderate customer base, they may prefer hybrid: mission-critical apps on a private cloud, less critical apps in a public cloud.</a:t>
            </a:r>
            <a:endParaRPr lang="en-US" sz="1300" dirty="0"/>
          </a:p>
        </p:txBody>
      </p:sp>
      <p:sp>
        <p:nvSpPr>
          <p:cNvPr id="17" name="Card"/>
          <p:cNvSpPr/>
          <p:nvPr/>
        </p:nvSpPr>
        <p:spPr>
          <a:xfrm>
            <a:off x="6126480" y="1783080"/>
            <a:ext cx="2560320" cy="2880360"/>
          </a:xfrm>
          <a:prstGeom prst="roundRect">
            <a:avLst>
              <a:gd name="adj" fmla="val 4286"/>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18" name="FaLandmark circle"/>
          <p:cNvSpPr/>
          <p:nvPr/>
        </p:nvSpPr>
        <p:spPr>
          <a:xfrm>
            <a:off x="6355080" y="1984248"/>
            <a:ext cx="548640" cy="548640"/>
          </a:xfrm>
          <a:prstGeom prst="ellipse">
            <a:avLst/>
          </a:prstGeom>
          <a:solidFill>
            <a:schemeClr val="accent3"/>
          </a:solidFill>
          <a:ln/>
        </p:spPr>
        <p:txBody>
          <a:bodyPr/>
          <a:lstStyle/>
          <a:p>
            <a:endParaRPr lang="en-RW"/>
          </a:p>
        </p:txBody>
      </p:sp>
      <p:pic>
        <p:nvPicPr>
          <p:cNvPr id="19" name="FaLandmark icon" descr="preencoded.png"/>
          <p:cNvPicPr>
            <a:picLocks noChangeAspect="1"/>
          </p:cNvPicPr>
          <p:nvPr/>
        </p:nvPicPr>
        <p:blipFill>
          <a:blip r:embed="rId5"/>
          <a:stretch>
            <a:fillRect/>
          </a:stretch>
        </p:blipFill>
        <p:spPr>
          <a:xfrm>
            <a:off x="6492240" y="2121408"/>
            <a:ext cx="274320" cy="274320"/>
          </a:xfrm>
          <a:prstGeom prst="rect">
            <a:avLst/>
          </a:prstGeom>
        </p:spPr>
      </p:pic>
      <p:sp>
        <p:nvSpPr>
          <p:cNvPr id="20" name="Pill"/>
          <p:cNvSpPr txBox="1"/>
          <p:nvPr/>
        </p:nvSpPr>
        <p:spPr>
          <a:xfrm>
            <a:off x="7498080" y="2112264"/>
            <a:ext cx="1005840" cy="292608"/>
          </a:xfrm>
          <a:prstGeom prst="roundRect">
            <a:avLst>
              <a:gd name="adj" fmla="val 46875"/>
            </a:avLst>
          </a:prstGeom>
          <a:solidFill>
            <a:schemeClr val="accent3"/>
          </a:solidFill>
          <a:ln/>
        </p:spPr>
        <p:txBody>
          <a:bodyPr wrap="square" lIns="0" tIns="0" rIns="0" bIns="0" rtlCol="0" anchor="ctr"/>
          <a:lstStyle/>
          <a:p>
            <a:pPr marL="0" indent="0" algn="ctr">
              <a:buNone/>
            </a:pPr>
            <a:r>
              <a:rPr lang="en-US" sz="1100" b="1" dirty="0">
                <a:solidFill>
                  <a:schemeClr val="tx1"/>
                </a:solidFill>
              </a:rPr>
              <a:t>PRIVATE</a:t>
            </a:r>
            <a:endParaRPr lang="en-US" sz="1100" dirty="0"/>
          </a:p>
        </p:txBody>
      </p:sp>
      <p:sp>
        <p:nvSpPr>
          <p:cNvPr id="21" name="Text 16"/>
          <p:cNvSpPr txBox="1"/>
          <p:nvPr/>
        </p:nvSpPr>
        <p:spPr>
          <a:xfrm>
            <a:off x="6355080" y="2697480"/>
            <a:ext cx="2103120" cy="594360"/>
          </a:xfrm>
          <a:prstGeom prst="rect">
            <a:avLst/>
          </a:prstGeom>
          <a:noFill/>
          <a:ln/>
        </p:spPr>
        <p:txBody>
          <a:bodyPr wrap="square" lIns="0" tIns="0" rIns="0" bIns="0" rtlCol="0" anchor="t"/>
          <a:lstStyle/>
          <a:p>
            <a:pPr marL="0" indent="0">
              <a:buNone/>
            </a:pPr>
            <a:r>
              <a:rPr lang="en-US" sz="1700" b="1" dirty="0">
                <a:solidFill>
                  <a:schemeClr val="tx1"/>
                </a:solidFill>
              </a:rPr>
              <a:t>Enterprises</a:t>
            </a:r>
            <a:endParaRPr lang="en-US" sz="1700" dirty="0"/>
          </a:p>
        </p:txBody>
      </p:sp>
      <p:sp>
        <p:nvSpPr>
          <p:cNvPr id="22" name="Text 17"/>
          <p:cNvSpPr txBox="1"/>
          <p:nvPr/>
        </p:nvSpPr>
        <p:spPr>
          <a:xfrm>
            <a:off x="6355080" y="3291840"/>
            <a:ext cx="2103120" cy="1325880"/>
          </a:xfrm>
          <a:prstGeom prst="rect">
            <a:avLst/>
          </a:prstGeom>
          <a:noFill/>
          <a:ln/>
        </p:spPr>
        <p:txBody>
          <a:bodyPr wrap="square" lIns="0" tIns="0" rIns="0" bIns="0" rtlCol="0" anchor="t"/>
          <a:lstStyle/>
          <a:p>
            <a:pPr marL="0" indent="0">
              <a:buNone/>
            </a:pPr>
            <a:r>
              <a:rPr lang="en-US" sz="1300" dirty="0">
                <a:solidFill>
                  <a:schemeClr val="tx1"/>
                </a:solidFill>
              </a:rPr>
              <a:t>A large global customer base and financial strength: they may prefer private cloud to control data location, security, etc.</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5A7E"/>
                </a:solidFil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48640"/>
            <a:ext cx="8229600" cy="640080"/>
          </a:xfrm>
          <a:prstGeom prst="rect">
            <a:avLst/>
          </a:prstGeom>
          <a:noFill/>
          <a:ln/>
        </p:spPr>
        <p:txBody>
          <a:bodyPr wrap="square" lIns="0" tIns="0" rIns="0" bIns="0" rtlCol="0" anchor="ctr"/>
          <a:lstStyle/>
          <a:p>
            <a:pPr marL="0" indent="0" algn="l">
              <a:buNone/>
            </a:pPr>
            <a:r>
              <a:rPr lang="en-US" sz="3400" b="1" dirty="0">
                <a:solidFill>
                  <a:schemeClr val="tx1"/>
                </a:solidFill>
              </a:rPr>
              <a:t>Migrate or Retain?</a:t>
            </a:r>
            <a:endParaRPr lang="en-US" sz="3400" dirty="0"/>
          </a:p>
        </p:txBody>
      </p:sp>
      <p:sp>
        <p:nvSpPr>
          <p:cNvPr id="3" name="Section chip"/>
          <p:cNvSpPr txBox="1"/>
          <p:nvPr/>
        </p:nvSpPr>
        <p:spPr>
          <a:xfrm>
            <a:off x="457200" y="274320"/>
            <a:ext cx="2488997" cy="246888"/>
          </a:xfrm>
          <a:prstGeom prst="roundRect">
            <a:avLst>
              <a:gd name="adj" fmla="val 48148"/>
            </a:avLst>
          </a:prstGeom>
          <a:solidFill>
            <a:schemeClr val="accent1"/>
          </a:solidFill>
          <a:ln/>
        </p:spPr>
        <p:txBody>
          <a:bodyPr wrap="square" lIns="0" tIns="0" rIns="0" bIns="0" rtlCol="0" anchor="ctr"/>
          <a:lstStyle/>
          <a:p>
            <a:pPr marL="0" indent="0" algn="ctr">
              <a:buNone/>
            </a:pPr>
            <a:r>
              <a:rPr lang="en-US" sz="1000" b="1" kern="0" spc="150" dirty="0">
                <a:solidFill>
                  <a:schemeClr val="bg1"/>
                </a:solidFill>
              </a:rPr>
              <a:t>CONSIDERATIONS FOR ADOPTION</a:t>
            </a:r>
            <a:endParaRPr lang="en-US" sz="1000" dirty="0"/>
          </a:p>
        </p:txBody>
      </p:sp>
      <p:sp>
        <p:nvSpPr>
          <p:cNvPr id="4" name="Card"/>
          <p:cNvSpPr/>
          <p:nvPr/>
        </p:nvSpPr>
        <p:spPr>
          <a:xfrm>
            <a:off x="457200" y="1371600"/>
            <a:ext cx="4754880" cy="3291840"/>
          </a:xfrm>
          <a:prstGeom prst="roundRect">
            <a:avLst>
              <a:gd name="adj" fmla="val 3333"/>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5" name="Pill"/>
          <p:cNvSpPr txBox="1"/>
          <p:nvPr/>
        </p:nvSpPr>
        <p:spPr>
          <a:xfrm>
            <a:off x="640080" y="1508760"/>
            <a:ext cx="2651760" cy="292608"/>
          </a:xfrm>
          <a:prstGeom prst="roundRect">
            <a:avLst>
              <a:gd name="adj" fmla="val 46875"/>
            </a:avLst>
          </a:prstGeom>
          <a:solidFill>
            <a:schemeClr val="accent3"/>
          </a:solidFill>
          <a:ln/>
        </p:spPr>
        <p:txBody>
          <a:bodyPr wrap="square" lIns="0" tIns="0" rIns="0" bIns="0" rtlCol="0" anchor="ctr"/>
          <a:lstStyle/>
          <a:p>
            <a:pPr marL="0" indent="0" algn="ctr">
              <a:buNone/>
            </a:pPr>
            <a:r>
              <a:rPr lang="en-US" sz="1100" b="1" dirty="0">
                <a:solidFill>
                  <a:schemeClr val="tx1"/>
                </a:solidFill>
              </a:rPr>
              <a:t>KEEP ON-PREMISE / PRIVATE</a:t>
            </a:r>
            <a:endParaRPr lang="en-US" sz="1100" dirty="0"/>
          </a:p>
        </p:txBody>
      </p:sp>
      <p:sp>
        <p:nvSpPr>
          <p:cNvPr id="6" name="Text 4"/>
          <p:cNvSpPr txBox="1"/>
          <p:nvPr/>
        </p:nvSpPr>
        <p:spPr>
          <a:xfrm>
            <a:off x="685800" y="1965960"/>
            <a:ext cx="4297680" cy="2651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Mission-critical applications are best run on-premise or in the private cloud.</a:t>
            </a:r>
            <a:endParaRPr lang="en-US" sz="1400" dirty="0"/>
          </a:p>
          <a:p>
            <a:pPr marL="342900" indent="-342900">
              <a:spcAft>
                <a:spcPts val="800"/>
              </a:spcAft>
              <a:buSzPct val="100000"/>
              <a:buChar char="•"/>
            </a:pPr>
            <a:r>
              <a:rPr lang="en-US" sz="1400" dirty="0">
                <a:solidFill>
                  <a:schemeClr val="tx1"/>
                </a:solidFill>
              </a:rPr>
              <a:t>Regulatory and compliance requirements may prevent moving sensitive data to the public cloud.</a:t>
            </a:r>
            <a:endParaRPr lang="en-US" sz="1400" dirty="0"/>
          </a:p>
          <a:p>
            <a:pPr marL="342900" indent="-342900">
              <a:spcAft>
                <a:spcPts val="800"/>
              </a:spcAft>
              <a:buSzPct val="100000"/>
              <a:buChar char="•"/>
            </a:pPr>
            <a:r>
              <a:rPr lang="en-US" sz="1400" dirty="0">
                <a:solidFill>
                  <a:schemeClr val="tx1"/>
                </a:solidFill>
              </a:rPr>
              <a:t>Legacy or proprietary-technology applications should run in-house.</a:t>
            </a:r>
            <a:endParaRPr lang="en-US" sz="1400" dirty="0"/>
          </a:p>
          <a:p>
            <a:pPr marL="342900" indent="-342900">
              <a:buSzPct val="100000"/>
              <a:buChar char="•"/>
            </a:pPr>
            <a:r>
              <a:rPr lang="en-US" sz="1400" dirty="0">
                <a:solidFill>
                  <a:schemeClr val="tx1"/>
                </a:solidFill>
              </a:rPr>
              <a:t>Apps depending on resources in a private data center may suffer latency if migrated.</a:t>
            </a:r>
            <a:endParaRPr lang="en-US" sz="1400" dirty="0"/>
          </a:p>
        </p:txBody>
      </p:sp>
      <p:sp>
        <p:nvSpPr>
          <p:cNvPr id="7" name="Card"/>
          <p:cNvSpPr/>
          <p:nvPr/>
        </p:nvSpPr>
        <p:spPr>
          <a:xfrm>
            <a:off x="5394960" y="1371600"/>
            <a:ext cx="3291840" cy="3291840"/>
          </a:xfrm>
          <a:prstGeom prst="roundRect">
            <a:avLst>
              <a:gd name="adj" fmla="val 3333"/>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8" name="Pill"/>
          <p:cNvSpPr txBox="1"/>
          <p:nvPr/>
        </p:nvSpPr>
        <p:spPr>
          <a:xfrm>
            <a:off x="5577840" y="1508760"/>
            <a:ext cx="2286000" cy="292608"/>
          </a:xfrm>
          <a:prstGeom prst="roundRect">
            <a:avLst>
              <a:gd name="adj" fmla="val 46875"/>
            </a:avLst>
          </a:prstGeom>
          <a:solidFill>
            <a:schemeClr val="accent2"/>
          </a:solidFill>
          <a:ln/>
        </p:spPr>
        <p:txBody>
          <a:bodyPr wrap="square" lIns="0" tIns="0" rIns="0" bIns="0" rtlCol="0" anchor="ctr"/>
          <a:lstStyle/>
          <a:p>
            <a:pPr marL="0" indent="0" algn="ctr">
              <a:buNone/>
            </a:pPr>
            <a:r>
              <a:rPr lang="en-US" sz="1100" b="1" dirty="0">
                <a:solidFill>
                  <a:schemeClr val="tx1"/>
                </a:solidFill>
              </a:rPr>
              <a:t>GOOD FIT: PUBLIC CLOUD</a:t>
            </a:r>
            <a:endParaRPr lang="en-US" sz="1100" dirty="0"/>
          </a:p>
        </p:txBody>
      </p:sp>
      <p:sp>
        <p:nvSpPr>
          <p:cNvPr id="9" name="Text 7"/>
          <p:cNvSpPr txBox="1"/>
          <p:nvPr/>
        </p:nvSpPr>
        <p:spPr>
          <a:xfrm>
            <a:off x="5577840" y="1965960"/>
            <a:ext cx="2926080" cy="457200"/>
          </a:xfrm>
          <a:prstGeom prst="rect">
            <a:avLst/>
          </a:prstGeom>
          <a:noFill/>
          <a:ln/>
        </p:spPr>
        <p:txBody>
          <a:bodyPr wrap="square" lIns="0" tIns="0" rIns="0" bIns="0" rtlCol="0" anchor="t"/>
          <a:lstStyle/>
          <a:p>
            <a:pPr marL="0" indent="0">
              <a:buNone/>
            </a:pPr>
            <a:r>
              <a:rPr lang="en-US" sz="1400" b="1" dirty="0">
                <a:solidFill>
                  <a:schemeClr val="tx1"/>
                </a:solidFill>
              </a:rPr>
              <a:t>Non-critical, low-risk applications:</a:t>
            </a:r>
            <a:endParaRPr lang="en-US" sz="1400" dirty="0"/>
          </a:p>
        </p:txBody>
      </p:sp>
      <p:sp>
        <p:nvSpPr>
          <p:cNvPr id="10" name="FaEnvelope circle"/>
          <p:cNvSpPr/>
          <p:nvPr/>
        </p:nvSpPr>
        <p:spPr>
          <a:xfrm>
            <a:off x="5577840" y="2583180"/>
            <a:ext cx="411480" cy="411480"/>
          </a:xfrm>
          <a:prstGeom prst="ellipse">
            <a:avLst/>
          </a:prstGeom>
          <a:solidFill>
            <a:schemeClr val="accent5"/>
          </a:solidFill>
          <a:ln/>
        </p:spPr>
        <p:txBody>
          <a:bodyPr/>
          <a:lstStyle/>
          <a:p>
            <a:endParaRPr lang="en-RW"/>
          </a:p>
        </p:txBody>
      </p:sp>
      <p:pic>
        <p:nvPicPr>
          <p:cNvPr id="11" name="FaEnvelope icon" descr="preencoded.png"/>
          <p:cNvPicPr>
            <a:picLocks noChangeAspect="1"/>
          </p:cNvPicPr>
          <p:nvPr/>
        </p:nvPicPr>
        <p:blipFill>
          <a:blip r:embed="rId3"/>
          <a:stretch>
            <a:fillRect/>
          </a:stretch>
        </p:blipFill>
        <p:spPr>
          <a:xfrm>
            <a:off x="5680710" y="2686050"/>
            <a:ext cx="205740" cy="205740"/>
          </a:xfrm>
          <a:prstGeom prst="rect">
            <a:avLst/>
          </a:prstGeom>
        </p:spPr>
      </p:pic>
      <p:sp>
        <p:nvSpPr>
          <p:cNvPr id="12" name="Text 9"/>
          <p:cNvSpPr txBox="1"/>
          <p:nvPr/>
        </p:nvSpPr>
        <p:spPr>
          <a:xfrm>
            <a:off x="6172200" y="2468880"/>
            <a:ext cx="2423160" cy="640080"/>
          </a:xfrm>
          <a:prstGeom prst="rect">
            <a:avLst/>
          </a:prstGeom>
          <a:noFill/>
          <a:ln/>
        </p:spPr>
        <p:txBody>
          <a:bodyPr wrap="square" lIns="0" tIns="0" rIns="0" bIns="0" rtlCol="0" anchor="ctr"/>
          <a:lstStyle/>
          <a:p>
            <a:pPr marL="0" indent="0">
              <a:buNone/>
            </a:pPr>
            <a:r>
              <a:rPr lang="en-US" sz="1300" dirty="0">
                <a:solidFill>
                  <a:schemeClr val="tx1"/>
                </a:solidFill>
              </a:rPr>
              <a:t>Collaboration (email, web conferencing)</a:t>
            </a:r>
            <a:endParaRPr lang="en-US" sz="1300" dirty="0"/>
          </a:p>
        </p:txBody>
      </p:sp>
      <p:sp>
        <p:nvSpPr>
          <p:cNvPr id="13" name="FaFileAlt circle"/>
          <p:cNvSpPr/>
          <p:nvPr/>
        </p:nvSpPr>
        <p:spPr>
          <a:xfrm>
            <a:off x="5577840" y="3360420"/>
            <a:ext cx="411480" cy="411480"/>
          </a:xfrm>
          <a:prstGeom prst="ellipse">
            <a:avLst/>
          </a:prstGeom>
          <a:solidFill>
            <a:schemeClr val="accent1"/>
          </a:solidFill>
          <a:ln/>
        </p:spPr>
        <p:txBody>
          <a:bodyPr/>
          <a:lstStyle/>
          <a:p>
            <a:endParaRPr lang="en-RW"/>
          </a:p>
        </p:txBody>
      </p:sp>
      <p:pic>
        <p:nvPicPr>
          <p:cNvPr id="14" name="FaFileAlt icon" descr="preencoded.png"/>
          <p:cNvPicPr>
            <a:picLocks noChangeAspect="1"/>
          </p:cNvPicPr>
          <p:nvPr/>
        </p:nvPicPr>
        <p:blipFill>
          <a:blip r:embed="rId4"/>
          <a:stretch>
            <a:fillRect/>
          </a:stretch>
        </p:blipFill>
        <p:spPr>
          <a:xfrm>
            <a:off x="5680710" y="3463290"/>
            <a:ext cx="205740" cy="205740"/>
          </a:xfrm>
          <a:prstGeom prst="rect">
            <a:avLst/>
          </a:prstGeom>
        </p:spPr>
      </p:pic>
      <p:sp>
        <p:nvSpPr>
          <p:cNvPr id="15" name="Text 11"/>
          <p:cNvSpPr txBox="1"/>
          <p:nvPr/>
        </p:nvSpPr>
        <p:spPr>
          <a:xfrm>
            <a:off x="6172200" y="3200400"/>
            <a:ext cx="2423160" cy="731520"/>
          </a:xfrm>
          <a:prstGeom prst="rect">
            <a:avLst/>
          </a:prstGeom>
          <a:noFill/>
          <a:ln/>
        </p:spPr>
        <p:txBody>
          <a:bodyPr wrap="square" lIns="0" tIns="0" rIns="0" bIns="0" rtlCol="0" anchor="ctr"/>
          <a:lstStyle/>
          <a:p>
            <a:pPr marL="0" indent="0">
              <a:buNone/>
            </a:pPr>
            <a:r>
              <a:rPr lang="en-US" sz="1300" dirty="0">
                <a:solidFill>
                  <a:schemeClr val="tx1"/>
                </a:solidFill>
              </a:rPr>
              <a:t>Personal productivity (word processing, spreadsheets)</a:t>
            </a:r>
            <a:endParaRPr lang="en-US" sz="1300" dirty="0"/>
          </a:p>
        </p:txBody>
      </p:sp>
      <p:sp>
        <p:nvSpPr>
          <p:cNvPr id="16" name="FaFlask circle"/>
          <p:cNvSpPr/>
          <p:nvPr/>
        </p:nvSpPr>
        <p:spPr>
          <a:xfrm>
            <a:off x="5577840" y="4046220"/>
            <a:ext cx="411480" cy="411480"/>
          </a:xfrm>
          <a:prstGeom prst="ellipse">
            <a:avLst/>
          </a:prstGeom>
          <a:solidFill>
            <a:schemeClr val="accent4"/>
          </a:solidFill>
          <a:ln/>
        </p:spPr>
        <p:txBody>
          <a:bodyPr/>
          <a:lstStyle/>
          <a:p>
            <a:endParaRPr lang="en-RW"/>
          </a:p>
        </p:txBody>
      </p:sp>
      <p:pic>
        <p:nvPicPr>
          <p:cNvPr id="17" name="FaFlask icon" descr="preencoded.png"/>
          <p:cNvPicPr>
            <a:picLocks noChangeAspect="1"/>
          </p:cNvPicPr>
          <p:nvPr/>
        </p:nvPicPr>
        <p:blipFill>
          <a:blip r:embed="rId5"/>
          <a:stretch>
            <a:fillRect/>
          </a:stretch>
        </p:blipFill>
        <p:spPr>
          <a:xfrm>
            <a:off x="5680710" y="4149090"/>
            <a:ext cx="205740" cy="205740"/>
          </a:xfrm>
          <a:prstGeom prst="rect">
            <a:avLst/>
          </a:prstGeom>
        </p:spPr>
      </p:pic>
      <p:sp>
        <p:nvSpPr>
          <p:cNvPr id="18" name="Text 13"/>
          <p:cNvSpPr txBox="1"/>
          <p:nvPr/>
        </p:nvSpPr>
        <p:spPr>
          <a:xfrm>
            <a:off x="6172200" y="3977640"/>
            <a:ext cx="2423160" cy="548640"/>
          </a:xfrm>
          <a:prstGeom prst="rect">
            <a:avLst/>
          </a:prstGeom>
          <a:noFill/>
          <a:ln/>
        </p:spPr>
        <p:txBody>
          <a:bodyPr wrap="square" lIns="0" tIns="0" rIns="0" bIns="0" rtlCol="0" anchor="ctr"/>
          <a:lstStyle/>
          <a:p>
            <a:pPr marL="0" indent="0">
              <a:buNone/>
            </a:pPr>
            <a:r>
              <a:rPr lang="en-US" sz="1300" dirty="0">
                <a:solidFill>
                  <a:schemeClr val="tx1"/>
                </a:solidFill>
              </a:rPr>
              <a:t>Development and testing</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5A7E"/>
                </a:solidFill>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48640"/>
            <a:ext cx="8229600" cy="640080"/>
          </a:xfrm>
          <a:prstGeom prst="rect">
            <a:avLst/>
          </a:prstGeom>
          <a:noFill/>
          <a:ln/>
        </p:spPr>
        <p:txBody>
          <a:bodyPr wrap="square" lIns="0" tIns="0" rIns="0" bIns="0" rtlCol="0" anchor="ctr"/>
          <a:lstStyle/>
          <a:p>
            <a:pPr marL="0" indent="0" algn="l">
              <a:buNone/>
            </a:pPr>
            <a:r>
              <a:rPr lang="en-US" sz="3400" b="1" dirty="0">
                <a:solidFill>
                  <a:schemeClr val="tx1"/>
                </a:solidFill>
              </a:rPr>
              <a:t>Choosing a Cloud Provider</a:t>
            </a:r>
            <a:endParaRPr lang="en-US" sz="3400" dirty="0"/>
          </a:p>
        </p:txBody>
      </p:sp>
      <p:sp>
        <p:nvSpPr>
          <p:cNvPr id="3" name="Section chip"/>
          <p:cNvSpPr txBox="1"/>
          <p:nvPr/>
        </p:nvSpPr>
        <p:spPr>
          <a:xfrm>
            <a:off x="457200" y="274320"/>
            <a:ext cx="2488997" cy="246888"/>
          </a:xfrm>
          <a:prstGeom prst="roundRect">
            <a:avLst>
              <a:gd name="adj" fmla="val 48148"/>
            </a:avLst>
          </a:prstGeom>
          <a:solidFill>
            <a:schemeClr val="accent1"/>
          </a:solidFill>
          <a:ln/>
        </p:spPr>
        <p:txBody>
          <a:bodyPr wrap="square" lIns="0" tIns="0" rIns="0" bIns="0" rtlCol="0" anchor="ctr"/>
          <a:lstStyle/>
          <a:p>
            <a:pPr marL="0" indent="0" algn="ctr">
              <a:buNone/>
            </a:pPr>
            <a:r>
              <a:rPr lang="en-US" sz="1000" b="1" kern="0" spc="150" dirty="0">
                <a:solidFill>
                  <a:schemeClr val="bg1"/>
                </a:solidFill>
              </a:rPr>
              <a:t>CONSIDERATIONS FOR ADOPTION</a:t>
            </a:r>
            <a:endParaRPr lang="en-US" sz="1000" dirty="0"/>
          </a:p>
        </p:txBody>
      </p:sp>
      <p:sp>
        <p:nvSpPr>
          <p:cNvPr id="4" name="Card"/>
          <p:cNvSpPr/>
          <p:nvPr/>
        </p:nvSpPr>
        <p:spPr>
          <a:xfrm>
            <a:off x="457200" y="1371600"/>
            <a:ext cx="8229600" cy="576072"/>
          </a:xfrm>
          <a:prstGeom prst="roundRect">
            <a:avLst>
              <a:gd name="adj" fmla="val 19048"/>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5" name="Question number"/>
          <p:cNvSpPr/>
          <p:nvPr/>
        </p:nvSpPr>
        <p:spPr>
          <a:xfrm>
            <a:off x="594360" y="1463040"/>
            <a:ext cx="393192" cy="393192"/>
          </a:xfrm>
          <a:prstGeom prst="ellipse">
            <a:avLst/>
          </a:prstGeom>
          <a:solidFill>
            <a:schemeClr val="accent1"/>
          </a:solidFill>
          <a:ln/>
        </p:spPr>
        <p:txBody>
          <a:bodyPr/>
          <a:lstStyle/>
          <a:p>
            <a:endParaRPr lang="en-RW"/>
          </a:p>
        </p:txBody>
      </p:sp>
      <p:sp>
        <p:nvSpPr>
          <p:cNvPr id="6" name="Text 4"/>
          <p:cNvSpPr txBox="1"/>
          <p:nvPr/>
        </p:nvSpPr>
        <p:spPr>
          <a:xfrm>
            <a:off x="594360" y="1463040"/>
            <a:ext cx="393192" cy="393192"/>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7" name="Text 5"/>
          <p:cNvSpPr txBox="1"/>
          <p:nvPr/>
        </p:nvSpPr>
        <p:spPr>
          <a:xfrm>
            <a:off x="1188720" y="1371600"/>
            <a:ext cx="7315200" cy="576072"/>
          </a:xfrm>
          <a:prstGeom prst="rect">
            <a:avLst/>
          </a:prstGeom>
          <a:noFill/>
          <a:ln/>
        </p:spPr>
        <p:txBody>
          <a:bodyPr wrap="square" lIns="0" tIns="0" rIns="0" bIns="0" rtlCol="0" anchor="ctr"/>
          <a:lstStyle/>
          <a:p>
            <a:pPr marL="0" indent="0">
              <a:buNone/>
            </a:pPr>
            <a:r>
              <a:rPr lang="en-US" sz="1500" dirty="0">
                <a:solidFill>
                  <a:schemeClr val="tx1"/>
                </a:solidFill>
              </a:rPr>
              <a:t>How long has the provider been in business?</a:t>
            </a:r>
            <a:endParaRPr lang="en-US" sz="1500" dirty="0"/>
          </a:p>
        </p:txBody>
      </p:sp>
      <p:sp>
        <p:nvSpPr>
          <p:cNvPr id="8" name="Card"/>
          <p:cNvSpPr/>
          <p:nvPr/>
        </p:nvSpPr>
        <p:spPr>
          <a:xfrm>
            <a:off x="457200" y="2039112"/>
            <a:ext cx="8229600" cy="576072"/>
          </a:xfrm>
          <a:prstGeom prst="roundRect">
            <a:avLst>
              <a:gd name="adj" fmla="val 19048"/>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9" name="Question number"/>
          <p:cNvSpPr/>
          <p:nvPr/>
        </p:nvSpPr>
        <p:spPr>
          <a:xfrm>
            <a:off x="594360" y="2130552"/>
            <a:ext cx="393192" cy="393192"/>
          </a:xfrm>
          <a:prstGeom prst="ellipse">
            <a:avLst/>
          </a:prstGeom>
          <a:solidFill>
            <a:schemeClr val="accent1"/>
          </a:solidFill>
          <a:ln/>
        </p:spPr>
        <p:txBody>
          <a:bodyPr/>
          <a:lstStyle/>
          <a:p>
            <a:endParaRPr lang="en-RW"/>
          </a:p>
        </p:txBody>
      </p:sp>
      <p:sp>
        <p:nvSpPr>
          <p:cNvPr id="10" name="Text 8"/>
          <p:cNvSpPr txBox="1"/>
          <p:nvPr/>
        </p:nvSpPr>
        <p:spPr>
          <a:xfrm>
            <a:off x="594360" y="2130552"/>
            <a:ext cx="393192" cy="393192"/>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1" name="Text 9"/>
          <p:cNvSpPr txBox="1"/>
          <p:nvPr/>
        </p:nvSpPr>
        <p:spPr>
          <a:xfrm>
            <a:off x="1188720" y="2039112"/>
            <a:ext cx="7315200" cy="576072"/>
          </a:xfrm>
          <a:prstGeom prst="rect">
            <a:avLst/>
          </a:prstGeom>
          <a:noFill/>
          <a:ln/>
        </p:spPr>
        <p:txBody>
          <a:bodyPr wrap="square" lIns="0" tIns="0" rIns="0" bIns="0" rtlCol="0" anchor="ctr"/>
          <a:lstStyle/>
          <a:p>
            <a:pPr marL="0" indent="0">
              <a:buNone/>
            </a:pPr>
            <a:r>
              <a:rPr lang="en-US" sz="1500" dirty="0">
                <a:solidFill>
                  <a:schemeClr val="tx1"/>
                </a:solidFill>
              </a:rPr>
              <a:t>Can the provider meet the current and future requirements of the organization?</a:t>
            </a:r>
            <a:endParaRPr lang="en-US" sz="1500" dirty="0"/>
          </a:p>
        </p:txBody>
      </p:sp>
      <p:sp>
        <p:nvSpPr>
          <p:cNvPr id="12" name="Card"/>
          <p:cNvSpPr/>
          <p:nvPr/>
        </p:nvSpPr>
        <p:spPr>
          <a:xfrm>
            <a:off x="457200" y="2706624"/>
            <a:ext cx="8229600" cy="576072"/>
          </a:xfrm>
          <a:prstGeom prst="roundRect">
            <a:avLst>
              <a:gd name="adj" fmla="val 19048"/>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13" name="Question number"/>
          <p:cNvSpPr/>
          <p:nvPr/>
        </p:nvSpPr>
        <p:spPr>
          <a:xfrm>
            <a:off x="594360" y="2798064"/>
            <a:ext cx="393192" cy="393192"/>
          </a:xfrm>
          <a:prstGeom prst="ellipse">
            <a:avLst/>
          </a:prstGeom>
          <a:solidFill>
            <a:schemeClr val="accent1"/>
          </a:solidFill>
          <a:ln/>
        </p:spPr>
        <p:txBody>
          <a:bodyPr/>
          <a:lstStyle/>
          <a:p>
            <a:endParaRPr lang="en-RW"/>
          </a:p>
        </p:txBody>
      </p:sp>
      <p:sp>
        <p:nvSpPr>
          <p:cNvPr id="14" name="Text 12"/>
          <p:cNvSpPr txBox="1"/>
          <p:nvPr/>
        </p:nvSpPr>
        <p:spPr>
          <a:xfrm>
            <a:off x="594360" y="2798064"/>
            <a:ext cx="393192" cy="393192"/>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5" name="Text 13"/>
          <p:cNvSpPr txBox="1"/>
          <p:nvPr/>
        </p:nvSpPr>
        <p:spPr>
          <a:xfrm>
            <a:off x="1188720" y="2706624"/>
            <a:ext cx="7315200" cy="576072"/>
          </a:xfrm>
          <a:prstGeom prst="rect">
            <a:avLst/>
          </a:prstGeom>
          <a:noFill/>
          <a:ln/>
        </p:spPr>
        <p:txBody>
          <a:bodyPr wrap="square" lIns="0" tIns="0" rIns="0" bIns="0" rtlCol="0" anchor="ctr"/>
          <a:lstStyle/>
          <a:p>
            <a:pPr marL="0" indent="0">
              <a:buNone/>
            </a:pPr>
            <a:r>
              <a:rPr lang="en-US" sz="1500" dirty="0">
                <a:solidFill>
                  <a:schemeClr val="tx1"/>
                </a:solidFill>
              </a:rPr>
              <a:t>How easy is it to add or remove services?</a:t>
            </a:r>
            <a:endParaRPr lang="en-US" sz="1500" dirty="0"/>
          </a:p>
        </p:txBody>
      </p:sp>
      <p:sp>
        <p:nvSpPr>
          <p:cNvPr id="16" name="Card"/>
          <p:cNvSpPr/>
          <p:nvPr/>
        </p:nvSpPr>
        <p:spPr>
          <a:xfrm>
            <a:off x="457200" y="3374136"/>
            <a:ext cx="8229600" cy="576072"/>
          </a:xfrm>
          <a:prstGeom prst="roundRect">
            <a:avLst>
              <a:gd name="adj" fmla="val 19048"/>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17" name="Question number"/>
          <p:cNvSpPr/>
          <p:nvPr/>
        </p:nvSpPr>
        <p:spPr>
          <a:xfrm>
            <a:off x="594360" y="3465576"/>
            <a:ext cx="393192" cy="393192"/>
          </a:xfrm>
          <a:prstGeom prst="ellipse">
            <a:avLst/>
          </a:prstGeom>
          <a:solidFill>
            <a:schemeClr val="accent1"/>
          </a:solidFill>
          <a:ln/>
        </p:spPr>
        <p:txBody>
          <a:bodyPr/>
          <a:lstStyle/>
          <a:p>
            <a:endParaRPr lang="en-RW"/>
          </a:p>
        </p:txBody>
      </p:sp>
      <p:sp>
        <p:nvSpPr>
          <p:cNvPr id="18" name="Text 16"/>
          <p:cNvSpPr txBox="1"/>
          <p:nvPr/>
        </p:nvSpPr>
        <p:spPr>
          <a:xfrm>
            <a:off x="594360" y="3465576"/>
            <a:ext cx="393192" cy="393192"/>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19" name="Text 17"/>
          <p:cNvSpPr txBox="1"/>
          <p:nvPr/>
        </p:nvSpPr>
        <p:spPr>
          <a:xfrm>
            <a:off x="1188720" y="3374136"/>
            <a:ext cx="7315200" cy="576072"/>
          </a:xfrm>
          <a:prstGeom prst="rect">
            <a:avLst/>
          </a:prstGeom>
          <a:noFill/>
          <a:ln/>
        </p:spPr>
        <p:txBody>
          <a:bodyPr wrap="square" lIns="0" tIns="0" rIns="0" bIns="0" rtlCol="0" anchor="ctr"/>
          <a:lstStyle/>
          <a:p>
            <a:pPr marL="0" indent="0">
              <a:buNone/>
            </a:pPr>
            <a:r>
              <a:rPr lang="en-US" sz="1500" dirty="0">
                <a:solidFill>
                  <a:schemeClr val="tx1"/>
                </a:solidFill>
              </a:rPr>
              <a:t>Can applications and services be easily transferred to another provider at the end of the contract?</a:t>
            </a:r>
            <a:endParaRPr lang="en-US" sz="1500" dirty="0"/>
          </a:p>
        </p:txBody>
      </p:sp>
      <p:sp>
        <p:nvSpPr>
          <p:cNvPr id="20" name="Card"/>
          <p:cNvSpPr/>
          <p:nvPr/>
        </p:nvSpPr>
        <p:spPr>
          <a:xfrm>
            <a:off x="457200" y="4041648"/>
            <a:ext cx="8229600" cy="576072"/>
          </a:xfrm>
          <a:prstGeom prst="roundRect">
            <a:avLst>
              <a:gd name="adj" fmla="val 19048"/>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21" name="Question number"/>
          <p:cNvSpPr/>
          <p:nvPr/>
        </p:nvSpPr>
        <p:spPr>
          <a:xfrm>
            <a:off x="594360" y="4133088"/>
            <a:ext cx="393192" cy="393192"/>
          </a:xfrm>
          <a:prstGeom prst="ellipse">
            <a:avLst/>
          </a:prstGeom>
          <a:solidFill>
            <a:schemeClr val="accent1"/>
          </a:solidFill>
          <a:ln/>
        </p:spPr>
        <p:txBody>
          <a:bodyPr/>
          <a:lstStyle/>
          <a:p>
            <a:endParaRPr lang="en-RW"/>
          </a:p>
        </p:txBody>
      </p:sp>
      <p:sp>
        <p:nvSpPr>
          <p:cNvPr id="22" name="Text 20"/>
          <p:cNvSpPr txBox="1"/>
          <p:nvPr/>
        </p:nvSpPr>
        <p:spPr>
          <a:xfrm>
            <a:off x="594360" y="4133088"/>
            <a:ext cx="393192" cy="393192"/>
          </a:xfrm>
          <a:prstGeom prst="rect">
            <a:avLst/>
          </a:prstGeom>
          <a:no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23" name="Text 21"/>
          <p:cNvSpPr txBox="1"/>
          <p:nvPr/>
        </p:nvSpPr>
        <p:spPr>
          <a:xfrm>
            <a:off x="1188720" y="4041648"/>
            <a:ext cx="7315200" cy="576072"/>
          </a:xfrm>
          <a:prstGeom prst="rect">
            <a:avLst/>
          </a:prstGeom>
          <a:noFill/>
          <a:ln/>
        </p:spPr>
        <p:txBody>
          <a:bodyPr wrap="square" lIns="0" tIns="0" rIns="0" bIns="0" rtlCol="0" anchor="ctr"/>
          <a:lstStyle/>
          <a:p>
            <a:pPr marL="0" indent="0">
              <a:buNone/>
            </a:pPr>
            <a:r>
              <a:rPr lang="en-US" sz="1500" dirty="0">
                <a:solidFill>
                  <a:schemeClr val="tx1"/>
                </a:solidFill>
              </a:rPr>
              <a:t>Does the provider notify clients of maintenance windows, and is that downtime scheduled?</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5A7E"/>
                </a:solidFill>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48640"/>
            <a:ext cx="8229600" cy="640080"/>
          </a:xfrm>
          <a:prstGeom prst="rect">
            <a:avLst/>
          </a:prstGeom>
          <a:noFill/>
          <a:ln/>
        </p:spPr>
        <p:txBody>
          <a:bodyPr wrap="square" lIns="0" tIns="0" rIns="0" bIns="0" rtlCol="0" anchor="ctr"/>
          <a:lstStyle/>
          <a:p>
            <a:pPr marL="0" indent="0" algn="l">
              <a:buNone/>
            </a:pPr>
            <a:r>
              <a:rPr lang="en-US" sz="3400" b="1" dirty="0">
                <a:solidFill>
                  <a:schemeClr val="tx1"/>
                </a:solidFill>
              </a:rPr>
              <a:t>Is There a Cost Advantage?</a:t>
            </a:r>
            <a:endParaRPr lang="en-US" sz="3400" dirty="0"/>
          </a:p>
        </p:txBody>
      </p:sp>
      <p:sp>
        <p:nvSpPr>
          <p:cNvPr id="3" name="Section chip"/>
          <p:cNvSpPr txBox="1"/>
          <p:nvPr/>
        </p:nvSpPr>
        <p:spPr>
          <a:xfrm>
            <a:off x="457200" y="274320"/>
            <a:ext cx="2488997" cy="246888"/>
          </a:xfrm>
          <a:prstGeom prst="roundRect">
            <a:avLst>
              <a:gd name="adj" fmla="val 48148"/>
            </a:avLst>
          </a:prstGeom>
          <a:solidFill>
            <a:schemeClr val="accent1"/>
          </a:solidFill>
          <a:ln/>
        </p:spPr>
        <p:txBody>
          <a:bodyPr wrap="square" lIns="0" tIns="0" rIns="0" bIns="0" rtlCol="0" anchor="ctr"/>
          <a:lstStyle/>
          <a:p>
            <a:pPr marL="0" indent="0" algn="ctr">
              <a:buNone/>
            </a:pPr>
            <a:r>
              <a:rPr lang="en-US" sz="1000" b="1" kern="0" spc="150" dirty="0">
                <a:solidFill>
                  <a:schemeClr val="bg1"/>
                </a:solidFill>
              </a:rPr>
              <a:t>CONSIDERATIONS FOR ADOPTION</a:t>
            </a:r>
            <a:endParaRPr lang="en-US" sz="1000" dirty="0"/>
          </a:p>
        </p:txBody>
      </p:sp>
      <p:sp>
        <p:nvSpPr>
          <p:cNvPr id="4" name="Text 2"/>
          <p:cNvSpPr txBox="1"/>
          <p:nvPr/>
        </p:nvSpPr>
        <p:spPr>
          <a:xfrm>
            <a:off x="457200" y="1234440"/>
            <a:ext cx="8229600" cy="411480"/>
          </a:xfrm>
          <a:prstGeom prst="rect">
            <a:avLst/>
          </a:prstGeom>
          <a:noFill/>
          <a:ln/>
        </p:spPr>
        <p:txBody>
          <a:bodyPr wrap="square" lIns="0" tIns="0" rIns="0" bIns="0" rtlCol="0" anchor="t"/>
          <a:lstStyle/>
          <a:p>
            <a:pPr marL="0" indent="0">
              <a:buNone/>
            </a:pPr>
            <a:r>
              <a:rPr lang="en-US" sz="1500" dirty="0">
                <a:solidFill>
                  <a:schemeClr val="tx1"/>
                </a:solidFill>
              </a:rPr>
              <a:t>Compare the </a:t>
            </a:r>
            <a:r>
              <a:rPr lang="en-US" sz="1500" b="1" dirty="0">
                <a:solidFill>
                  <a:schemeClr val="tx1"/>
                </a:solidFill>
              </a:rPr>
              <a:t>TCO</a:t>
            </a:r>
            <a:r>
              <a:rPr lang="en-US" sz="1500" dirty="0">
                <a:solidFill>
                  <a:schemeClr val="tx1"/>
                </a:solidFill>
              </a:rPr>
              <a:t> of an on-premise environment versus the public cloud to see whether cloud adoption pays off.</a:t>
            </a:r>
            <a:endParaRPr lang="en-US" sz="1500" dirty="0"/>
          </a:p>
        </p:txBody>
      </p:sp>
      <p:sp>
        <p:nvSpPr>
          <p:cNvPr id="5" name="Card"/>
          <p:cNvSpPr/>
          <p:nvPr/>
        </p:nvSpPr>
        <p:spPr>
          <a:xfrm>
            <a:off x="457200" y="1783080"/>
            <a:ext cx="4023360" cy="2011680"/>
          </a:xfrm>
          <a:prstGeom prst="roundRect">
            <a:avLst>
              <a:gd name="adj" fmla="val 5455"/>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6" name="Pill"/>
          <p:cNvSpPr txBox="1"/>
          <p:nvPr/>
        </p:nvSpPr>
        <p:spPr>
          <a:xfrm>
            <a:off x="640080" y="1901952"/>
            <a:ext cx="1737360" cy="292608"/>
          </a:xfrm>
          <a:prstGeom prst="roundRect">
            <a:avLst>
              <a:gd name="adj" fmla="val 46875"/>
            </a:avLst>
          </a:prstGeom>
          <a:solidFill>
            <a:schemeClr val="accent3"/>
          </a:solidFill>
          <a:ln/>
        </p:spPr>
        <p:txBody>
          <a:bodyPr wrap="square" lIns="0" tIns="0" rIns="0" bIns="0" rtlCol="0" anchor="ctr"/>
          <a:lstStyle/>
          <a:p>
            <a:pPr marL="0" indent="0" algn="ctr">
              <a:buNone/>
            </a:pPr>
            <a:r>
              <a:rPr lang="en-US" sz="1100" b="1" dirty="0">
                <a:solidFill>
                  <a:schemeClr val="tx1"/>
                </a:solidFill>
              </a:rPr>
              <a:t>ON-PREMISE TCO</a:t>
            </a:r>
            <a:endParaRPr lang="en-US" sz="1100" dirty="0"/>
          </a:p>
        </p:txBody>
      </p:sp>
      <p:sp>
        <p:nvSpPr>
          <p:cNvPr id="7" name="Text 5"/>
          <p:cNvSpPr txBox="1"/>
          <p:nvPr/>
        </p:nvSpPr>
        <p:spPr>
          <a:xfrm>
            <a:off x="640080" y="2331720"/>
            <a:ext cx="3657600" cy="1417320"/>
          </a:xfrm>
          <a:prstGeom prst="rect">
            <a:avLst/>
          </a:prstGeom>
          <a:noFill/>
          <a:ln/>
        </p:spPr>
        <p:txBody>
          <a:bodyPr wrap="square" lIns="0" tIns="0" rIns="0" bIns="0" rtlCol="0" anchor="t"/>
          <a:lstStyle/>
          <a:p>
            <a:pPr marL="0" indent="0">
              <a:buNone/>
            </a:pPr>
            <a:r>
              <a:rPr lang="en-US" sz="1400" b="1" dirty="0">
                <a:solidFill>
                  <a:schemeClr val="tx1"/>
                </a:solidFill>
              </a:rPr>
              <a:t>CAPEX: </a:t>
            </a:r>
            <a:r>
              <a:rPr lang="en-US" sz="1400" dirty="0">
                <a:solidFill>
                  <a:schemeClr val="tx1"/>
                </a:solidFill>
              </a:rPr>
              <a:t>data center facilities, servers, storage devices, network equipment, operating systems, etc.</a:t>
            </a:r>
            <a:endParaRPr lang="en-US" sz="1400" dirty="0"/>
          </a:p>
          <a:p>
            <a:pPr marL="0" indent="0">
              <a:buNone/>
            </a:pPr>
            <a:r>
              <a:rPr lang="en-US" sz="600" dirty="0">
                <a:solidFill>
                  <a:schemeClr val="tx1"/>
                </a:solidFill>
              </a:rPr>
              <a:t> </a:t>
            </a:r>
            <a:endParaRPr lang="en-US" sz="1400" dirty="0"/>
          </a:p>
          <a:p>
            <a:pPr marL="0" indent="0">
              <a:buNone/>
            </a:pPr>
            <a:r>
              <a:rPr lang="en-US" sz="1400" b="1" dirty="0">
                <a:solidFill>
                  <a:schemeClr val="tx1"/>
                </a:solidFill>
              </a:rPr>
              <a:t>OPEX: </a:t>
            </a:r>
            <a:r>
              <a:rPr lang="en-US" sz="1400" dirty="0">
                <a:solidFill>
                  <a:schemeClr val="tx1"/>
                </a:solidFill>
              </a:rPr>
              <a:t>power and cooling, personnel, Internet service, etc.</a:t>
            </a:r>
            <a:endParaRPr lang="en-US" sz="1400" dirty="0"/>
          </a:p>
        </p:txBody>
      </p:sp>
      <p:sp>
        <p:nvSpPr>
          <p:cNvPr id="8" name="Card"/>
          <p:cNvSpPr/>
          <p:nvPr/>
        </p:nvSpPr>
        <p:spPr>
          <a:xfrm>
            <a:off x="4663440" y="1783080"/>
            <a:ext cx="4023360" cy="2011680"/>
          </a:xfrm>
          <a:prstGeom prst="roundRect">
            <a:avLst>
              <a:gd name="adj" fmla="val 5455"/>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9" name="Pill"/>
          <p:cNvSpPr txBox="1"/>
          <p:nvPr/>
        </p:nvSpPr>
        <p:spPr>
          <a:xfrm>
            <a:off x="4846320" y="1901952"/>
            <a:ext cx="1554480" cy="292608"/>
          </a:xfrm>
          <a:prstGeom prst="roundRect">
            <a:avLst>
              <a:gd name="adj" fmla="val 46875"/>
            </a:avLst>
          </a:prstGeom>
          <a:solidFill>
            <a:schemeClr val="accent2"/>
          </a:solidFill>
          <a:ln/>
        </p:spPr>
        <p:txBody>
          <a:bodyPr wrap="square" lIns="0" tIns="0" rIns="0" bIns="0" rtlCol="0" anchor="ctr"/>
          <a:lstStyle/>
          <a:p>
            <a:pPr marL="0" indent="0" algn="ctr">
              <a:buNone/>
            </a:pPr>
            <a:r>
              <a:rPr lang="en-US" sz="1100" b="1" dirty="0">
                <a:solidFill>
                  <a:schemeClr val="tx1"/>
                </a:solidFill>
              </a:rPr>
              <a:t>CLOUD COSTS</a:t>
            </a:r>
            <a:endParaRPr lang="en-US" sz="1100" dirty="0"/>
          </a:p>
        </p:txBody>
      </p:sp>
      <p:sp>
        <p:nvSpPr>
          <p:cNvPr id="10" name="Text 8"/>
          <p:cNvSpPr txBox="1"/>
          <p:nvPr/>
        </p:nvSpPr>
        <p:spPr>
          <a:xfrm>
            <a:off x="4892040" y="2377440"/>
            <a:ext cx="3566160" cy="1371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Migration costs</a:t>
            </a:r>
            <a:endParaRPr lang="en-US" sz="1400" dirty="0"/>
          </a:p>
          <a:p>
            <a:pPr marL="342900" indent="-342900">
              <a:spcAft>
                <a:spcPts val="600"/>
              </a:spcAft>
              <a:buSzPct val="100000"/>
              <a:buChar char="•"/>
            </a:pPr>
            <a:r>
              <a:rPr lang="en-US" sz="1400" dirty="0">
                <a:solidFill>
                  <a:schemeClr val="tx1"/>
                </a:solidFill>
              </a:rPr>
              <a:t>Usage fees for cloud services</a:t>
            </a:r>
            <a:endParaRPr lang="en-US" sz="1400" dirty="0"/>
          </a:p>
          <a:p>
            <a:pPr marL="342900" indent="-342900">
              <a:buSzPct val="100000"/>
              <a:buChar char="•"/>
            </a:pPr>
            <a:r>
              <a:rPr lang="en-US" sz="1400" dirty="0">
                <a:solidFill>
                  <a:schemeClr val="tx1"/>
                </a:solidFill>
              </a:rPr>
              <a:t>Costs to ensure security and compliance</a:t>
            </a:r>
            <a:endParaRPr lang="en-US" sz="1400" dirty="0"/>
          </a:p>
        </p:txBody>
      </p:sp>
      <p:sp>
        <p:nvSpPr>
          <p:cNvPr id="11" name="Card"/>
          <p:cNvSpPr/>
          <p:nvPr/>
        </p:nvSpPr>
        <p:spPr>
          <a:xfrm>
            <a:off x="457200" y="3931920"/>
            <a:ext cx="8229600" cy="731520"/>
          </a:xfrm>
          <a:prstGeom prst="roundRect">
            <a:avLst>
              <a:gd name="adj" fmla="val 15000"/>
            </a:avLst>
          </a:prstGeom>
          <a:solidFill>
            <a:schemeClr val="accent4"/>
          </a:solidFill>
          <a:ln/>
          <a:effectLst>
            <a:outerShdw blurRad="127000" dist="38100" dir="5400000" algn="bl" rotWithShape="0">
              <a:srgbClr val="1E1B4B">
                <a:alpha val="10000"/>
              </a:srgbClr>
            </a:outerShdw>
          </a:effectLst>
        </p:spPr>
        <p:txBody>
          <a:bodyPr/>
          <a:lstStyle/>
          <a:p>
            <a:endParaRPr lang="en-RW"/>
          </a:p>
        </p:txBody>
      </p:sp>
      <p:pic>
        <p:nvPicPr>
          <p:cNvPr id="12" name="Calculator icon" descr="preencoded.png"/>
          <p:cNvPicPr>
            <a:picLocks noChangeAspect="1"/>
          </p:cNvPicPr>
          <p:nvPr/>
        </p:nvPicPr>
        <p:blipFill>
          <a:blip r:embed="rId3"/>
          <a:stretch>
            <a:fillRect/>
          </a:stretch>
        </p:blipFill>
        <p:spPr>
          <a:xfrm>
            <a:off x="685800" y="4160520"/>
            <a:ext cx="274320" cy="274320"/>
          </a:xfrm>
          <a:prstGeom prst="rect">
            <a:avLst/>
          </a:prstGeom>
        </p:spPr>
      </p:pic>
      <p:sp>
        <p:nvSpPr>
          <p:cNvPr id="13" name="Text 10"/>
          <p:cNvSpPr txBox="1"/>
          <p:nvPr/>
        </p:nvSpPr>
        <p:spPr>
          <a:xfrm>
            <a:off x="1143000" y="3931920"/>
            <a:ext cx="7406640" cy="731520"/>
          </a:xfrm>
          <a:prstGeom prst="rect">
            <a:avLst/>
          </a:prstGeom>
          <a:noFill/>
          <a:ln/>
        </p:spPr>
        <p:txBody>
          <a:bodyPr wrap="square" lIns="0" tIns="0" rIns="0" bIns="0" rtlCol="0" anchor="ctr"/>
          <a:lstStyle/>
          <a:p>
            <a:pPr marL="0" indent="0">
              <a:buNone/>
            </a:pPr>
            <a:r>
              <a:rPr lang="en-US" sz="1400" b="1" dirty="0">
                <a:solidFill>
                  <a:schemeClr val="tx1"/>
                </a:solidFill>
              </a:rPr>
              <a:t>Free tools: </a:t>
            </a:r>
            <a:r>
              <a:rPr lang="en-US" sz="1400" dirty="0">
                <a:solidFill>
                  <a:schemeClr val="tx1"/>
                </a:solidFill>
              </a:rPr>
              <a:t>AWS TCO calculators, and the </a:t>
            </a:r>
            <a:r>
              <a:rPr lang="en-US" sz="1400" b="1" u="sng" dirty="0">
                <a:solidFill>
                  <a:schemeClr val="tx1"/>
                </a:solidFill>
                <a:hlinkClick r:id="rId4" tooltip="AWS Pricing Calculator">
                  <a:extLst>
                    <a:ext uri="{A12FA001-AC4F-418D-AE19-62706E023703}">
                      <ahyp:hlinkClr xmlns:ahyp="http://schemas.microsoft.com/office/drawing/2018/hyperlinkcolor" val="tx"/>
                    </a:ext>
                  </a:extLst>
                </a:hlinkClick>
              </a:rPr>
              <a:t>AWS Pricing Calculator</a:t>
            </a:r>
            <a:r>
              <a:rPr lang="en-US" sz="1400" dirty="0">
                <a:solidFill>
                  <a:schemeClr val="tx1"/>
                </a:solidFill>
              </a:rPr>
              <a:t> to estimate AWS service costs.</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5A7E"/>
                </a:solidFill>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48640"/>
            <a:ext cx="8229600" cy="640080"/>
          </a:xfrm>
          <a:prstGeom prst="rect">
            <a:avLst/>
          </a:prstGeom>
          <a:noFill/>
          <a:ln/>
        </p:spPr>
        <p:txBody>
          <a:bodyPr wrap="square" lIns="0" tIns="0" rIns="0" bIns="0" rtlCol="0" anchor="ctr"/>
          <a:lstStyle/>
          <a:p>
            <a:pPr marL="0" indent="0" algn="l">
              <a:buNone/>
            </a:pPr>
            <a:r>
              <a:rPr lang="en-US" sz="3400" b="1" dirty="0">
                <a:solidFill>
                  <a:schemeClr val="tx1"/>
                </a:solidFill>
              </a:rPr>
              <a:t>Migration Strategies</a:t>
            </a:r>
            <a:endParaRPr lang="en-US" sz="3400" dirty="0"/>
          </a:p>
        </p:txBody>
      </p:sp>
      <p:sp>
        <p:nvSpPr>
          <p:cNvPr id="3" name="Section chip"/>
          <p:cNvSpPr txBox="1"/>
          <p:nvPr/>
        </p:nvSpPr>
        <p:spPr>
          <a:xfrm>
            <a:off x="457200" y="274320"/>
            <a:ext cx="2567635" cy="246888"/>
          </a:xfrm>
          <a:prstGeom prst="roundRect">
            <a:avLst>
              <a:gd name="adj" fmla="val 48148"/>
            </a:avLst>
          </a:prstGeom>
          <a:solidFill>
            <a:schemeClr val="accent1"/>
          </a:solidFill>
          <a:ln/>
        </p:spPr>
        <p:txBody>
          <a:bodyPr wrap="square" lIns="0" tIns="0" rIns="0" bIns="0" rtlCol="0" anchor="ctr"/>
          <a:lstStyle/>
          <a:p>
            <a:pPr marL="0" indent="0" algn="ctr">
              <a:buNone/>
            </a:pPr>
            <a:r>
              <a:rPr lang="en-US" sz="1000" b="1" kern="0" spc="150" dirty="0">
                <a:solidFill>
                  <a:schemeClr val="bg1"/>
                </a:solidFill>
              </a:rPr>
              <a:t>ADOPTION · STRATEGIES 1 OF 2</a:t>
            </a:r>
            <a:endParaRPr lang="en-US" sz="1000" dirty="0"/>
          </a:p>
        </p:txBody>
      </p:sp>
      <p:sp>
        <p:nvSpPr>
          <p:cNvPr id="4" name="Text 2"/>
          <p:cNvSpPr txBox="1"/>
          <p:nvPr/>
        </p:nvSpPr>
        <p:spPr>
          <a:xfrm>
            <a:off x="457200" y="1234440"/>
            <a:ext cx="8229600" cy="365760"/>
          </a:xfrm>
          <a:prstGeom prst="rect">
            <a:avLst/>
          </a:prstGeom>
          <a:noFill/>
          <a:ln/>
        </p:spPr>
        <p:txBody>
          <a:bodyPr wrap="square" lIns="0" tIns="0" rIns="0" bIns="0" rtlCol="0" anchor="t"/>
          <a:lstStyle/>
          <a:p>
            <a:pPr marL="0" indent="0">
              <a:buNone/>
            </a:pPr>
            <a:r>
              <a:rPr lang="en-US" sz="1400" dirty="0">
                <a:solidFill>
                  <a:schemeClr val="tx2"/>
                </a:solidFill>
              </a:rPr>
              <a:t>Review existing applications and pick the strategy that best matches business needs: cost savings, scalability, availability, etc.</a:t>
            </a:r>
            <a:endParaRPr lang="en-US" sz="1400" dirty="0"/>
          </a:p>
        </p:txBody>
      </p:sp>
      <p:sp>
        <p:nvSpPr>
          <p:cNvPr id="5" name="Card"/>
          <p:cNvSpPr/>
          <p:nvPr/>
        </p:nvSpPr>
        <p:spPr>
          <a:xfrm>
            <a:off x="457200" y="1737360"/>
            <a:ext cx="4023360" cy="2971800"/>
          </a:xfrm>
          <a:prstGeom prst="roundRect">
            <a:avLst>
              <a:gd name="adj" fmla="val 3692"/>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6" name="FaCloudUploadAlt circle"/>
          <p:cNvSpPr/>
          <p:nvPr/>
        </p:nvSpPr>
        <p:spPr>
          <a:xfrm>
            <a:off x="640080" y="1920240"/>
            <a:ext cx="502920" cy="502920"/>
          </a:xfrm>
          <a:prstGeom prst="ellipse">
            <a:avLst/>
          </a:prstGeom>
          <a:solidFill>
            <a:schemeClr val="accent4"/>
          </a:solidFill>
          <a:ln/>
        </p:spPr>
        <p:txBody>
          <a:bodyPr/>
          <a:lstStyle/>
          <a:p>
            <a:endParaRPr lang="en-RW"/>
          </a:p>
        </p:txBody>
      </p:sp>
      <p:pic>
        <p:nvPicPr>
          <p:cNvPr id="7" name="FaCloudUploadAlt icon" descr="preencoded.png"/>
          <p:cNvPicPr>
            <a:picLocks noChangeAspect="1"/>
          </p:cNvPicPr>
          <p:nvPr/>
        </p:nvPicPr>
        <p:blipFill>
          <a:blip r:embed="rId3"/>
          <a:stretch>
            <a:fillRect/>
          </a:stretch>
        </p:blipFill>
        <p:spPr>
          <a:xfrm>
            <a:off x="765810" y="2045970"/>
            <a:ext cx="251460" cy="251460"/>
          </a:xfrm>
          <a:prstGeom prst="rect">
            <a:avLst/>
          </a:prstGeom>
        </p:spPr>
      </p:pic>
      <p:sp>
        <p:nvSpPr>
          <p:cNvPr id="8" name="Text 5"/>
          <p:cNvSpPr txBox="1"/>
          <p:nvPr/>
        </p:nvSpPr>
        <p:spPr>
          <a:xfrm>
            <a:off x="1280160" y="1874520"/>
            <a:ext cx="3108960" cy="365760"/>
          </a:xfrm>
          <a:prstGeom prst="rect">
            <a:avLst/>
          </a:prstGeom>
          <a:noFill/>
          <a:ln/>
        </p:spPr>
        <p:txBody>
          <a:bodyPr wrap="square" lIns="0" tIns="0" rIns="0" bIns="0" rtlCol="0" anchor="t"/>
          <a:lstStyle/>
          <a:p>
            <a:pPr marL="0" indent="0">
              <a:buNone/>
            </a:pPr>
            <a:r>
              <a:rPr lang="en-US" sz="1800" b="1" dirty="0">
                <a:solidFill>
                  <a:schemeClr val="tx1"/>
                </a:solidFill>
              </a:rPr>
              <a:t>Rehosting (Lift-and-shift)</a:t>
            </a:r>
            <a:endParaRPr lang="en-US" sz="1800" dirty="0"/>
          </a:p>
        </p:txBody>
      </p:sp>
      <p:sp>
        <p:nvSpPr>
          <p:cNvPr id="9" name="Pill"/>
          <p:cNvSpPr txBox="1"/>
          <p:nvPr/>
        </p:nvSpPr>
        <p:spPr>
          <a:xfrm>
            <a:off x="1280160" y="2267712"/>
            <a:ext cx="822960" cy="292608"/>
          </a:xfrm>
          <a:prstGeom prst="roundRect">
            <a:avLst>
              <a:gd name="adj" fmla="val 46875"/>
            </a:avLst>
          </a:prstGeom>
          <a:solidFill>
            <a:schemeClr val="accent4"/>
          </a:solidFill>
          <a:ln/>
        </p:spPr>
        <p:txBody>
          <a:bodyPr wrap="square" lIns="0" tIns="0" rIns="0" bIns="0" rtlCol="0" anchor="ctr"/>
          <a:lstStyle/>
          <a:p>
            <a:pPr marL="0" indent="0" algn="ctr">
              <a:buNone/>
            </a:pPr>
            <a:r>
              <a:rPr lang="en-US" sz="1000" b="1" dirty="0">
                <a:solidFill>
                  <a:schemeClr val="tx1"/>
                </a:solidFill>
              </a:rPr>
              <a:t>FASTEST</a:t>
            </a:r>
            <a:endParaRPr lang="en-US" sz="1000" dirty="0"/>
          </a:p>
        </p:txBody>
      </p:sp>
      <p:sp>
        <p:nvSpPr>
          <p:cNvPr id="10" name="Text 7"/>
          <p:cNvSpPr txBox="1"/>
          <p:nvPr/>
        </p:nvSpPr>
        <p:spPr>
          <a:xfrm>
            <a:off x="685800" y="2651760"/>
            <a:ext cx="3566160" cy="19659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Redeploy on-premise applications into cloud IaaS.</a:t>
            </a:r>
            <a:endParaRPr lang="en-US" sz="1300" dirty="0"/>
          </a:p>
          <a:p>
            <a:pPr marL="342900" indent="-342900">
              <a:spcAft>
                <a:spcPts val="600"/>
              </a:spcAft>
              <a:buSzPct val="100000"/>
              <a:buChar char="•"/>
            </a:pPr>
            <a:r>
              <a:rPr lang="en-US" sz="1300" dirty="0">
                <a:solidFill>
                  <a:schemeClr val="tx1"/>
                </a:solidFill>
              </a:rPr>
              <a:t>Meets business needs quickly, with no optimizations.</a:t>
            </a:r>
            <a:endParaRPr lang="en-US" sz="1300" dirty="0"/>
          </a:p>
          <a:p>
            <a:pPr marL="342900" indent="-342900">
              <a:spcAft>
                <a:spcPts val="600"/>
              </a:spcAft>
              <a:buSzPct val="100000"/>
              <a:buChar char="•"/>
            </a:pPr>
            <a:r>
              <a:rPr lang="en-US" sz="1300" dirty="0">
                <a:solidFill>
                  <a:schemeClr val="tx1"/>
                </a:solidFill>
              </a:rPr>
              <a:t>Fastest, but does not use the cloud's full potential.</a:t>
            </a:r>
            <a:endParaRPr lang="en-US" sz="1300" dirty="0"/>
          </a:p>
          <a:p>
            <a:pPr marL="342900" indent="-342900">
              <a:spcAft>
                <a:spcPts val="600"/>
              </a:spcAft>
              <a:buSzPct val="100000"/>
              <a:buChar char="•"/>
            </a:pPr>
            <a:r>
              <a:rPr lang="en-US" sz="1300" dirty="0">
                <a:solidFill>
                  <a:schemeClr val="tx1"/>
                </a:solidFill>
              </a:rPr>
              <a:t>Manual or automated, e.g., AWS VM Import/Export (VM images to Amazon EC2).</a:t>
            </a:r>
            <a:endParaRPr lang="en-US" sz="1300" dirty="0"/>
          </a:p>
        </p:txBody>
      </p:sp>
      <p:sp>
        <p:nvSpPr>
          <p:cNvPr id="11" name="Card"/>
          <p:cNvSpPr/>
          <p:nvPr/>
        </p:nvSpPr>
        <p:spPr>
          <a:xfrm>
            <a:off x="4663440" y="1737360"/>
            <a:ext cx="4023360" cy="2971800"/>
          </a:xfrm>
          <a:prstGeom prst="roundRect">
            <a:avLst>
              <a:gd name="adj" fmla="val 3692"/>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12" name="FaSyncAlt circle"/>
          <p:cNvSpPr/>
          <p:nvPr/>
        </p:nvSpPr>
        <p:spPr>
          <a:xfrm>
            <a:off x="4846320" y="1920240"/>
            <a:ext cx="502920" cy="502920"/>
          </a:xfrm>
          <a:prstGeom prst="ellipse">
            <a:avLst/>
          </a:prstGeom>
          <a:solidFill>
            <a:schemeClr val="accent2"/>
          </a:solidFill>
          <a:ln/>
        </p:spPr>
        <p:txBody>
          <a:bodyPr/>
          <a:lstStyle/>
          <a:p>
            <a:endParaRPr lang="en-RW"/>
          </a:p>
        </p:txBody>
      </p:sp>
      <p:pic>
        <p:nvPicPr>
          <p:cNvPr id="13" name="FaSyncAlt icon" descr="preencoded.png"/>
          <p:cNvPicPr>
            <a:picLocks noChangeAspect="1"/>
          </p:cNvPicPr>
          <p:nvPr/>
        </p:nvPicPr>
        <p:blipFill>
          <a:blip r:embed="rId4"/>
          <a:stretch>
            <a:fillRect/>
          </a:stretch>
        </p:blipFill>
        <p:spPr>
          <a:xfrm>
            <a:off x="4972050" y="2045970"/>
            <a:ext cx="251460" cy="251460"/>
          </a:xfrm>
          <a:prstGeom prst="rect">
            <a:avLst/>
          </a:prstGeom>
        </p:spPr>
      </p:pic>
      <p:sp>
        <p:nvSpPr>
          <p:cNvPr id="14" name="Text 10"/>
          <p:cNvSpPr txBox="1"/>
          <p:nvPr/>
        </p:nvSpPr>
        <p:spPr>
          <a:xfrm>
            <a:off x="5486400" y="1874520"/>
            <a:ext cx="3108960" cy="365760"/>
          </a:xfrm>
          <a:prstGeom prst="rect">
            <a:avLst/>
          </a:prstGeom>
          <a:noFill/>
          <a:ln/>
        </p:spPr>
        <p:txBody>
          <a:bodyPr wrap="square" lIns="0" tIns="0" rIns="0" bIns="0" rtlCol="0" anchor="t"/>
          <a:lstStyle/>
          <a:p>
            <a:pPr marL="0" indent="0">
              <a:buNone/>
            </a:pPr>
            <a:r>
              <a:rPr lang="en-US" sz="1800" b="1" dirty="0">
                <a:solidFill>
                  <a:schemeClr val="tx1"/>
                </a:solidFill>
              </a:rPr>
              <a:t>Re-platforming</a:t>
            </a:r>
            <a:endParaRPr lang="en-US" sz="1800" dirty="0"/>
          </a:p>
        </p:txBody>
      </p:sp>
      <p:sp>
        <p:nvSpPr>
          <p:cNvPr id="15" name="Text 11"/>
          <p:cNvSpPr txBox="1"/>
          <p:nvPr/>
        </p:nvSpPr>
        <p:spPr>
          <a:xfrm>
            <a:off x="4892040" y="2651760"/>
            <a:ext cx="3566160" cy="19659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Optimizations without changing the core architecture.</a:t>
            </a:r>
            <a:endParaRPr lang="en-US" sz="1300" dirty="0"/>
          </a:p>
          <a:p>
            <a:pPr marL="342900" indent="-342900">
              <a:spcAft>
                <a:spcPts val="600"/>
              </a:spcAft>
              <a:buSzPct val="100000"/>
              <a:buChar char="•"/>
            </a:pPr>
            <a:r>
              <a:rPr lang="en-US" sz="1300" dirty="0">
                <a:solidFill>
                  <a:schemeClr val="tx1"/>
                </a:solidFill>
              </a:rPr>
              <a:t>Example: move an on-premise database to a fully managed service such as Amazon RDS, so the CSP handles most administrative tasks.</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5A7E"/>
                </a:solidFill>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48640"/>
            <a:ext cx="8229600" cy="640080"/>
          </a:xfrm>
          <a:prstGeom prst="rect">
            <a:avLst/>
          </a:prstGeom>
          <a:noFill/>
          <a:ln/>
        </p:spPr>
        <p:txBody>
          <a:bodyPr wrap="square" lIns="0" tIns="0" rIns="0" bIns="0" rtlCol="0" anchor="ctr"/>
          <a:lstStyle/>
          <a:p>
            <a:pPr marL="0" indent="0" algn="l">
              <a:buNone/>
            </a:pPr>
            <a:r>
              <a:rPr lang="en-US" sz="3400" b="1" dirty="0">
                <a:solidFill>
                  <a:schemeClr val="tx1"/>
                </a:solidFill>
              </a:rPr>
              <a:t>Migration Strategies</a:t>
            </a:r>
            <a:endParaRPr lang="en-US" sz="3400" dirty="0"/>
          </a:p>
        </p:txBody>
      </p:sp>
      <p:sp>
        <p:nvSpPr>
          <p:cNvPr id="3" name="Section chip"/>
          <p:cNvSpPr txBox="1"/>
          <p:nvPr/>
        </p:nvSpPr>
        <p:spPr>
          <a:xfrm>
            <a:off x="457200" y="274320"/>
            <a:ext cx="2567635" cy="246888"/>
          </a:xfrm>
          <a:prstGeom prst="roundRect">
            <a:avLst>
              <a:gd name="adj" fmla="val 48148"/>
            </a:avLst>
          </a:prstGeom>
          <a:solidFill>
            <a:schemeClr val="accent1"/>
          </a:solidFill>
          <a:ln/>
        </p:spPr>
        <p:txBody>
          <a:bodyPr wrap="square" lIns="0" tIns="0" rIns="0" bIns="0" rtlCol="0" anchor="ctr"/>
          <a:lstStyle/>
          <a:p>
            <a:pPr marL="0" indent="0" algn="ctr">
              <a:buNone/>
            </a:pPr>
            <a:r>
              <a:rPr lang="en-US" sz="1000" b="1" kern="0" spc="150" dirty="0">
                <a:solidFill>
                  <a:schemeClr val="bg1"/>
                </a:solidFill>
              </a:rPr>
              <a:t>ADOPTION · STRATEGIES 2 OF 2</a:t>
            </a:r>
            <a:endParaRPr lang="en-US" sz="1000" dirty="0"/>
          </a:p>
        </p:txBody>
      </p:sp>
      <p:sp>
        <p:nvSpPr>
          <p:cNvPr id="4" name="Card"/>
          <p:cNvSpPr/>
          <p:nvPr/>
        </p:nvSpPr>
        <p:spPr>
          <a:xfrm>
            <a:off x="457200" y="1371600"/>
            <a:ext cx="4023360" cy="3291840"/>
          </a:xfrm>
          <a:prstGeom prst="roundRect">
            <a:avLst>
              <a:gd name="adj" fmla="val 3333"/>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5" name="FaShoppingCart circle"/>
          <p:cNvSpPr/>
          <p:nvPr/>
        </p:nvSpPr>
        <p:spPr>
          <a:xfrm>
            <a:off x="640080" y="1554480"/>
            <a:ext cx="502920" cy="502920"/>
          </a:xfrm>
          <a:prstGeom prst="ellipse">
            <a:avLst/>
          </a:prstGeom>
          <a:solidFill>
            <a:schemeClr val="accent5"/>
          </a:solidFill>
          <a:ln/>
        </p:spPr>
        <p:txBody>
          <a:bodyPr/>
          <a:lstStyle/>
          <a:p>
            <a:endParaRPr lang="en-RW"/>
          </a:p>
        </p:txBody>
      </p:sp>
      <p:pic>
        <p:nvPicPr>
          <p:cNvPr id="6" name="FaShoppingCart icon" descr="preencoded.png"/>
          <p:cNvPicPr>
            <a:picLocks noChangeAspect="1"/>
          </p:cNvPicPr>
          <p:nvPr/>
        </p:nvPicPr>
        <p:blipFill>
          <a:blip r:embed="rId3"/>
          <a:stretch>
            <a:fillRect/>
          </a:stretch>
        </p:blipFill>
        <p:spPr>
          <a:xfrm>
            <a:off x="765810" y="1680210"/>
            <a:ext cx="251460" cy="251460"/>
          </a:xfrm>
          <a:prstGeom prst="rect">
            <a:avLst/>
          </a:prstGeom>
        </p:spPr>
      </p:pic>
      <p:sp>
        <p:nvSpPr>
          <p:cNvPr id="7" name="Text 4"/>
          <p:cNvSpPr txBox="1"/>
          <p:nvPr/>
        </p:nvSpPr>
        <p:spPr>
          <a:xfrm>
            <a:off x="1280160" y="1508760"/>
            <a:ext cx="3108960" cy="365760"/>
          </a:xfrm>
          <a:prstGeom prst="rect">
            <a:avLst/>
          </a:prstGeom>
          <a:noFill/>
          <a:ln/>
        </p:spPr>
        <p:txBody>
          <a:bodyPr wrap="square" lIns="0" tIns="0" rIns="0" bIns="0" rtlCol="0" anchor="t"/>
          <a:lstStyle/>
          <a:p>
            <a:pPr marL="0" indent="0">
              <a:buNone/>
            </a:pPr>
            <a:r>
              <a:rPr lang="en-US" sz="1800" b="1" dirty="0">
                <a:solidFill>
                  <a:schemeClr val="tx1"/>
                </a:solidFill>
              </a:rPr>
              <a:t>Repurchasing</a:t>
            </a:r>
            <a:endParaRPr lang="en-US" sz="1800" dirty="0"/>
          </a:p>
        </p:txBody>
      </p:sp>
      <p:sp>
        <p:nvSpPr>
          <p:cNvPr id="8" name="Text 5"/>
          <p:cNvSpPr txBox="1"/>
          <p:nvPr/>
        </p:nvSpPr>
        <p:spPr>
          <a:xfrm>
            <a:off x="685800" y="2286000"/>
            <a:ext cx="356616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Invest in SaaS (cloud-native) applications, i.e., move to a different product.</a:t>
            </a:r>
            <a:endParaRPr lang="en-US" sz="1400" dirty="0"/>
          </a:p>
          <a:p>
            <a:pPr marL="342900" indent="-342900">
              <a:spcAft>
                <a:spcPts val="600"/>
              </a:spcAft>
              <a:buSzPct val="100000"/>
              <a:buChar char="•"/>
            </a:pPr>
            <a:r>
              <a:rPr lang="en-US" sz="1400" dirty="0">
                <a:solidFill>
                  <a:schemeClr val="tx1"/>
                </a:solidFill>
              </a:rPr>
              <a:t>Frees IT staff from maintenance and updates.</a:t>
            </a:r>
            <a:endParaRPr lang="en-US" sz="1400" dirty="0"/>
          </a:p>
          <a:p>
            <a:pPr marL="342900" indent="-342900">
              <a:spcAft>
                <a:spcPts val="600"/>
              </a:spcAft>
              <a:buSzPct val="100000"/>
              <a:buChar char="•"/>
            </a:pPr>
            <a:r>
              <a:rPr lang="en-US" sz="1400" dirty="0">
                <a:solidFill>
                  <a:schemeClr val="tx1"/>
                </a:solidFill>
              </a:rPr>
              <a:t>Examples: HR system to Workday, Outlook to Office 365, in-house CRM to Salesforce.</a:t>
            </a:r>
            <a:endParaRPr lang="en-US" sz="1400" dirty="0"/>
          </a:p>
        </p:txBody>
      </p:sp>
      <p:sp>
        <p:nvSpPr>
          <p:cNvPr id="9" name="Card"/>
          <p:cNvSpPr/>
          <p:nvPr/>
        </p:nvSpPr>
        <p:spPr>
          <a:xfrm>
            <a:off x="4663440" y="1371600"/>
            <a:ext cx="4023360" cy="3291840"/>
          </a:xfrm>
          <a:prstGeom prst="roundRect">
            <a:avLst>
              <a:gd name="adj" fmla="val 3333"/>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10" name="FaWrench circle"/>
          <p:cNvSpPr/>
          <p:nvPr/>
        </p:nvSpPr>
        <p:spPr>
          <a:xfrm>
            <a:off x="4846320" y="1554480"/>
            <a:ext cx="502920" cy="502920"/>
          </a:xfrm>
          <a:prstGeom prst="ellipse">
            <a:avLst/>
          </a:prstGeom>
          <a:solidFill>
            <a:schemeClr val="accent3"/>
          </a:solidFill>
          <a:ln/>
        </p:spPr>
        <p:txBody>
          <a:bodyPr/>
          <a:lstStyle/>
          <a:p>
            <a:endParaRPr lang="en-RW"/>
          </a:p>
        </p:txBody>
      </p:sp>
      <p:pic>
        <p:nvPicPr>
          <p:cNvPr id="11" name="FaWrench icon" descr="preencoded.png"/>
          <p:cNvPicPr>
            <a:picLocks noChangeAspect="1"/>
          </p:cNvPicPr>
          <p:nvPr/>
        </p:nvPicPr>
        <p:blipFill>
          <a:blip r:embed="rId4"/>
          <a:stretch>
            <a:fillRect/>
          </a:stretch>
        </p:blipFill>
        <p:spPr>
          <a:xfrm>
            <a:off x="4972050" y="1680210"/>
            <a:ext cx="251460" cy="251460"/>
          </a:xfrm>
          <a:prstGeom prst="rect">
            <a:avLst/>
          </a:prstGeom>
        </p:spPr>
      </p:pic>
      <p:sp>
        <p:nvSpPr>
          <p:cNvPr id="12" name="Text 8"/>
          <p:cNvSpPr txBox="1"/>
          <p:nvPr/>
        </p:nvSpPr>
        <p:spPr>
          <a:xfrm>
            <a:off x="5486400" y="1508760"/>
            <a:ext cx="3108960" cy="365760"/>
          </a:xfrm>
          <a:prstGeom prst="rect">
            <a:avLst/>
          </a:prstGeom>
          <a:noFill/>
          <a:ln/>
        </p:spPr>
        <p:txBody>
          <a:bodyPr wrap="square" lIns="0" tIns="0" rIns="0" bIns="0" rtlCol="0" anchor="t"/>
          <a:lstStyle/>
          <a:p>
            <a:pPr marL="0" indent="0">
              <a:buNone/>
            </a:pPr>
            <a:r>
              <a:rPr lang="en-US" sz="1800" b="1" dirty="0">
                <a:solidFill>
                  <a:schemeClr val="tx1"/>
                </a:solidFill>
              </a:rPr>
              <a:t>Rebuilding / Re-architecting</a:t>
            </a:r>
            <a:endParaRPr lang="en-US" sz="1800" dirty="0"/>
          </a:p>
        </p:txBody>
      </p:sp>
      <p:sp>
        <p:nvSpPr>
          <p:cNvPr id="13" name="Pill"/>
          <p:cNvSpPr txBox="1"/>
          <p:nvPr/>
        </p:nvSpPr>
        <p:spPr>
          <a:xfrm>
            <a:off x="5486400" y="1901952"/>
            <a:ext cx="1463040" cy="292608"/>
          </a:xfrm>
          <a:prstGeom prst="roundRect">
            <a:avLst>
              <a:gd name="adj" fmla="val 46875"/>
            </a:avLst>
          </a:prstGeom>
          <a:solidFill>
            <a:schemeClr val="accent3"/>
          </a:solidFill>
          <a:ln/>
        </p:spPr>
        <p:txBody>
          <a:bodyPr wrap="square" lIns="0" tIns="0" rIns="0" bIns="0" rtlCol="0" anchor="ctr"/>
          <a:lstStyle/>
          <a:p>
            <a:pPr marL="0" indent="0" algn="ctr">
              <a:buNone/>
            </a:pPr>
            <a:r>
              <a:rPr lang="en-US" sz="1000" b="1" dirty="0">
                <a:solidFill>
                  <a:schemeClr val="tx1"/>
                </a:solidFill>
              </a:rPr>
              <a:t>MOST EXPENSIVE</a:t>
            </a:r>
            <a:endParaRPr lang="en-US" sz="1000" dirty="0"/>
          </a:p>
        </p:txBody>
      </p:sp>
      <p:sp>
        <p:nvSpPr>
          <p:cNvPr id="14" name="Text 10"/>
          <p:cNvSpPr txBox="1"/>
          <p:nvPr/>
        </p:nvSpPr>
        <p:spPr>
          <a:xfrm>
            <a:off x="4892040" y="2286000"/>
            <a:ext cx="356616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Change the core architecture, e.g., turn a monolithic application into microservices, or go serverless (more in Chapter 3).</a:t>
            </a:r>
            <a:endParaRPr lang="en-US" sz="1400" dirty="0"/>
          </a:p>
          <a:p>
            <a:pPr marL="342900" indent="-342900">
              <a:spcAft>
                <a:spcPts val="600"/>
              </a:spcAft>
              <a:buSzPct val="100000"/>
              <a:buChar char="•"/>
            </a:pPr>
            <a:r>
              <a:rPr lang="en-US" sz="1400" dirty="0">
                <a:solidFill>
                  <a:schemeClr val="tx1"/>
                </a:solidFill>
              </a:rPr>
              <a:t>Goal: a considerable increase in performance, scale, agility, or new features.</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5A7E"/>
                </a:solidFill>
              </a:defRPr>
            </a:lvl1pPr>
          </a:lstStyle>
          <a:p>
            <a:pPr algn="r"/>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48640"/>
            <a:ext cx="8229600" cy="640080"/>
          </a:xfrm>
          <a:prstGeom prst="rect">
            <a:avLst/>
          </a:prstGeom>
          <a:noFill/>
          <a:ln/>
        </p:spPr>
        <p:txBody>
          <a:bodyPr wrap="square" lIns="0" tIns="0" rIns="0" bIns="0" rtlCol="0" anchor="ctr"/>
          <a:lstStyle/>
          <a:p>
            <a:pPr marL="0" indent="0" algn="l">
              <a:buNone/>
            </a:pPr>
            <a:r>
              <a:rPr lang="en-US" sz="3400" b="1" dirty="0">
                <a:solidFill>
                  <a:schemeClr val="tx1"/>
                </a:solidFill>
              </a:rPr>
              <a:t>Service Level Agreements</a:t>
            </a:r>
            <a:endParaRPr lang="en-US" sz="3400" dirty="0"/>
          </a:p>
        </p:txBody>
      </p:sp>
      <p:sp>
        <p:nvSpPr>
          <p:cNvPr id="3" name="Section chip"/>
          <p:cNvSpPr txBox="1"/>
          <p:nvPr/>
        </p:nvSpPr>
        <p:spPr>
          <a:xfrm>
            <a:off x="457200" y="274320"/>
            <a:ext cx="2488997" cy="246888"/>
          </a:xfrm>
          <a:prstGeom prst="roundRect">
            <a:avLst>
              <a:gd name="adj" fmla="val 48148"/>
            </a:avLst>
          </a:prstGeom>
          <a:solidFill>
            <a:schemeClr val="accent1"/>
          </a:solidFill>
          <a:ln/>
        </p:spPr>
        <p:txBody>
          <a:bodyPr wrap="square" lIns="0" tIns="0" rIns="0" bIns="0" rtlCol="0" anchor="ctr"/>
          <a:lstStyle/>
          <a:p>
            <a:pPr marL="0" indent="0" algn="ctr">
              <a:buNone/>
            </a:pPr>
            <a:r>
              <a:rPr lang="en-US" sz="1000" b="1" kern="0" spc="150" dirty="0">
                <a:solidFill>
                  <a:schemeClr val="bg1"/>
                </a:solidFill>
              </a:rPr>
              <a:t>CONSIDERATIONS FOR ADOPTION</a:t>
            </a:r>
            <a:endParaRPr lang="en-US" sz="1000" dirty="0"/>
          </a:p>
        </p:txBody>
      </p:sp>
      <p:sp>
        <p:nvSpPr>
          <p:cNvPr id="4" name="Card"/>
          <p:cNvSpPr/>
          <p:nvPr/>
        </p:nvSpPr>
        <p:spPr>
          <a:xfrm>
            <a:off x="457200" y="1371600"/>
            <a:ext cx="8229600" cy="1051560"/>
          </a:xfrm>
          <a:prstGeom prst="roundRect">
            <a:avLst>
              <a:gd name="adj" fmla="val 10435"/>
            </a:avLst>
          </a:prstGeom>
          <a:solidFill>
            <a:schemeClr val="accent1"/>
          </a:solidFill>
          <a:ln/>
          <a:effectLst>
            <a:outerShdw blurRad="127000" dist="38100" dir="5400000" algn="bl" rotWithShape="0">
              <a:srgbClr val="1E1B4B">
                <a:alpha val="10000"/>
              </a:srgbClr>
            </a:outerShdw>
          </a:effectLst>
        </p:spPr>
        <p:txBody>
          <a:bodyPr/>
          <a:lstStyle/>
          <a:p>
            <a:endParaRPr lang="en-RW"/>
          </a:p>
        </p:txBody>
      </p:sp>
      <p:pic>
        <p:nvPicPr>
          <p:cNvPr id="5" name="Contract icon" descr="preencoded.png"/>
          <p:cNvPicPr>
            <a:picLocks noChangeAspect="1"/>
          </p:cNvPicPr>
          <p:nvPr/>
        </p:nvPicPr>
        <p:blipFill>
          <a:blip r:embed="rId3"/>
          <a:stretch>
            <a:fillRect/>
          </a:stretch>
        </p:blipFill>
        <p:spPr>
          <a:xfrm>
            <a:off x="731520" y="1664208"/>
            <a:ext cx="457200" cy="457200"/>
          </a:xfrm>
          <a:prstGeom prst="rect">
            <a:avLst/>
          </a:prstGeom>
        </p:spPr>
      </p:pic>
      <p:sp>
        <p:nvSpPr>
          <p:cNvPr id="6" name="Text 3"/>
          <p:cNvSpPr txBox="1"/>
          <p:nvPr/>
        </p:nvSpPr>
        <p:spPr>
          <a:xfrm>
            <a:off x="1417320" y="1371600"/>
            <a:ext cx="7040880" cy="1051560"/>
          </a:xfrm>
          <a:prstGeom prst="rect">
            <a:avLst/>
          </a:prstGeom>
          <a:noFill/>
          <a:ln/>
        </p:spPr>
        <p:txBody>
          <a:bodyPr wrap="square" lIns="0" tIns="0" rIns="0" bIns="0" rtlCol="0" anchor="ctr"/>
          <a:lstStyle/>
          <a:p>
            <a:pPr marL="0" indent="0">
              <a:buNone/>
            </a:pPr>
            <a:r>
              <a:rPr lang="en-US" sz="1600" dirty="0">
                <a:solidFill>
                  <a:schemeClr val="bg1"/>
                </a:solidFill>
              </a:rPr>
              <a:t>An </a:t>
            </a:r>
            <a:r>
              <a:rPr lang="en-US" sz="1600" b="1" dirty="0">
                <a:solidFill>
                  <a:schemeClr val="bg1"/>
                </a:solidFill>
              </a:rPr>
              <a:t>SLA</a:t>
            </a:r>
            <a:r>
              <a:rPr lang="en-US" sz="1600" dirty="0">
                <a:solidFill>
                  <a:schemeClr val="bg1"/>
                </a:solidFill>
              </a:rPr>
              <a:t> is a contract between a customer and a CSP that specifies the level of </a:t>
            </a:r>
            <a:r>
              <a:rPr lang="en-US" sz="1600" b="1" dirty="0">
                <a:solidFill>
                  <a:schemeClr val="bg1"/>
                </a:solidFill>
              </a:rPr>
              <a:t>uptime</a:t>
            </a:r>
            <a:r>
              <a:rPr lang="en-US" sz="1600" dirty="0">
                <a:solidFill>
                  <a:schemeClr val="bg1"/>
                </a:solidFill>
              </a:rPr>
              <a:t> the provider will support, as well as the expected performance metrics.</a:t>
            </a:r>
            <a:endParaRPr lang="en-US" sz="1600" dirty="0"/>
          </a:p>
        </p:txBody>
      </p:sp>
      <p:sp>
        <p:nvSpPr>
          <p:cNvPr id="7" name="Card"/>
          <p:cNvSpPr/>
          <p:nvPr/>
        </p:nvSpPr>
        <p:spPr>
          <a:xfrm>
            <a:off x="457200" y="2606040"/>
            <a:ext cx="4023360" cy="960120"/>
          </a:xfrm>
          <a:prstGeom prst="roundRect">
            <a:avLst>
              <a:gd name="adj" fmla="val 11429"/>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8" name="FaMoneyBillWave circle"/>
          <p:cNvSpPr/>
          <p:nvPr/>
        </p:nvSpPr>
        <p:spPr>
          <a:xfrm>
            <a:off x="640080" y="2880360"/>
            <a:ext cx="411480" cy="411480"/>
          </a:xfrm>
          <a:prstGeom prst="ellipse">
            <a:avLst/>
          </a:prstGeom>
          <a:solidFill>
            <a:schemeClr val="accent4"/>
          </a:solidFill>
          <a:ln/>
        </p:spPr>
        <p:txBody>
          <a:bodyPr/>
          <a:lstStyle/>
          <a:p>
            <a:endParaRPr lang="en-RW"/>
          </a:p>
        </p:txBody>
      </p:sp>
      <p:pic>
        <p:nvPicPr>
          <p:cNvPr id="9" name="FaMoneyBillWave icon" descr="preencoded.png"/>
          <p:cNvPicPr>
            <a:picLocks noChangeAspect="1"/>
          </p:cNvPicPr>
          <p:nvPr/>
        </p:nvPicPr>
        <p:blipFill>
          <a:blip r:embed="rId4"/>
          <a:stretch>
            <a:fillRect/>
          </a:stretch>
        </p:blipFill>
        <p:spPr>
          <a:xfrm>
            <a:off x="742950" y="2983230"/>
            <a:ext cx="205740" cy="205740"/>
          </a:xfrm>
          <a:prstGeom prst="rect">
            <a:avLst/>
          </a:prstGeom>
        </p:spPr>
      </p:pic>
      <p:sp>
        <p:nvSpPr>
          <p:cNvPr id="10" name="Text 6"/>
          <p:cNvSpPr txBox="1"/>
          <p:nvPr/>
        </p:nvSpPr>
        <p:spPr>
          <a:xfrm>
            <a:off x="1234440" y="2606040"/>
            <a:ext cx="3063240" cy="960120"/>
          </a:xfrm>
          <a:prstGeom prst="rect">
            <a:avLst/>
          </a:prstGeom>
          <a:noFill/>
          <a:ln/>
        </p:spPr>
        <p:txBody>
          <a:bodyPr wrap="square" lIns="0" tIns="0" rIns="0" bIns="0" rtlCol="0" anchor="ctr"/>
          <a:lstStyle/>
          <a:p>
            <a:pPr marL="0" indent="0">
              <a:buNone/>
            </a:pPr>
            <a:r>
              <a:rPr lang="en-US" sz="1300" dirty="0">
                <a:solidFill>
                  <a:schemeClr val="tx1"/>
                </a:solidFill>
              </a:rPr>
              <a:t>Should say how the CSP compensates customers if SLAs are not met (e.g., money or service credits).</a:t>
            </a:r>
            <a:endParaRPr lang="en-US" sz="1300" dirty="0"/>
          </a:p>
        </p:txBody>
      </p:sp>
      <p:sp>
        <p:nvSpPr>
          <p:cNvPr id="11" name="Card"/>
          <p:cNvSpPr/>
          <p:nvPr/>
        </p:nvSpPr>
        <p:spPr>
          <a:xfrm>
            <a:off x="4663440" y="2606040"/>
            <a:ext cx="4023360" cy="960120"/>
          </a:xfrm>
          <a:prstGeom prst="roundRect">
            <a:avLst>
              <a:gd name="adj" fmla="val 11429"/>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12" name="FaCloud circle"/>
          <p:cNvSpPr/>
          <p:nvPr/>
        </p:nvSpPr>
        <p:spPr>
          <a:xfrm>
            <a:off x="4846320" y="2880360"/>
            <a:ext cx="411480" cy="411480"/>
          </a:xfrm>
          <a:prstGeom prst="ellipse">
            <a:avLst/>
          </a:prstGeom>
          <a:solidFill>
            <a:schemeClr val="accent5"/>
          </a:solidFill>
          <a:ln/>
        </p:spPr>
        <p:txBody>
          <a:bodyPr/>
          <a:lstStyle/>
          <a:p>
            <a:endParaRPr lang="en-RW"/>
          </a:p>
        </p:txBody>
      </p:sp>
      <p:pic>
        <p:nvPicPr>
          <p:cNvPr id="13" name="FaCloud icon" descr="preencoded.png"/>
          <p:cNvPicPr>
            <a:picLocks noChangeAspect="1"/>
          </p:cNvPicPr>
          <p:nvPr/>
        </p:nvPicPr>
        <p:blipFill>
          <a:blip r:embed="rId5"/>
          <a:stretch>
            <a:fillRect/>
          </a:stretch>
        </p:blipFill>
        <p:spPr>
          <a:xfrm>
            <a:off x="4949190" y="2983230"/>
            <a:ext cx="205740" cy="205740"/>
          </a:xfrm>
          <a:prstGeom prst="rect">
            <a:avLst/>
          </a:prstGeom>
        </p:spPr>
      </p:pic>
      <p:sp>
        <p:nvSpPr>
          <p:cNvPr id="14" name="Text 9"/>
          <p:cNvSpPr txBox="1"/>
          <p:nvPr/>
        </p:nvSpPr>
        <p:spPr>
          <a:xfrm>
            <a:off x="5440680" y="2606040"/>
            <a:ext cx="3063240" cy="960120"/>
          </a:xfrm>
          <a:prstGeom prst="rect">
            <a:avLst/>
          </a:prstGeom>
          <a:noFill/>
          <a:ln/>
        </p:spPr>
        <p:txBody>
          <a:bodyPr wrap="square" lIns="0" tIns="0" rIns="0" bIns="0" rtlCol="0" anchor="ctr"/>
          <a:lstStyle/>
          <a:p>
            <a:pPr marL="0" indent="0">
              <a:buNone/>
            </a:pPr>
            <a:r>
              <a:rPr lang="en-US" sz="1300" dirty="0">
                <a:solidFill>
                  <a:schemeClr val="tx1"/>
                </a:solidFill>
              </a:rPr>
              <a:t>Specific to a cloud service: storage and virtual machines can have different SLAs.</a:t>
            </a:r>
            <a:endParaRPr lang="en-US" sz="1300" dirty="0"/>
          </a:p>
        </p:txBody>
      </p:sp>
      <p:sp>
        <p:nvSpPr>
          <p:cNvPr id="15" name="Card"/>
          <p:cNvSpPr/>
          <p:nvPr/>
        </p:nvSpPr>
        <p:spPr>
          <a:xfrm>
            <a:off x="457200" y="3657600"/>
            <a:ext cx="4023360" cy="960120"/>
          </a:xfrm>
          <a:prstGeom prst="roundRect">
            <a:avLst>
              <a:gd name="adj" fmla="val 11429"/>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16" name="FaHandshake circle"/>
          <p:cNvSpPr/>
          <p:nvPr/>
        </p:nvSpPr>
        <p:spPr>
          <a:xfrm>
            <a:off x="640080" y="3931920"/>
            <a:ext cx="411480" cy="411480"/>
          </a:xfrm>
          <a:prstGeom prst="ellipse">
            <a:avLst/>
          </a:prstGeom>
          <a:solidFill>
            <a:schemeClr val="accent2"/>
          </a:solidFill>
          <a:ln/>
        </p:spPr>
        <p:txBody>
          <a:bodyPr/>
          <a:lstStyle/>
          <a:p>
            <a:endParaRPr lang="en-RW"/>
          </a:p>
        </p:txBody>
      </p:sp>
      <p:pic>
        <p:nvPicPr>
          <p:cNvPr id="17" name="FaHandshake icon" descr="preencoded.png"/>
          <p:cNvPicPr>
            <a:picLocks noChangeAspect="1"/>
          </p:cNvPicPr>
          <p:nvPr/>
        </p:nvPicPr>
        <p:blipFill>
          <a:blip r:embed="rId6"/>
          <a:stretch>
            <a:fillRect/>
          </a:stretch>
        </p:blipFill>
        <p:spPr>
          <a:xfrm>
            <a:off x="742950" y="4034790"/>
            <a:ext cx="205740" cy="205740"/>
          </a:xfrm>
          <a:prstGeom prst="rect">
            <a:avLst/>
          </a:prstGeom>
        </p:spPr>
      </p:pic>
      <p:sp>
        <p:nvSpPr>
          <p:cNvPr id="18" name="Text 12"/>
          <p:cNvSpPr txBox="1"/>
          <p:nvPr/>
        </p:nvSpPr>
        <p:spPr>
          <a:xfrm>
            <a:off x="1234440" y="3657600"/>
            <a:ext cx="3063240" cy="960120"/>
          </a:xfrm>
          <a:prstGeom prst="rect">
            <a:avLst/>
          </a:prstGeom>
          <a:noFill/>
          <a:ln/>
        </p:spPr>
        <p:txBody>
          <a:bodyPr wrap="square" lIns="0" tIns="0" rIns="0" bIns="0" rtlCol="0" anchor="ctr"/>
          <a:lstStyle/>
          <a:p>
            <a:pPr marL="0" indent="0">
              <a:buNone/>
            </a:pPr>
            <a:r>
              <a:rPr lang="en-US" sz="1300" dirty="0">
                <a:solidFill>
                  <a:schemeClr val="tx1"/>
                </a:solidFill>
              </a:rPr>
              <a:t>Can be uniform for all customers, or a custom agreement between one customer and the CSP.</a:t>
            </a:r>
            <a:endParaRPr lang="en-US" sz="1300" dirty="0"/>
          </a:p>
        </p:txBody>
      </p:sp>
      <p:sp>
        <p:nvSpPr>
          <p:cNvPr id="19" name="Card"/>
          <p:cNvSpPr/>
          <p:nvPr/>
        </p:nvSpPr>
        <p:spPr>
          <a:xfrm>
            <a:off x="4663440" y="3657600"/>
            <a:ext cx="4023360" cy="960120"/>
          </a:xfrm>
          <a:prstGeom prst="roundRect">
            <a:avLst>
              <a:gd name="adj" fmla="val 11429"/>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20" name="FaShieldAlt circle"/>
          <p:cNvSpPr/>
          <p:nvPr/>
        </p:nvSpPr>
        <p:spPr>
          <a:xfrm>
            <a:off x="4846320" y="3931920"/>
            <a:ext cx="411480" cy="411480"/>
          </a:xfrm>
          <a:prstGeom prst="ellipse">
            <a:avLst/>
          </a:prstGeom>
          <a:solidFill>
            <a:schemeClr val="accent3"/>
          </a:solidFill>
          <a:ln/>
        </p:spPr>
        <p:txBody>
          <a:bodyPr/>
          <a:lstStyle/>
          <a:p>
            <a:endParaRPr lang="en-RW"/>
          </a:p>
        </p:txBody>
      </p:sp>
      <p:pic>
        <p:nvPicPr>
          <p:cNvPr id="21" name="FaShieldAlt icon" descr="preencoded.png"/>
          <p:cNvPicPr>
            <a:picLocks noChangeAspect="1"/>
          </p:cNvPicPr>
          <p:nvPr/>
        </p:nvPicPr>
        <p:blipFill>
          <a:blip r:embed="rId7"/>
          <a:stretch>
            <a:fillRect/>
          </a:stretch>
        </p:blipFill>
        <p:spPr>
          <a:xfrm>
            <a:off x="4949190" y="4034790"/>
            <a:ext cx="205740" cy="205740"/>
          </a:xfrm>
          <a:prstGeom prst="rect">
            <a:avLst/>
          </a:prstGeom>
        </p:spPr>
      </p:pic>
      <p:sp>
        <p:nvSpPr>
          <p:cNvPr id="22" name="Text 15"/>
          <p:cNvSpPr txBox="1"/>
          <p:nvPr/>
        </p:nvSpPr>
        <p:spPr>
          <a:xfrm>
            <a:off x="5440680" y="3657600"/>
            <a:ext cx="3063240" cy="960120"/>
          </a:xfrm>
          <a:prstGeom prst="rect">
            <a:avLst/>
          </a:prstGeom>
          <a:noFill/>
          <a:ln/>
        </p:spPr>
        <p:txBody>
          <a:bodyPr wrap="square" lIns="0" tIns="0" rIns="0" bIns="0" rtlCol="0" anchor="ctr"/>
          <a:lstStyle/>
          <a:p>
            <a:pPr marL="0" indent="0">
              <a:buNone/>
            </a:pPr>
            <a:r>
              <a:rPr lang="en-US" sz="1300" dirty="0">
                <a:solidFill>
                  <a:schemeClr val="tx1"/>
                </a:solidFill>
              </a:rPr>
              <a:t>Helps ensure key resources stay available so organizations avoid excessive losses.</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5A7E"/>
                </a:solidFill>
              </a:defRPr>
            </a:lvl1pPr>
          </a:lstStyle>
          <a:p>
            <a:pPr algn="r"/>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48640"/>
            <a:ext cx="8229600" cy="640080"/>
          </a:xfrm>
          <a:prstGeom prst="rect">
            <a:avLst/>
          </a:prstGeom>
          <a:noFill/>
          <a:ln/>
        </p:spPr>
        <p:txBody>
          <a:bodyPr wrap="square" lIns="0" tIns="0" rIns="0" bIns="0" rtlCol="0" anchor="ctr"/>
          <a:lstStyle/>
          <a:p>
            <a:pPr marL="0" indent="0" algn="l">
              <a:buNone/>
            </a:pPr>
            <a:r>
              <a:rPr lang="en-US" sz="3400" b="1" dirty="0">
                <a:solidFill>
                  <a:schemeClr val="tx1"/>
                </a:solidFill>
              </a:rPr>
              <a:t>Example: AWS EC2 SLA</a:t>
            </a:r>
            <a:endParaRPr lang="en-US" sz="3400" dirty="0"/>
          </a:p>
        </p:txBody>
      </p:sp>
      <p:sp>
        <p:nvSpPr>
          <p:cNvPr id="3" name="Section chip"/>
          <p:cNvSpPr txBox="1"/>
          <p:nvPr/>
        </p:nvSpPr>
        <p:spPr>
          <a:xfrm>
            <a:off x="457200" y="274320"/>
            <a:ext cx="2488997" cy="246888"/>
          </a:xfrm>
          <a:prstGeom prst="roundRect">
            <a:avLst>
              <a:gd name="adj" fmla="val 48148"/>
            </a:avLst>
          </a:prstGeom>
          <a:solidFill>
            <a:schemeClr val="accent1"/>
          </a:solidFill>
          <a:ln/>
        </p:spPr>
        <p:txBody>
          <a:bodyPr wrap="square" lIns="0" tIns="0" rIns="0" bIns="0" rtlCol="0" anchor="ctr"/>
          <a:lstStyle/>
          <a:p>
            <a:pPr marL="0" indent="0" algn="ctr">
              <a:buNone/>
            </a:pPr>
            <a:r>
              <a:rPr lang="en-US" sz="1000" b="1" kern="0" spc="150" dirty="0">
                <a:solidFill>
                  <a:schemeClr val="bg1"/>
                </a:solidFill>
              </a:rPr>
              <a:t>CONSIDERATIONS FOR ADOPTION</a:t>
            </a:r>
            <a:endParaRPr lang="en-US" sz="1000" dirty="0"/>
          </a:p>
        </p:txBody>
      </p:sp>
      <p:sp>
        <p:nvSpPr>
          <p:cNvPr id="4" name="Card"/>
          <p:cNvSpPr/>
          <p:nvPr/>
        </p:nvSpPr>
        <p:spPr>
          <a:xfrm>
            <a:off x="457200" y="1371600"/>
            <a:ext cx="4114800" cy="2103120"/>
          </a:xfrm>
          <a:prstGeom prst="roundRect">
            <a:avLst>
              <a:gd name="adj" fmla="val 5217"/>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5" name="Text 3"/>
          <p:cNvSpPr txBox="1"/>
          <p:nvPr/>
        </p:nvSpPr>
        <p:spPr>
          <a:xfrm>
            <a:off x="685800" y="1371600"/>
            <a:ext cx="3657600" cy="2103120"/>
          </a:xfrm>
          <a:prstGeom prst="rect">
            <a:avLst/>
          </a:prstGeom>
          <a:noFill/>
          <a:ln/>
        </p:spPr>
        <p:txBody>
          <a:bodyPr wrap="square" lIns="0" tIns="0" rIns="0" bIns="0" rtlCol="0" anchor="ctr"/>
          <a:lstStyle/>
          <a:p>
            <a:pPr marL="0" indent="0">
              <a:buNone/>
            </a:pPr>
            <a:r>
              <a:rPr lang="en-US" sz="1400" dirty="0">
                <a:solidFill>
                  <a:schemeClr val="tx1"/>
                </a:solidFill>
              </a:rPr>
              <a:t>For each </a:t>
            </a:r>
            <a:r>
              <a:rPr lang="en-US" sz="1400" b="1" dirty="0">
                <a:solidFill>
                  <a:schemeClr val="tx1"/>
                </a:solidFill>
              </a:rPr>
              <a:t>Amazon EC2 instance</a:t>
            </a:r>
            <a:r>
              <a:rPr lang="en-US" sz="1400" dirty="0">
                <a:solidFill>
                  <a:schemeClr val="tx1"/>
                </a:solidFill>
              </a:rPr>
              <a:t>, AWS will make commercially reasonable efforts to keep it available at least </a:t>
            </a:r>
            <a:r>
              <a:rPr lang="en-US" sz="1400" b="1" dirty="0">
                <a:solidFill>
                  <a:schemeClr val="tx1"/>
                </a:solidFill>
              </a:rPr>
              <a:t>99.5%</a:t>
            </a:r>
            <a:r>
              <a:rPr lang="en-US" sz="1400" dirty="0">
                <a:solidFill>
                  <a:schemeClr val="tx1"/>
                </a:solidFill>
              </a:rPr>
              <a:t> of the time in any monthly billing cycle. If it falls short, you can receive a </a:t>
            </a:r>
            <a:r>
              <a:rPr lang="en-US" sz="1400" b="1" dirty="0">
                <a:solidFill>
                  <a:schemeClr val="tx1"/>
                </a:solidFill>
              </a:rPr>
              <a:t>Service Credit</a:t>
            </a:r>
            <a:r>
              <a:rPr lang="en-US" sz="1400" dirty="0">
                <a:solidFill>
                  <a:schemeClr val="tx1"/>
                </a:solidFill>
              </a:rPr>
              <a:t>.</a:t>
            </a:r>
            <a:endParaRPr lang="en-US" sz="1400" dirty="0"/>
          </a:p>
        </p:txBody>
      </p:sp>
      <p:sp>
        <p:nvSpPr>
          <p:cNvPr id="6" name="Card"/>
          <p:cNvSpPr/>
          <p:nvPr/>
        </p:nvSpPr>
        <p:spPr>
          <a:xfrm>
            <a:off x="457200" y="3611880"/>
            <a:ext cx="4114800" cy="1051560"/>
          </a:xfrm>
          <a:prstGeom prst="roundRect">
            <a:avLst>
              <a:gd name="adj" fmla="val 10435"/>
            </a:avLst>
          </a:prstGeom>
          <a:solidFill>
            <a:schemeClr val="accent4"/>
          </a:solidFill>
          <a:ln/>
          <a:effectLst>
            <a:outerShdw blurRad="127000" dist="38100" dir="5400000" algn="bl" rotWithShape="0">
              <a:srgbClr val="1E1B4B">
                <a:alpha val="10000"/>
              </a:srgbClr>
            </a:outerShdw>
          </a:effectLst>
        </p:spPr>
        <p:txBody>
          <a:bodyPr/>
          <a:lstStyle/>
          <a:p>
            <a:endParaRPr lang="en-RW"/>
          </a:p>
        </p:txBody>
      </p:sp>
      <p:sp>
        <p:nvSpPr>
          <p:cNvPr id="7" name="Text 5"/>
          <p:cNvSpPr txBox="1"/>
          <p:nvPr/>
        </p:nvSpPr>
        <p:spPr>
          <a:xfrm>
            <a:off x="685800" y="3611880"/>
            <a:ext cx="3657600" cy="1051560"/>
          </a:xfrm>
          <a:prstGeom prst="rect">
            <a:avLst/>
          </a:prstGeom>
          <a:noFill/>
          <a:ln/>
        </p:spPr>
        <p:txBody>
          <a:bodyPr wrap="square" lIns="0" tIns="0" rIns="0" bIns="0" rtlCol="0" anchor="ctr"/>
          <a:lstStyle/>
          <a:p>
            <a:pPr marL="0" indent="0">
              <a:buNone/>
            </a:pPr>
            <a:r>
              <a:rPr lang="en-US" sz="1400" dirty="0">
                <a:solidFill>
                  <a:schemeClr val="tx1"/>
                </a:solidFill>
              </a:rPr>
              <a:t>An </a:t>
            </a:r>
            <a:r>
              <a:rPr lang="en-US" sz="1400" b="1" dirty="0">
                <a:solidFill>
                  <a:schemeClr val="tx1"/>
                </a:solidFill>
              </a:rPr>
              <a:t>EC2 (Elastic Compute Cloud) instance</a:t>
            </a:r>
            <a:r>
              <a:rPr lang="en-US" sz="1400" dirty="0">
                <a:solidFill>
                  <a:schemeClr val="tx1"/>
                </a:solidFill>
              </a:rPr>
              <a:t> is synonymous with a virtual machine deployed in the AWS cloud.</a:t>
            </a:r>
            <a:endParaRPr lang="en-US" sz="1400" dirty="0"/>
          </a:p>
        </p:txBody>
      </p:sp>
      <p:sp>
        <p:nvSpPr>
          <p:cNvPr id="8" name="Text 6"/>
          <p:cNvSpPr txBox="1"/>
          <p:nvPr/>
        </p:nvSpPr>
        <p:spPr>
          <a:xfrm>
            <a:off x="4800600" y="1371600"/>
            <a:ext cx="2377440" cy="274320"/>
          </a:xfrm>
          <a:prstGeom prst="rect">
            <a:avLst/>
          </a:prstGeom>
          <a:noFill/>
          <a:ln/>
        </p:spPr>
        <p:txBody>
          <a:bodyPr wrap="square" lIns="0" tIns="0" rIns="0" bIns="0" rtlCol="0" anchor="t"/>
          <a:lstStyle/>
          <a:p>
            <a:pPr marL="0" indent="0">
              <a:buNone/>
            </a:pPr>
            <a:r>
              <a:rPr lang="en-US" sz="1000" b="1" kern="0" spc="150" dirty="0">
                <a:solidFill>
                  <a:schemeClr val="tx2"/>
                </a:solidFill>
              </a:rPr>
              <a:t>UPTIME THIS MONTH</a:t>
            </a:r>
            <a:endParaRPr lang="en-US" sz="1000" dirty="0"/>
          </a:p>
        </p:txBody>
      </p:sp>
      <p:sp>
        <p:nvSpPr>
          <p:cNvPr id="9" name="Text 7"/>
          <p:cNvSpPr txBox="1"/>
          <p:nvPr/>
        </p:nvSpPr>
        <p:spPr>
          <a:xfrm>
            <a:off x="7315200" y="1371600"/>
            <a:ext cx="1371600" cy="274320"/>
          </a:xfrm>
          <a:prstGeom prst="rect">
            <a:avLst/>
          </a:prstGeom>
          <a:noFill/>
          <a:ln/>
        </p:spPr>
        <p:txBody>
          <a:bodyPr wrap="square" lIns="0" tIns="0" rIns="0" bIns="0" rtlCol="0" anchor="t"/>
          <a:lstStyle/>
          <a:p>
            <a:pPr marL="0" indent="0" algn="ctr">
              <a:buNone/>
            </a:pPr>
            <a:r>
              <a:rPr lang="en-US" sz="1000" b="1" kern="0" spc="150" dirty="0">
                <a:solidFill>
                  <a:schemeClr val="tx2"/>
                </a:solidFill>
              </a:rPr>
              <a:t>SERVICE CREDIT</a:t>
            </a:r>
            <a:endParaRPr lang="en-US" sz="1000" dirty="0"/>
          </a:p>
        </p:txBody>
      </p:sp>
      <p:sp>
        <p:nvSpPr>
          <p:cNvPr id="10" name="Card"/>
          <p:cNvSpPr/>
          <p:nvPr/>
        </p:nvSpPr>
        <p:spPr>
          <a:xfrm>
            <a:off x="4800600" y="1691640"/>
            <a:ext cx="3886200" cy="868680"/>
          </a:xfrm>
          <a:prstGeom prst="roundRect">
            <a:avLst>
              <a:gd name="adj" fmla="val 12632"/>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11" name="Text 9"/>
          <p:cNvSpPr txBox="1"/>
          <p:nvPr/>
        </p:nvSpPr>
        <p:spPr>
          <a:xfrm>
            <a:off x="4983480" y="1691640"/>
            <a:ext cx="2286000" cy="868680"/>
          </a:xfrm>
          <a:prstGeom prst="rect">
            <a:avLst/>
          </a:prstGeom>
          <a:noFill/>
          <a:ln/>
        </p:spPr>
        <p:txBody>
          <a:bodyPr wrap="square" lIns="0" tIns="0" rIns="0" bIns="0" rtlCol="0" anchor="ctr"/>
          <a:lstStyle/>
          <a:p>
            <a:pPr marL="0" indent="0">
              <a:buNone/>
            </a:pPr>
            <a:r>
              <a:rPr lang="en-US" sz="1500" b="1" dirty="0">
                <a:solidFill>
                  <a:schemeClr val="tx1"/>
                </a:solidFill>
              </a:rPr>
              <a:t>99.0% to &lt; 99.5%</a:t>
            </a:r>
            <a:endParaRPr lang="en-US" sz="1500" dirty="0"/>
          </a:p>
        </p:txBody>
      </p:sp>
      <p:sp>
        <p:nvSpPr>
          <p:cNvPr id="12" name="Credit 10%"/>
          <p:cNvSpPr txBox="1"/>
          <p:nvPr/>
        </p:nvSpPr>
        <p:spPr>
          <a:xfrm>
            <a:off x="7315200" y="1828800"/>
            <a:ext cx="1234440" cy="594360"/>
          </a:xfrm>
          <a:prstGeom prst="roundRect">
            <a:avLst>
              <a:gd name="adj" fmla="val 18462"/>
            </a:avLst>
          </a:prstGeom>
          <a:solidFill>
            <a:schemeClr val="accent4"/>
          </a:solidFill>
          <a:ln/>
        </p:spPr>
        <p:txBody>
          <a:bodyPr wrap="square" lIns="0" tIns="0" rIns="0" bIns="0" rtlCol="0" anchor="ctr"/>
          <a:lstStyle/>
          <a:p>
            <a:pPr marL="0" indent="0" algn="ctr">
              <a:buNone/>
            </a:pPr>
            <a:r>
              <a:rPr lang="en-US" sz="2200" b="1" dirty="0">
                <a:solidFill>
                  <a:schemeClr val="tx1"/>
                </a:solidFill>
              </a:rPr>
              <a:t>10%</a:t>
            </a:r>
            <a:endParaRPr lang="en-US" sz="2200" dirty="0"/>
          </a:p>
        </p:txBody>
      </p:sp>
      <p:sp>
        <p:nvSpPr>
          <p:cNvPr id="13" name="Card"/>
          <p:cNvSpPr/>
          <p:nvPr/>
        </p:nvSpPr>
        <p:spPr>
          <a:xfrm>
            <a:off x="4800600" y="2697480"/>
            <a:ext cx="3886200" cy="868680"/>
          </a:xfrm>
          <a:prstGeom prst="roundRect">
            <a:avLst>
              <a:gd name="adj" fmla="val 12632"/>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14" name="Text 12"/>
          <p:cNvSpPr txBox="1"/>
          <p:nvPr/>
        </p:nvSpPr>
        <p:spPr>
          <a:xfrm>
            <a:off x="4983480" y="2697480"/>
            <a:ext cx="2286000" cy="868680"/>
          </a:xfrm>
          <a:prstGeom prst="rect">
            <a:avLst/>
          </a:prstGeom>
          <a:noFill/>
          <a:ln/>
        </p:spPr>
        <p:txBody>
          <a:bodyPr wrap="square" lIns="0" tIns="0" rIns="0" bIns="0" rtlCol="0" anchor="ctr"/>
          <a:lstStyle/>
          <a:p>
            <a:pPr marL="0" indent="0">
              <a:buNone/>
            </a:pPr>
            <a:r>
              <a:rPr lang="en-US" sz="1500" b="1" dirty="0">
                <a:solidFill>
                  <a:schemeClr val="tx1"/>
                </a:solidFill>
              </a:rPr>
              <a:t>95.0% to &lt; 99.0%</a:t>
            </a:r>
            <a:endParaRPr lang="en-US" sz="1500" dirty="0"/>
          </a:p>
        </p:txBody>
      </p:sp>
      <p:sp>
        <p:nvSpPr>
          <p:cNvPr id="15" name="Credit 30%"/>
          <p:cNvSpPr txBox="1"/>
          <p:nvPr/>
        </p:nvSpPr>
        <p:spPr>
          <a:xfrm>
            <a:off x="7315200" y="2834640"/>
            <a:ext cx="1234440" cy="594360"/>
          </a:xfrm>
          <a:prstGeom prst="roundRect">
            <a:avLst>
              <a:gd name="adj" fmla="val 18462"/>
            </a:avLst>
          </a:prstGeom>
          <a:solidFill>
            <a:schemeClr val="accent3"/>
          </a:solidFill>
          <a:ln/>
        </p:spPr>
        <p:txBody>
          <a:bodyPr wrap="square" lIns="0" tIns="0" rIns="0" bIns="0" rtlCol="0" anchor="ctr"/>
          <a:lstStyle/>
          <a:p>
            <a:pPr marL="0" indent="0" algn="ctr">
              <a:buNone/>
            </a:pPr>
            <a:r>
              <a:rPr lang="en-US" sz="2200" b="1" dirty="0">
                <a:solidFill>
                  <a:schemeClr val="tx1"/>
                </a:solidFill>
              </a:rPr>
              <a:t>30%</a:t>
            </a:r>
            <a:endParaRPr lang="en-US" sz="2200" dirty="0"/>
          </a:p>
        </p:txBody>
      </p:sp>
      <p:sp>
        <p:nvSpPr>
          <p:cNvPr id="16" name="Card"/>
          <p:cNvSpPr/>
          <p:nvPr/>
        </p:nvSpPr>
        <p:spPr>
          <a:xfrm>
            <a:off x="4800600" y="3703320"/>
            <a:ext cx="3886200" cy="868680"/>
          </a:xfrm>
          <a:prstGeom prst="roundRect">
            <a:avLst>
              <a:gd name="adj" fmla="val 12632"/>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17" name="Text 15"/>
          <p:cNvSpPr txBox="1"/>
          <p:nvPr/>
        </p:nvSpPr>
        <p:spPr>
          <a:xfrm>
            <a:off x="4983480" y="3703320"/>
            <a:ext cx="2286000" cy="868680"/>
          </a:xfrm>
          <a:prstGeom prst="rect">
            <a:avLst/>
          </a:prstGeom>
          <a:noFill/>
          <a:ln/>
        </p:spPr>
        <p:txBody>
          <a:bodyPr wrap="square" lIns="0" tIns="0" rIns="0" bIns="0" rtlCol="0" anchor="ctr"/>
          <a:lstStyle/>
          <a:p>
            <a:pPr marL="0" indent="0">
              <a:buNone/>
            </a:pPr>
            <a:r>
              <a:rPr lang="en-US" sz="1500" b="1" dirty="0">
                <a:solidFill>
                  <a:schemeClr val="tx1"/>
                </a:solidFill>
              </a:rPr>
              <a:t>Below 95.0%</a:t>
            </a:r>
            <a:endParaRPr lang="en-US" sz="1500" dirty="0"/>
          </a:p>
        </p:txBody>
      </p:sp>
      <p:sp>
        <p:nvSpPr>
          <p:cNvPr id="18" name="Credit 100%"/>
          <p:cNvSpPr txBox="1"/>
          <p:nvPr/>
        </p:nvSpPr>
        <p:spPr>
          <a:xfrm>
            <a:off x="7315200" y="3840480"/>
            <a:ext cx="1234440" cy="594360"/>
          </a:xfrm>
          <a:prstGeom prst="roundRect">
            <a:avLst>
              <a:gd name="adj" fmla="val 18462"/>
            </a:avLst>
          </a:prstGeom>
          <a:solidFill>
            <a:schemeClr val="accent6"/>
          </a:solidFill>
          <a:ln/>
        </p:spPr>
        <p:txBody>
          <a:bodyPr wrap="square" lIns="0" tIns="0" rIns="0" bIns="0" rtlCol="0" anchor="ctr"/>
          <a:lstStyle/>
          <a:p>
            <a:pPr marL="0" indent="0" algn="ctr">
              <a:buNone/>
            </a:pPr>
            <a:r>
              <a:rPr lang="en-US" sz="2200" b="1" dirty="0">
                <a:solidFill>
                  <a:schemeClr val="tx1"/>
                </a:solidFill>
              </a:rPr>
              <a:t>100%</a:t>
            </a:r>
            <a:endParaRPr lang="en-US" sz="2200" dirty="0"/>
          </a:p>
        </p:txBody>
      </p:sp>
      <p:sp>
        <p:nvSpPr>
          <p:cNvPr id="19" name="Text 17"/>
          <p:cNvSpPr txBox="1"/>
          <p:nvPr/>
        </p:nvSpPr>
        <p:spPr>
          <a:xfrm>
            <a:off x="4800600" y="4754880"/>
            <a:ext cx="3291840" cy="228600"/>
          </a:xfrm>
          <a:prstGeom prst="rect">
            <a:avLst/>
          </a:prstGeom>
          <a:noFill/>
          <a:ln/>
        </p:spPr>
        <p:txBody>
          <a:bodyPr wrap="square" lIns="0" tIns="0" rIns="0" bIns="0" rtlCol="0" anchor="t"/>
          <a:lstStyle/>
          <a:p>
            <a:pPr marL="0" indent="0">
              <a:buNone/>
            </a:pPr>
            <a:r>
              <a:rPr lang="en-US" sz="1000" i="1" dirty="0">
                <a:solidFill>
                  <a:schemeClr val="tx2"/>
                </a:solidFill>
              </a:rPr>
              <a:t>Instance-level SLA published by AWS. Source: AWS</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5A7E"/>
                </a:solidFill>
              </a:defRPr>
            </a:lvl1pPr>
          </a:lstStyle>
          <a:p>
            <a:pPr algn="r"/>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48640"/>
            <a:ext cx="8229600" cy="640080"/>
          </a:xfrm>
          <a:prstGeom prst="rect">
            <a:avLst/>
          </a:prstGeom>
          <a:noFill/>
          <a:ln/>
        </p:spPr>
        <p:txBody>
          <a:bodyPr wrap="square" lIns="0" tIns="0" rIns="0" bIns="0" rtlCol="0" anchor="ctr"/>
          <a:lstStyle/>
          <a:p>
            <a:pPr marL="0" indent="0" algn="l">
              <a:buNone/>
            </a:pPr>
            <a:r>
              <a:rPr lang="en-US" sz="3400" b="1" dirty="0">
                <a:solidFill>
                  <a:schemeClr val="tx1"/>
                </a:solidFill>
              </a:rPr>
              <a:t>Current Trend: Multi-cloud</a:t>
            </a:r>
            <a:endParaRPr lang="en-US" sz="3400" dirty="0"/>
          </a:p>
        </p:txBody>
      </p:sp>
      <p:sp>
        <p:nvSpPr>
          <p:cNvPr id="3" name="Section chip"/>
          <p:cNvSpPr txBox="1"/>
          <p:nvPr/>
        </p:nvSpPr>
        <p:spPr>
          <a:xfrm>
            <a:off x="457200" y="274320"/>
            <a:ext cx="2488997" cy="246888"/>
          </a:xfrm>
          <a:prstGeom prst="roundRect">
            <a:avLst>
              <a:gd name="adj" fmla="val 48148"/>
            </a:avLst>
          </a:prstGeom>
          <a:solidFill>
            <a:schemeClr val="accent1"/>
          </a:solidFill>
          <a:ln/>
        </p:spPr>
        <p:txBody>
          <a:bodyPr wrap="square" lIns="0" tIns="0" rIns="0" bIns="0" rtlCol="0" anchor="ctr"/>
          <a:lstStyle/>
          <a:p>
            <a:pPr marL="0" indent="0" algn="ctr">
              <a:buNone/>
            </a:pPr>
            <a:r>
              <a:rPr lang="en-US" sz="1000" b="1" kern="0" spc="150" dirty="0">
                <a:solidFill>
                  <a:schemeClr val="bg1"/>
                </a:solidFill>
              </a:rPr>
              <a:t>CONSIDERATIONS FOR ADOPTION</a:t>
            </a:r>
            <a:endParaRPr lang="en-US" sz="1000" dirty="0"/>
          </a:p>
        </p:txBody>
      </p:sp>
      <p:sp>
        <p:nvSpPr>
          <p:cNvPr id="4" name="Card"/>
          <p:cNvSpPr/>
          <p:nvPr/>
        </p:nvSpPr>
        <p:spPr>
          <a:xfrm>
            <a:off x="457200" y="1371600"/>
            <a:ext cx="3291840" cy="3291840"/>
          </a:xfrm>
          <a:prstGeom prst="roundRect">
            <a:avLst>
              <a:gd name="adj" fmla="val 3333"/>
            </a:avLst>
          </a:prstGeom>
          <a:solidFill>
            <a:schemeClr val="tx1"/>
          </a:solidFill>
          <a:ln/>
          <a:effectLst>
            <a:outerShdw blurRad="127000" dist="38100" dir="5400000" algn="bl" rotWithShape="0">
              <a:srgbClr val="1E1B4B">
                <a:alpha val="10000"/>
              </a:srgbClr>
            </a:outerShdw>
          </a:effectLst>
        </p:spPr>
        <p:txBody>
          <a:bodyPr/>
          <a:lstStyle/>
          <a:p>
            <a:endParaRPr lang="en-RW"/>
          </a:p>
        </p:txBody>
      </p:sp>
      <p:sp>
        <p:nvSpPr>
          <p:cNvPr id="5" name="Text 3"/>
          <p:cNvSpPr txBox="1"/>
          <p:nvPr/>
        </p:nvSpPr>
        <p:spPr>
          <a:xfrm>
            <a:off x="685800" y="1554480"/>
            <a:ext cx="2834640" cy="457200"/>
          </a:xfrm>
          <a:prstGeom prst="rect">
            <a:avLst/>
          </a:prstGeom>
          <a:noFill/>
          <a:ln/>
        </p:spPr>
        <p:txBody>
          <a:bodyPr wrap="square" lIns="0" tIns="0" rIns="0" bIns="0" rtlCol="0" anchor="t"/>
          <a:lstStyle/>
          <a:p>
            <a:pPr marL="0" indent="0">
              <a:buNone/>
            </a:pPr>
            <a:r>
              <a:rPr lang="en-US" sz="2400" b="1" dirty="0">
                <a:solidFill>
                  <a:schemeClr val="bg1"/>
                </a:solidFill>
              </a:rPr>
              <a:t>Multi-cloud</a:t>
            </a:r>
            <a:endParaRPr lang="en-US" sz="2400" dirty="0"/>
          </a:p>
        </p:txBody>
      </p:sp>
      <p:sp>
        <p:nvSpPr>
          <p:cNvPr id="6" name="Text 4"/>
          <p:cNvSpPr txBox="1"/>
          <p:nvPr/>
        </p:nvSpPr>
        <p:spPr>
          <a:xfrm>
            <a:off x="685800" y="2057400"/>
            <a:ext cx="2834640" cy="822960"/>
          </a:xfrm>
          <a:prstGeom prst="rect">
            <a:avLst/>
          </a:prstGeom>
          <a:noFill/>
          <a:ln/>
        </p:spPr>
        <p:txBody>
          <a:bodyPr wrap="square" lIns="0" tIns="0" rIns="0" bIns="0" rtlCol="0" anchor="t"/>
          <a:lstStyle/>
          <a:p>
            <a:pPr marL="0" indent="0">
              <a:buNone/>
            </a:pPr>
            <a:r>
              <a:rPr lang="en-US" sz="1400" dirty="0">
                <a:solidFill>
                  <a:schemeClr val="bg1"/>
                </a:solidFill>
              </a:rPr>
              <a:t>Using cloud services from more than one cloud vendor.</a:t>
            </a:r>
            <a:endParaRPr lang="en-US" sz="1400" dirty="0"/>
          </a:p>
        </p:txBody>
      </p:sp>
      <p:sp>
        <p:nvSpPr>
          <p:cNvPr id="7" name="Vendor AWS"/>
          <p:cNvSpPr/>
          <p:nvPr/>
        </p:nvSpPr>
        <p:spPr>
          <a:xfrm>
            <a:off x="685800" y="3017520"/>
            <a:ext cx="2834640" cy="420624"/>
          </a:xfrm>
          <a:prstGeom prst="roundRect">
            <a:avLst>
              <a:gd name="adj" fmla="val 21739"/>
            </a:avLst>
          </a:prstGeom>
          <a:solidFill>
            <a:schemeClr val="accent4"/>
          </a:solidFill>
          <a:ln/>
        </p:spPr>
        <p:txBody>
          <a:bodyPr/>
          <a:lstStyle/>
          <a:p>
            <a:endParaRPr lang="en-RW"/>
          </a:p>
        </p:txBody>
      </p:sp>
      <p:pic>
        <p:nvPicPr>
          <p:cNvPr id="8" name="Cloud" descr="preencoded.png"/>
          <p:cNvPicPr>
            <a:picLocks noChangeAspect="1"/>
          </p:cNvPicPr>
          <p:nvPr/>
        </p:nvPicPr>
        <p:blipFill>
          <a:blip r:embed="rId3"/>
          <a:stretch>
            <a:fillRect/>
          </a:stretch>
        </p:blipFill>
        <p:spPr>
          <a:xfrm>
            <a:off x="822960" y="3108960"/>
            <a:ext cx="237744" cy="237744"/>
          </a:xfrm>
          <a:prstGeom prst="rect">
            <a:avLst/>
          </a:prstGeom>
        </p:spPr>
      </p:pic>
      <p:sp>
        <p:nvSpPr>
          <p:cNvPr id="9" name="Text 6"/>
          <p:cNvSpPr txBox="1"/>
          <p:nvPr/>
        </p:nvSpPr>
        <p:spPr>
          <a:xfrm>
            <a:off x="1188720" y="3017520"/>
            <a:ext cx="2194560" cy="420624"/>
          </a:xfrm>
          <a:prstGeom prst="rect">
            <a:avLst/>
          </a:prstGeom>
          <a:noFill/>
          <a:ln/>
        </p:spPr>
        <p:txBody>
          <a:bodyPr wrap="square" lIns="0" tIns="0" rIns="0" bIns="0" rtlCol="0" anchor="ctr"/>
          <a:lstStyle/>
          <a:p>
            <a:pPr marL="0" indent="0">
              <a:buNone/>
            </a:pPr>
            <a:r>
              <a:rPr lang="en-US" sz="1400" b="1" dirty="0">
                <a:solidFill>
                  <a:schemeClr val="tx1"/>
                </a:solidFill>
              </a:rPr>
              <a:t>AWS</a:t>
            </a:r>
            <a:endParaRPr lang="en-US" sz="1400" dirty="0"/>
          </a:p>
        </p:txBody>
      </p:sp>
      <p:sp>
        <p:nvSpPr>
          <p:cNvPr id="10" name="Vendor Azure"/>
          <p:cNvSpPr/>
          <p:nvPr/>
        </p:nvSpPr>
        <p:spPr>
          <a:xfrm>
            <a:off x="685800" y="3547872"/>
            <a:ext cx="2834640" cy="420624"/>
          </a:xfrm>
          <a:prstGeom prst="roundRect">
            <a:avLst>
              <a:gd name="adj" fmla="val 21739"/>
            </a:avLst>
          </a:prstGeom>
          <a:solidFill>
            <a:schemeClr val="accent5"/>
          </a:solidFill>
          <a:ln/>
        </p:spPr>
        <p:txBody>
          <a:bodyPr/>
          <a:lstStyle/>
          <a:p>
            <a:endParaRPr lang="en-RW"/>
          </a:p>
        </p:txBody>
      </p:sp>
      <p:pic>
        <p:nvPicPr>
          <p:cNvPr id="11" name="Cloud" descr="preencoded.png"/>
          <p:cNvPicPr>
            <a:picLocks noChangeAspect="1"/>
          </p:cNvPicPr>
          <p:nvPr/>
        </p:nvPicPr>
        <p:blipFill>
          <a:blip r:embed="rId3"/>
          <a:stretch>
            <a:fillRect/>
          </a:stretch>
        </p:blipFill>
        <p:spPr>
          <a:xfrm>
            <a:off x="822960" y="3639312"/>
            <a:ext cx="237744" cy="237744"/>
          </a:xfrm>
          <a:prstGeom prst="rect">
            <a:avLst/>
          </a:prstGeom>
        </p:spPr>
      </p:pic>
      <p:sp>
        <p:nvSpPr>
          <p:cNvPr id="12" name="Text 8"/>
          <p:cNvSpPr txBox="1"/>
          <p:nvPr/>
        </p:nvSpPr>
        <p:spPr>
          <a:xfrm>
            <a:off x="1188720" y="3547872"/>
            <a:ext cx="2194560" cy="420624"/>
          </a:xfrm>
          <a:prstGeom prst="rect">
            <a:avLst/>
          </a:prstGeom>
          <a:noFill/>
          <a:ln/>
        </p:spPr>
        <p:txBody>
          <a:bodyPr wrap="square" lIns="0" tIns="0" rIns="0" bIns="0" rtlCol="0" anchor="ctr"/>
          <a:lstStyle/>
          <a:p>
            <a:pPr marL="0" indent="0">
              <a:buNone/>
            </a:pPr>
            <a:r>
              <a:rPr lang="en-US" sz="1400" b="1" dirty="0">
                <a:solidFill>
                  <a:schemeClr val="tx1"/>
                </a:solidFill>
              </a:rPr>
              <a:t>Azure</a:t>
            </a:r>
            <a:endParaRPr lang="en-US" sz="1400" dirty="0"/>
          </a:p>
        </p:txBody>
      </p:sp>
      <p:sp>
        <p:nvSpPr>
          <p:cNvPr id="13" name="Vendor Google"/>
          <p:cNvSpPr/>
          <p:nvPr/>
        </p:nvSpPr>
        <p:spPr>
          <a:xfrm>
            <a:off x="685800" y="4078224"/>
            <a:ext cx="2834640" cy="420624"/>
          </a:xfrm>
          <a:prstGeom prst="roundRect">
            <a:avLst>
              <a:gd name="adj" fmla="val 21739"/>
            </a:avLst>
          </a:prstGeom>
          <a:solidFill>
            <a:schemeClr val="accent2"/>
          </a:solidFill>
          <a:ln/>
        </p:spPr>
        <p:txBody>
          <a:bodyPr/>
          <a:lstStyle/>
          <a:p>
            <a:endParaRPr lang="en-RW"/>
          </a:p>
        </p:txBody>
      </p:sp>
      <p:pic>
        <p:nvPicPr>
          <p:cNvPr id="14" name="Cloud" descr="preencoded.png"/>
          <p:cNvPicPr>
            <a:picLocks noChangeAspect="1"/>
          </p:cNvPicPr>
          <p:nvPr/>
        </p:nvPicPr>
        <p:blipFill>
          <a:blip r:embed="rId3"/>
          <a:stretch>
            <a:fillRect/>
          </a:stretch>
        </p:blipFill>
        <p:spPr>
          <a:xfrm>
            <a:off x="822960" y="4169664"/>
            <a:ext cx="237744" cy="237744"/>
          </a:xfrm>
          <a:prstGeom prst="rect">
            <a:avLst/>
          </a:prstGeom>
        </p:spPr>
      </p:pic>
      <p:sp>
        <p:nvSpPr>
          <p:cNvPr id="15" name="Text 10"/>
          <p:cNvSpPr txBox="1"/>
          <p:nvPr/>
        </p:nvSpPr>
        <p:spPr>
          <a:xfrm>
            <a:off x="1188720" y="4078224"/>
            <a:ext cx="2194560" cy="420624"/>
          </a:xfrm>
          <a:prstGeom prst="rect">
            <a:avLst/>
          </a:prstGeom>
          <a:noFill/>
          <a:ln/>
        </p:spPr>
        <p:txBody>
          <a:bodyPr wrap="square" lIns="0" tIns="0" rIns="0" bIns="0" rtlCol="0" anchor="ctr"/>
          <a:lstStyle/>
          <a:p>
            <a:pPr marL="0" indent="0">
              <a:buNone/>
            </a:pPr>
            <a:r>
              <a:rPr lang="en-US" sz="1400" b="1" dirty="0">
                <a:solidFill>
                  <a:schemeClr val="tx1"/>
                </a:solidFill>
              </a:rPr>
              <a:t>Google</a:t>
            </a:r>
            <a:endParaRPr lang="en-US" sz="1400" dirty="0"/>
          </a:p>
        </p:txBody>
      </p:sp>
      <p:sp>
        <p:nvSpPr>
          <p:cNvPr id="16" name="Card"/>
          <p:cNvSpPr/>
          <p:nvPr/>
        </p:nvSpPr>
        <p:spPr>
          <a:xfrm>
            <a:off x="3977640" y="1371600"/>
            <a:ext cx="4709160" cy="1143000"/>
          </a:xfrm>
          <a:prstGeom prst="roundRect">
            <a:avLst>
              <a:gd name="adj" fmla="val 9600"/>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17" name="FaSlidersH circle"/>
          <p:cNvSpPr/>
          <p:nvPr/>
        </p:nvSpPr>
        <p:spPr>
          <a:xfrm>
            <a:off x="4160520" y="1714500"/>
            <a:ext cx="457200" cy="457200"/>
          </a:xfrm>
          <a:prstGeom prst="ellipse">
            <a:avLst/>
          </a:prstGeom>
          <a:solidFill>
            <a:schemeClr val="accent5"/>
          </a:solidFill>
          <a:ln/>
        </p:spPr>
        <p:txBody>
          <a:bodyPr/>
          <a:lstStyle/>
          <a:p>
            <a:endParaRPr lang="en-RW"/>
          </a:p>
        </p:txBody>
      </p:sp>
      <p:pic>
        <p:nvPicPr>
          <p:cNvPr id="18" name="FaSlidersH icon" descr="preencoded.png"/>
          <p:cNvPicPr>
            <a:picLocks noChangeAspect="1"/>
          </p:cNvPicPr>
          <p:nvPr/>
        </p:nvPicPr>
        <p:blipFill>
          <a:blip r:embed="rId4"/>
          <a:stretch>
            <a:fillRect/>
          </a:stretch>
        </p:blipFill>
        <p:spPr>
          <a:xfrm>
            <a:off x="4274820" y="1828800"/>
            <a:ext cx="228600" cy="228600"/>
          </a:xfrm>
          <a:prstGeom prst="rect">
            <a:avLst/>
          </a:prstGeom>
        </p:spPr>
      </p:pic>
      <p:sp>
        <p:nvSpPr>
          <p:cNvPr id="19" name="Text 13"/>
          <p:cNvSpPr txBox="1"/>
          <p:nvPr/>
        </p:nvSpPr>
        <p:spPr>
          <a:xfrm>
            <a:off x="4800600" y="1371600"/>
            <a:ext cx="3703320" cy="1143000"/>
          </a:xfrm>
          <a:prstGeom prst="rect">
            <a:avLst/>
          </a:prstGeom>
          <a:noFill/>
          <a:ln/>
        </p:spPr>
        <p:txBody>
          <a:bodyPr wrap="square" lIns="0" tIns="0" rIns="0" bIns="0" rtlCol="0" anchor="ctr"/>
          <a:lstStyle/>
          <a:p>
            <a:pPr marL="0" indent="0">
              <a:buNone/>
            </a:pPr>
            <a:r>
              <a:rPr lang="en-US" sz="1300" dirty="0">
                <a:solidFill>
                  <a:schemeClr val="tx1"/>
                </a:solidFill>
              </a:rPr>
              <a:t>Each vendor offers a myriad of services, and one vendor's service may beat the others on performance, ease of use, cost, compliance, etc.</a:t>
            </a:r>
            <a:endParaRPr lang="en-US" sz="1300" dirty="0"/>
          </a:p>
        </p:txBody>
      </p:sp>
      <p:sp>
        <p:nvSpPr>
          <p:cNvPr id="20" name="Card"/>
          <p:cNvSpPr/>
          <p:nvPr/>
        </p:nvSpPr>
        <p:spPr>
          <a:xfrm>
            <a:off x="3977640" y="2651760"/>
            <a:ext cx="4709160" cy="960120"/>
          </a:xfrm>
          <a:prstGeom prst="roundRect">
            <a:avLst>
              <a:gd name="adj" fmla="val 11429"/>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21" name="FaCheck circle"/>
          <p:cNvSpPr/>
          <p:nvPr/>
        </p:nvSpPr>
        <p:spPr>
          <a:xfrm>
            <a:off x="4160520" y="2903220"/>
            <a:ext cx="457200" cy="457200"/>
          </a:xfrm>
          <a:prstGeom prst="ellipse">
            <a:avLst/>
          </a:prstGeom>
          <a:solidFill>
            <a:schemeClr val="accent2"/>
          </a:solidFill>
          <a:ln/>
        </p:spPr>
        <p:txBody>
          <a:bodyPr/>
          <a:lstStyle/>
          <a:p>
            <a:endParaRPr lang="en-RW"/>
          </a:p>
        </p:txBody>
      </p:sp>
      <p:pic>
        <p:nvPicPr>
          <p:cNvPr id="22" name="FaCheck icon" descr="preencoded.png"/>
          <p:cNvPicPr>
            <a:picLocks noChangeAspect="1"/>
          </p:cNvPicPr>
          <p:nvPr/>
        </p:nvPicPr>
        <p:blipFill>
          <a:blip r:embed="rId5"/>
          <a:stretch>
            <a:fillRect/>
          </a:stretch>
        </p:blipFill>
        <p:spPr>
          <a:xfrm>
            <a:off x="4274820" y="3017520"/>
            <a:ext cx="228600" cy="228600"/>
          </a:xfrm>
          <a:prstGeom prst="rect">
            <a:avLst/>
          </a:prstGeom>
        </p:spPr>
      </p:pic>
      <p:sp>
        <p:nvSpPr>
          <p:cNvPr id="23" name="Text 16"/>
          <p:cNvSpPr txBox="1"/>
          <p:nvPr/>
        </p:nvSpPr>
        <p:spPr>
          <a:xfrm>
            <a:off x="4800600" y="2651760"/>
            <a:ext cx="3703320" cy="960120"/>
          </a:xfrm>
          <a:prstGeom prst="rect">
            <a:avLst/>
          </a:prstGeom>
          <a:noFill/>
          <a:ln/>
        </p:spPr>
        <p:txBody>
          <a:bodyPr wrap="square" lIns="0" tIns="0" rIns="0" bIns="0" rtlCol="0" anchor="ctr"/>
          <a:lstStyle/>
          <a:p>
            <a:pPr marL="0" indent="0">
              <a:buNone/>
            </a:pPr>
            <a:r>
              <a:rPr lang="en-US" sz="1300" dirty="0">
                <a:solidFill>
                  <a:schemeClr val="tx1"/>
                </a:solidFill>
              </a:rPr>
              <a:t>Flexibility to choose the best-fit service from each vendor, and it may also prevent vendor lock-in.</a:t>
            </a:r>
            <a:endParaRPr lang="en-US" sz="1300" dirty="0"/>
          </a:p>
        </p:txBody>
      </p:sp>
      <p:sp>
        <p:nvSpPr>
          <p:cNvPr id="24" name="Card"/>
          <p:cNvSpPr/>
          <p:nvPr/>
        </p:nvSpPr>
        <p:spPr>
          <a:xfrm>
            <a:off x="3977640" y="3749040"/>
            <a:ext cx="4709160" cy="914400"/>
          </a:xfrm>
          <a:prstGeom prst="roundRect">
            <a:avLst>
              <a:gd name="adj" fmla="val 12000"/>
            </a:avLst>
          </a:prstGeom>
          <a:solidFill>
            <a:schemeClr val="accent3"/>
          </a:solidFill>
          <a:ln/>
          <a:effectLst>
            <a:outerShdw blurRad="127000" dist="38100" dir="5400000" algn="bl" rotWithShape="0">
              <a:srgbClr val="1E1B4B">
                <a:alpha val="10000"/>
              </a:srgbClr>
            </a:outerShdw>
          </a:effectLst>
        </p:spPr>
        <p:txBody>
          <a:bodyPr/>
          <a:lstStyle/>
          <a:p>
            <a:endParaRPr lang="en-RW"/>
          </a:p>
        </p:txBody>
      </p:sp>
      <p:pic>
        <p:nvPicPr>
          <p:cNvPr id="25" name="Warning icon" descr="preencoded.png"/>
          <p:cNvPicPr>
            <a:picLocks noChangeAspect="1"/>
          </p:cNvPicPr>
          <p:nvPr/>
        </p:nvPicPr>
        <p:blipFill>
          <a:blip r:embed="rId6"/>
          <a:stretch>
            <a:fillRect/>
          </a:stretch>
        </p:blipFill>
        <p:spPr>
          <a:xfrm>
            <a:off x="4206240" y="4069080"/>
            <a:ext cx="292608" cy="292608"/>
          </a:xfrm>
          <a:prstGeom prst="rect">
            <a:avLst/>
          </a:prstGeom>
        </p:spPr>
      </p:pic>
      <p:sp>
        <p:nvSpPr>
          <p:cNvPr id="26" name="Text 18"/>
          <p:cNvSpPr txBox="1"/>
          <p:nvPr/>
        </p:nvSpPr>
        <p:spPr>
          <a:xfrm>
            <a:off x="4709160" y="3749040"/>
            <a:ext cx="3840480" cy="914400"/>
          </a:xfrm>
          <a:prstGeom prst="rect">
            <a:avLst/>
          </a:prstGeom>
          <a:noFill/>
          <a:ln/>
        </p:spPr>
        <p:txBody>
          <a:bodyPr wrap="square" lIns="0" tIns="0" rIns="0" bIns="0" rtlCol="0" anchor="ctr"/>
          <a:lstStyle/>
          <a:p>
            <a:pPr marL="0" indent="0">
              <a:buNone/>
            </a:pPr>
            <a:r>
              <a:rPr lang="en-US" sz="1400" dirty="0">
                <a:solidFill>
                  <a:schemeClr val="tx1"/>
                </a:solidFill>
              </a:rPr>
              <a:t>Very appealing, but the obvious pitfall is </a:t>
            </a:r>
            <a:r>
              <a:rPr lang="en-US" sz="1400" b="1" dirty="0">
                <a:solidFill>
                  <a:schemeClr val="tx1"/>
                </a:solidFill>
              </a:rPr>
              <a:t>management complexity</a:t>
            </a:r>
            <a:r>
              <a:rPr lang="en-US" sz="1400" dirty="0">
                <a:solidFill>
                  <a:schemeClr val="tx1"/>
                </a:solidFill>
              </a:rPr>
              <a:t>.</a:t>
            </a:r>
            <a:endParaRPr lang="en-US" sz="1400" dirty="0"/>
          </a:p>
        </p:txBody>
      </p:sp>
      <p:sp>
        <p:nvSpPr>
          <p:cNvPr id="27"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5A7E"/>
                </a:solidFill>
              </a:defRPr>
            </a:lvl1pPr>
          </a:lstStyle>
          <a:p>
            <a:pPr algn="r"/>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48640"/>
            <a:ext cx="8229600" cy="640080"/>
          </a:xfrm>
          <a:prstGeom prst="rect">
            <a:avLst/>
          </a:prstGeom>
          <a:noFill/>
          <a:ln/>
        </p:spPr>
        <p:txBody>
          <a:bodyPr wrap="square" lIns="0" tIns="0" rIns="0" bIns="0" rtlCol="0" anchor="ctr"/>
          <a:lstStyle/>
          <a:p>
            <a:pPr marL="0" indent="0" algn="l">
              <a:buNone/>
            </a:pPr>
            <a:r>
              <a:rPr lang="en-US" sz="3400" b="1" dirty="0">
                <a:solidFill>
                  <a:schemeClr val="tx1"/>
                </a:solidFill>
              </a:rPr>
              <a:t>What is Amazon Web Services?</a:t>
            </a:r>
            <a:endParaRPr lang="en-US" sz="3400" dirty="0"/>
          </a:p>
        </p:txBody>
      </p:sp>
      <p:sp>
        <p:nvSpPr>
          <p:cNvPr id="3" name="Section chip"/>
          <p:cNvSpPr txBox="1"/>
          <p:nvPr/>
        </p:nvSpPr>
        <p:spPr>
          <a:xfrm>
            <a:off x="457200" y="274320"/>
            <a:ext cx="601675" cy="246888"/>
          </a:xfrm>
          <a:prstGeom prst="roundRect">
            <a:avLst>
              <a:gd name="adj" fmla="val 48148"/>
            </a:avLst>
          </a:prstGeom>
          <a:solidFill>
            <a:schemeClr val="accent4"/>
          </a:solidFill>
          <a:ln/>
        </p:spPr>
        <p:txBody>
          <a:bodyPr wrap="square" lIns="0" tIns="0" rIns="0" bIns="0" rtlCol="0" anchor="ctr"/>
          <a:lstStyle/>
          <a:p>
            <a:pPr marL="0" indent="0" algn="ctr">
              <a:buNone/>
            </a:pPr>
            <a:r>
              <a:rPr lang="en-US" sz="1000" b="1" kern="0" spc="150" dirty="0">
                <a:solidFill>
                  <a:schemeClr val="tx1"/>
                </a:solidFill>
              </a:rPr>
              <a:t>AWS</a:t>
            </a:r>
            <a:endParaRPr lang="en-US" sz="1000" dirty="0"/>
          </a:p>
        </p:txBody>
      </p:sp>
      <p:sp>
        <p:nvSpPr>
          <p:cNvPr id="4" name="Card"/>
          <p:cNvSpPr/>
          <p:nvPr/>
        </p:nvSpPr>
        <p:spPr>
          <a:xfrm>
            <a:off x="457200" y="1371600"/>
            <a:ext cx="2560320" cy="1508760"/>
          </a:xfrm>
          <a:prstGeom prst="roundRect">
            <a:avLst>
              <a:gd name="adj" fmla="val 7273"/>
            </a:avLst>
          </a:prstGeom>
          <a:solidFill>
            <a:schemeClr val="accent1"/>
          </a:solidFill>
          <a:ln/>
          <a:effectLst>
            <a:outerShdw blurRad="127000" dist="38100" dir="5400000" algn="bl" rotWithShape="0">
              <a:srgbClr val="1E1B4B">
                <a:alpha val="10000"/>
              </a:srgbClr>
            </a:outerShdw>
          </a:effectLst>
        </p:spPr>
        <p:txBody>
          <a:bodyPr/>
          <a:lstStyle/>
          <a:p>
            <a:endParaRPr lang="en-RW"/>
          </a:p>
        </p:txBody>
      </p:sp>
      <p:sp>
        <p:nvSpPr>
          <p:cNvPr id="5" name="Text 3"/>
          <p:cNvSpPr txBox="1"/>
          <p:nvPr/>
        </p:nvSpPr>
        <p:spPr>
          <a:xfrm>
            <a:off x="640080" y="1463040"/>
            <a:ext cx="2194560" cy="731520"/>
          </a:xfrm>
          <a:prstGeom prst="rect">
            <a:avLst/>
          </a:prstGeom>
          <a:noFill/>
          <a:ln/>
        </p:spPr>
        <p:txBody>
          <a:bodyPr wrap="square" lIns="0" tIns="0" rIns="0" bIns="0" rtlCol="0" anchor="ctr"/>
          <a:lstStyle/>
          <a:p>
            <a:pPr marL="0" indent="0">
              <a:buNone/>
            </a:pPr>
            <a:r>
              <a:rPr lang="en-US" sz="2800" b="1" dirty="0">
                <a:solidFill>
                  <a:schemeClr val="bg1"/>
                </a:solidFill>
              </a:rPr>
              <a:t>March 2006</a:t>
            </a:r>
            <a:endParaRPr lang="en-US" sz="2800" dirty="0"/>
          </a:p>
        </p:txBody>
      </p:sp>
      <p:sp>
        <p:nvSpPr>
          <p:cNvPr id="6" name="Text 4"/>
          <p:cNvSpPr txBox="1"/>
          <p:nvPr/>
        </p:nvSpPr>
        <p:spPr>
          <a:xfrm>
            <a:off x="640080" y="2194560"/>
            <a:ext cx="2194560" cy="457200"/>
          </a:xfrm>
          <a:prstGeom prst="rect">
            <a:avLst/>
          </a:prstGeom>
          <a:noFill/>
          <a:ln/>
        </p:spPr>
        <p:txBody>
          <a:bodyPr wrap="square" lIns="0" tIns="0" rIns="0" bIns="0" rtlCol="0" anchor="t"/>
          <a:lstStyle/>
          <a:p>
            <a:pPr marL="0" indent="0">
              <a:buNone/>
            </a:pPr>
            <a:r>
              <a:rPr lang="en-US" sz="1400" dirty="0">
                <a:solidFill>
                  <a:schemeClr val="bg1"/>
                </a:solidFill>
              </a:rPr>
              <a:t>AWS was founded</a:t>
            </a:r>
            <a:endParaRPr lang="en-US" sz="1400" dirty="0"/>
          </a:p>
        </p:txBody>
      </p:sp>
      <p:sp>
        <p:nvSpPr>
          <p:cNvPr id="7" name="Card"/>
          <p:cNvSpPr/>
          <p:nvPr/>
        </p:nvSpPr>
        <p:spPr>
          <a:xfrm>
            <a:off x="3200400" y="1371600"/>
            <a:ext cx="2560320" cy="1508760"/>
          </a:xfrm>
          <a:prstGeom prst="roundRect">
            <a:avLst>
              <a:gd name="adj" fmla="val 7273"/>
            </a:avLst>
          </a:prstGeom>
          <a:solidFill>
            <a:schemeClr val="accent4"/>
          </a:solidFill>
          <a:ln/>
          <a:effectLst>
            <a:outerShdw blurRad="127000" dist="38100" dir="5400000" algn="bl" rotWithShape="0">
              <a:srgbClr val="1E1B4B">
                <a:alpha val="10000"/>
              </a:srgbClr>
            </a:outerShdw>
          </a:effectLst>
        </p:spPr>
        <p:txBody>
          <a:bodyPr/>
          <a:lstStyle/>
          <a:p>
            <a:endParaRPr lang="en-RW"/>
          </a:p>
        </p:txBody>
      </p:sp>
      <p:sp>
        <p:nvSpPr>
          <p:cNvPr id="8" name="Text 6"/>
          <p:cNvSpPr txBox="1"/>
          <p:nvPr/>
        </p:nvSpPr>
        <p:spPr>
          <a:xfrm>
            <a:off x="3383280" y="1463040"/>
            <a:ext cx="2194560" cy="731520"/>
          </a:xfrm>
          <a:prstGeom prst="rect">
            <a:avLst/>
          </a:prstGeom>
          <a:noFill/>
          <a:ln/>
        </p:spPr>
        <p:txBody>
          <a:bodyPr wrap="square" lIns="0" tIns="0" rIns="0" bIns="0" rtlCol="0" anchor="ctr"/>
          <a:lstStyle/>
          <a:p>
            <a:pPr marL="0" indent="0">
              <a:buNone/>
            </a:pPr>
            <a:r>
              <a:rPr lang="en-US" sz="3400" b="1" dirty="0">
                <a:solidFill>
                  <a:schemeClr val="tx1"/>
                </a:solidFill>
              </a:rPr>
              <a:t>#1</a:t>
            </a:r>
            <a:endParaRPr lang="en-US" sz="3400" dirty="0"/>
          </a:p>
        </p:txBody>
      </p:sp>
      <p:sp>
        <p:nvSpPr>
          <p:cNvPr id="9" name="Text 7"/>
          <p:cNvSpPr txBox="1"/>
          <p:nvPr/>
        </p:nvSpPr>
        <p:spPr>
          <a:xfrm>
            <a:off x="3383280" y="2194560"/>
            <a:ext cx="2194560" cy="640080"/>
          </a:xfrm>
          <a:prstGeom prst="rect">
            <a:avLst/>
          </a:prstGeom>
          <a:noFill/>
          <a:ln/>
        </p:spPr>
        <p:txBody>
          <a:bodyPr wrap="square" lIns="0" tIns="0" rIns="0" bIns="0" rtlCol="0" anchor="t"/>
          <a:lstStyle/>
          <a:p>
            <a:pPr marL="0" indent="0">
              <a:buNone/>
            </a:pPr>
            <a:r>
              <a:rPr lang="en-US" sz="1400" dirty="0">
                <a:solidFill>
                  <a:schemeClr val="tx1"/>
                </a:solidFill>
              </a:rPr>
              <a:t>World's largest public cloud provider today</a:t>
            </a:r>
            <a:endParaRPr lang="en-US" sz="1400" dirty="0"/>
          </a:p>
        </p:txBody>
      </p:sp>
      <p:sp>
        <p:nvSpPr>
          <p:cNvPr id="10" name="Card"/>
          <p:cNvSpPr/>
          <p:nvPr/>
        </p:nvSpPr>
        <p:spPr>
          <a:xfrm>
            <a:off x="5943600" y="1371600"/>
            <a:ext cx="2743200" cy="1508760"/>
          </a:xfrm>
          <a:prstGeom prst="roundRect">
            <a:avLst>
              <a:gd name="adj" fmla="val 7273"/>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11" name="Text 9"/>
          <p:cNvSpPr txBox="1"/>
          <p:nvPr/>
        </p:nvSpPr>
        <p:spPr>
          <a:xfrm>
            <a:off x="6080760" y="1371600"/>
            <a:ext cx="2468880" cy="1508760"/>
          </a:xfrm>
          <a:prstGeom prst="rect">
            <a:avLst/>
          </a:prstGeom>
          <a:noFill/>
          <a:ln/>
        </p:spPr>
        <p:txBody>
          <a:bodyPr wrap="square" lIns="0" tIns="0" rIns="0" bIns="0" rtlCol="0" anchor="ctr"/>
          <a:lstStyle/>
          <a:p>
            <a:pPr marL="0" indent="0">
              <a:buNone/>
            </a:pPr>
            <a:r>
              <a:rPr lang="en-US" sz="1300" dirty="0">
                <a:solidFill>
                  <a:schemeClr val="tx1"/>
                </a:solidFill>
              </a:rPr>
              <a:t>Core services over its Global Infrastructure of Regions, Availability Zones, and Edge Locations: compute, storage, database, networking, and more.</a:t>
            </a:r>
            <a:endParaRPr lang="en-US" sz="1300" dirty="0"/>
          </a:p>
        </p:txBody>
      </p:sp>
      <p:sp>
        <p:nvSpPr>
          <p:cNvPr id="12" name="Text 10"/>
          <p:cNvSpPr txBox="1"/>
          <p:nvPr/>
        </p:nvSpPr>
        <p:spPr>
          <a:xfrm>
            <a:off x="457200" y="3017520"/>
            <a:ext cx="8229600" cy="320040"/>
          </a:xfrm>
          <a:prstGeom prst="rect">
            <a:avLst/>
          </a:prstGeom>
          <a:noFill/>
          <a:ln/>
        </p:spPr>
        <p:txBody>
          <a:bodyPr wrap="square" lIns="0" tIns="0" rIns="0" bIns="0" rtlCol="0" anchor="t"/>
          <a:lstStyle/>
          <a:p>
            <a:pPr marL="0" indent="0">
              <a:buNone/>
            </a:pPr>
            <a:r>
              <a:rPr lang="en-US" sz="1600" b="1" dirty="0">
                <a:solidFill>
                  <a:schemeClr val="tx1"/>
                </a:solidFill>
              </a:rPr>
              <a:t>Three ways to access AWS</a:t>
            </a:r>
            <a:endParaRPr lang="en-US" sz="1600" dirty="0"/>
          </a:p>
        </p:txBody>
      </p:sp>
      <p:sp>
        <p:nvSpPr>
          <p:cNvPr id="13" name="Card"/>
          <p:cNvSpPr/>
          <p:nvPr/>
        </p:nvSpPr>
        <p:spPr>
          <a:xfrm>
            <a:off x="457200" y="3429000"/>
            <a:ext cx="2560320" cy="1234440"/>
          </a:xfrm>
          <a:prstGeom prst="roundRect">
            <a:avLst>
              <a:gd name="adj" fmla="val 8889"/>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14" name="FaDesktop circle"/>
          <p:cNvSpPr/>
          <p:nvPr/>
        </p:nvSpPr>
        <p:spPr>
          <a:xfrm>
            <a:off x="640080" y="3593592"/>
            <a:ext cx="457200" cy="457200"/>
          </a:xfrm>
          <a:prstGeom prst="ellipse">
            <a:avLst/>
          </a:prstGeom>
          <a:solidFill>
            <a:schemeClr val="accent5"/>
          </a:solidFill>
          <a:ln/>
        </p:spPr>
        <p:txBody>
          <a:bodyPr/>
          <a:lstStyle/>
          <a:p>
            <a:endParaRPr lang="en-RW"/>
          </a:p>
        </p:txBody>
      </p:sp>
      <p:pic>
        <p:nvPicPr>
          <p:cNvPr id="15" name="FaDesktop icon" descr="preencoded.png"/>
          <p:cNvPicPr>
            <a:picLocks noChangeAspect="1"/>
          </p:cNvPicPr>
          <p:nvPr/>
        </p:nvPicPr>
        <p:blipFill>
          <a:blip r:embed="rId3"/>
          <a:stretch>
            <a:fillRect/>
          </a:stretch>
        </p:blipFill>
        <p:spPr>
          <a:xfrm>
            <a:off x="754380" y="3707892"/>
            <a:ext cx="228600" cy="228600"/>
          </a:xfrm>
          <a:prstGeom prst="rect">
            <a:avLst/>
          </a:prstGeom>
        </p:spPr>
      </p:pic>
      <p:sp>
        <p:nvSpPr>
          <p:cNvPr id="16" name="Text 13"/>
          <p:cNvSpPr txBox="1"/>
          <p:nvPr/>
        </p:nvSpPr>
        <p:spPr>
          <a:xfrm>
            <a:off x="1234440" y="3593592"/>
            <a:ext cx="1691640" cy="457200"/>
          </a:xfrm>
          <a:prstGeom prst="rect">
            <a:avLst/>
          </a:prstGeom>
          <a:noFill/>
          <a:ln/>
        </p:spPr>
        <p:txBody>
          <a:bodyPr wrap="square" lIns="0" tIns="0" rIns="0" bIns="0" rtlCol="0" anchor="ctr"/>
          <a:lstStyle/>
          <a:p>
            <a:pPr marL="0" indent="0">
              <a:buNone/>
            </a:pPr>
            <a:r>
              <a:rPr lang="en-US" sz="1400" b="1" dirty="0">
                <a:solidFill>
                  <a:schemeClr val="tx1"/>
                </a:solidFill>
              </a:rPr>
              <a:t>Management Console</a:t>
            </a:r>
            <a:endParaRPr lang="en-US" sz="1400" dirty="0"/>
          </a:p>
        </p:txBody>
      </p:sp>
      <p:sp>
        <p:nvSpPr>
          <p:cNvPr id="17" name="Text 14"/>
          <p:cNvSpPr txBox="1"/>
          <p:nvPr/>
        </p:nvSpPr>
        <p:spPr>
          <a:xfrm>
            <a:off x="640080" y="4142232"/>
            <a:ext cx="2240280" cy="502920"/>
          </a:xfrm>
          <a:prstGeom prst="rect">
            <a:avLst/>
          </a:prstGeom>
          <a:noFill/>
          <a:ln/>
        </p:spPr>
        <p:txBody>
          <a:bodyPr wrap="square" lIns="0" tIns="0" rIns="0" bIns="0" rtlCol="0" anchor="t"/>
          <a:lstStyle/>
          <a:p>
            <a:pPr marL="0" indent="0">
              <a:buNone/>
            </a:pPr>
            <a:r>
              <a:rPr lang="en-US" sz="1200" dirty="0">
                <a:solidFill>
                  <a:schemeClr val="tx1"/>
                </a:solidFill>
              </a:rPr>
              <a:t>Think of it as a GUI.</a:t>
            </a:r>
            <a:endParaRPr lang="en-US" sz="1200" dirty="0"/>
          </a:p>
        </p:txBody>
      </p:sp>
      <p:sp>
        <p:nvSpPr>
          <p:cNvPr id="18" name="Card"/>
          <p:cNvSpPr/>
          <p:nvPr/>
        </p:nvSpPr>
        <p:spPr>
          <a:xfrm>
            <a:off x="3291840" y="3429000"/>
            <a:ext cx="2560320" cy="1234440"/>
          </a:xfrm>
          <a:prstGeom prst="roundRect">
            <a:avLst>
              <a:gd name="adj" fmla="val 8889"/>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19" name="FaTerminal circle"/>
          <p:cNvSpPr/>
          <p:nvPr/>
        </p:nvSpPr>
        <p:spPr>
          <a:xfrm>
            <a:off x="3474720" y="3593592"/>
            <a:ext cx="457200" cy="457200"/>
          </a:xfrm>
          <a:prstGeom prst="ellipse">
            <a:avLst/>
          </a:prstGeom>
          <a:solidFill>
            <a:schemeClr val="accent2"/>
          </a:solidFill>
          <a:ln/>
        </p:spPr>
        <p:txBody>
          <a:bodyPr/>
          <a:lstStyle/>
          <a:p>
            <a:endParaRPr lang="en-RW"/>
          </a:p>
        </p:txBody>
      </p:sp>
      <p:pic>
        <p:nvPicPr>
          <p:cNvPr id="20" name="FaTerminal icon" descr="preencoded.png"/>
          <p:cNvPicPr>
            <a:picLocks noChangeAspect="1"/>
          </p:cNvPicPr>
          <p:nvPr/>
        </p:nvPicPr>
        <p:blipFill>
          <a:blip r:embed="rId4"/>
          <a:stretch>
            <a:fillRect/>
          </a:stretch>
        </p:blipFill>
        <p:spPr>
          <a:xfrm>
            <a:off x="3589020" y="3707892"/>
            <a:ext cx="228600" cy="228600"/>
          </a:xfrm>
          <a:prstGeom prst="rect">
            <a:avLst/>
          </a:prstGeom>
        </p:spPr>
      </p:pic>
      <p:sp>
        <p:nvSpPr>
          <p:cNvPr id="21" name="Text 17"/>
          <p:cNvSpPr txBox="1"/>
          <p:nvPr/>
        </p:nvSpPr>
        <p:spPr>
          <a:xfrm>
            <a:off x="4069080" y="3593592"/>
            <a:ext cx="1691640" cy="457200"/>
          </a:xfrm>
          <a:prstGeom prst="rect">
            <a:avLst/>
          </a:prstGeom>
          <a:noFill/>
          <a:ln/>
        </p:spPr>
        <p:txBody>
          <a:bodyPr wrap="square" lIns="0" tIns="0" rIns="0" bIns="0" rtlCol="0" anchor="ctr"/>
          <a:lstStyle/>
          <a:p>
            <a:pPr marL="0" indent="0">
              <a:buNone/>
            </a:pPr>
            <a:r>
              <a:rPr lang="en-US" sz="1400" b="1" dirty="0">
                <a:solidFill>
                  <a:schemeClr val="tx1"/>
                </a:solidFill>
              </a:rPr>
              <a:t>Command Line Interface</a:t>
            </a:r>
            <a:endParaRPr lang="en-US" sz="1400" dirty="0"/>
          </a:p>
        </p:txBody>
      </p:sp>
      <p:sp>
        <p:nvSpPr>
          <p:cNvPr id="22" name="Text 18"/>
          <p:cNvSpPr txBox="1"/>
          <p:nvPr/>
        </p:nvSpPr>
        <p:spPr>
          <a:xfrm>
            <a:off x="3474720" y="4142232"/>
            <a:ext cx="2240280" cy="502920"/>
          </a:xfrm>
          <a:prstGeom prst="rect">
            <a:avLst/>
          </a:prstGeom>
          <a:noFill/>
          <a:ln/>
        </p:spPr>
        <p:txBody>
          <a:bodyPr wrap="square" lIns="0" tIns="0" rIns="0" bIns="0" rtlCol="0" anchor="t"/>
          <a:lstStyle/>
          <a:p>
            <a:pPr marL="0" indent="0">
              <a:buNone/>
            </a:pPr>
            <a:r>
              <a:rPr lang="en-US" sz="1200" dirty="0">
                <a:solidFill>
                  <a:schemeClr val="tx1"/>
                </a:solidFill>
              </a:rPr>
              <a:t>The CLI allows scripts.</a:t>
            </a:r>
            <a:endParaRPr lang="en-US" sz="1200" dirty="0"/>
          </a:p>
        </p:txBody>
      </p:sp>
      <p:sp>
        <p:nvSpPr>
          <p:cNvPr id="23" name="Card"/>
          <p:cNvSpPr/>
          <p:nvPr/>
        </p:nvSpPr>
        <p:spPr>
          <a:xfrm>
            <a:off x="6126480" y="3429000"/>
            <a:ext cx="2560320" cy="1234440"/>
          </a:xfrm>
          <a:prstGeom prst="roundRect">
            <a:avLst>
              <a:gd name="adj" fmla="val 8889"/>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24" name="FaCode circle"/>
          <p:cNvSpPr/>
          <p:nvPr/>
        </p:nvSpPr>
        <p:spPr>
          <a:xfrm>
            <a:off x="6309360" y="3593592"/>
            <a:ext cx="457200" cy="457200"/>
          </a:xfrm>
          <a:prstGeom prst="ellipse">
            <a:avLst/>
          </a:prstGeom>
          <a:solidFill>
            <a:schemeClr val="accent3"/>
          </a:solidFill>
          <a:ln/>
        </p:spPr>
        <p:txBody>
          <a:bodyPr/>
          <a:lstStyle/>
          <a:p>
            <a:endParaRPr lang="en-RW"/>
          </a:p>
        </p:txBody>
      </p:sp>
      <p:pic>
        <p:nvPicPr>
          <p:cNvPr id="25" name="FaCode icon" descr="preencoded.png"/>
          <p:cNvPicPr>
            <a:picLocks noChangeAspect="1"/>
          </p:cNvPicPr>
          <p:nvPr/>
        </p:nvPicPr>
        <p:blipFill>
          <a:blip r:embed="rId5"/>
          <a:stretch>
            <a:fillRect/>
          </a:stretch>
        </p:blipFill>
        <p:spPr>
          <a:xfrm>
            <a:off x="6423660" y="3707892"/>
            <a:ext cx="228600" cy="228600"/>
          </a:xfrm>
          <a:prstGeom prst="rect">
            <a:avLst/>
          </a:prstGeom>
        </p:spPr>
      </p:pic>
      <p:sp>
        <p:nvSpPr>
          <p:cNvPr id="26" name="Text 21"/>
          <p:cNvSpPr txBox="1"/>
          <p:nvPr/>
        </p:nvSpPr>
        <p:spPr>
          <a:xfrm>
            <a:off x="6903720" y="3593592"/>
            <a:ext cx="1691640" cy="457200"/>
          </a:xfrm>
          <a:prstGeom prst="rect">
            <a:avLst/>
          </a:prstGeom>
          <a:noFill/>
          <a:ln/>
        </p:spPr>
        <p:txBody>
          <a:bodyPr wrap="square" lIns="0" tIns="0" rIns="0" bIns="0" rtlCol="0" anchor="ctr"/>
          <a:lstStyle/>
          <a:p>
            <a:pPr marL="0" indent="0">
              <a:buNone/>
            </a:pPr>
            <a:r>
              <a:rPr lang="en-US" sz="1400" b="1" dirty="0">
                <a:solidFill>
                  <a:schemeClr val="tx1"/>
                </a:solidFill>
              </a:rPr>
              <a:t>SDKs</a:t>
            </a:r>
            <a:endParaRPr lang="en-US" sz="1400" dirty="0"/>
          </a:p>
        </p:txBody>
      </p:sp>
      <p:sp>
        <p:nvSpPr>
          <p:cNvPr id="27" name="Text 22"/>
          <p:cNvSpPr txBox="1"/>
          <p:nvPr/>
        </p:nvSpPr>
        <p:spPr>
          <a:xfrm>
            <a:off x="6309360" y="4142232"/>
            <a:ext cx="2240280" cy="502920"/>
          </a:xfrm>
          <a:prstGeom prst="rect">
            <a:avLst/>
          </a:prstGeom>
          <a:noFill/>
          <a:ln/>
        </p:spPr>
        <p:txBody>
          <a:bodyPr wrap="square" lIns="0" tIns="0" rIns="0" bIns="0" rtlCol="0" anchor="t"/>
          <a:lstStyle/>
          <a:p>
            <a:pPr marL="0" indent="0">
              <a:buNone/>
            </a:pPr>
            <a:r>
              <a:rPr lang="en-US" sz="1200" dirty="0">
                <a:solidFill>
                  <a:schemeClr val="tx1"/>
                </a:solidFill>
              </a:rPr>
              <a:t>Preferred by developers. Python, Java, PHP, Ruby, C++, etc.</a:t>
            </a:r>
            <a:endParaRPr lang="en-US" sz="1200" dirty="0"/>
          </a:p>
        </p:txBody>
      </p:sp>
      <p:sp>
        <p:nvSpPr>
          <p:cNvPr id="28"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5A7E"/>
                </a:solidFill>
              </a:defRPr>
            </a:lvl1pPr>
          </a:lstStyle>
          <a:p>
            <a:pPr algn="r"/>
            <a:fld id="{F7021451-1387-4CA6-816F-3879F97B5CBC}" type="slidenum">
              <a:rPr lang="en-US" b="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48640"/>
            <a:ext cx="8229600" cy="640080"/>
          </a:xfrm>
          <a:prstGeom prst="rect">
            <a:avLst/>
          </a:prstGeom>
          <a:noFill/>
          <a:ln/>
        </p:spPr>
        <p:txBody>
          <a:bodyPr wrap="square" lIns="0" tIns="0" rIns="0" bIns="0" rtlCol="0" anchor="ctr"/>
          <a:lstStyle/>
          <a:p>
            <a:pPr marL="0" indent="0" algn="l">
              <a:buNone/>
            </a:pPr>
            <a:r>
              <a:rPr lang="en-US" sz="3400" b="1" dirty="0">
                <a:solidFill>
                  <a:schemeClr val="tx1"/>
                </a:solidFill>
              </a:rPr>
              <a:t>AWS Services at a Glance</a:t>
            </a:r>
            <a:endParaRPr lang="en-US" sz="3400" dirty="0"/>
          </a:p>
        </p:txBody>
      </p:sp>
      <p:sp>
        <p:nvSpPr>
          <p:cNvPr id="3" name="Section chip"/>
          <p:cNvSpPr txBox="1"/>
          <p:nvPr/>
        </p:nvSpPr>
        <p:spPr>
          <a:xfrm>
            <a:off x="457200" y="274320"/>
            <a:ext cx="601675" cy="246888"/>
          </a:xfrm>
          <a:prstGeom prst="roundRect">
            <a:avLst>
              <a:gd name="adj" fmla="val 48148"/>
            </a:avLst>
          </a:prstGeom>
          <a:solidFill>
            <a:schemeClr val="accent4"/>
          </a:solidFill>
          <a:ln/>
        </p:spPr>
        <p:txBody>
          <a:bodyPr wrap="square" lIns="0" tIns="0" rIns="0" bIns="0" rtlCol="0" anchor="ctr"/>
          <a:lstStyle/>
          <a:p>
            <a:pPr marL="0" indent="0" algn="ctr">
              <a:buNone/>
            </a:pPr>
            <a:r>
              <a:rPr lang="en-US" sz="1000" b="1" kern="0" spc="150" dirty="0">
                <a:solidFill>
                  <a:schemeClr val="tx1"/>
                </a:solidFill>
              </a:rPr>
              <a:t>AWS</a:t>
            </a:r>
            <a:endParaRPr lang="en-US" sz="1000" dirty="0"/>
          </a:p>
        </p:txBody>
      </p:sp>
      <p:sp>
        <p:nvSpPr>
          <p:cNvPr id="4" name="Card"/>
          <p:cNvSpPr/>
          <p:nvPr/>
        </p:nvSpPr>
        <p:spPr>
          <a:xfrm>
            <a:off x="457200" y="1371600"/>
            <a:ext cx="5852160" cy="3291840"/>
          </a:xfrm>
          <a:prstGeom prst="roundRect">
            <a:avLst>
              <a:gd name="adj" fmla="val 3333"/>
            </a:avLst>
          </a:prstGeom>
          <a:solidFill>
            <a:schemeClr val="bg1"/>
          </a:solidFill>
          <a:ln/>
          <a:effectLst>
            <a:outerShdw blurRad="127000" dist="38100" dir="5400000" algn="bl" rotWithShape="0">
              <a:srgbClr val="1E1B4B">
                <a:alpha val="10000"/>
              </a:srgbClr>
            </a:outerShdw>
          </a:effectLst>
        </p:spPr>
        <p:txBody>
          <a:bodyPr/>
          <a:lstStyle/>
          <a:p>
            <a:endParaRPr lang="en-RW"/>
          </a:p>
        </p:txBody>
      </p:sp>
      <p:pic>
        <p:nvPicPr>
          <p:cNvPr id="5" name="AWS services diagram" descr="Layered diagram of AWS: your application on top; tools to access AWS; cross-service features; high-level and infrastructure building blocks such as compute, storage, database and network; and AWS Global Infrastructure at the base."/>
          <p:cNvPicPr>
            <a:picLocks noChangeAspect="1"/>
          </p:cNvPicPr>
          <p:nvPr/>
        </p:nvPicPr>
        <p:blipFill>
          <a:blip r:embed="rId3"/>
          <a:stretch>
            <a:fillRect/>
          </a:stretch>
        </p:blipFill>
        <p:spPr>
          <a:xfrm>
            <a:off x="594360" y="1554480"/>
            <a:ext cx="5577840" cy="2747294"/>
          </a:xfrm>
          <a:prstGeom prst="rect">
            <a:avLst/>
          </a:prstGeom>
        </p:spPr>
      </p:pic>
      <p:sp>
        <p:nvSpPr>
          <p:cNvPr id="6" name="Card"/>
          <p:cNvSpPr/>
          <p:nvPr/>
        </p:nvSpPr>
        <p:spPr>
          <a:xfrm>
            <a:off x="6492240" y="1371600"/>
            <a:ext cx="2194560" cy="3291840"/>
          </a:xfrm>
          <a:prstGeom prst="roundRect">
            <a:avLst>
              <a:gd name="adj" fmla="val 5000"/>
            </a:avLst>
          </a:prstGeom>
          <a:solidFill>
            <a:schemeClr val="tx1"/>
          </a:solidFill>
          <a:ln/>
          <a:effectLst>
            <a:outerShdw blurRad="127000" dist="38100" dir="5400000" algn="bl" rotWithShape="0">
              <a:srgbClr val="1E1B4B">
                <a:alpha val="10000"/>
              </a:srgbClr>
            </a:outerShdw>
          </a:effectLst>
        </p:spPr>
        <p:txBody>
          <a:bodyPr/>
          <a:lstStyle/>
          <a:p>
            <a:endParaRPr lang="en-RW"/>
          </a:p>
        </p:txBody>
      </p:sp>
      <p:pic>
        <p:nvPicPr>
          <p:cNvPr id="7" name="Layers icon" descr="preencoded.png"/>
          <p:cNvPicPr>
            <a:picLocks noChangeAspect="1"/>
          </p:cNvPicPr>
          <p:nvPr/>
        </p:nvPicPr>
        <p:blipFill>
          <a:blip r:embed="rId4"/>
          <a:stretch>
            <a:fillRect/>
          </a:stretch>
        </p:blipFill>
        <p:spPr>
          <a:xfrm>
            <a:off x="6720840" y="1600200"/>
            <a:ext cx="411480" cy="411480"/>
          </a:xfrm>
          <a:prstGeom prst="rect">
            <a:avLst/>
          </a:prstGeom>
        </p:spPr>
      </p:pic>
      <p:sp>
        <p:nvSpPr>
          <p:cNvPr id="8" name="Text 4"/>
          <p:cNvSpPr txBox="1"/>
          <p:nvPr/>
        </p:nvSpPr>
        <p:spPr>
          <a:xfrm>
            <a:off x="6720840" y="2148840"/>
            <a:ext cx="1828800" cy="365760"/>
          </a:xfrm>
          <a:prstGeom prst="rect">
            <a:avLst/>
          </a:prstGeom>
          <a:noFill/>
          <a:ln/>
        </p:spPr>
        <p:txBody>
          <a:bodyPr wrap="square" lIns="0" tIns="0" rIns="0" bIns="0" rtlCol="0" anchor="t"/>
          <a:lstStyle/>
          <a:p>
            <a:pPr marL="0" indent="0">
              <a:buNone/>
            </a:pPr>
            <a:r>
              <a:rPr lang="en-US" sz="1600" b="1" dirty="0">
                <a:solidFill>
                  <a:schemeClr val="bg1"/>
                </a:solidFill>
              </a:rPr>
              <a:t>Read it bottom-up</a:t>
            </a:r>
            <a:endParaRPr lang="en-US" sz="1600" dirty="0"/>
          </a:p>
        </p:txBody>
      </p:sp>
      <p:sp>
        <p:nvSpPr>
          <p:cNvPr id="9" name="Text 5"/>
          <p:cNvSpPr txBox="1"/>
          <p:nvPr/>
        </p:nvSpPr>
        <p:spPr>
          <a:xfrm>
            <a:off x="6720840" y="2606040"/>
            <a:ext cx="1783080" cy="1920240"/>
          </a:xfrm>
          <a:prstGeom prst="rect">
            <a:avLst/>
          </a:prstGeom>
          <a:noFill/>
          <a:ln/>
        </p:spPr>
        <p:txBody>
          <a:bodyPr wrap="square" lIns="0" tIns="0" rIns="0" bIns="0" rtlCol="0" anchor="t"/>
          <a:lstStyle/>
          <a:p>
            <a:pPr marL="0" indent="0">
              <a:buNone/>
            </a:pPr>
            <a:r>
              <a:rPr lang="en-US" sz="1300" dirty="0">
                <a:solidFill>
                  <a:schemeClr val="bg1"/>
                </a:solidFill>
              </a:rPr>
              <a:t>Your application sits on top of AWS services, which run on the AWS Global Infrastructure.</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5A7E"/>
                </a:solidFill>
              </a:defRPr>
            </a:lvl1pPr>
          </a:lstStyle>
          <a:p>
            <a:pPr algn="r"/>
            <a:fld id="{F7021451-1387-4CA6-816F-3879F97B5CBC}" type="slidenum">
              <a:rPr lang="en-US" b="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48640"/>
            <a:ext cx="8229600" cy="640080"/>
          </a:xfrm>
          <a:prstGeom prst="rect">
            <a:avLst/>
          </a:prstGeom>
          <a:noFill/>
          <a:ln/>
        </p:spPr>
        <p:txBody>
          <a:bodyPr wrap="square" lIns="0" tIns="0" rIns="0" bIns="0" rtlCol="0" anchor="ctr"/>
          <a:lstStyle/>
          <a:p>
            <a:pPr marL="0" indent="0" algn="l">
              <a:buNone/>
            </a:pPr>
            <a:r>
              <a:rPr lang="en-US" sz="3400" b="1" dirty="0">
                <a:solidFill>
                  <a:schemeClr val="tx1"/>
                </a:solidFill>
              </a:rPr>
              <a:t>AWS Regions</a:t>
            </a:r>
            <a:endParaRPr lang="en-US" sz="3400" dirty="0"/>
          </a:p>
        </p:txBody>
      </p:sp>
      <p:sp>
        <p:nvSpPr>
          <p:cNvPr id="3" name="Section chip"/>
          <p:cNvSpPr txBox="1"/>
          <p:nvPr/>
        </p:nvSpPr>
        <p:spPr>
          <a:xfrm>
            <a:off x="457200" y="274320"/>
            <a:ext cx="2488997" cy="246888"/>
          </a:xfrm>
          <a:prstGeom prst="roundRect">
            <a:avLst>
              <a:gd name="adj" fmla="val 48148"/>
            </a:avLst>
          </a:prstGeom>
          <a:solidFill>
            <a:schemeClr val="accent4"/>
          </a:solidFill>
          <a:ln/>
        </p:spPr>
        <p:txBody>
          <a:bodyPr wrap="square" lIns="0" tIns="0" rIns="0" bIns="0" rtlCol="0" anchor="ctr"/>
          <a:lstStyle/>
          <a:p>
            <a:pPr marL="0" indent="0" algn="ctr">
              <a:buNone/>
            </a:pPr>
            <a:r>
              <a:rPr lang="en-US" sz="1000" b="1" kern="0" spc="150" dirty="0">
                <a:solidFill>
                  <a:schemeClr val="tx1"/>
                </a:solidFill>
              </a:rPr>
              <a:t>AWS · GLOBAL INFRASTRUCTURE</a:t>
            </a:r>
            <a:endParaRPr lang="en-US" sz="1000" dirty="0"/>
          </a:p>
        </p:txBody>
      </p:sp>
      <p:sp>
        <p:nvSpPr>
          <p:cNvPr id="4" name="Card"/>
          <p:cNvSpPr/>
          <p:nvPr/>
        </p:nvSpPr>
        <p:spPr>
          <a:xfrm>
            <a:off x="457200" y="1371600"/>
            <a:ext cx="4572000" cy="3291840"/>
          </a:xfrm>
          <a:prstGeom prst="roundRect">
            <a:avLst>
              <a:gd name="adj" fmla="val 3333"/>
            </a:avLst>
          </a:prstGeom>
          <a:solidFill>
            <a:schemeClr val="bg1"/>
          </a:solidFill>
          <a:ln/>
          <a:effectLst>
            <a:outerShdw blurRad="127000" dist="38100" dir="5400000" algn="bl" rotWithShape="0">
              <a:srgbClr val="1E1B4B">
                <a:alpha val="10000"/>
              </a:srgbClr>
            </a:outerShdw>
          </a:effectLst>
        </p:spPr>
        <p:txBody>
          <a:bodyPr/>
          <a:lstStyle/>
          <a:p>
            <a:endParaRPr lang="en-RW"/>
          </a:p>
        </p:txBody>
      </p:sp>
      <p:pic>
        <p:nvPicPr>
          <p:cNvPr id="5" name="AWS Regions map" descr="World map showing AWS Regions as markers across the globe."/>
          <p:cNvPicPr>
            <a:picLocks noChangeAspect="1"/>
          </p:cNvPicPr>
          <p:nvPr/>
        </p:nvPicPr>
        <p:blipFill>
          <a:blip r:embed="rId3"/>
          <a:stretch>
            <a:fillRect/>
          </a:stretch>
        </p:blipFill>
        <p:spPr>
          <a:xfrm>
            <a:off x="594360" y="1508760"/>
            <a:ext cx="4297680" cy="2437275"/>
          </a:xfrm>
          <a:prstGeom prst="rect">
            <a:avLst/>
          </a:prstGeom>
        </p:spPr>
      </p:pic>
      <p:sp>
        <p:nvSpPr>
          <p:cNvPr id="6" name="Text 3"/>
          <p:cNvSpPr txBox="1"/>
          <p:nvPr/>
        </p:nvSpPr>
        <p:spPr>
          <a:xfrm>
            <a:off x="594360" y="4251960"/>
            <a:ext cx="1828800" cy="228600"/>
          </a:xfrm>
          <a:prstGeom prst="rect">
            <a:avLst/>
          </a:prstGeom>
          <a:noFill/>
          <a:ln/>
        </p:spPr>
        <p:txBody>
          <a:bodyPr wrap="square" lIns="0" tIns="0" rIns="0" bIns="0" rtlCol="0" anchor="t"/>
          <a:lstStyle/>
          <a:p>
            <a:pPr marL="0" indent="0">
              <a:buNone/>
            </a:pPr>
            <a:r>
              <a:rPr lang="en-US" sz="1000" i="1" dirty="0">
                <a:solidFill>
                  <a:schemeClr val="tx2"/>
                </a:solidFill>
              </a:rPr>
              <a:t>Source: AWS</a:t>
            </a:r>
            <a:endParaRPr lang="en-US" sz="1000" dirty="0"/>
          </a:p>
        </p:txBody>
      </p:sp>
      <p:sp>
        <p:nvSpPr>
          <p:cNvPr id="7" name="FaGlobe circle"/>
          <p:cNvSpPr/>
          <p:nvPr/>
        </p:nvSpPr>
        <p:spPr>
          <a:xfrm>
            <a:off x="5303520" y="1371600"/>
            <a:ext cx="548640" cy="548640"/>
          </a:xfrm>
          <a:prstGeom prst="ellipse">
            <a:avLst/>
          </a:prstGeom>
          <a:solidFill>
            <a:schemeClr val="accent5"/>
          </a:solidFill>
          <a:ln/>
        </p:spPr>
        <p:txBody>
          <a:bodyPr/>
          <a:lstStyle/>
          <a:p>
            <a:endParaRPr lang="en-RW"/>
          </a:p>
        </p:txBody>
      </p:sp>
      <p:pic>
        <p:nvPicPr>
          <p:cNvPr id="8" name="FaGlobe icon" descr="preencoded.png"/>
          <p:cNvPicPr>
            <a:picLocks noChangeAspect="1"/>
          </p:cNvPicPr>
          <p:nvPr/>
        </p:nvPicPr>
        <p:blipFill>
          <a:blip r:embed="rId4"/>
          <a:stretch>
            <a:fillRect/>
          </a:stretch>
        </p:blipFill>
        <p:spPr>
          <a:xfrm>
            <a:off x="5440680" y="1508760"/>
            <a:ext cx="274320" cy="274320"/>
          </a:xfrm>
          <a:prstGeom prst="rect">
            <a:avLst/>
          </a:prstGeom>
        </p:spPr>
      </p:pic>
      <p:sp>
        <p:nvSpPr>
          <p:cNvPr id="9" name="Text 5"/>
          <p:cNvSpPr txBox="1"/>
          <p:nvPr/>
        </p:nvSpPr>
        <p:spPr>
          <a:xfrm>
            <a:off x="6035040" y="1371600"/>
            <a:ext cx="2651760" cy="914400"/>
          </a:xfrm>
          <a:prstGeom prst="rect">
            <a:avLst/>
          </a:prstGeom>
          <a:noFill/>
          <a:ln/>
        </p:spPr>
        <p:txBody>
          <a:bodyPr wrap="square" lIns="0" tIns="0" rIns="0" bIns="0" rtlCol="0" anchor="ctr"/>
          <a:lstStyle/>
          <a:p>
            <a:pPr marL="0" indent="0">
              <a:buNone/>
            </a:pPr>
            <a:r>
              <a:rPr lang="en-US" sz="1400" dirty="0">
                <a:solidFill>
                  <a:schemeClr val="tx1"/>
                </a:solidFill>
              </a:rPr>
              <a:t>The AWS footprint consists of several geographic Regions spread across the globe.</a:t>
            </a:r>
            <a:endParaRPr lang="en-US" sz="1400" dirty="0"/>
          </a:p>
        </p:txBody>
      </p:sp>
      <p:sp>
        <p:nvSpPr>
          <p:cNvPr id="10" name="FaLayerGroup circle"/>
          <p:cNvSpPr/>
          <p:nvPr/>
        </p:nvSpPr>
        <p:spPr>
          <a:xfrm>
            <a:off x="5303520" y="2514600"/>
            <a:ext cx="548640" cy="548640"/>
          </a:xfrm>
          <a:prstGeom prst="ellipse">
            <a:avLst/>
          </a:prstGeom>
          <a:solidFill>
            <a:schemeClr val="accent2"/>
          </a:solidFill>
          <a:ln/>
        </p:spPr>
        <p:txBody>
          <a:bodyPr/>
          <a:lstStyle/>
          <a:p>
            <a:endParaRPr lang="en-RW"/>
          </a:p>
        </p:txBody>
      </p:sp>
      <p:pic>
        <p:nvPicPr>
          <p:cNvPr id="11" name="FaLayerGroup icon" descr="preencoded.png"/>
          <p:cNvPicPr>
            <a:picLocks noChangeAspect="1"/>
          </p:cNvPicPr>
          <p:nvPr/>
        </p:nvPicPr>
        <p:blipFill>
          <a:blip r:embed="rId5"/>
          <a:stretch>
            <a:fillRect/>
          </a:stretch>
        </p:blipFill>
        <p:spPr>
          <a:xfrm>
            <a:off x="5440680" y="2651760"/>
            <a:ext cx="274320" cy="274320"/>
          </a:xfrm>
          <a:prstGeom prst="rect">
            <a:avLst/>
          </a:prstGeom>
        </p:spPr>
      </p:pic>
      <p:sp>
        <p:nvSpPr>
          <p:cNvPr id="12" name="Text 7"/>
          <p:cNvSpPr txBox="1"/>
          <p:nvPr/>
        </p:nvSpPr>
        <p:spPr>
          <a:xfrm>
            <a:off x="6035040" y="2514600"/>
            <a:ext cx="2651760" cy="914400"/>
          </a:xfrm>
          <a:prstGeom prst="rect">
            <a:avLst/>
          </a:prstGeom>
          <a:noFill/>
          <a:ln/>
        </p:spPr>
        <p:txBody>
          <a:bodyPr wrap="square" lIns="0" tIns="0" rIns="0" bIns="0" rtlCol="0" anchor="ctr"/>
          <a:lstStyle/>
          <a:p>
            <a:pPr marL="0" indent="0">
              <a:buNone/>
            </a:pPr>
            <a:r>
              <a:rPr lang="en-US" sz="1400" dirty="0">
                <a:solidFill>
                  <a:schemeClr val="tx1"/>
                </a:solidFill>
              </a:rPr>
              <a:t>Each Region has multiple, physically separate </a:t>
            </a:r>
            <a:r>
              <a:rPr lang="en-US" sz="1400" b="1" dirty="0">
                <a:solidFill>
                  <a:schemeClr val="tx1"/>
                </a:solidFill>
              </a:rPr>
              <a:t>Availability Zones</a:t>
            </a:r>
            <a:r>
              <a:rPr lang="en-US" sz="1400" dirty="0">
                <a:solidFill>
                  <a:schemeClr val="tx1"/>
                </a:solidFill>
              </a:rPr>
              <a:t>. The typical number is three.</a:t>
            </a:r>
            <a:endParaRPr lang="en-US" sz="1400" dirty="0"/>
          </a:p>
        </p:txBody>
      </p:sp>
      <p:sp>
        <p:nvSpPr>
          <p:cNvPr id="13" name="Card"/>
          <p:cNvSpPr/>
          <p:nvPr/>
        </p:nvSpPr>
        <p:spPr>
          <a:xfrm>
            <a:off x="5303520" y="3657600"/>
            <a:ext cx="3383280" cy="1005840"/>
          </a:xfrm>
          <a:prstGeom prst="roundRect">
            <a:avLst>
              <a:gd name="adj" fmla="val 10909"/>
            </a:avLst>
          </a:prstGeom>
          <a:solidFill>
            <a:schemeClr val="accent4"/>
          </a:solidFill>
          <a:ln/>
          <a:effectLst>
            <a:outerShdw blurRad="127000" dist="38100" dir="5400000" algn="bl" rotWithShape="0">
              <a:srgbClr val="1E1B4B">
                <a:alpha val="10000"/>
              </a:srgbClr>
            </a:outerShdw>
          </a:effectLst>
        </p:spPr>
        <p:txBody>
          <a:bodyPr/>
          <a:lstStyle/>
          <a:p>
            <a:endParaRPr lang="en-RW"/>
          </a:p>
        </p:txBody>
      </p:sp>
      <p:sp>
        <p:nvSpPr>
          <p:cNvPr id="14" name="Text 9"/>
          <p:cNvSpPr txBox="1"/>
          <p:nvPr/>
        </p:nvSpPr>
        <p:spPr>
          <a:xfrm>
            <a:off x="5486400" y="3657600"/>
            <a:ext cx="3017520" cy="1005840"/>
          </a:xfrm>
          <a:prstGeom prst="rect">
            <a:avLst/>
          </a:prstGeom>
          <a:noFill/>
          <a:ln/>
        </p:spPr>
        <p:txBody>
          <a:bodyPr wrap="square" lIns="0" tIns="0" rIns="0" bIns="0" rtlCol="0" anchor="ctr"/>
          <a:lstStyle/>
          <a:p>
            <a:pPr marL="0" indent="0">
              <a:buNone/>
            </a:pPr>
            <a:r>
              <a:rPr lang="en-US" sz="1400" b="1" dirty="0">
                <a:solidFill>
                  <a:schemeClr val="tx1"/>
                </a:solidFill>
              </a:rPr>
              <a:t>Learn more: </a:t>
            </a:r>
            <a:r>
              <a:rPr lang="en-US" sz="1400" u="sng" dirty="0">
                <a:solidFill>
                  <a:schemeClr val="tx1"/>
                </a:solidFill>
                <a:hlinkClick r:id="rId6" tooltip="AWS Regions and Availability Zones">
                  <a:extLst>
                    <a:ext uri="{A12FA001-AC4F-418D-AE19-62706E023703}">
                      <ahyp:hlinkClr xmlns:ahyp="http://schemas.microsoft.com/office/drawing/2018/hyperlinkcolor" val="tx"/>
                    </a:ext>
                  </a:extLst>
                </a:hlinkClick>
              </a:rPr>
              <a:t>AWS Regions and Availability Zones</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5A7E"/>
                </a:solidFill>
              </a:defRPr>
            </a:lvl1pPr>
          </a:lstStyle>
          <a:p>
            <a:pPr algn="r"/>
            <a:fld id="{F7021451-1387-4CA6-816F-3879F97B5CBC}" type="slidenum">
              <a:rPr lang="en-US" b="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48640"/>
            <a:ext cx="8229600" cy="640080"/>
          </a:xfrm>
          <a:prstGeom prst="rect">
            <a:avLst/>
          </a:prstGeom>
          <a:noFill/>
          <a:ln/>
        </p:spPr>
        <p:txBody>
          <a:bodyPr wrap="square" lIns="0" tIns="0" rIns="0" bIns="0" rtlCol="0" anchor="ctr"/>
          <a:lstStyle/>
          <a:p>
            <a:pPr marL="0" indent="0" algn="l">
              <a:buNone/>
            </a:pPr>
            <a:r>
              <a:rPr lang="en-US" sz="3400" b="1" dirty="0">
                <a:solidFill>
                  <a:schemeClr val="tx1"/>
                </a:solidFill>
              </a:rPr>
              <a:t>Availability Zones</a:t>
            </a:r>
            <a:endParaRPr lang="en-US" sz="3400" dirty="0"/>
          </a:p>
        </p:txBody>
      </p:sp>
      <p:sp>
        <p:nvSpPr>
          <p:cNvPr id="3" name="Section chip"/>
          <p:cNvSpPr txBox="1"/>
          <p:nvPr/>
        </p:nvSpPr>
        <p:spPr>
          <a:xfrm>
            <a:off x="457200" y="274320"/>
            <a:ext cx="2488997" cy="246888"/>
          </a:xfrm>
          <a:prstGeom prst="roundRect">
            <a:avLst>
              <a:gd name="adj" fmla="val 48148"/>
            </a:avLst>
          </a:prstGeom>
          <a:solidFill>
            <a:schemeClr val="accent4"/>
          </a:solidFill>
          <a:ln/>
        </p:spPr>
        <p:txBody>
          <a:bodyPr wrap="square" lIns="0" tIns="0" rIns="0" bIns="0" rtlCol="0" anchor="ctr"/>
          <a:lstStyle/>
          <a:p>
            <a:pPr marL="0" indent="0" algn="ctr">
              <a:buNone/>
            </a:pPr>
            <a:r>
              <a:rPr lang="en-US" sz="1000" b="1" kern="0" spc="150" dirty="0">
                <a:solidFill>
                  <a:schemeClr val="tx1"/>
                </a:solidFill>
              </a:rPr>
              <a:t>AWS · GLOBAL INFRASTRUCTURE</a:t>
            </a:r>
            <a:endParaRPr lang="en-US" sz="1000" dirty="0"/>
          </a:p>
        </p:txBody>
      </p:sp>
      <p:sp>
        <p:nvSpPr>
          <p:cNvPr id="4" name="Card"/>
          <p:cNvSpPr/>
          <p:nvPr/>
        </p:nvSpPr>
        <p:spPr>
          <a:xfrm>
            <a:off x="457200" y="1371600"/>
            <a:ext cx="4023360" cy="2377440"/>
          </a:xfrm>
          <a:prstGeom prst="roundRect">
            <a:avLst>
              <a:gd name="adj" fmla="val 4615"/>
            </a:avLst>
          </a:prstGeom>
          <a:solidFill>
            <a:schemeClr val="bg1"/>
          </a:solidFill>
          <a:ln/>
          <a:effectLst>
            <a:outerShdw blurRad="127000" dist="38100" dir="5400000" algn="bl" rotWithShape="0">
              <a:srgbClr val="1E1B4B">
                <a:alpha val="10000"/>
              </a:srgbClr>
            </a:outerShdw>
          </a:effectLst>
        </p:spPr>
        <p:txBody>
          <a:bodyPr/>
          <a:lstStyle/>
          <a:p>
            <a:endParaRPr lang="en-RW"/>
          </a:p>
        </p:txBody>
      </p:sp>
      <p:pic>
        <p:nvPicPr>
          <p:cNvPr id="5" name="Regions and Availability Zones" descr="Two AWS Regions, each divided into multiple Availability Zones."/>
          <p:cNvPicPr>
            <a:picLocks noChangeAspect="1"/>
          </p:cNvPicPr>
          <p:nvPr/>
        </p:nvPicPr>
        <p:blipFill>
          <a:blip r:embed="rId3"/>
          <a:stretch>
            <a:fillRect/>
          </a:stretch>
        </p:blipFill>
        <p:spPr>
          <a:xfrm>
            <a:off x="777240" y="1481328"/>
            <a:ext cx="3383280" cy="1853546"/>
          </a:xfrm>
          <a:prstGeom prst="rect">
            <a:avLst/>
          </a:prstGeom>
        </p:spPr>
      </p:pic>
      <p:sp>
        <p:nvSpPr>
          <p:cNvPr id="6" name="Text 3"/>
          <p:cNvSpPr txBox="1"/>
          <p:nvPr/>
        </p:nvSpPr>
        <p:spPr>
          <a:xfrm>
            <a:off x="777240" y="3456432"/>
            <a:ext cx="1828800" cy="228600"/>
          </a:xfrm>
          <a:prstGeom prst="rect">
            <a:avLst/>
          </a:prstGeom>
          <a:noFill/>
          <a:ln/>
        </p:spPr>
        <p:txBody>
          <a:bodyPr wrap="square" lIns="0" tIns="0" rIns="0" bIns="0" rtlCol="0" anchor="t"/>
          <a:lstStyle/>
          <a:p>
            <a:pPr marL="0" indent="0">
              <a:buNone/>
            </a:pPr>
            <a:r>
              <a:rPr lang="en-US" sz="1000" i="1" dirty="0">
                <a:solidFill>
                  <a:schemeClr val="tx2"/>
                </a:solidFill>
              </a:rPr>
              <a:t>Source: AWS</a:t>
            </a:r>
            <a:endParaRPr lang="en-US" sz="1000" dirty="0"/>
          </a:p>
        </p:txBody>
      </p:sp>
      <p:sp>
        <p:nvSpPr>
          <p:cNvPr id="7" name="Card"/>
          <p:cNvSpPr/>
          <p:nvPr/>
        </p:nvSpPr>
        <p:spPr>
          <a:xfrm>
            <a:off x="457200" y="3886200"/>
            <a:ext cx="4023360" cy="777240"/>
          </a:xfrm>
          <a:prstGeom prst="roundRect">
            <a:avLst>
              <a:gd name="adj" fmla="val 14118"/>
            </a:avLst>
          </a:prstGeom>
          <a:solidFill>
            <a:schemeClr val="accent3"/>
          </a:solidFill>
          <a:ln/>
          <a:effectLst>
            <a:outerShdw blurRad="127000" dist="38100" dir="5400000" algn="bl" rotWithShape="0">
              <a:srgbClr val="1E1B4B">
                <a:alpha val="10000"/>
              </a:srgbClr>
            </a:outerShdw>
          </a:effectLst>
        </p:spPr>
        <p:txBody>
          <a:bodyPr/>
          <a:lstStyle/>
          <a:p>
            <a:endParaRPr lang="en-RW"/>
          </a:p>
        </p:txBody>
      </p:sp>
      <p:sp>
        <p:nvSpPr>
          <p:cNvPr id="8" name="Text 5"/>
          <p:cNvSpPr txBox="1"/>
          <p:nvPr/>
        </p:nvSpPr>
        <p:spPr>
          <a:xfrm>
            <a:off x="640080" y="3886200"/>
            <a:ext cx="3657600" cy="777240"/>
          </a:xfrm>
          <a:prstGeom prst="rect">
            <a:avLst/>
          </a:prstGeom>
          <a:noFill/>
          <a:ln/>
        </p:spPr>
        <p:txBody>
          <a:bodyPr wrap="square" lIns="0" tIns="0" rIns="0" bIns="0" rtlCol="0" anchor="ctr"/>
          <a:lstStyle/>
          <a:p>
            <a:pPr marL="0" indent="0">
              <a:buNone/>
            </a:pPr>
            <a:r>
              <a:rPr lang="en-US" sz="1300" dirty="0">
                <a:solidFill>
                  <a:schemeClr val="tx1"/>
                </a:solidFill>
              </a:rPr>
              <a:t>If one AZ is hit by a power outage or a disaster (earthquake, tornado), the </a:t>
            </a:r>
            <a:r>
              <a:rPr lang="en-US" sz="1300" b="1" dirty="0">
                <a:solidFill>
                  <a:schemeClr val="tx1"/>
                </a:solidFill>
              </a:rPr>
              <a:t>other AZs stay unaffected</a:t>
            </a:r>
            <a:r>
              <a:rPr lang="en-US" sz="1300" dirty="0">
                <a:solidFill>
                  <a:schemeClr val="tx1"/>
                </a:solidFill>
              </a:rPr>
              <a:t>.</a:t>
            </a:r>
            <a:endParaRPr lang="en-US" sz="1300" dirty="0"/>
          </a:p>
        </p:txBody>
      </p:sp>
      <p:sp>
        <p:nvSpPr>
          <p:cNvPr id="9" name="Card"/>
          <p:cNvSpPr/>
          <p:nvPr/>
        </p:nvSpPr>
        <p:spPr>
          <a:xfrm>
            <a:off x="4663440" y="1371600"/>
            <a:ext cx="4023360" cy="749808"/>
          </a:xfrm>
          <a:prstGeom prst="roundRect">
            <a:avLst>
              <a:gd name="adj" fmla="val 14634"/>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10" name="FaServer circle"/>
          <p:cNvSpPr/>
          <p:nvPr/>
        </p:nvSpPr>
        <p:spPr>
          <a:xfrm>
            <a:off x="4846320" y="1517904"/>
            <a:ext cx="457200" cy="457200"/>
          </a:xfrm>
          <a:prstGeom prst="ellipse">
            <a:avLst/>
          </a:prstGeom>
          <a:solidFill>
            <a:schemeClr val="accent1"/>
          </a:solidFill>
          <a:ln/>
        </p:spPr>
        <p:txBody>
          <a:bodyPr/>
          <a:lstStyle/>
          <a:p>
            <a:endParaRPr lang="en-RW"/>
          </a:p>
        </p:txBody>
      </p:sp>
      <p:pic>
        <p:nvPicPr>
          <p:cNvPr id="11" name="FaServer icon" descr="preencoded.png"/>
          <p:cNvPicPr>
            <a:picLocks noChangeAspect="1"/>
          </p:cNvPicPr>
          <p:nvPr/>
        </p:nvPicPr>
        <p:blipFill>
          <a:blip r:embed="rId4"/>
          <a:stretch>
            <a:fillRect/>
          </a:stretch>
        </p:blipFill>
        <p:spPr>
          <a:xfrm>
            <a:off x="4960620" y="1632204"/>
            <a:ext cx="228600" cy="228600"/>
          </a:xfrm>
          <a:prstGeom prst="rect">
            <a:avLst/>
          </a:prstGeom>
        </p:spPr>
      </p:pic>
      <p:sp>
        <p:nvSpPr>
          <p:cNvPr id="12" name="Text 8"/>
          <p:cNvSpPr txBox="1"/>
          <p:nvPr/>
        </p:nvSpPr>
        <p:spPr>
          <a:xfrm>
            <a:off x="5486400" y="1371600"/>
            <a:ext cx="3017520" cy="749808"/>
          </a:xfrm>
          <a:prstGeom prst="rect">
            <a:avLst/>
          </a:prstGeom>
          <a:noFill/>
          <a:ln/>
        </p:spPr>
        <p:txBody>
          <a:bodyPr wrap="square" lIns="0" tIns="0" rIns="0" bIns="0" rtlCol="0" anchor="ctr"/>
          <a:lstStyle/>
          <a:p>
            <a:pPr marL="0" indent="0">
              <a:buNone/>
            </a:pPr>
            <a:r>
              <a:rPr lang="en-US" sz="1400" dirty="0">
                <a:solidFill>
                  <a:schemeClr val="tx1"/>
                </a:solidFill>
              </a:rPr>
              <a:t>An Availability Zone is a cluster of one or more discrete data centers.</a:t>
            </a:r>
            <a:endParaRPr lang="en-US" sz="1400" dirty="0"/>
          </a:p>
        </p:txBody>
      </p:sp>
      <p:sp>
        <p:nvSpPr>
          <p:cNvPr id="13" name="Card"/>
          <p:cNvSpPr/>
          <p:nvPr/>
        </p:nvSpPr>
        <p:spPr>
          <a:xfrm>
            <a:off x="4663440" y="2212848"/>
            <a:ext cx="4023360" cy="749808"/>
          </a:xfrm>
          <a:prstGeom prst="roundRect">
            <a:avLst>
              <a:gd name="adj" fmla="val 14634"/>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14" name="FaPowerOff circle"/>
          <p:cNvSpPr/>
          <p:nvPr/>
        </p:nvSpPr>
        <p:spPr>
          <a:xfrm>
            <a:off x="4846320" y="2359152"/>
            <a:ext cx="457200" cy="457200"/>
          </a:xfrm>
          <a:prstGeom prst="ellipse">
            <a:avLst/>
          </a:prstGeom>
          <a:solidFill>
            <a:schemeClr val="accent4"/>
          </a:solidFill>
          <a:ln/>
        </p:spPr>
        <p:txBody>
          <a:bodyPr/>
          <a:lstStyle/>
          <a:p>
            <a:endParaRPr lang="en-RW"/>
          </a:p>
        </p:txBody>
      </p:sp>
      <p:pic>
        <p:nvPicPr>
          <p:cNvPr id="15" name="FaPowerOff icon" descr="preencoded.png"/>
          <p:cNvPicPr>
            <a:picLocks noChangeAspect="1"/>
          </p:cNvPicPr>
          <p:nvPr/>
        </p:nvPicPr>
        <p:blipFill>
          <a:blip r:embed="rId5"/>
          <a:stretch>
            <a:fillRect/>
          </a:stretch>
        </p:blipFill>
        <p:spPr>
          <a:xfrm>
            <a:off x="4960620" y="2473452"/>
            <a:ext cx="228600" cy="228600"/>
          </a:xfrm>
          <a:prstGeom prst="rect">
            <a:avLst/>
          </a:prstGeom>
        </p:spPr>
      </p:pic>
      <p:sp>
        <p:nvSpPr>
          <p:cNvPr id="16" name="Text 11"/>
          <p:cNvSpPr txBox="1"/>
          <p:nvPr/>
        </p:nvSpPr>
        <p:spPr>
          <a:xfrm>
            <a:off x="5486400" y="2212848"/>
            <a:ext cx="3017520" cy="749808"/>
          </a:xfrm>
          <a:prstGeom prst="rect">
            <a:avLst/>
          </a:prstGeom>
          <a:noFill/>
          <a:ln/>
        </p:spPr>
        <p:txBody>
          <a:bodyPr wrap="square" lIns="0" tIns="0" rIns="0" bIns="0" rtlCol="0" anchor="ctr"/>
          <a:lstStyle/>
          <a:p>
            <a:pPr marL="0" indent="0">
              <a:buNone/>
            </a:pPr>
            <a:r>
              <a:rPr lang="en-US" sz="1400" dirty="0">
                <a:solidFill>
                  <a:schemeClr val="tx1"/>
                </a:solidFill>
              </a:rPr>
              <a:t>AZs are powered independently of other AZs in the Region.</a:t>
            </a:r>
            <a:endParaRPr lang="en-US" sz="1400" dirty="0"/>
          </a:p>
        </p:txBody>
      </p:sp>
      <p:sp>
        <p:nvSpPr>
          <p:cNvPr id="17" name="Card"/>
          <p:cNvSpPr/>
          <p:nvPr/>
        </p:nvSpPr>
        <p:spPr>
          <a:xfrm>
            <a:off x="4663440" y="3054096"/>
            <a:ext cx="4023360" cy="749808"/>
          </a:xfrm>
          <a:prstGeom prst="roundRect">
            <a:avLst>
              <a:gd name="adj" fmla="val 14634"/>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18" name="FaMapMarkerAlt circle"/>
          <p:cNvSpPr/>
          <p:nvPr/>
        </p:nvSpPr>
        <p:spPr>
          <a:xfrm>
            <a:off x="4846320" y="3200400"/>
            <a:ext cx="457200" cy="457200"/>
          </a:xfrm>
          <a:prstGeom prst="ellipse">
            <a:avLst/>
          </a:prstGeom>
          <a:solidFill>
            <a:schemeClr val="accent2"/>
          </a:solidFill>
          <a:ln/>
        </p:spPr>
        <p:txBody>
          <a:bodyPr/>
          <a:lstStyle/>
          <a:p>
            <a:endParaRPr lang="en-RW"/>
          </a:p>
        </p:txBody>
      </p:sp>
      <p:pic>
        <p:nvPicPr>
          <p:cNvPr id="19" name="FaMapMarkerAlt icon" descr="preencoded.png"/>
          <p:cNvPicPr>
            <a:picLocks noChangeAspect="1"/>
          </p:cNvPicPr>
          <p:nvPr/>
        </p:nvPicPr>
        <p:blipFill>
          <a:blip r:embed="rId6"/>
          <a:stretch>
            <a:fillRect/>
          </a:stretch>
        </p:blipFill>
        <p:spPr>
          <a:xfrm>
            <a:off x="4960620" y="3314700"/>
            <a:ext cx="228600" cy="228600"/>
          </a:xfrm>
          <a:prstGeom prst="rect">
            <a:avLst/>
          </a:prstGeom>
        </p:spPr>
      </p:pic>
      <p:sp>
        <p:nvSpPr>
          <p:cNvPr id="20" name="Text 14"/>
          <p:cNvSpPr txBox="1"/>
          <p:nvPr/>
        </p:nvSpPr>
        <p:spPr>
          <a:xfrm>
            <a:off x="5486400" y="3054096"/>
            <a:ext cx="3017520" cy="749808"/>
          </a:xfrm>
          <a:prstGeom prst="rect">
            <a:avLst/>
          </a:prstGeom>
          <a:noFill/>
          <a:ln/>
        </p:spPr>
        <p:txBody>
          <a:bodyPr wrap="square" lIns="0" tIns="0" rIns="0" bIns="0" rtlCol="0" anchor="ctr"/>
          <a:lstStyle/>
          <a:p>
            <a:pPr marL="0" indent="0">
              <a:buNone/>
            </a:pPr>
            <a:r>
              <a:rPr lang="en-US" sz="1400" dirty="0">
                <a:solidFill>
                  <a:schemeClr val="tx1"/>
                </a:solidFill>
              </a:rPr>
              <a:t>They are separated by about 100 km (60 miles).</a:t>
            </a:r>
            <a:endParaRPr lang="en-US" sz="1400" dirty="0"/>
          </a:p>
        </p:txBody>
      </p:sp>
      <p:sp>
        <p:nvSpPr>
          <p:cNvPr id="21" name="Card"/>
          <p:cNvSpPr/>
          <p:nvPr/>
        </p:nvSpPr>
        <p:spPr>
          <a:xfrm>
            <a:off x="4663440" y="3895344"/>
            <a:ext cx="4023360" cy="749808"/>
          </a:xfrm>
          <a:prstGeom prst="roundRect">
            <a:avLst>
              <a:gd name="adj" fmla="val 14634"/>
            </a:avLst>
          </a:prstGeom>
          <a:solidFill>
            <a:schemeClr val="bg1"/>
          </a:solidFill>
          <a:ln/>
          <a:effectLst>
            <a:outerShdw blurRad="127000" dist="38100" dir="5400000" algn="bl" rotWithShape="0">
              <a:srgbClr val="1E1B4B">
                <a:alpha val="10000"/>
              </a:srgbClr>
            </a:outerShdw>
          </a:effectLst>
        </p:spPr>
        <p:txBody>
          <a:bodyPr/>
          <a:lstStyle/>
          <a:p>
            <a:endParaRPr lang="en-RW"/>
          </a:p>
        </p:txBody>
      </p:sp>
      <p:sp>
        <p:nvSpPr>
          <p:cNvPr id="22" name="FaNetworkWired circle"/>
          <p:cNvSpPr/>
          <p:nvPr/>
        </p:nvSpPr>
        <p:spPr>
          <a:xfrm>
            <a:off x="4846320" y="4041648"/>
            <a:ext cx="457200" cy="457200"/>
          </a:xfrm>
          <a:prstGeom prst="ellipse">
            <a:avLst/>
          </a:prstGeom>
          <a:solidFill>
            <a:schemeClr val="accent5"/>
          </a:solidFill>
          <a:ln/>
        </p:spPr>
        <p:txBody>
          <a:bodyPr/>
          <a:lstStyle/>
          <a:p>
            <a:endParaRPr lang="en-RW"/>
          </a:p>
        </p:txBody>
      </p:sp>
      <p:pic>
        <p:nvPicPr>
          <p:cNvPr id="23" name="FaNetworkWired icon" descr="preencoded.png"/>
          <p:cNvPicPr>
            <a:picLocks noChangeAspect="1"/>
          </p:cNvPicPr>
          <p:nvPr/>
        </p:nvPicPr>
        <p:blipFill>
          <a:blip r:embed="rId7"/>
          <a:stretch>
            <a:fillRect/>
          </a:stretch>
        </p:blipFill>
        <p:spPr>
          <a:xfrm>
            <a:off x="4960620" y="4155948"/>
            <a:ext cx="228600" cy="228600"/>
          </a:xfrm>
          <a:prstGeom prst="rect">
            <a:avLst/>
          </a:prstGeom>
        </p:spPr>
      </p:pic>
      <p:sp>
        <p:nvSpPr>
          <p:cNvPr id="24" name="Text 17"/>
          <p:cNvSpPr txBox="1"/>
          <p:nvPr/>
        </p:nvSpPr>
        <p:spPr>
          <a:xfrm>
            <a:off x="5486400" y="3895344"/>
            <a:ext cx="3017520" cy="749808"/>
          </a:xfrm>
          <a:prstGeom prst="rect">
            <a:avLst/>
          </a:prstGeom>
          <a:noFill/>
          <a:ln/>
        </p:spPr>
        <p:txBody>
          <a:bodyPr wrap="square" lIns="0" tIns="0" rIns="0" bIns="0" rtlCol="0" anchor="ctr"/>
          <a:lstStyle/>
          <a:p>
            <a:pPr marL="0" indent="0">
              <a:buNone/>
            </a:pPr>
            <a:r>
              <a:rPr lang="en-US" sz="1400" dirty="0">
                <a:solidFill>
                  <a:schemeClr val="tx1"/>
                </a:solidFill>
              </a:rPr>
              <a:t>AZs in a Region are linked by high-throughput metro fiber.</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5A7E"/>
                </a:solidFill>
              </a:defRPr>
            </a:lvl1pPr>
          </a:lstStyle>
          <a:p>
            <a:pPr algn="r"/>
            <a:fld id="{F7021451-1387-4CA6-816F-3879F97B5CBC}" type="slidenum">
              <a:rPr lang="en-US" b="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548640"/>
            <a:ext cx="8229600" cy="640080"/>
          </a:xfrm>
          <a:prstGeom prst="rect">
            <a:avLst/>
          </a:prstGeom>
          <a:noFill/>
          <a:ln/>
        </p:spPr>
        <p:txBody>
          <a:bodyPr wrap="square" lIns="0" tIns="0" rIns="0" bIns="0" rtlCol="0" anchor="ctr"/>
          <a:lstStyle/>
          <a:p>
            <a:pPr marL="0" indent="0" algn="l">
              <a:buNone/>
            </a:pPr>
            <a:r>
              <a:rPr lang="en-US" sz="3400" b="1" dirty="0">
                <a:solidFill>
                  <a:schemeClr val="bg1"/>
                </a:solidFill>
              </a:rPr>
              <a:t>Chapter Recap</a:t>
            </a:r>
            <a:endParaRPr lang="en-US" sz="3400" dirty="0"/>
          </a:p>
        </p:txBody>
      </p:sp>
      <p:sp>
        <p:nvSpPr>
          <p:cNvPr id="3" name="Section chip"/>
          <p:cNvSpPr txBox="1"/>
          <p:nvPr/>
        </p:nvSpPr>
        <p:spPr>
          <a:xfrm>
            <a:off x="457200" y="274320"/>
            <a:ext cx="1388059" cy="246888"/>
          </a:xfrm>
          <a:prstGeom prst="roundRect">
            <a:avLst>
              <a:gd name="adj" fmla="val 48148"/>
            </a:avLst>
          </a:prstGeom>
          <a:solidFill>
            <a:schemeClr val="accent4"/>
          </a:solidFill>
          <a:ln/>
        </p:spPr>
        <p:txBody>
          <a:bodyPr wrap="square" lIns="0" tIns="0" rIns="0" bIns="0" rtlCol="0" anchor="ctr"/>
          <a:lstStyle/>
          <a:p>
            <a:pPr marL="0" indent="0" algn="ctr">
              <a:buNone/>
            </a:pPr>
            <a:r>
              <a:rPr lang="en-US" sz="1000" b="1" kern="0" spc="150" dirty="0">
                <a:solidFill>
                  <a:schemeClr val="tx1"/>
                </a:solidFill>
              </a:rPr>
              <a:t>KEY TAKEAWAYS</a:t>
            </a:r>
            <a:endParaRPr lang="en-US" sz="1000" dirty="0"/>
          </a:p>
        </p:txBody>
      </p:sp>
      <p:sp>
        <p:nvSpPr>
          <p:cNvPr id="4" name="Recap card"/>
          <p:cNvSpPr/>
          <p:nvPr/>
        </p:nvSpPr>
        <p:spPr>
          <a:xfrm>
            <a:off x="457200" y="1371600"/>
            <a:ext cx="2560320" cy="2743200"/>
          </a:xfrm>
          <a:prstGeom prst="roundRect">
            <a:avLst>
              <a:gd name="adj" fmla="val 4286"/>
            </a:avLst>
          </a:prstGeom>
          <a:solidFill>
            <a:schemeClr val="bg1">
              <a:alpha val="10000"/>
            </a:schemeClr>
          </a:solidFill>
          <a:ln/>
        </p:spPr>
        <p:txBody>
          <a:bodyPr/>
          <a:lstStyle/>
          <a:p>
            <a:endParaRPr lang="en-RW"/>
          </a:p>
        </p:txBody>
      </p:sp>
      <p:sp>
        <p:nvSpPr>
          <p:cNvPr id="5" name="Text 3"/>
          <p:cNvSpPr txBox="1"/>
          <p:nvPr/>
        </p:nvSpPr>
        <p:spPr>
          <a:xfrm>
            <a:off x="685800" y="1417320"/>
            <a:ext cx="822960" cy="822960"/>
          </a:xfrm>
          <a:prstGeom prst="rect">
            <a:avLst/>
          </a:prstGeom>
          <a:noFill/>
          <a:ln/>
        </p:spPr>
        <p:txBody>
          <a:bodyPr wrap="square" lIns="0" tIns="0" rIns="0" bIns="0" rtlCol="0" anchor="ctr"/>
          <a:lstStyle/>
          <a:p>
            <a:pPr marL="0" indent="0">
              <a:buNone/>
            </a:pPr>
            <a:r>
              <a:rPr lang="en-US" sz="4800" b="1" dirty="0">
                <a:solidFill>
                  <a:schemeClr val="accent2"/>
                </a:solidFill>
              </a:rPr>
              <a:t>5</a:t>
            </a:r>
            <a:endParaRPr lang="en-US" sz="4800" dirty="0"/>
          </a:p>
        </p:txBody>
      </p:sp>
      <p:sp>
        <p:nvSpPr>
          <p:cNvPr id="6" name="Text 4"/>
          <p:cNvSpPr txBox="1"/>
          <p:nvPr/>
        </p:nvSpPr>
        <p:spPr>
          <a:xfrm>
            <a:off x="1371600" y="1463040"/>
            <a:ext cx="1554480" cy="731520"/>
          </a:xfrm>
          <a:prstGeom prst="rect">
            <a:avLst/>
          </a:prstGeom>
          <a:noFill/>
          <a:ln/>
        </p:spPr>
        <p:txBody>
          <a:bodyPr wrap="square" lIns="0" tIns="0" rIns="0" bIns="0" rtlCol="0" anchor="ctr"/>
          <a:lstStyle/>
          <a:p>
            <a:pPr marL="0" indent="0">
              <a:buNone/>
            </a:pPr>
            <a:r>
              <a:rPr lang="en-US" sz="1500" b="1" dirty="0">
                <a:solidFill>
                  <a:schemeClr val="bg1"/>
                </a:solidFill>
              </a:rPr>
              <a:t>Essential characteristics</a:t>
            </a:r>
            <a:endParaRPr lang="en-US" sz="1500" dirty="0"/>
          </a:p>
        </p:txBody>
      </p:sp>
      <p:sp>
        <p:nvSpPr>
          <p:cNvPr id="7" name="Text 5"/>
          <p:cNvSpPr txBox="1"/>
          <p:nvPr/>
        </p:nvSpPr>
        <p:spPr>
          <a:xfrm>
            <a:off x="731520" y="2377440"/>
            <a:ext cx="2103120" cy="164592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bg1"/>
                </a:solidFill>
              </a:rPr>
              <a:t>On-demand self service</a:t>
            </a:r>
            <a:endParaRPr lang="en-US" sz="1400" dirty="0"/>
          </a:p>
          <a:p>
            <a:pPr marL="342900" indent="-342900">
              <a:spcAft>
                <a:spcPts val="300"/>
              </a:spcAft>
              <a:buSzPct val="100000"/>
              <a:buChar char="•"/>
            </a:pPr>
            <a:r>
              <a:rPr lang="en-US" sz="1400" dirty="0">
                <a:solidFill>
                  <a:schemeClr val="bg1"/>
                </a:solidFill>
              </a:rPr>
              <a:t>Broad network access</a:t>
            </a:r>
            <a:endParaRPr lang="en-US" sz="1400" dirty="0"/>
          </a:p>
          <a:p>
            <a:pPr marL="342900" indent="-342900">
              <a:spcAft>
                <a:spcPts val="300"/>
              </a:spcAft>
              <a:buSzPct val="100000"/>
              <a:buChar char="•"/>
            </a:pPr>
            <a:r>
              <a:rPr lang="en-US" sz="1400" dirty="0">
                <a:solidFill>
                  <a:schemeClr val="bg1"/>
                </a:solidFill>
              </a:rPr>
              <a:t>Resource pooling</a:t>
            </a:r>
            <a:endParaRPr lang="en-US" sz="1400" dirty="0"/>
          </a:p>
          <a:p>
            <a:pPr marL="342900" indent="-342900">
              <a:spcAft>
                <a:spcPts val="300"/>
              </a:spcAft>
              <a:buSzPct val="100000"/>
              <a:buChar char="•"/>
            </a:pPr>
            <a:r>
              <a:rPr lang="en-US" sz="1400" dirty="0">
                <a:solidFill>
                  <a:schemeClr val="bg1"/>
                </a:solidFill>
              </a:rPr>
              <a:t>Rapid elasticity</a:t>
            </a:r>
            <a:endParaRPr lang="en-US" sz="1400" dirty="0"/>
          </a:p>
          <a:p>
            <a:pPr marL="342900" indent="-342900">
              <a:spcAft>
                <a:spcPts val="300"/>
              </a:spcAft>
              <a:buSzPct val="100000"/>
              <a:buChar char="•"/>
            </a:pPr>
            <a:r>
              <a:rPr lang="en-US" sz="1400" dirty="0">
                <a:solidFill>
                  <a:schemeClr val="bg1"/>
                </a:solidFill>
              </a:rPr>
              <a:t>Measured service</a:t>
            </a:r>
            <a:endParaRPr lang="en-US" sz="1400" dirty="0"/>
          </a:p>
        </p:txBody>
      </p:sp>
      <p:sp>
        <p:nvSpPr>
          <p:cNvPr id="8" name="Recap card"/>
          <p:cNvSpPr/>
          <p:nvPr/>
        </p:nvSpPr>
        <p:spPr>
          <a:xfrm>
            <a:off x="3291840" y="1371600"/>
            <a:ext cx="2560320" cy="2743200"/>
          </a:xfrm>
          <a:prstGeom prst="roundRect">
            <a:avLst>
              <a:gd name="adj" fmla="val 4286"/>
            </a:avLst>
          </a:prstGeom>
          <a:solidFill>
            <a:schemeClr val="bg1">
              <a:alpha val="10000"/>
            </a:schemeClr>
          </a:solidFill>
          <a:ln/>
        </p:spPr>
        <p:txBody>
          <a:bodyPr/>
          <a:lstStyle/>
          <a:p>
            <a:endParaRPr lang="en-RW"/>
          </a:p>
        </p:txBody>
      </p:sp>
      <p:sp>
        <p:nvSpPr>
          <p:cNvPr id="9" name="Text 7"/>
          <p:cNvSpPr txBox="1"/>
          <p:nvPr/>
        </p:nvSpPr>
        <p:spPr>
          <a:xfrm>
            <a:off x="3520440" y="1417320"/>
            <a:ext cx="822960" cy="822960"/>
          </a:xfrm>
          <a:prstGeom prst="rect">
            <a:avLst/>
          </a:prstGeom>
          <a:noFill/>
          <a:ln/>
        </p:spPr>
        <p:txBody>
          <a:bodyPr wrap="square" lIns="0" tIns="0" rIns="0" bIns="0" rtlCol="0" anchor="ctr"/>
          <a:lstStyle/>
          <a:p>
            <a:pPr marL="0" indent="0">
              <a:buNone/>
            </a:pPr>
            <a:r>
              <a:rPr lang="en-US" sz="4800" b="1" dirty="0">
                <a:solidFill>
                  <a:schemeClr val="accent3"/>
                </a:solidFill>
              </a:rPr>
              <a:t>4</a:t>
            </a:r>
            <a:endParaRPr lang="en-US" sz="4800" dirty="0"/>
          </a:p>
        </p:txBody>
      </p:sp>
      <p:sp>
        <p:nvSpPr>
          <p:cNvPr id="10" name="Text 8"/>
          <p:cNvSpPr txBox="1"/>
          <p:nvPr/>
        </p:nvSpPr>
        <p:spPr>
          <a:xfrm>
            <a:off x="4206240" y="1463040"/>
            <a:ext cx="1554480" cy="731520"/>
          </a:xfrm>
          <a:prstGeom prst="rect">
            <a:avLst/>
          </a:prstGeom>
          <a:noFill/>
          <a:ln/>
        </p:spPr>
        <p:txBody>
          <a:bodyPr wrap="square" lIns="0" tIns="0" rIns="0" bIns="0" rtlCol="0" anchor="ctr"/>
          <a:lstStyle/>
          <a:p>
            <a:pPr marL="0" indent="0">
              <a:buNone/>
            </a:pPr>
            <a:r>
              <a:rPr lang="en-US" sz="1500" b="1" dirty="0">
                <a:solidFill>
                  <a:schemeClr val="bg1"/>
                </a:solidFill>
              </a:rPr>
              <a:t>Deployment models</a:t>
            </a:r>
            <a:endParaRPr lang="en-US" sz="1500" dirty="0"/>
          </a:p>
        </p:txBody>
      </p:sp>
      <p:sp>
        <p:nvSpPr>
          <p:cNvPr id="11" name="Text 9"/>
          <p:cNvSpPr txBox="1"/>
          <p:nvPr/>
        </p:nvSpPr>
        <p:spPr>
          <a:xfrm>
            <a:off x="3566160" y="2377440"/>
            <a:ext cx="2103120" cy="164592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bg1"/>
                </a:solidFill>
              </a:rPr>
              <a:t>Public</a:t>
            </a:r>
            <a:endParaRPr lang="en-US" sz="1400" dirty="0"/>
          </a:p>
          <a:p>
            <a:pPr marL="342900" indent="-342900">
              <a:spcAft>
                <a:spcPts val="300"/>
              </a:spcAft>
              <a:buSzPct val="100000"/>
              <a:buChar char="•"/>
            </a:pPr>
            <a:r>
              <a:rPr lang="en-US" sz="1400" dirty="0">
                <a:solidFill>
                  <a:schemeClr val="bg1"/>
                </a:solidFill>
              </a:rPr>
              <a:t>Private</a:t>
            </a:r>
            <a:endParaRPr lang="en-US" sz="1400" dirty="0"/>
          </a:p>
          <a:p>
            <a:pPr marL="342900" indent="-342900">
              <a:spcAft>
                <a:spcPts val="300"/>
              </a:spcAft>
              <a:buSzPct val="100000"/>
              <a:buChar char="•"/>
            </a:pPr>
            <a:r>
              <a:rPr lang="en-US" sz="1400" dirty="0">
                <a:solidFill>
                  <a:schemeClr val="bg1"/>
                </a:solidFill>
              </a:rPr>
              <a:t>Hybrid</a:t>
            </a:r>
            <a:endParaRPr lang="en-US" sz="1400" dirty="0"/>
          </a:p>
          <a:p>
            <a:pPr marL="342900" indent="-342900">
              <a:spcAft>
                <a:spcPts val="300"/>
              </a:spcAft>
              <a:buSzPct val="100000"/>
              <a:buChar char="•"/>
            </a:pPr>
            <a:r>
              <a:rPr lang="en-US" sz="1400" dirty="0">
                <a:solidFill>
                  <a:schemeClr val="bg1"/>
                </a:solidFill>
              </a:rPr>
              <a:t>Community</a:t>
            </a:r>
            <a:endParaRPr lang="en-US" sz="1400" dirty="0"/>
          </a:p>
        </p:txBody>
      </p:sp>
      <p:sp>
        <p:nvSpPr>
          <p:cNvPr id="12" name="Recap card"/>
          <p:cNvSpPr/>
          <p:nvPr/>
        </p:nvSpPr>
        <p:spPr>
          <a:xfrm>
            <a:off x="6126480" y="1371600"/>
            <a:ext cx="2560320" cy="2743200"/>
          </a:xfrm>
          <a:prstGeom prst="roundRect">
            <a:avLst>
              <a:gd name="adj" fmla="val 4286"/>
            </a:avLst>
          </a:prstGeom>
          <a:solidFill>
            <a:schemeClr val="bg1">
              <a:alpha val="10000"/>
            </a:schemeClr>
          </a:solidFill>
          <a:ln/>
        </p:spPr>
        <p:txBody>
          <a:bodyPr/>
          <a:lstStyle/>
          <a:p>
            <a:endParaRPr lang="en-RW"/>
          </a:p>
        </p:txBody>
      </p:sp>
      <p:sp>
        <p:nvSpPr>
          <p:cNvPr id="13" name="Text 11"/>
          <p:cNvSpPr txBox="1"/>
          <p:nvPr/>
        </p:nvSpPr>
        <p:spPr>
          <a:xfrm>
            <a:off x="6355080" y="1417320"/>
            <a:ext cx="822960" cy="822960"/>
          </a:xfrm>
          <a:prstGeom prst="rect">
            <a:avLst/>
          </a:prstGeom>
          <a:noFill/>
          <a:ln/>
        </p:spPr>
        <p:txBody>
          <a:bodyPr wrap="square" lIns="0" tIns="0" rIns="0" bIns="0" rtlCol="0" anchor="ctr"/>
          <a:lstStyle/>
          <a:p>
            <a:pPr marL="0" indent="0">
              <a:buNone/>
            </a:pPr>
            <a:r>
              <a:rPr lang="en-US" sz="4800" b="1" dirty="0">
                <a:solidFill>
                  <a:schemeClr val="accent4"/>
                </a:solidFill>
              </a:rPr>
              <a:t>3</a:t>
            </a:r>
            <a:endParaRPr lang="en-US" sz="4800" dirty="0"/>
          </a:p>
        </p:txBody>
      </p:sp>
      <p:sp>
        <p:nvSpPr>
          <p:cNvPr id="14" name="Text 12"/>
          <p:cNvSpPr txBox="1"/>
          <p:nvPr/>
        </p:nvSpPr>
        <p:spPr>
          <a:xfrm>
            <a:off x="7040880" y="1463040"/>
            <a:ext cx="1554480" cy="731520"/>
          </a:xfrm>
          <a:prstGeom prst="rect">
            <a:avLst/>
          </a:prstGeom>
          <a:noFill/>
          <a:ln/>
        </p:spPr>
        <p:txBody>
          <a:bodyPr wrap="square" lIns="0" tIns="0" rIns="0" bIns="0" rtlCol="0" anchor="ctr"/>
          <a:lstStyle/>
          <a:p>
            <a:pPr marL="0" indent="0">
              <a:buNone/>
            </a:pPr>
            <a:r>
              <a:rPr lang="en-US" sz="1500" b="1" dirty="0">
                <a:solidFill>
                  <a:schemeClr val="bg1"/>
                </a:solidFill>
              </a:rPr>
              <a:t>Service models</a:t>
            </a:r>
            <a:endParaRPr lang="en-US" sz="1500" dirty="0"/>
          </a:p>
        </p:txBody>
      </p:sp>
      <p:sp>
        <p:nvSpPr>
          <p:cNvPr id="15" name="Text 13"/>
          <p:cNvSpPr txBox="1"/>
          <p:nvPr/>
        </p:nvSpPr>
        <p:spPr>
          <a:xfrm>
            <a:off x="6400800" y="2377440"/>
            <a:ext cx="2103120" cy="164592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bg1"/>
                </a:solidFill>
              </a:rPr>
              <a:t>SaaS</a:t>
            </a:r>
            <a:endParaRPr lang="en-US" sz="1400" dirty="0"/>
          </a:p>
          <a:p>
            <a:pPr marL="342900" indent="-342900">
              <a:spcAft>
                <a:spcPts val="300"/>
              </a:spcAft>
              <a:buSzPct val="100000"/>
              <a:buChar char="•"/>
            </a:pPr>
            <a:r>
              <a:rPr lang="en-US" sz="1400" dirty="0">
                <a:solidFill>
                  <a:schemeClr val="bg1"/>
                </a:solidFill>
              </a:rPr>
              <a:t>PaaS</a:t>
            </a:r>
            <a:endParaRPr lang="en-US" sz="1400" dirty="0"/>
          </a:p>
          <a:p>
            <a:pPr marL="342900" indent="-342900">
              <a:spcAft>
                <a:spcPts val="300"/>
              </a:spcAft>
              <a:buSzPct val="100000"/>
              <a:buChar char="•"/>
            </a:pPr>
            <a:r>
              <a:rPr lang="en-US" sz="1400" dirty="0">
                <a:solidFill>
                  <a:schemeClr val="bg1"/>
                </a:solidFill>
              </a:rPr>
              <a:t>IaaS</a:t>
            </a:r>
            <a:endParaRPr lang="en-US" sz="1400" dirty="0"/>
          </a:p>
        </p:txBody>
      </p:sp>
      <p:sp>
        <p:nvSpPr>
          <p:cNvPr id="16" name="Card"/>
          <p:cNvSpPr/>
          <p:nvPr/>
        </p:nvSpPr>
        <p:spPr>
          <a:xfrm>
            <a:off x="457200" y="4251960"/>
            <a:ext cx="8229600" cy="457200"/>
          </a:xfrm>
          <a:prstGeom prst="roundRect">
            <a:avLst>
              <a:gd name="adj" fmla="val 24000"/>
            </a:avLst>
          </a:prstGeom>
          <a:solidFill>
            <a:schemeClr val="accent4"/>
          </a:solidFill>
          <a:ln/>
        </p:spPr>
        <p:txBody>
          <a:bodyPr/>
          <a:lstStyle/>
          <a:p>
            <a:endParaRPr lang="en-RW"/>
          </a:p>
        </p:txBody>
      </p:sp>
      <p:sp>
        <p:nvSpPr>
          <p:cNvPr id="17" name="Text 15"/>
          <p:cNvSpPr txBox="1"/>
          <p:nvPr/>
        </p:nvSpPr>
        <p:spPr>
          <a:xfrm>
            <a:off x="457200" y="4251960"/>
            <a:ext cx="8229600" cy="457200"/>
          </a:xfrm>
          <a:prstGeom prst="rect">
            <a:avLst/>
          </a:prstGeom>
          <a:noFill/>
          <a:ln/>
        </p:spPr>
        <p:txBody>
          <a:bodyPr wrap="square" lIns="0" tIns="0" rIns="0" bIns="0" rtlCol="0" anchor="ctr"/>
          <a:lstStyle/>
          <a:p>
            <a:pPr marL="0" indent="0" algn="ctr">
              <a:buNone/>
            </a:pPr>
            <a:r>
              <a:rPr lang="en-US" sz="1500" b="1" dirty="0">
                <a:solidFill>
                  <a:schemeClr val="tx1"/>
                </a:solidFill>
              </a:rPr>
              <a:t>Cloud computing is a business and service model, not just a technology.</a:t>
            </a:r>
            <a:endParaRPr lang="en-US" sz="1500" dirty="0"/>
          </a:p>
        </p:txBody>
      </p:sp>
    </p:spTree>
  </p:cSld>
  <p:clrMapOvr>
    <a:masterClrMapping/>
  </p:clrMapOvr>
</p:sld>
</file>

<file path=ppt/theme/theme1.xml><?xml version="1.0" encoding="utf-8"?>
<a:theme xmlns:a="http://schemas.openxmlformats.org/drawingml/2006/main" name="Cloud Campus">
  <a:themeElements>
    <a:clrScheme name="Cloud Campus">
      <a:dk1>
        <a:srgbClr val="1E1B4B"/>
      </a:dk1>
      <a:lt1>
        <a:srgbClr val="FFFFFF"/>
      </a:lt1>
      <a:dk2>
        <a:srgbClr val="5B5A7E"/>
      </a:dk2>
      <a:lt2>
        <a:srgbClr val="F4F2FF"/>
      </a:lt2>
      <a:accent1>
        <a:srgbClr val="6C5CE7"/>
      </a:accent1>
      <a:accent2>
        <a:srgbClr val="27C7A8"/>
      </a:accent2>
      <a:accent3>
        <a:srgbClr val="FF7A59"/>
      </a:accent3>
      <a:accent4>
        <a:srgbClr val="FFC53D"/>
      </a:accent4>
      <a:accent5>
        <a:srgbClr val="4DB3FF"/>
      </a:accent5>
      <a:accent6>
        <a:srgbClr val="F26CA7"/>
      </a:accent6>
      <a:hlink>
        <a:srgbClr val="6C5CE7"/>
      </a:hlink>
      <a:folHlink>
        <a:srgbClr val="5B5A7E"/>
      </a:folHlink>
    </a:clrScheme>
    <a:fontScheme name="Cloud Campu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340</TotalTime>
  <Words>3600</Words>
  <Application>Microsoft Macintosh PowerPoint</Application>
  <PresentationFormat>On-screen Show (16:9)</PresentationFormat>
  <Paragraphs>565</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Cloud Campus</vt:lpstr>
      <vt:lpstr>What is Cloud Computing?</vt:lpstr>
      <vt:lpstr>What We'll Cover</vt:lpstr>
      <vt:lpstr>Key Terminology: The Players of Cloud Computing</vt:lpstr>
      <vt:lpstr>Key Terminology: Business Words</vt:lpstr>
      <vt:lpstr>Key Terminology: Money Matters</vt:lpstr>
      <vt:lpstr>Key Terminology: Scaling &amp; Design</vt:lpstr>
      <vt:lpstr>What is Cloud Computing?</vt:lpstr>
      <vt:lpstr>Think of It Like Electricity</vt:lpstr>
      <vt:lpstr>The NIST Cloud Model</vt:lpstr>
      <vt:lpstr>NIST Definition of Cloud Computing</vt:lpstr>
      <vt:lpstr>Essential Characteristics</vt:lpstr>
      <vt:lpstr>Essential Characteristics</vt:lpstr>
      <vt:lpstr>Cloud Deployment Models</vt:lpstr>
      <vt:lpstr>Public Cloud</vt:lpstr>
      <vt:lpstr>Private Cloud</vt:lpstr>
      <vt:lpstr>Hybrid Cloud</vt:lpstr>
      <vt:lpstr>Cloud Bursting</vt:lpstr>
      <vt:lpstr>Community Cloud</vt:lpstr>
      <vt:lpstr>Cloud Service Models</vt:lpstr>
      <vt:lpstr>Characteristics of IaaS</vt:lpstr>
      <vt:lpstr>Characteristics of PaaS</vt:lpstr>
      <vt:lpstr>What is an API?</vt:lpstr>
      <vt:lpstr>API Using HTTP</vt:lpstr>
      <vt:lpstr>Characteristics of SaaS</vt:lpstr>
      <vt:lpstr>Shared Responsibility Model</vt:lpstr>
      <vt:lpstr>Business Drivers for Cloud</vt:lpstr>
      <vt:lpstr>Reducing Costs</vt:lpstr>
      <vt:lpstr>Increasing Agility</vt:lpstr>
      <vt:lpstr>Capacity Provisioning</vt:lpstr>
      <vt:lpstr>Choosing a Deployment Model</vt:lpstr>
      <vt:lpstr>Migrate or Retain?</vt:lpstr>
      <vt:lpstr>Choosing a Cloud Provider</vt:lpstr>
      <vt:lpstr>Is There a Cost Advantage?</vt:lpstr>
      <vt:lpstr>Migration Strategies</vt:lpstr>
      <vt:lpstr>Migration Strategies</vt:lpstr>
      <vt:lpstr>Service Level Agreements</vt:lpstr>
      <vt:lpstr>Example: AWS EC2 SLA</vt:lpstr>
      <vt:lpstr>Current Trend: Multi-cloud</vt:lpstr>
      <vt:lpstr>What is Amazon Web Services?</vt:lpstr>
      <vt:lpstr>AWS Services at a Glance</vt:lpstr>
      <vt:lpstr>AWS Regions</vt:lpstr>
      <vt:lpstr>Availability Zones</vt:lpstr>
      <vt:lpstr>Chapter Recap</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What is Cloud Computing?</dc:title>
  <dc:subject>PptxGenJS Presentation</dc:subject>
  <dc:creator>PptxGenJS</dc:creator>
  <cp:lastModifiedBy>Rwigema James</cp:lastModifiedBy>
  <cp:revision>2</cp:revision>
  <dcterms:created xsi:type="dcterms:W3CDTF">2026-10-10T06:17:47Z</dcterms:created>
  <dcterms:modified xsi:type="dcterms:W3CDTF">2026-10-10T12:20:59Z</dcterms:modified>
</cp:coreProperties>
</file>